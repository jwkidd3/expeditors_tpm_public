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to Week 5. The TCD becomes the spine. Today: data model your feature into TMD Section 1, defending choices by access pattern.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16:00, every quad has TMD Section 1 — entities, indexes, trade-offs.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Arc: patterns → entities → trade-offs → critique.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modeling starts with queries, not entities. Force quads to enumerate reads and writes — and freshness claims — before any table gets drawn.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vocabulary lets TPMs follow the architect’s reasoning. Not to win arguments — to follow.</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 volunteers “let’s use Postgres” without describing access patterns, they’ve skipped the work.</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common rookie mistake is reverse: design the schema, then realize queries are slow. Force queries first.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“Real-time” freshness is rare in B2B. Force quads to defend “real-time” claims.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discipline: every field must trace back to a query that uses it. Surprise columns are the tell that quads are designing from the schema side rather than the access side.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 lists indexes without referencing patterns, they’re guessing.</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 signature_hash + R-threat reference — TCD Section 3 (Day 2 of Week 4) STRIDE work pays off.</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 surprise columns. Every field has a query that uses it.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Schema-level trade-offs reuse last week’s template. At least one trade-off should reference a TCD SLO so the data model stays accountable to the system.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discipline is the same; the scale is finer.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 the “what we deliberately can’t do efficiently” framing — that’s the senior signal.</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At least one trade-off should reference a TCD SLO.</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AI critique works best as a stand-in senior engineer reading the schema. Provenance log everything that lands in the data-model document.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prompts go in the Pattern Library.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Wrap-share: each quad names 1 trade-off, 1 AI-surfaced query, 1 question for the architect.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names a query they’d ask the architect about.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cut-under-pressure test reveals which indexes are essential versus speculative. Tomorrow scales the data model into cloud infrastructure.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Database Structures &amp; Data Logic</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5 • Day 1 • Technical Infrastructure &amp; Modeling</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1 Objectives</a:t>
            </a:r>
          </a:p>
        </p:txBody>
      </p:sp>
      <p:sp>
        <p:nvSpPr>
          <p:cNvPr id="3" name="Content Placeholder 2"/>
          <p:cNvSpPr>
            <a:spLocks noGrp="1"/>
          </p:cNvSpPr>
          <p:nvPr>
            <p:ph idx="1"/>
          </p:nvPr>
        </p:nvSpPr>
        <p:spPr/>
        <p:txBody>
          <a:bodyPr/>
          <a:lstStyle/>
          <a:p>
            <a:pPr lvl="0" indent="0" marL="0">
              <a:buNone/>
            </a:pPr>
            <a:r>
              <a:rPr/>
              <a:t>Read a data model at the entity level: keys, indexes, relationships, normalization vs denormalization</a:t>
            </a:r>
          </a:p>
          <a:p>
            <a:pPr lvl="0" indent="0" marL="0">
              <a:buNone/>
            </a:pPr>
            <a:r>
              <a:rPr/>
              <a:t>Apply the “access pattern first” discipline — queries before schema</a:t>
            </a:r>
          </a:p>
          <a:p>
            <a:pPr lvl="0" indent="0" marL="0">
              <a:buNone/>
            </a:pPr>
            <a:r>
              <a:rPr/>
              <a:t>Make the storage choice argument in customer terms</a:t>
            </a:r>
          </a:p>
          <a:p>
            <a:pPr lvl="0" indent="0" marL="0">
              <a:buNone/>
            </a:pPr>
            <a:r>
              <a:rPr/>
              <a:t>Surface schema-level trade-offs using the Week-4 template</a:t>
            </a:r>
          </a:p>
          <a:p>
            <a:pPr lvl="0" indent="0" marL="0">
              <a:buNone/>
            </a:pPr>
            <a:r>
              <a:rPr/>
              <a:t>Draft Technical Modeling Document (TMD) Section 1 — Data model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Pin TCD Sections 1–6 on the wall</a:t>
            </a:r>
          </a:p>
          <a:p>
            <a:pPr lvl="0" indent="0" marL="0">
              <a:buNone/>
            </a:pPr>
            <a:r>
              <a:rPr/>
              <a:t>09:15 – 10:30</a:t>
            </a:r>
          </a:p>
          <a:p>
            <a:pPr lvl="0" indent="0" marL="0">
              <a:buNone/>
            </a:pPr>
            <a:r>
              <a:rPr/>
              <a:t>Block 1 + Activity 1</a:t>
            </a:r>
          </a:p>
          <a:p>
            <a:pPr lvl="0" indent="0" marL="0">
              <a:buNone/>
            </a:pPr>
            <a:r>
              <a:rPr/>
              <a:t>Read &amp; write access patterns</a:t>
            </a:r>
          </a:p>
          <a:p>
            <a:pPr lvl="0" indent="0" marL="0">
              <a:buNone/>
            </a:pPr>
            <a:r>
              <a:rPr/>
              <a:t>10:45 – 12:00</a:t>
            </a:r>
          </a:p>
          <a:p>
            <a:pPr lvl="0" indent="0" marL="0">
              <a:buNone/>
            </a:pPr>
            <a:r>
              <a:rPr/>
              <a:t>Block 2 + Activity 2</a:t>
            </a:r>
          </a:p>
          <a:p>
            <a:pPr lvl="0" indent="0" marL="0">
              <a:buNone/>
            </a:pPr>
            <a:r>
              <a:rPr/>
              <a:t>Draft the entity model</a:t>
            </a:r>
          </a:p>
          <a:p>
            <a:pPr lvl="0" indent="0" marL="0">
              <a:buNone/>
            </a:pPr>
            <a:r>
              <a:rPr/>
              <a:t>13:00 – 14:15</a:t>
            </a:r>
          </a:p>
          <a:p>
            <a:pPr lvl="0" indent="0" marL="0">
              <a:buNone/>
            </a:pPr>
            <a:r>
              <a:rPr/>
              <a:t>Block 3 + Activity 3</a:t>
            </a:r>
          </a:p>
          <a:p>
            <a:pPr lvl="0" indent="0" marL="0">
              <a:buNone/>
            </a:pPr>
            <a:r>
              <a:rPr/>
              <a:t>Storage trade-offs</a:t>
            </a:r>
          </a:p>
          <a:p>
            <a:pPr lvl="0" indent="0" marL="0">
              <a:buNone/>
            </a:pPr>
            <a:r>
              <a:rPr/>
              <a:t>14:30 – 16:00</a:t>
            </a:r>
          </a:p>
          <a:p>
            <a:pPr lvl="0" indent="0" marL="0">
              <a:buNone/>
            </a:pPr>
            <a:r>
              <a:rPr/>
              <a:t>Block 4 + Activity 4 + Wrap</a:t>
            </a:r>
          </a:p>
          <a:p>
            <a:pPr lvl="0" indent="0" marL="0">
              <a:buNone/>
            </a:pPr>
            <a:r>
              <a:rPr/>
              <a:t>AI critique + polish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Access Patterns First</a:t>
            </a:r>
          </a:p>
        </p:txBody>
      </p:sp>
      <p:sp>
        <p:nvSpPr>
          <p:cNvPr id="3" name="Content Placeholder 2"/>
          <p:cNvSpPr>
            <a:spLocks noGrp="1"/>
          </p:cNvSpPr>
          <p:nvPr>
            <p:ph idx="1"/>
          </p:nvPr>
        </p:nvSpPr>
        <p:spPr/>
        <p:txBody>
          <a:bodyPr/>
          <a:lstStyle/>
          <a:p>
            <a:pPr lvl="0" indent="0" marL="0">
              <a:spcBef>
                <a:spcPts val="3000"/>
              </a:spcBef>
              <a:buNone/>
            </a:pPr>
            <a:r>
              <a:rPr b="1"/>
              <a:t>Queries before schema</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Vocabulary Card</a:t>
            </a:r>
          </a:p>
        </p:txBody>
      </p:sp>
      <p:sp>
        <p:nvSpPr>
          <p:cNvPr id="3" name="Content Placeholder 2"/>
          <p:cNvSpPr>
            <a:spLocks noGrp="1"/>
          </p:cNvSpPr>
          <p:nvPr>
            <p:ph idx="1"/>
          </p:nvPr>
        </p:nvSpPr>
        <p:spPr/>
        <p:txBody>
          <a:bodyPr/>
          <a:lstStyle/>
          <a:p>
            <a:pPr lvl="0" indent="0" marL="0">
              <a:buNone/>
            </a:pPr>
            <a:r>
              <a:rPr/>
              <a:t>Term</a:t>
            </a:r>
          </a:p>
          <a:p>
            <a:pPr lvl="0" indent="0" marL="0">
              <a:buNone/>
            </a:pPr>
            <a:r>
              <a:rPr/>
              <a:t>What it means</a:t>
            </a:r>
          </a:p>
          <a:p>
            <a:pPr lvl="0" indent="0" marL="0">
              <a:buNone/>
            </a:pPr>
            <a:r>
              <a:rPr/>
              <a:t>Entity</a:t>
            </a:r>
          </a:p>
          <a:p>
            <a:pPr lvl="0" indent="0" marL="0">
              <a:buNone/>
            </a:pPr>
            <a:r>
              <a:rPr/>
              <a:t>A “thing” the system tracks (Dispatcher, Ticket, ReconcileEvent)</a:t>
            </a:r>
          </a:p>
          <a:p>
            <a:pPr lvl="0" indent="0" marL="0">
              <a:buNone/>
            </a:pPr>
            <a:r>
              <a:rPr/>
              <a:t>Primary key</a:t>
            </a:r>
          </a:p>
          <a:p>
            <a:pPr lvl="0" indent="0" marL="0">
              <a:buNone/>
            </a:pPr>
            <a:r>
              <a:rPr/>
              <a:t>The unique identifier for an entity</a:t>
            </a:r>
          </a:p>
          <a:p>
            <a:pPr lvl="0" indent="0" marL="0">
              <a:buNone/>
            </a:pPr>
            <a:r>
              <a:rPr/>
              <a:t>Foreign key</a:t>
            </a:r>
          </a:p>
          <a:p>
            <a:pPr lvl="0" indent="0" marL="0">
              <a:buNone/>
            </a:pPr>
            <a:r>
              <a:rPr/>
              <a:t>A reference from one entity to another</a:t>
            </a:r>
          </a:p>
          <a:p>
            <a:pPr lvl="0" indent="0" marL="0">
              <a:buNone/>
            </a:pPr>
            <a:r>
              <a:rPr/>
              <a:t>Index</a:t>
            </a:r>
          </a:p>
          <a:p>
            <a:pPr lvl="0" indent="0" marL="0">
              <a:buNone/>
            </a:pPr>
            <a:r>
              <a:rPr/>
              <a:t>Speed up reads at the cost of writes + storage</a:t>
            </a:r>
          </a:p>
          <a:p>
            <a:pPr lvl="0" indent="0" marL="0">
              <a:buNone/>
            </a:pPr>
            <a:r>
              <a:rPr/>
              <a:t>Normalization</a:t>
            </a:r>
          </a:p>
          <a:p>
            <a:pPr lvl="0" indent="0" marL="0">
              <a:buNone/>
            </a:pPr>
            <a:r>
              <a:rPr/>
              <a:t>Splitting data to avoid duplication</a:t>
            </a:r>
          </a:p>
          <a:p>
            <a:pPr lvl="0" indent="0" marL="0">
              <a:buNone/>
            </a:pPr>
            <a:r>
              <a:rPr/>
              <a:t>Denormalization</a:t>
            </a:r>
          </a:p>
          <a:p>
            <a:pPr lvl="0" indent="0" marL="0">
              <a:buNone/>
            </a:pPr>
            <a:r>
              <a:rPr/>
              <a:t>Duplicating data on purpose for read speed</a:t>
            </a:r>
          </a:p>
          <a:p>
            <a:pPr lvl="0" indent="0" marL="0">
              <a:buNone/>
            </a:pPr>
            <a:r>
              <a:rPr/>
              <a:t>Cardinality</a:t>
            </a:r>
          </a:p>
          <a:p>
            <a:pPr lvl="0" indent="0" marL="0">
              <a:buNone/>
            </a:pPr>
            <a:r>
              <a:rPr/>
              <a:t>1:1, 1:N, N:N — the relationship shape</a:t>
            </a:r>
          </a:p>
          <a:p>
            <a:pPr lvl="0" indent="0" marL="0">
              <a:buNone/>
            </a:pPr>
            <a:r>
              <a:rPr/>
              <a:t>Constraint</a:t>
            </a:r>
          </a:p>
          <a:p>
            <a:pPr lvl="0" indent="0" marL="0">
              <a:buNone/>
            </a:pPr>
            <a:r>
              <a:rPr/>
              <a:t>A database-enforced rule (NOT NULL, UNIQUE, CHECK)</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Four Storage Buckets</a:t>
            </a:r>
          </a:p>
        </p:txBody>
      </p:sp>
      <p:sp>
        <p:nvSpPr>
          <p:cNvPr id="3" name="Content Placeholder 2"/>
          <p:cNvSpPr>
            <a:spLocks noGrp="1"/>
          </p:cNvSpPr>
          <p:nvPr>
            <p:ph idx="1"/>
          </p:nvPr>
        </p:nvSpPr>
        <p:spPr/>
        <p:txBody>
          <a:bodyPr/>
          <a:lstStyle/>
          <a:p>
            <a:pPr lvl="0" indent="0" marL="0">
              <a:buNone/>
            </a:pPr>
            <a:r>
              <a:rPr/>
              <a:t>Bucket</a:t>
            </a:r>
          </a:p>
          <a:p>
            <a:pPr lvl="0" indent="0" marL="0">
              <a:buNone/>
            </a:pPr>
            <a:r>
              <a:rPr/>
              <a:t>When to reach for it</a:t>
            </a:r>
          </a:p>
          <a:p>
            <a:pPr lvl="0" indent="0" marL="0">
              <a:buNone/>
            </a:pPr>
            <a:r>
              <a:rPr/>
              <a:t>Relational (Postgres, MySQL)</a:t>
            </a:r>
          </a:p>
          <a:p>
            <a:pPr lvl="0" indent="0" marL="0">
              <a:buNone/>
            </a:pPr>
            <a:r>
              <a:rPr/>
              <a:t>Strong relationships, transactions, complex queries — default for B2B</a:t>
            </a:r>
          </a:p>
          <a:p>
            <a:pPr lvl="0" indent="0" marL="0">
              <a:buNone/>
            </a:pPr>
            <a:r>
              <a:rPr/>
              <a:t>Document (MongoDB, Firestore)</a:t>
            </a:r>
          </a:p>
          <a:p>
            <a:pPr lvl="0" indent="0" marL="0">
              <a:buNone/>
            </a:pPr>
            <a:r>
              <a:rPr/>
              <a:t>Flexible schema, hierarchical data; shape varies per record</a:t>
            </a:r>
          </a:p>
          <a:p>
            <a:pPr lvl="0" indent="0" marL="0">
              <a:buNone/>
            </a:pPr>
            <a:r>
              <a:rPr/>
              <a:t>Key-value (Redis, Cosmos DB)</a:t>
            </a:r>
          </a:p>
          <a:p>
            <a:pPr lvl="0" indent="0" marL="0">
              <a:buNone/>
            </a:pPr>
            <a:r>
              <a:rPr/>
              <a:t>High throughput, simple lookups, caches, sessions</a:t>
            </a:r>
          </a:p>
          <a:p>
            <a:pPr lvl="0" indent="0" marL="0">
              <a:buNone/>
            </a:pPr>
            <a:r>
              <a:rPr/>
              <a:t>Search (Elasticsearch, OpenSearch)</a:t>
            </a:r>
          </a:p>
          <a:p>
            <a:pPr lvl="0" indent="0" marL="0">
              <a:buNone/>
            </a:pPr>
            <a:r>
              <a:rPr/>
              <a:t>Full-text search, analytics on text</a:t>
            </a:r>
          </a:p>
          <a:p>
            <a:pPr lvl="0" indent="0" marL="0">
              <a:buNone/>
            </a:pPr>
            <a:r>
              <a:rPr/>
              <a:t>The TPM doesn’t pick the engine. The TPM describes the access pattern clearly enough that the architect can.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“Access Pattern First” Discipline</a:t>
            </a:r>
          </a:p>
        </p:txBody>
      </p:sp>
      <p:sp>
        <p:nvSpPr>
          <p:cNvPr id="3" name="Content Placeholder 2"/>
          <p:cNvSpPr>
            <a:spLocks noGrp="1"/>
          </p:cNvSpPr>
          <p:nvPr>
            <p:ph idx="1"/>
          </p:nvPr>
        </p:nvSpPr>
        <p:spPr/>
        <p:txBody>
          <a:bodyPr/>
          <a:lstStyle/>
          <a:p>
            <a:pPr lvl="0" indent="0" marL="0">
              <a:buNone/>
            </a:pPr>
            <a:r>
              <a:rPr/>
              <a:t>List the queries the feature needs. “Show me a dispatcher’s open tickets, sorted by latest activity.”</a:t>
            </a:r>
          </a:p>
          <a:p>
            <a:pPr lvl="0" indent="0" marL="0">
              <a:buNone/>
            </a:pPr>
            <a:r>
              <a:rPr/>
              <a:t>For each query: what does it read, in what order, with what filter?</a:t>
            </a:r>
          </a:p>
          <a:p>
            <a:pPr lvl="0" indent="0" marL="0">
              <a:buNone/>
            </a:pPr>
            <a:r>
              <a:rPr/>
              <a:t>Now design the schema so the queries are cheap.</a:t>
            </a:r>
          </a:p>
          <a:p>
            <a:pPr lvl="0" indent="0" marL="0">
              <a:buNone/>
            </a:pPr>
            <a:r>
              <a:rPr/>
              <a:t>If your data model can’t be defended by the queries that drive it, it’s wrong.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Read &amp; Write Patterns</a:t>
            </a:r>
          </a:p>
        </p:txBody>
      </p:sp>
      <p:sp>
        <p:nvSpPr>
          <p:cNvPr id="3" name="Content Placeholder 2"/>
          <p:cNvSpPr>
            <a:spLocks noGrp="1"/>
          </p:cNvSpPr>
          <p:nvPr>
            <p:ph idx="1"/>
          </p:nvPr>
        </p:nvSpPr>
        <p:spPr/>
        <p:txBody>
          <a:bodyPr/>
          <a:lstStyle/>
          <a:p>
            <a:pPr lvl="0" indent="0" marL="0">
              <a:spcBef>
                <a:spcPts val="3000"/>
              </a:spcBef>
              <a:buNone/>
            </a:pPr>
            <a:r>
              <a:rPr b="1"/>
              <a:t>Quads • 35 minutes</a:t>
            </a:r>
          </a:p>
          <a:p>
            <a:pPr lvl="0" indent="0" marL="0">
              <a:buNone/>
            </a:pPr>
            <a:r>
              <a:rPr/>
              <a:t>List every read and write the feature needs. Capture data, frequency, freshness requirement.</a:t>
            </a:r>
          </a:p>
          <a:p>
            <a:pPr lvl="0" indent="0" marL="0">
              <a:buNone/>
            </a:pPr>
            <a:r>
              <a:rPr/>
              <a:t>5 min: re-read Product Requirements Document (PRD) Section 5</a:t>
            </a:r>
          </a:p>
          <a:p>
            <a:pPr lvl="0" indent="0" marL="0">
              <a:buNone/>
            </a:pPr>
            <a:r>
              <a:rPr/>
              <a:t>15 min: list reads (data, filter, freshness)</a:t>
            </a:r>
          </a:p>
          <a:p>
            <a:pPr lvl="0" indent="0" marL="0">
              <a:buNone/>
            </a:pPr>
            <a:r>
              <a:rPr/>
              <a:t>10 min: list writes (entity, invariants, concurrency)</a:t>
            </a:r>
          </a:p>
          <a:p>
            <a:pPr lvl="0" indent="0" marL="0">
              <a:buNone/>
            </a:pPr>
            <a:r>
              <a:rPr/>
              <a:t>5 min: highlight 1–2 highest-volume reads</a:t>
            </a:r>
          </a:p>
          <a:p>
            <a:pPr lvl="0" indent="0" marL="0">
              <a:buNone/>
            </a:pPr>
            <a:r>
              <a:rPr/>
              <a:t>⏱ 5 + 15 + 10 + 5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Draft the Entity Model</a:t>
            </a:r>
          </a:p>
        </p:txBody>
      </p:sp>
      <p:sp>
        <p:nvSpPr>
          <p:cNvPr id="3" name="Content Placeholder 2"/>
          <p:cNvSpPr>
            <a:spLocks noGrp="1"/>
          </p:cNvSpPr>
          <p:nvPr>
            <p:ph idx="1"/>
          </p:nvPr>
        </p:nvSpPr>
        <p:spPr/>
        <p:txBody>
          <a:bodyPr/>
          <a:lstStyle/>
          <a:p>
            <a:pPr lvl="0" indent="0" marL="0">
              <a:spcBef>
                <a:spcPts val="3000"/>
              </a:spcBef>
              <a:buNone/>
            </a:pPr>
            <a:r>
              <a:rPr b="1"/>
              <a:t>Tables, keys, indexes, relationships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Entity Template</a:t>
            </a:r>
          </a:p>
        </p:txBody>
      </p:sp>
      <p:sp>
        <p:nvSpPr>
          <p:cNvPr id="3" name="Content Placeholder 2"/>
          <p:cNvSpPr>
            <a:spLocks noGrp="1"/>
          </p:cNvSpPr>
          <p:nvPr>
            <p:ph idx="1"/>
          </p:nvPr>
        </p:nvSpPr>
        <p:spPr/>
        <p:txBody>
          <a:bodyPr/>
          <a:lstStyle/>
          <a:p>
            <a:pPr lvl="0" indent="0">
              <a:buNone/>
            </a:pPr>
            <a:r>
              <a:rPr>
                <a:latin typeface="Courier"/>
              </a:rPr>
              <a:t>## Entity: &lt;Name&gt;
| Field | Type | Notes |
|-------|------|-------|
| id    | UUID | Primary key |
| ...   | ...  | NOT NULL? UNIQUE? FK to ...? |
**Indexes:**
- (field, field) — purpose: query #N from access patterns
**Relationships:**
- belongs_to &lt;Entity&gt; via &lt;fk_field&gt;
- has_many &lt;Entity&gt; via &lt;fk_field&gt;
**Notes / invariants:**
- A reconcile_event is immutable once created.
- ticket.status ∈ {open, reconciled, voided}.</a:t>
            </a:r>
          </a:p>
          <a:p>
            <a:pPr lvl="0" indent="0" marL="0">
              <a:buNone/>
            </a:pPr>
            <a:r>
              <a:rPr/>
              <a:t>Indexes reference access patterns by number. “Index for query #4” beats “useful index.”</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Worked Entity (FieldPulse)</a:t>
            </a:r>
          </a:p>
        </p:txBody>
      </p:sp>
      <p:sp>
        <p:nvSpPr>
          <p:cNvPr id="3" name="Content Placeholder 2"/>
          <p:cNvSpPr>
            <a:spLocks noGrp="1"/>
          </p:cNvSpPr>
          <p:nvPr>
            <p:ph idx="1"/>
          </p:nvPr>
        </p:nvSpPr>
        <p:spPr/>
        <p:txBody>
          <a:bodyPr/>
          <a:lstStyle/>
          <a:p>
            <a:pPr lvl="0" indent="0">
              <a:buNone/>
            </a:pPr>
            <a:r>
              <a:rPr>
                <a:latin typeface="Courier"/>
              </a:rPr>
              <a:t>## Entity: ReconcileEvent
| Field | Type | Notes |
|-------|------|-------|
| id | UUID | PK |
| dispatcher_id | UUID | FK → Dispatcher |
| ticket_ids | UUID[] | The set reconciled (denormalized) |
| submitted_at | timestamp | NOT NULL |
| client_ip | inet | for audit |
| user_agent | text | for audit |
| signature_hash | text | for non-repudiation (R-threat) |
**Indexes:**
- (dispatcher_id, submitted_at DESC) — serves pattern #4 (history)
- (submitted_at) — serves pattern #3 (audit-trail range query)
**Relationships:**
- belongs_to Dispatcher via dispatcher_id
**Invariants:**
- Immutable: never UPDATE'd after INSERT
- ticket_ids is denormalized (see trade-off #2)</a:t>
            </a:r>
          </a:p>
          <a:p>
            <a:pPr lvl="0" indent="0" marL="0">
              <a:buNone/>
            </a:pPr>
            <a:r>
              <a:rPr/>
              <a:t>The signature_hash addresses the Repudiation threat in the STRIDE model (Spoofing, Tampering, Repudiation, Information disclosure, Denial of service, Elevation of privilege).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Entity Model</a:t>
            </a:r>
          </a:p>
        </p:txBody>
      </p:sp>
      <p:sp>
        <p:nvSpPr>
          <p:cNvPr id="3" name="Content Placeholder 2"/>
          <p:cNvSpPr>
            <a:spLocks noGrp="1"/>
          </p:cNvSpPr>
          <p:nvPr>
            <p:ph idx="1"/>
          </p:nvPr>
        </p:nvSpPr>
        <p:spPr/>
        <p:txBody>
          <a:bodyPr/>
          <a:lstStyle/>
          <a:p>
            <a:pPr lvl="0" indent="0" marL="0">
              <a:spcBef>
                <a:spcPts val="3000"/>
              </a:spcBef>
              <a:buNone/>
            </a:pPr>
            <a:r>
              <a:rPr b="1"/>
              <a:t>Quads • 40 minutes</a:t>
            </a:r>
          </a:p>
          <a:p>
            <a:pPr lvl="0" indent="0" marL="0">
              <a:buNone/>
            </a:pPr>
            <a:r>
              <a:rPr/>
              <a:t>List entities. For each, draft fields, indexes, relationships, invariants.</a:t>
            </a:r>
          </a:p>
          <a:p>
            <a:pPr lvl="0" indent="0" marL="0">
              <a:buNone/>
            </a:pPr>
            <a:r>
              <a:rPr/>
              <a:t>10 min: list entities (new + existing)</a:t>
            </a:r>
          </a:p>
          <a:p>
            <a:pPr lvl="0" indent="0" marL="0">
              <a:buNone/>
            </a:pPr>
            <a:r>
              <a:rPr/>
              <a:t>15 min: draft fields per new entity</a:t>
            </a:r>
          </a:p>
          <a:p>
            <a:pPr lvl="0" indent="0" marL="0">
              <a:buNone/>
            </a:pPr>
            <a:r>
              <a:rPr/>
              <a:t>10 min: indexes (referencing patterns)</a:t>
            </a:r>
          </a:p>
          <a:p>
            <a:pPr lvl="0" indent="0" marL="0">
              <a:buNone/>
            </a:pPr>
            <a:r>
              <a:rPr/>
              <a:t>5 min: relationships + cardinalities</a:t>
            </a:r>
          </a:p>
          <a:p>
            <a:pPr lvl="0" indent="0" marL="0">
              <a:buNone/>
            </a:pPr>
            <a:r>
              <a:rPr/>
              <a:t>⏱ 10 + 15 + 10 + 5</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Storage Trade-Offs</a:t>
            </a:r>
          </a:p>
        </p:txBody>
      </p:sp>
      <p:sp>
        <p:nvSpPr>
          <p:cNvPr id="3" name="Content Placeholder 2"/>
          <p:cNvSpPr>
            <a:spLocks noGrp="1"/>
          </p:cNvSpPr>
          <p:nvPr>
            <p:ph idx="1"/>
          </p:nvPr>
        </p:nvSpPr>
        <p:spPr/>
        <p:txBody>
          <a:bodyPr/>
          <a:lstStyle/>
          <a:p>
            <a:pPr lvl="0" indent="0" marL="0">
              <a:spcBef>
                <a:spcPts val="3000"/>
              </a:spcBef>
              <a:buNone/>
            </a:pPr>
            <a:r>
              <a:rPr b="1"/>
              <a:t>Use the Week-4 trade-off template at schema scale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Schema-Level Trade-Offs</a:t>
            </a:r>
          </a:p>
        </p:txBody>
      </p:sp>
      <p:sp>
        <p:nvSpPr>
          <p:cNvPr id="3" name="Content Placeholder 2"/>
          <p:cNvSpPr>
            <a:spLocks noGrp="1"/>
          </p:cNvSpPr>
          <p:nvPr>
            <p:ph idx="1"/>
          </p:nvPr>
        </p:nvSpPr>
        <p:spPr/>
        <p:txBody>
          <a:bodyPr/>
          <a:lstStyle/>
          <a:p>
            <a:pPr lvl="0" indent="0" marL="0">
              <a:buNone/>
            </a:pPr>
            <a:r>
              <a:rPr/>
              <a:t>Trade-off</a:t>
            </a:r>
          </a:p>
          <a:p>
            <a:pPr lvl="0" indent="0" marL="0">
              <a:buNone/>
            </a:pPr>
            <a:r>
              <a:rPr/>
              <a:t>Tension</a:t>
            </a:r>
          </a:p>
          <a:p>
            <a:pPr lvl="0" indent="0" marL="0">
              <a:buNone/>
            </a:pPr>
            <a:r>
              <a:rPr/>
              <a:t>Normalization vs denormalization</a:t>
            </a:r>
          </a:p>
          <a:p>
            <a:pPr lvl="0" indent="0" marL="0">
              <a:buNone/>
            </a:pPr>
            <a:r>
              <a:rPr/>
              <a:t>Clean writes vs fast reads</a:t>
            </a:r>
          </a:p>
          <a:p>
            <a:pPr lvl="0" indent="0" marL="0">
              <a:buNone/>
            </a:pPr>
            <a:r>
              <a:rPr/>
              <a:t>Strong consistency vs replica reads</a:t>
            </a:r>
          </a:p>
          <a:p>
            <a:pPr lvl="0" indent="0" marL="0">
              <a:buNone/>
            </a:pPr>
            <a:r>
              <a:rPr/>
              <a:t>Always-fresh vs scalable read load</a:t>
            </a:r>
          </a:p>
          <a:p>
            <a:pPr lvl="0" indent="0" marL="0">
              <a:buNone/>
            </a:pPr>
            <a:r>
              <a:rPr/>
              <a:t>Schema flexibility vs schema integrity</a:t>
            </a:r>
          </a:p>
          <a:p>
            <a:pPr lvl="0" indent="0" marL="0">
              <a:buNone/>
            </a:pPr>
            <a:r>
              <a:rPr/>
              <a:t>Easy migration vs caught-by-database integrity</a:t>
            </a:r>
          </a:p>
          <a:p>
            <a:pPr lvl="0" indent="0" marL="0">
              <a:buNone/>
            </a:pPr>
            <a:r>
              <a:rPr/>
              <a:t>Same Week-4 template: Option A vs Option B / Choice / Why / Accepted cost / Revisit trigger.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Worked Schema Trade-Off</a:t>
            </a:r>
          </a:p>
        </p:txBody>
      </p:sp>
      <p:sp>
        <p:nvSpPr>
          <p:cNvPr id="3" name="Content Placeholder 2"/>
          <p:cNvSpPr>
            <a:spLocks noGrp="1"/>
          </p:cNvSpPr>
          <p:nvPr>
            <p:ph idx="1"/>
          </p:nvPr>
        </p:nvSpPr>
        <p:spPr/>
        <p:txBody>
          <a:bodyPr/>
          <a:lstStyle/>
          <a:p>
            <a:pPr lvl="0" indent="0">
              <a:buNone/>
            </a:pPr>
            <a:r>
              <a:rPr>
                <a:latin typeface="Courier"/>
              </a:rPr>
              <a:t>### Trade-off — ticket_ids storage
**Tension:** Normalization vs denormalization.
**Option A:** ReconcileEvent.ticket_ids: UUID[] (denormalized).
**Option B:** Separate ReconcileEventTicket join table.
**Choice:** Option A.
**Why:** Reconcile events are read in batches of 1 most of the
time. Reading the array is one row. Option B requires
a join. Reconcile events are immutable and rarely
queried by ticket — access patterns don't reward
normalization.
**Accepted cost:** Cannot index by individual ticket_id (no
"find every reconcile that touched ticket X" query
without a denormalization).
**Revisit trigger:** If "find reconciles touching ticket X"
becomes a high-volume query.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Storage Trade-Offs</a:t>
            </a:r>
          </a:p>
        </p:txBody>
      </p:sp>
      <p:sp>
        <p:nvSpPr>
          <p:cNvPr id="3" name="Content Placeholder 2"/>
          <p:cNvSpPr>
            <a:spLocks noGrp="1"/>
          </p:cNvSpPr>
          <p:nvPr>
            <p:ph idx="1"/>
          </p:nvPr>
        </p:nvSpPr>
        <p:spPr/>
        <p:txBody>
          <a:bodyPr/>
          <a:lstStyle/>
          <a:p>
            <a:pPr lvl="0" indent="0" marL="0">
              <a:spcBef>
                <a:spcPts val="3000"/>
              </a:spcBef>
              <a:buNone/>
            </a:pPr>
            <a:r>
              <a:rPr b="1"/>
              <a:t>Quads • 40 minutes</a:t>
            </a:r>
          </a:p>
          <a:p>
            <a:pPr lvl="0" indent="0" marL="0">
              <a:buNone/>
            </a:pPr>
            <a:r>
              <a:rPr/>
              <a:t>15 min: identify 3 trade-off points in your model</a:t>
            </a:r>
          </a:p>
          <a:p>
            <a:pPr lvl="0" indent="0" marL="0">
              <a:buNone/>
            </a:pPr>
            <a:r>
              <a:rPr/>
              <a:t>15 min: write each (Option A/B/Choice/Why/Cost/Trigger)</a:t>
            </a:r>
          </a:p>
          <a:p>
            <a:pPr lvl="0" indent="0" marL="0">
              <a:buNone/>
            </a:pPr>
            <a:r>
              <a:rPr/>
              <a:t>10 min: cross-check against Technical Concept Document (TCD) Section 4 Service Level Objectives (SLOs)</a:t>
            </a:r>
          </a:p>
          <a:p>
            <a:pPr lvl="0" indent="0" marL="0">
              <a:buNone/>
            </a:pPr>
            <a:r>
              <a:rPr/>
              <a:t>⏱ 15 + 15 + 10</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AI Critique + Polish</a:t>
            </a:r>
          </a:p>
        </p:txBody>
      </p:sp>
      <p:sp>
        <p:nvSpPr>
          <p:cNvPr id="3" name="Content Placeholder 2"/>
          <p:cNvSpPr>
            <a:spLocks noGrp="1"/>
          </p:cNvSpPr>
          <p:nvPr>
            <p:ph idx="1"/>
          </p:nvPr>
        </p:nvSpPr>
        <p:spPr/>
        <p:txBody>
          <a:bodyPr/>
          <a:lstStyle/>
          <a:p>
            <a:pPr lvl="0" indent="0" marL="0">
              <a:spcBef>
                <a:spcPts val="3000"/>
              </a:spcBef>
              <a:buNone/>
            </a:pPr>
            <a:r>
              <a:rPr b="1"/>
              <a:t>Treat the AI as a critic, not an oracle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Two Prompts</a:t>
            </a:r>
          </a:p>
        </p:txBody>
      </p:sp>
      <p:sp>
        <p:nvSpPr>
          <p:cNvPr id="3" name="Content Placeholder 2"/>
          <p:cNvSpPr>
            <a:spLocks noGrp="1"/>
          </p:cNvSpPr>
          <p:nvPr>
            <p:ph idx="1"/>
          </p:nvPr>
        </p:nvSpPr>
        <p:spPr/>
        <p:txBody>
          <a:bodyPr/>
          <a:lstStyle/>
          <a:p>
            <a:pPr lvl="0" indent="0">
              <a:buNone/>
            </a:pPr>
            <a:r>
              <a:rPr>
                <a:latin typeface="Courier"/>
              </a:rPr>
              <a:t>A. Critique this schema
Role: Senior backend engineer reviewing a feature's data model.
Context: &lt;entity definitions + indexes + relationships +
access pattern sheet&gt;
Task: Identify the top 3 issues.
Constraints:
- Name the specific access pattern or invariant that breaks
- Suggest a concrete fix (new index / entity / cardinality)
- Do not suggest generic best practices
Format: Numbered — Issue / What breaks / Fix.
B. What did we forget?
Continuing from above. Given these access patterns, what queries
the user will eventually want are NOT yet supported by this
schema? List 3, ranked by likelihood within 6 months.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AI Critique</a:t>
            </a:r>
          </a:p>
        </p:txBody>
      </p:sp>
      <p:sp>
        <p:nvSpPr>
          <p:cNvPr id="3" name="Content Placeholder 2"/>
          <p:cNvSpPr>
            <a:spLocks noGrp="1"/>
          </p:cNvSpPr>
          <p:nvPr>
            <p:ph idx="1"/>
          </p:nvPr>
        </p:nvSpPr>
        <p:spPr/>
        <p:txBody>
          <a:bodyPr/>
          <a:lstStyle/>
          <a:p>
            <a:pPr lvl="0" indent="0" marL="0">
              <a:spcBef>
                <a:spcPts val="3000"/>
              </a:spcBef>
              <a:buNone/>
            </a:pPr>
            <a:r>
              <a:rPr b="1"/>
              <a:t>Quads • 45 minutes • Wrap</a:t>
            </a:r>
          </a:p>
          <a:p>
            <a:pPr lvl="0" indent="0" marL="0">
              <a:buNone/>
            </a:pPr>
            <a:r>
              <a:rPr/>
              <a:t>10 min: Prompt A → 3 issues</a:t>
            </a:r>
          </a:p>
          <a:p>
            <a:pPr lvl="0" indent="0" marL="0">
              <a:buNone/>
            </a:pPr>
            <a:r>
              <a:rPr/>
              <a:t>10 min: adopt / defer / reject</a:t>
            </a:r>
          </a:p>
          <a:p>
            <a:pPr lvl="0" indent="0" marL="0">
              <a:buNone/>
            </a:pPr>
            <a:r>
              <a:rPr/>
              <a:t>10 min: Prompt B → forgotten queries</a:t>
            </a:r>
          </a:p>
          <a:p>
            <a:pPr lvl="0" indent="0" marL="0">
              <a:buNone/>
            </a:pPr>
            <a:r>
              <a:rPr/>
              <a:t>15 min: update Section 1 + provenance + AI-prose check</a:t>
            </a:r>
          </a:p>
          <a:p>
            <a:pPr lvl="0" indent="0" marL="0">
              <a:buNone/>
            </a:pPr>
            <a:r>
              <a:rPr/>
              <a:t>⏱ 10 + 10 + 10 + 15 · 15-min wrap</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1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Access Pattern Sheet</a:t>
            </a:r>
          </a:p>
          <a:p>
            <a:pPr lvl="0" indent="0" marL="0">
              <a:buNone/>
            </a:pPr>
            <a:r>
              <a:rPr/>
              <a:t>Entity model (PKs, indexes, relationships)</a:t>
            </a:r>
          </a:p>
          <a:p>
            <a:pPr lvl="0" indent="0" marL="0">
              <a:buNone/>
            </a:pPr>
            <a:r>
              <a:rPr/>
              <a:t>3+ explicit storage trade-offs</a:t>
            </a:r>
          </a:p>
          <a:p>
            <a:pPr lvl="0" indent="0" marL="0">
              <a:buNone/>
            </a:pPr>
            <a:r>
              <a:rPr/>
              <a:t>TMD Section 1 drafted</a:t>
            </a:r>
          </a:p>
          <a:p>
            <a:pPr lvl="0" indent="0" marL="0">
              <a:buNone/>
            </a:pPr>
            <a:r>
              <a:rPr/>
              <a:t>What opens tomorrow</a:t>
            </a:r>
          </a:p>
          <a:p>
            <a:pPr lvl="0" indent="0" marL="0">
              <a:buNone/>
            </a:pPr>
            <a:r>
              <a:rPr/>
              <a:t>Cloud architecture &amp; infrastructure</a:t>
            </a:r>
          </a:p>
          <a:p>
            <a:pPr lvl="0" indent="0" marL="0">
              <a:buNone/>
            </a:pPr>
            <a:r>
              <a:rPr/>
              <a:t>Region / AZ / managed services</a:t>
            </a:r>
          </a:p>
          <a:p>
            <a:pPr lvl="0" indent="0" marL="0">
              <a:buNone/>
            </a:pPr>
            <a:r>
              <a:rPr/>
              <a:t>Multi-tenancy stance</a:t>
            </a:r>
          </a:p>
          <a:p>
            <a:pPr lvl="0" indent="0" marL="0">
              <a:buNone/>
            </a:pPr>
            <a:r>
              <a:rPr/>
              <a:t>Bring to Day 2: Your TMD Section 1 + the TCD’s Container diagram. Tomorrow we put the boxes in regions.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indexes would you cut if writes became 10x more expensive?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2026-08-07T22:16:24Z</dcterms:created>
  <dcterms:modified xsi:type="dcterms:W3CDTF">2026-08-07T22:16:24Z</dcterms:modified>
</cp:coreProperties>
</file>

<file path=docProps/custom.xml><?xml version="1.0" encoding="utf-8"?>
<Properties xmlns="http://schemas.openxmlformats.org/officeDocument/2006/custom-properties" xmlns:vt="http://schemas.openxmlformats.org/officeDocument/2006/docPropsVTypes"/>
</file>