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notesMaster" Target="notesMasters/notesMaster1.xml" /><Relationship Id="rId26" Type="http://schemas.openxmlformats.org/officeDocument/2006/relationships/viewProps" Target="viewProps.xml" /><Relationship Id="rId2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8" Type="http://schemas.openxmlformats.org/officeDocument/2006/relationships/tableStyles" Target="tableStyles.xml" /><Relationship Id="rId2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Welcome to Week 5. The TCD becomes the spine. Today: data model your feature into TMD §1, defending choices by access pattern.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every triad has TMD §1 — entities, indexes, trade-offs.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Arc: patterns → entities → trade-offs → critique.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modeling starts with queries, not entities. Force triads to enumerate reads and writes — and freshness claims — before any table gets drawn.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vocabulary lets TPMs follow the architect’s reasoning. Not to win arguments — to follow.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 volunteers “let’s use Postgres” without describing access patterns, they’ve skipped the 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most common rookie mistake is reverse: design the schema, then realize queries are slow. Force queries first.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“Real-time” freshness is rare in B2B. Force triads to defend “real-time” claims.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discipline: every field must trace back to a query that uses it. Surprise columns are the tell that triads are designing from the schema side rather than the access side.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 lists indexes without referencing patterns, they’re guessing.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 signature_hash + R-threat reference — TCD §3 (Day 2 of Week 4) STRIDE work pays off.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 surprise columns. Every field has a query that uses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Schema-level trade-offs reuse last week’s template. At least one trade-off should reference a TCD SLO so the data model stays accountable to the system.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discipline is the same; the scale is finer.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 the “what we deliberately can’t do efficiently” framing — that’s the senior signal.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 least one trade-off should reference a TCD SLO.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AI critique works best as a stand-in senior engineer reading the schema. Provenance log everything that lands in the data-model document.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Both prompts go in the Pattern Library.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each triad names 1 trade-off, 1 AI-surfaced query, 1 question for the architect.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names a query they’d ask the architect about.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cut-under-pressure test reveals which indexes are essential versus speculative. Tomorrow scales the data model into cloud infrastructure.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📊 Database Structures &amp; Data Logic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5 • Day 1 • Technical Infrastructure &amp; Modeling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1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 a data model at the entity level: keys, indexes, relationships, normalization vs denormalization</a:t>
            </a:r>
          </a:p>
          <a:p>
            <a:pPr lvl="0" indent="0" marL="0">
              <a:buNone/>
            </a:pPr>
            <a:r>
              <a:rPr/>
              <a:t>Apply the “access pattern first” discipline — queries before schema</a:t>
            </a:r>
          </a:p>
          <a:p>
            <a:pPr lvl="0" indent="0" marL="0">
              <a:buNone/>
            </a:pPr>
            <a:r>
              <a:rPr/>
              <a:t>Make the storage choice argument in customer terms</a:t>
            </a:r>
          </a:p>
          <a:p>
            <a:pPr lvl="0" indent="0" marL="0">
              <a:buNone/>
            </a:pPr>
            <a:r>
              <a:rPr/>
              <a:t>Surface schema-level trade-offs using the Week-4 template</a:t>
            </a:r>
          </a:p>
          <a:p>
            <a:pPr lvl="0" indent="0" marL="0">
              <a:buNone/>
            </a:pPr>
            <a:r>
              <a:rPr/>
              <a:t>Draft TMD §1 — Data model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Pin TCD §§1–6 on the wall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Read &amp; write access patterns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Draft the entity model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Storage trade-offs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AI critique + polish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Access Patterns First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Queries before schema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The Vocabulary Card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Term</a:t>
            </a:r>
          </a:p>
          <a:p>
            <a:pPr lvl="0" indent="0" marL="0">
              <a:buNone/>
            </a:pPr>
            <a:r>
              <a:rPr/>
              <a:t>What it means</a:t>
            </a:r>
          </a:p>
          <a:p>
            <a:pPr lvl="0" indent="0" marL="0">
              <a:buNone/>
            </a:pPr>
            <a:r>
              <a:rPr/>
              <a:t>Entity</a:t>
            </a:r>
          </a:p>
          <a:p>
            <a:pPr lvl="0" indent="0" marL="0">
              <a:buNone/>
            </a:pPr>
            <a:r>
              <a:rPr/>
              <a:t>A “thing” the system tracks (Dispatcher, Ticket, ReconcileEvent)</a:t>
            </a:r>
          </a:p>
          <a:p>
            <a:pPr lvl="0" indent="0" marL="0">
              <a:buNone/>
            </a:pPr>
            <a:r>
              <a:rPr/>
              <a:t>Primary key</a:t>
            </a:r>
          </a:p>
          <a:p>
            <a:pPr lvl="0" indent="0" marL="0">
              <a:buNone/>
            </a:pPr>
            <a:r>
              <a:rPr/>
              <a:t>The unique identifier for an entity</a:t>
            </a:r>
          </a:p>
          <a:p>
            <a:pPr lvl="0" indent="0" marL="0">
              <a:buNone/>
            </a:pPr>
            <a:r>
              <a:rPr/>
              <a:t>Foreign key</a:t>
            </a:r>
          </a:p>
          <a:p>
            <a:pPr lvl="0" indent="0" marL="0">
              <a:buNone/>
            </a:pPr>
            <a:r>
              <a:rPr/>
              <a:t>A reference from one entity to another</a:t>
            </a:r>
          </a:p>
          <a:p>
            <a:pPr lvl="0" indent="0" marL="0">
              <a:buNone/>
            </a:pPr>
            <a:r>
              <a:rPr/>
              <a:t>Index</a:t>
            </a:r>
          </a:p>
          <a:p>
            <a:pPr lvl="0" indent="0" marL="0">
              <a:buNone/>
            </a:pPr>
            <a:r>
              <a:rPr/>
              <a:t>Speed up reads at the cost of writes + storage</a:t>
            </a:r>
          </a:p>
          <a:p>
            <a:pPr lvl="0" indent="0" marL="0">
              <a:buNone/>
            </a:pPr>
            <a:r>
              <a:rPr/>
              <a:t>Normalization</a:t>
            </a:r>
          </a:p>
          <a:p>
            <a:pPr lvl="0" indent="0" marL="0">
              <a:buNone/>
            </a:pPr>
            <a:r>
              <a:rPr/>
              <a:t>Splitting data to avoid duplication</a:t>
            </a:r>
          </a:p>
          <a:p>
            <a:pPr lvl="0" indent="0" marL="0">
              <a:buNone/>
            </a:pPr>
            <a:r>
              <a:rPr/>
              <a:t>Denormalization</a:t>
            </a:r>
          </a:p>
          <a:p>
            <a:pPr lvl="0" indent="0" marL="0">
              <a:buNone/>
            </a:pPr>
            <a:r>
              <a:rPr/>
              <a:t>Duplicating data on purpose for read speed</a:t>
            </a:r>
          </a:p>
          <a:p>
            <a:pPr lvl="0" indent="0" marL="0">
              <a:buNone/>
            </a:pPr>
            <a:r>
              <a:rPr/>
              <a:t>Cardinality</a:t>
            </a:r>
          </a:p>
          <a:p>
            <a:pPr lvl="0" indent="0" marL="0">
              <a:buNone/>
            </a:pPr>
            <a:r>
              <a:rPr/>
              <a:t>1:1, 1:N, N:N — the relationship shape</a:t>
            </a:r>
          </a:p>
          <a:p>
            <a:pPr lvl="0" indent="0" marL="0">
              <a:buNone/>
            </a:pPr>
            <a:r>
              <a:rPr/>
              <a:t>Constraint</a:t>
            </a:r>
          </a:p>
          <a:p>
            <a:pPr lvl="0" indent="0" marL="0">
              <a:buNone/>
            </a:pPr>
            <a:r>
              <a:rPr/>
              <a:t>A database-enforced rule (NOT NULL, UNIQUE, CHECK)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The Four Storage Buckets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Bucket</a:t>
            </a:r>
          </a:p>
          <a:p>
            <a:pPr lvl="0" indent="0" marL="0">
              <a:buNone/>
            </a:pPr>
            <a:r>
              <a:rPr/>
              <a:t>When to reach for it</a:t>
            </a:r>
          </a:p>
          <a:p>
            <a:pPr lvl="0" indent="0" marL="0">
              <a:buNone/>
            </a:pPr>
            <a:r>
              <a:rPr/>
              <a:t>Relational (Postgres, MySQL)</a:t>
            </a:r>
          </a:p>
          <a:p>
            <a:pPr lvl="0" indent="0" marL="0">
              <a:buNone/>
            </a:pPr>
            <a:r>
              <a:rPr/>
              <a:t>Strong relationships, transactions, complex queries — default for B2B</a:t>
            </a:r>
          </a:p>
          <a:p>
            <a:pPr lvl="0" indent="0" marL="0">
              <a:buNone/>
            </a:pPr>
            <a:r>
              <a:rPr/>
              <a:t>Document (MongoDB, Firestore)</a:t>
            </a:r>
          </a:p>
          <a:p>
            <a:pPr lvl="0" indent="0" marL="0">
              <a:buNone/>
            </a:pPr>
            <a:r>
              <a:rPr/>
              <a:t>Flexible schema, hierarchical data; shape varies per record</a:t>
            </a:r>
          </a:p>
          <a:p>
            <a:pPr lvl="0" indent="0" marL="0">
              <a:buNone/>
            </a:pPr>
            <a:r>
              <a:rPr/>
              <a:t>Key-value (Redis, DynamoDB)</a:t>
            </a:r>
          </a:p>
          <a:p>
            <a:pPr lvl="0" indent="0" marL="0">
              <a:buNone/>
            </a:pPr>
            <a:r>
              <a:rPr/>
              <a:t>High throughput, simple lookups, caches, sessions</a:t>
            </a:r>
          </a:p>
          <a:p>
            <a:pPr lvl="0" indent="0" marL="0">
              <a:buNone/>
            </a:pPr>
            <a:r>
              <a:rPr/>
              <a:t>Search (Elasticsearch, OpenSearch)</a:t>
            </a:r>
          </a:p>
          <a:p>
            <a:pPr lvl="0" indent="0" marL="0">
              <a:buNone/>
            </a:pPr>
            <a:r>
              <a:rPr/>
              <a:t>Full-text search, analytics on text</a:t>
            </a:r>
          </a:p>
          <a:p>
            <a:pPr lvl="0" indent="0" marL="0">
              <a:buNone/>
            </a:pPr>
            <a:r>
              <a:rPr/>
              <a:t>The TPM doesn’t pick the engine. The TPM describes the access pattern clearly enough that the architect can.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The “Access Pattern First” Discipline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List the queries the feature needs. “Show me a dispatcher’s open tickets, sorted by latest activity.”</a:t>
            </a:r>
          </a:p>
          <a:p>
            <a:pPr lvl="0" indent="0" marL="0">
              <a:buNone/>
            </a:pPr>
            <a:r>
              <a:rPr/>
              <a:t>For each query: what does it read, in what order, with what filter?</a:t>
            </a:r>
          </a:p>
          <a:p>
            <a:pPr lvl="0" indent="0" marL="0">
              <a:buNone/>
            </a:pPr>
            <a:r>
              <a:rPr/>
              <a:t>Now design the schema so the queries are cheap.</a:t>
            </a:r>
          </a:p>
          <a:p>
            <a:pPr lvl="0" indent="0" marL="0">
              <a:buNone/>
            </a:pPr>
            <a:r>
              <a:rPr/>
              <a:t>If your data model can’t be defended by the queries that drive it, it’s wrong.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Read &amp; Write Patterns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List every read and write the feature needs. Capture data, frequency, freshness requirement.</a:t>
            </a:r>
          </a:p>
          <a:p>
            <a:pPr lvl="0" indent="0" marL="0">
              <a:buNone/>
            </a:pPr>
            <a:r>
              <a:rPr/>
              <a:t>5 min: re-read PRD §5</a:t>
            </a:r>
          </a:p>
          <a:p>
            <a:pPr lvl="0" indent="0" marL="0">
              <a:buNone/>
            </a:pPr>
            <a:r>
              <a:rPr/>
              <a:t>15 min: list reads (data, filter, freshness)</a:t>
            </a:r>
          </a:p>
          <a:p>
            <a:pPr lvl="0" indent="0" marL="0">
              <a:buNone/>
            </a:pPr>
            <a:r>
              <a:rPr/>
              <a:t>10 min: list writes (entity, invariants, concurrency)</a:t>
            </a:r>
          </a:p>
          <a:p>
            <a:pPr lvl="0" indent="0" marL="0">
              <a:buNone/>
            </a:pPr>
            <a:r>
              <a:rPr/>
              <a:t>5 min: highlight 1–2 highest-volume reads</a:t>
            </a:r>
          </a:p>
          <a:p>
            <a:pPr lvl="0" indent="0" marL="0">
              <a:buNone/>
            </a:pPr>
            <a:r>
              <a:rPr/>
              <a:t>⏱ 5 + 15 + 10 + 5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Draft the Entity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Tables, keys, indexes, relationships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The Entity Template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Indexes reference access patterns by number. “Index for query #4” beats “useful index.”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Worked Entity (FieldPulse)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Entity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List entities. For each, draft fields, indexes, relationships, invariants.</a:t>
            </a:r>
          </a:p>
          <a:p>
            <a:pPr lvl="0" indent="0" marL="0">
              <a:buNone/>
            </a:pPr>
            <a:r>
              <a:rPr/>
              <a:t>10 min: list entities (new + existing)</a:t>
            </a:r>
          </a:p>
          <a:p>
            <a:pPr lvl="0" indent="0" marL="0">
              <a:buNone/>
            </a:pPr>
            <a:r>
              <a:rPr/>
              <a:t>15 min: draft fields per new entity</a:t>
            </a:r>
          </a:p>
          <a:p>
            <a:pPr lvl="0" indent="0" marL="0">
              <a:buNone/>
            </a:pPr>
            <a:r>
              <a:rPr/>
              <a:t>10 min: indexes (referencing patterns)</a:t>
            </a:r>
          </a:p>
          <a:p>
            <a:pPr lvl="0" indent="0" marL="0">
              <a:buNone/>
            </a:pPr>
            <a:r>
              <a:rPr/>
              <a:t>5 min: relationships + cardinalities</a:t>
            </a:r>
          </a:p>
          <a:p>
            <a:pPr lvl="0" indent="0" marL="0">
              <a:buNone/>
            </a:pPr>
            <a:r>
              <a:rPr/>
              <a:t>⏱ 10 + 15 + 10 + 5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Storage Trade-Offs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Use the Week-4 trade-off template at schema scale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⚔️ Three Schema-Level Trade-Offs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Trade-off</a:t>
            </a:r>
          </a:p>
          <a:p>
            <a:pPr lvl="0" indent="0" marL="0">
              <a:buNone/>
            </a:pPr>
            <a:r>
              <a:rPr/>
              <a:t>Tension</a:t>
            </a:r>
          </a:p>
          <a:p>
            <a:pPr lvl="0" indent="0" marL="0">
              <a:buNone/>
            </a:pPr>
            <a:r>
              <a:rPr/>
              <a:t>Normalization vs denormalization</a:t>
            </a:r>
          </a:p>
          <a:p>
            <a:pPr lvl="0" indent="0" marL="0">
              <a:buNone/>
            </a:pPr>
            <a:r>
              <a:rPr/>
              <a:t>Clean writes vs fast reads</a:t>
            </a:r>
          </a:p>
          <a:p>
            <a:pPr lvl="0" indent="0" marL="0">
              <a:buNone/>
            </a:pPr>
            <a:r>
              <a:rPr/>
              <a:t>Strong consistency vs replica reads</a:t>
            </a:r>
          </a:p>
          <a:p>
            <a:pPr lvl="0" indent="0" marL="0">
              <a:buNone/>
            </a:pPr>
            <a:r>
              <a:rPr/>
              <a:t>Always-fresh vs scalable read load</a:t>
            </a:r>
          </a:p>
          <a:p>
            <a:pPr lvl="0" indent="0" marL="0">
              <a:buNone/>
            </a:pPr>
            <a:r>
              <a:rPr/>
              <a:t>Schema flexibility vs schema integrity</a:t>
            </a:r>
          </a:p>
          <a:p>
            <a:pPr lvl="0" indent="0" marL="0">
              <a:buNone/>
            </a:pPr>
            <a:r>
              <a:rPr/>
              <a:t>Easy migration vs caught-by-database integrity</a:t>
            </a:r>
          </a:p>
          <a:p>
            <a:pPr lvl="0" indent="0" marL="0">
              <a:buNone/>
            </a:pPr>
            <a:r>
              <a:rPr/>
              <a:t>Same Week-4 template: Option A vs Option B / Choice / Why / Accepted cost / Revisit trigger.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Worked Schema Trade-Off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Storage Trade-Offs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15 min: identify 3 trade-off points in your model</a:t>
            </a:r>
          </a:p>
          <a:p>
            <a:pPr lvl="0" indent="0" marL="0">
              <a:buNone/>
            </a:pPr>
            <a:r>
              <a:rPr/>
              <a:t>15 min: write each (Option A/B/Choice/Why/Cost/Trigger)</a:t>
            </a:r>
          </a:p>
          <a:p>
            <a:pPr lvl="0" indent="0" marL="0">
              <a:buNone/>
            </a:pPr>
            <a:r>
              <a:rPr/>
              <a:t>10 min: cross-check against TCD §4 SLOs</a:t>
            </a:r>
          </a:p>
          <a:p>
            <a:pPr lvl="0" indent="0" marL="0">
              <a:buNone/>
            </a:pPr>
            <a:r>
              <a:rPr/>
              <a:t>⏱ 15 + 15 + 10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AI Critique + Polish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Treat the AI as a critic, not an oracle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🧿 Today’s Two Prompts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AI Critique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 • Wrap</a:t>
            </a:r>
          </a:p>
          <a:p>
            <a:pPr lvl="0" indent="0" marL="0">
              <a:buNone/>
            </a:pPr>
            <a:r>
              <a:rPr/>
              <a:t>10 min: Prompt A → 3 issues</a:t>
            </a:r>
          </a:p>
          <a:p>
            <a:pPr lvl="0" indent="0" marL="0">
              <a:buNone/>
            </a:pPr>
            <a:r>
              <a:rPr/>
              <a:t>10 min: adopt / defer / reject</a:t>
            </a:r>
          </a:p>
          <a:p>
            <a:pPr lvl="0" indent="0" marL="0">
              <a:buNone/>
            </a:pPr>
            <a:r>
              <a:rPr/>
              <a:t>10 min: Prompt B → forgotten queries</a:t>
            </a:r>
          </a:p>
          <a:p>
            <a:pPr lvl="0" indent="0" marL="0">
              <a:buNone/>
            </a:pPr>
            <a:r>
              <a:rPr/>
              <a:t>15 min: update §1 + provenance + AI-prose check</a:t>
            </a:r>
          </a:p>
          <a:p>
            <a:pPr lvl="0" indent="0" marL="0">
              <a:buNone/>
            </a:pPr>
            <a:r>
              <a:rPr/>
              <a:t>⏱ 10 + 10 + 10 + 15 · 15-min wrap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1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Access Pattern Sheet</a:t>
            </a:r>
          </a:p>
          <a:p>
            <a:pPr lvl="0" indent="0" marL="0">
              <a:buNone/>
            </a:pPr>
            <a:r>
              <a:rPr/>
              <a:t>Entity model (PKs, indexes, relationships)</a:t>
            </a:r>
          </a:p>
          <a:p>
            <a:pPr lvl="0" indent="0" marL="0">
              <a:buNone/>
            </a:pPr>
            <a:r>
              <a:rPr/>
              <a:t>3+ explicit storage trade-offs</a:t>
            </a:r>
          </a:p>
          <a:p>
            <a:pPr lvl="0" indent="0" marL="0">
              <a:buNone/>
            </a:pPr>
            <a:r>
              <a:rPr/>
              <a:t>TMD §1 drafted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Cloud architecture &amp; infrastructure</a:t>
            </a:r>
          </a:p>
          <a:p>
            <a:pPr lvl="0" indent="0" marL="0">
              <a:buNone/>
            </a:pPr>
            <a:r>
              <a:rPr/>
              <a:t>Region / AZ / managed services</a:t>
            </a:r>
          </a:p>
          <a:p>
            <a:pPr lvl="0" indent="0" marL="0">
              <a:buNone/>
            </a:pPr>
            <a:r>
              <a:rPr/>
              <a:t>Multi-tenancy stance</a:t>
            </a:r>
          </a:p>
          <a:p>
            <a:pPr lvl="0" indent="0" marL="0">
              <a:buNone/>
            </a:pPr>
            <a:r>
              <a:rPr/>
              <a:t>Bring to Day 2: Your TMD §1 + the TCD’s Container diagram. Tomorrow we put the boxes in regions.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Which of your indexes would you cut if writes became 10x more expensive?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2026-05-16T01:27:53Z</dcterms:created>
  <dcterms:modified xsi:type="dcterms:W3CDTF">2026-05-16T01:27:53Z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