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Today: tie data + cloud + API together. Sequence diagrams for happy / sad / weird paths.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16:00, every triad has TMD Section 4 with three sequence diagrams.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sequences ship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happy path so triads internalize the diagram grammar. Watch for missing audit-publish arrows — a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triad’s diagram has 25 lifelines, push them to merge or simplify.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Triads who try to draw “the whole system” in one sequence diagram drown. Coach to one user action.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redraw the whole happy sequence for sad/weird. Just diverge.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audit publish is missing, surface — common compliance miss.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Sad paths come from PRD Section 6 — validation, permission, state conflict are the usual three. Mark the divergence point clearly; that’s where review attention belongs.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sad path that ends “user is stuck” is not designed. Force the recovery.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common sad paths to choose: validation error, permission denied, state conflict.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weird path without a named invariant isn’t designed — it’s hoped. Push triads to state the invariant out loud before they call the diagram done.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can’t name the invariant, the weird-path design isn’t done.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invariant line at the bottom is what makes this diagram a contract, not a sketch.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Push for the invariant. Triads who can’t name it haven’t designed the weird path.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Cross-review surfaces protocol inconsistencies and missing arrows. AI critique works well here — feed it the three diagrams and ask what’s missing.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three diagrams. The reviewer doesn’t need to know every detail; they need to ask these three.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Add to Pattern Library. The “ranked by importance” frame is reusable.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Wrap-share: 1 invariant proudest, 1 AI-surfaced arrow, 1 question diagrams couldn’t answer.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names the invariant their weird path holds.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break-first-under-load test names the next monitoring target. Tomorrow finalizes baselines and AI-summary validation for end-of-week sign-off.</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High-Level Technical Modeling</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5 • Day 4 • Technical Infrastructure &amp; Modeling</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Objectives</a:t>
            </a:r>
          </a:p>
        </p:txBody>
      </p:sp>
      <p:sp>
        <p:nvSpPr>
          <p:cNvPr id="3" name="Content Placeholder 2"/>
          <p:cNvSpPr>
            <a:spLocks noGrp="1"/>
          </p:cNvSpPr>
          <p:nvPr>
            <p:ph idx="1"/>
          </p:nvPr>
        </p:nvSpPr>
        <p:spPr/>
        <p:txBody>
          <a:bodyPr/>
          <a:lstStyle/>
          <a:p>
            <a:pPr lvl="0" indent="0" marL="0">
              <a:buNone/>
            </a:pPr>
            <a:r>
              <a:rPr/>
              <a:t>Draw a happy-path sequence with lifelines, protocols, latencies</a:t>
            </a:r>
          </a:p>
          <a:p>
            <a:pPr lvl="0" indent="0" marL="0">
              <a:buNone/>
            </a:pPr>
            <a:r>
              <a:rPr/>
              <a:t>Draw a sad-path sequence showing user-visible recovery</a:t>
            </a:r>
          </a:p>
          <a:p>
            <a:pPr lvl="0" indent="0" marL="0">
              <a:buNone/>
            </a:pPr>
            <a:r>
              <a:rPr/>
              <a:t>Draw a weird-path sequence with named invariant</a:t>
            </a:r>
          </a:p>
          <a:p>
            <a:pPr lvl="0" indent="0" marL="0">
              <a:buNone/>
            </a:pPr>
            <a:r>
              <a:rPr/>
              <a:t>Verify total latency annotation matches Technical Concept Document (TCD) Section 4 Service Level Objective (SLO) budget</a:t>
            </a:r>
          </a:p>
          <a:p>
            <a:pPr lvl="0" indent="0" marL="0">
              <a:buNone/>
            </a:pPr>
            <a:r>
              <a:rPr/>
              <a:t>Cross-review with another triad and use AI to surface gaps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Pin TMD Sections 1–3; whiteboards out</a:t>
            </a:r>
          </a:p>
          <a:p>
            <a:pPr lvl="0" indent="0" marL="0">
              <a:buNone/>
            </a:pPr>
            <a:r>
              <a:rPr/>
              <a:t>09:15 – 10:30</a:t>
            </a:r>
          </a:p>
          <a:p>
            <a:pPr lvl="0" indent="0" marL="0">
              <a:buNone/>
            </a:pPr>
            <a:r>
              <a:rPr/>
              <a:t>Block 1 + Activity 1</a:t>
            </a:r>
          </a:p>
          <a:p>
            <a:pPr lvl="0" indent="0" marL="0">
              <a:buNone/>
            </a:pPr>
            <a:r>
              <a:rPr/>
              <a:t>Happy-path sequence</a:t>
            </a:r>
          </a:p>
          <a:p>
            <a:pPr lvl="0" indent="0" marL="0">
              <a:buNone/>
            </a:pPr>
            <a:r>
              <a:rPr/>
              <a:t>10:45 – 12:00</a:t>
            </a:r>
          </a:p>
          <a:p>
            <a:pPr lvl="0" indent="0" marL="0">
              <a:buNone/>
            </a:pPr>
            <a:r>
              <a:rPr/>
              <a:t>Block 2 + Activity 2</a:t>
            </a:r>
          </a:p>
          <a:p>
            <a:pPr lvl="0" indent="0" marL="0">
              <a:buNone/>
            </a:pPr>
            <a:r>
              <a:rPr/>
              <a:t>Sad-path sequence</a:t>
            </a:r>
          </a:p>
          <a:p>
            <a:pPr lvl="0" indent="0" marL="0">
              <a:buNone/>
            </a:pPr>
            <a:r>
              <a:rPr/>
              <a:t>13:00 – 14:15</a:t>
            </a:r>
          </a:p>
          <a:p>
            <a:pPr lvl="0" indent="0" marL="0">
              <a:buNone/>
            </a:pPr>
            <a:r>
              <a:rPr/>
              <a:t>Block 3 + Activity 3</a:t>
            </a:r>
          </a:p>
          <a:p>
            <a:pPr lvl="0" indent="0" marL="0">
              <a:buNone/>
            </a:pPr>
            <a:r>
              <a:rPr/>
              <a:t>Weird-path sequence</a:t>
            </a:r>
          </a:p>
          <a:p>
            <a:pPr lvl="0" indent="0" marL="0">
              <a:buNone/>
            </a:pPr>
            <a:r>
              <a:rPr/>
              <a:t>14:30 – 16:00</a:t>
            </a:r>
          </a:p>
          <a:p>
            <a:pPr lvl="0" indent="0" marL="0">
              <a:buNone/>
            </a:pPr>
            <a:r>
              <a:rPr/>
              <a:t>Block 4 + Activity 4 + Wrap</a:t>
            </a:r>
          </a:p>
          <a:p>
            <a:pPr lvl="0" indent="0" marL="0">
              <a:buNone/>
            </a:pPr>
            <a:r>
              <a:rPr/>
              <a:t>Cross-review + AI critique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Happy Path</a:t>
            </a:r>
          </a:p>
        </p:txBody>
      </p:sp>
      <p:sp>
        <p:nvSpPr>
          <p:cNvPr id="3" name="Content Placeholder 2"/>
          <p:cNvSpPr>
            <a:spLocks noGrp="1"/>
          </p:cNvSpPr>
          <p:nvPr>
            <p:ph idx="1"/>
          </p:nvPr>
        </p:nvSpPr>
        <p:spPr/>
        <p:txBody>
          <a:bodyPr/>
          <a:lstStyle/>
          <a:p>
            <a:pPr lvl="0" indent="0" marL="0">
              <a:spcBef>
                <a:spcPts val="3000"/>
              </a:spcBef>
              <a:buNone/>
            </a:pPr>
            <a:r>
              <a:rPr b="1"/>
              <a:t>Time top to bottom; actors as lifelines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Sequence Diagram Anatomy</a:t>
            </a:r>
          </a:p>
        </p:txBody>
      </p:sp>
      <p:sp>
        <p:nvSpPr>
          <p:cNvPr id="3" name="Content Placeholder 2"/>
          <p:cNvSpPr>
            <a:spLocks noGrp="1"/>
          </p:cNvSpPr>
          <p:nvPr>
            <p:ph idx="1"/>
          </p:nvPr>
        </p:nvSpPr>
        <p:spPr/>
        <p:txBody>
          <a:bodyPr/>
          <a:lstStyle/>
          <a:p>
            <a:pPr lvl="0" indent="0" marL="0">
              <a:buNone/>
            </a:pPr>
            <a:r>
              <a:rPr/>
              <a:t>Element</a:t>
            </a:r>
          </a:p>
          <a:p>
            <a:pPr lvl="0" indent="0" marL="0">
              <a:buNone/>
            </a:pPr>
            <a:r>
              <a:rPr/>
              <a:t>What it is</a:t>
            </a:r>
          </a:p>
          <a:p>
            <a:pPr lvl="0" indent="0" marL="0">
              <a:buNone/>
            </a:pPr>
            <a:r>
              <a:rPr/>
              <a:t>Lifeline (vertical)</a:t>
            </a:r>
          </a:p>
          <a:p>
            <a:pPr lvl="0" indent="0" marL="0">
              <a:buNone/>
            </a:pPr>
            <a:r>
              <a:rPr/>
              <a:t>An actor: user, mobile app, service, datastore, queue</a:t>
            </a:r>
          </a:p>
          <a:p>
            <a:pPr lvl="0" indent="0" marL="0">
              <a:buNone/>
            </a:pPr>
            <a:r>
              <a:rPr/>
              <a:t>Solid arrow</a:t>
            </a:r>
          </a:p>
          <a:p>
            <a:pPr lvl="0" indent="0" marL="0">
              <a:buNone/>
            </a:pPr>
            <a:r>
              <a:rPr/>
              <a:t>Synchronous call</a:t>
            </a:r>
          </a:p>
          <a:p>
            <a:pPr lvl="0" indent="0" marL="0">
              <a:buNone/>
            </a:pPr>
            <a:r>
              <a:rPr/>
              <a:t>Dashed arrow</a:t>
            </a:r>
          </a:p>
          <a:p>
            <a:pPr lvl="0" indent="0" marL="0">
              <a:buNone/>
            </a:pPr>
            <a:r>
              <a:rPr/>
              <a:t>Async / fire-and-forget</a:t>
            </a:r>
          </a:p>
          <a:p>
            <a:pPr lvl="0" indent="0" marL="0">
              <a:buNone/>
            </a:pPr>
            <a:r>
              <a:rPr/>
              <a:t>Return arrow (dotted)</a:t>
            </a:r>
          </a:p>
          <a:p>
            <a:pPr lvl="0" indent="0" marL="0">
              <a:buNone/>
            </a:pPr>
            <a:r>
              <a:rPr/>
              <a:t>Response</a:t>
            </a:r>
          </a:p>
          <a:p>
            <a:pPr lvl="0" indent="0" marL="0">
              <a:buNone/>
            </a:pPr>
            <a:r>
              <a:rPr/>
              <a:t>Note</a:t>
            </a:r>
          </a:p>
          <a:p>
            <a:pPr lvl="0" indent="0" marL="0">
              <a:buNone/>
            </a:pPr>
            <a:r>
              <a:rPr/>
              <a:t>Latency budget, condition, annotation</a:t>
            </a:r>
          </a:p>
          <a:p>
            <a:pPr lvl="0" indent="0" marL="0">
              <a:buNone/>
            </a:pPr>
            <a:r>
              <a:rPr/>
              <a:t>Alt / opt block</a:t>
            </a:r>
          </a:p>
          <a:p>
            <a:pPr lvl="0" indent="0" marL="0">
              <a:buNone/>
            </a:pPr>
            <a:r>
              <a:rPr/>
              <a:t>Conditional branch</a:t>
            </a:r>
          </a:p>
          <a:p>
            <a:pPr lvl="0" indent="0" marL="0">
              <a:buNone/>
            </a:pPr>
            <a:r>
              <a:rPr/>
              <a:t>5–12 lifelines. 10–25 arrows. More becomes unreadable.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Right Diagram for the Right Job</a:t>
            </a:r>
          </a:p>
        </p:txBody>
      </p:sp>
      <p:sp>
        <p:nvSpPr>
          <p:cNvPr id="3" name="Content Placeholder 2"/>
          <p:cNvSpPr>
            <a:spLocks noGrp="1"/>
          </p:cNvSpPr>
          <p:nvPr>
            <p:ph idx="1"/>
          </p:nvPr>
        </p:nvSpPr>
        <p:spPr/>
        <p:txBody>
          <a:bodyPr/>
          <a:lstStyle/>
          <a:p>
            <a:pPr lvl="0" indent="0" marL="0">
              <a:buNone/>
            </a:pPr>
            <a:r>
              <a:rPr/>
              <a:t>✅ Sequence is right for</a:t>
            </a:r>
          </a:p>
          <a:p>
            <a:pPr lvl="0" indent="0" marL="0">
              <a:buNone/>
            </a:pPr>
            <a:r>
              <a:rPr/>
              <a:t>One user action’s journey</a:t>
            </a:r>
          </a:p>
          <a:p>
            <a:pPr lvl="0" indent="0" marL="0">
              <a:buNone/>
            </a:pPr>
            <a:r>
              <a:rPr/>
              <a:t>Service interactions during a transaction</a:t>
            </a:r>
          </a:p>
          <a:p>
            <a:pPr lvl="0" indent="0" marL="0">
              <a:buNone/>
            </a:pPr>
            <a:r>
              <a:rPr/>
              <a:t>Order of events; where things go wrong</a:t>
            </a:r>
          </a:p>
          <a:p>
            <a:pPr lvl="0" indent="0" marL="0">
              <a:buNone/>
            </a:pPr>
            <a:r>
              <a:rPr/>
              <a:t>❌ Sequence is wrong for</a:t>
            </a:r>
          </a:p>
          <a:p>
            <a:pPr lvl="0" indent="0" marL="0">
              <a:buNone/>
            </a:pPr>
            <a:r>
              <a:rPr/>
              <a:t>All possible interactions (use Container)</a:t>
            </a:r>
          </a:p>
          <a:p>
            <a:pPr lvl="0" indent="0" marL="0">
              <a:buNone/>
            </a:pPr>
            <a:r>
              <a:rPr/>
              <a:t>Data structure (use an entity-relationship / ER diagram)</a:t>
            </a:r>
          </a:p>
          <a:p>
            <a:pPr lvl="0" indent="0" marL="0">
              <a:buNone/>
            </a:pPr>
            <a:r>
              <a:rPr/>
              <a:t>Deployment topology (use cloud diagram)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Sequences in TMD Section 4</a:t>
            </a:r>
          </a:p>
        </p:txBody>
      </p:sp>
      <p:sp>
        <p:nvSpPr>
          <p:cNvPr id="3" name="Content Placeholder 2"/>
          <p:cNvSpPr>
            <a:spLocks noGrp="1"/>
          </p:cNvSpPr>
          <p:nvPr>
            <p:ph idx="1"/>
          </p:nvPr>
        </p:nvSpPr>
        <p:spPr/>
        <p:txBody>
          <a:bodyPr/>
          <a:lstStyle/>
          <a:p>
            <a:pPr lvl="0" indent="0" marL="0">
              <a:buNone/>
            </a:pPr>
            <a:r>
              <a:rPr/>
              <a:t>Happy path — central success case (full detail)</a:t>
            </a:r>
          </a:p>
          <a:p>
            <a:pPr lvl="0" indent="0" marL="0">
              <a:buNone/>
            </a:pPr>
            <a:r>
              <a:rPr/>
              <a:t>Sad path — most common user/system error (abbreviated)</a:t>
            </a:r>
          </a:p>
          <a:p>
            <a:pPr lvl="0" indent="0" marL="0">
              <a:buNone/>
            </a:pPr>
            <a:r>
              <a:rPr/>
              <a:t>Weird path — edge case from your acceptance criteria (AC) “weird” coverage (abbreviated)</a:t>
            </a:r>
          </a:p>
          <a:p>
            <a:pPr lvl="0" indent="0" marL="0">
              <a:buNone/>
            </a:pPr>
            <a:r>
              <a:rPr/>
              <a:t>Sad and weird paths usually diverge from the happy path at one arrow. Draw from the divergence.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Happy Path</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5 min: identify actors (lifelines)</a:t>
            </a:r>
          </a:p>
          <a:p>
            <a:pPr lvl="0" indent="0" marL="0">
              <a:buNone/>
            </a:pPr>
            <a:r>
              <a:rPr/>
              <a:t>5 min: order them caller→called</a:t>
            </a:r>
          </a:p>
          <a:p>
            <a:pPr lvl="0" indent="0" marL="0">
              <a:buNone/>
            </a:pPr>
            <a:r>
              <a:rPr/>
              <a:t>15 min: draw messages with protocol labels</a:t>
            </a:r>
          </a:p>
          <a:p>
            <a:pPr lvl="0" indent="0" marL="0">
              <a:buNone/>
            </a:pPr>
            <a:r>
              <a:rPr/>
              <a:t>5 min: latency annotations per arrow</a:t>
            </a:r>
          </a:p>
          <a:p>
            <a:pPr lvl="0" indent="0" marL="0">
              <a:buNone/>
            </a:pPr>
            <a:r>
              <a:rPr/>
              <a:t>5 min: 60-sec walk to another triad</a:t>
            </a:r>
          </a:p>
          <a:p>
            <a:pPr lvl="0" indent="0" marL="0">
              <a:buNone/>
            </a:pPr>
            <a:r>
              <a:rPr/>
              <a:t>⏱ 5 + 5 + 15 + 5 + 5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Sad Path</a:t>
            </a:r>
          </a:p>
        </p:txBody>
      </p:sp>
      <p:sp>
        <p:nvSpPr>
          <p:cNvPr id="3" name="Content Placeholder 2"/>
          <p:cNvSpPr>
            <a:spLocks noGrp="1"/>
          </p:cNvSpPr>
          <p:nvPr>
            <p:ph idx="1"/>
          </p:nvPr>
        </p:nvSpPr>
        <p:spPr/>
        <p:txBody>
          <a:bodyPr/>
          <a:lstStyle/>
          <a:p>
            <a:pPr lvl="0" indent="0" marL="0">
              <a:spcBef>
                <a:spcPts val="3000"/>
              </a:spcBef>
              <a:buNone/>
            </a:pPr>
            <a:r>
              <a:rPr b="1"/>
              <a:t>Where the user goes wrong; how we recover gracefully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Sad Path Discipline</a:t>
            </a:r>
          </a:p>
        </p:txBody>
      </p:sp>
      <p:sp>
        <p:nvSpPr>
          <p:cNvPr id="3" name="Content Placeholder 2"/>
          <p:cNvSpPr>
            <a:spLocks noGrp="1"/>
          </p:cNvSpPr>
          <p:nvPr>
            <p:ph idx="1"/>
          </p:nvPr>
        </p:nvSpPr>
        <p:spPr/>
        <p:txBody>
          <a:bodyPr/>
          <a:lstStyle/>
          <a:p>
            <a:pPr lvl="0" indent="0" marL="0">
              <a:buNone/>
            </a:pPr>
            <a:r>
              <a:rPr/>
              <a:t>Pick from Product Requirements Document (PRD) Section 6 sad-path AC</a:t>
            </a:r>
          </a:p>
          <a:p>
            <a:pPr lvl="0" indent="0" marL="0">
              <a:buNone/>
            </a:pPr>
            <a:r>
              <a:rPr/>
              <a:t>Show the divergence point — the arrow where it goes differently</a:t>
            </a:r>
          </a:p>
          <a:p>
            <a:pPr lvl="0" indent="0" marL="0">
              <a:buNone/>
            </a:pPr>
            <a:r>
              <a:rPr/>
              <a:t>Show the status code + error body from Section 3</a:t>
            </a:r>
          </a:p>
          <a:p>
            <a:pPr lvl="0" indent="0" marL="0">
              <a:buNone/>
            </a:pPr>
            <a:r>
              <a:rPr/>
              <a:t>Show the user’s recovery action</a:t>
            </a:r>
          </a:p>
          <a:p>
            <a:pPr lvl="0" indent="0" marL="0">
              <a:buNone/>
            </a:pPr>
            <a:r>
              <a:rPr/>
              <a:t>The user must have a path forward. Not a dead-end.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Sad Path</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5 min: pick the sad path</a:t>
            </a:r>
          </a:p>
          <a:p>
            <a:pPr lvl="0" indent="0" marL="0">
              <a:buNone/>
            </a:pPr>
            <a:r>
              <a:rPr/>
              <a:t>20 min: draw the divergence</a:t>
            </a:r>
          </a:p>
          <a:p>
            <a:pPr lvl="0" indent="0" marL="0">
              <a:buNone/>
            </a:pPr>
            <a:r>
              <a:rPr/>
              <a:t>5 min: status code + error body</a:t>
            </a:r>
          </a:p>
          <a:p>
            <a:pPr lvl="0" indent="0" marL="0">
              <a:buNone/>
            </a:pPr>
            <a:r>
              <a:rPr/>
              <a:t>5 min: user recovery action</a:t>
            </a:r>
          </a:p>
          <a:p>
            <a:pPr lvl="0" indent="0" marL="0">
              <a:buNone/>
            </a:pPr>
            <a:r>
              <a:rPr/>
              <a:t>5 min: 30-sec walk</a:t>
            </a:r>
          </a:p>
          <a:p>
            <a:pPr lvl="0" indent="0" marL="0">
              <a:buNone/>
            </a:pPr>
            <a:r>
              <a:rPr/>
              <a:t>⏱ 5 + 20 + 5 + 5 + 5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Weird Path</a:t>
            </a:r>
          </a:p>
        </p:txBody>
      </p:sp>
      <p:sp>
        <p:nvSpPr>
          <p:cNvPr id="3" name="Content Placeholder 2"/>
          <p:cNvSpPr>
            <a:spLocks noGrp="1"/>
          </p:cNvSpPr>
          <p:nvPr>
            <p:ph idx="1"/>
          </p:nvPr>
        </p:nvSpPr>
        <p:spPr/>
        <p:txBody>
          <a:bodyPr/>
          <a:lstStyle/>
          <a:p>
            <a:pPr lvl="0" indent="0" marL="0">
              <a:spcBef>
                <a:spcPts val="3000"/>
              </a:spcBef>
              <a:buNone/>
            </a:pPr>
            <a:r>
              <a:rPr b="1"/>
              <a:t>Network drop, race, timeout, boundary — with named invariant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Weird Path Discipline</a:t>
            </a:r>
          </a:p>
        </p:txBody>
      </p:sp>
      <p:sp>
        <p:nvSpPr>
          <p:cNvPr id="3" name="Content Placeholder 2"/>
          <p:cNvSpPr>
            <a:spLocks noGrp="1"/>
          </p:cNvSpPr>
          <p:nvPr>
            <p:ph idx="1"/>
          </p:nvPr>
        </p:nvSpPr>
        <p:spPr/>
        <p:txBody>
          <a:bodyPr/>
          <a:lstStyle/>
          <a:p>
            <a:pPr lvl="0" indent="0" marL="0">
              <a:buNone/>
            </a:pPr>
            <a:r>
              <a:rPr/>
              <a:t>Pick from PRD Section 6 weird-path AC</a:t>
            </a:r>
          </a:p>
          <a:p>
            <a:pPr lvl="0" indent="0" marL="0">
              <a:buNone/>
            </a:pPr>
            <a:r>
              <a:rPr/>
              <a:t>Show retry / idempotency / fallback mechanics</a:t>
            </a:r>
          </a:p>
          <a:p>
            <a:pPr lvl="0" indent="0" marL="0">
              <a:buNone/>
            </a:pPr>
            <a:r>
              <a:rPr/>
              <a:t>Name the invariant — the promise we keep even here</a:t>
            </a:r>
          </a:p>
          <a:p>
            <a:pPr lvl="0" indent="0" marL="0">
              <a:buNone/>
            </a:pPr>
            <a:r>
              <a:rPr/>
              <a:t>The named invariant is the senior-author signal. “At most one ReconcileEvent per Idempotency-Key per 24h.”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Worked Weird Path: Network Drop</a:t>
            </a:r>
          </a:p>
        </p:txBody>
      </p:sp>
      <p:sp>
        <p:nvSpPr>
          <p:cNvPr id="3" name="Content Placeholder 2"/>
          <p:cNvSpPr>
            <a:spLocks noGrp="1"/>
          </p:cNvSpPr>
          <p:nvPr>
            <p:ph idx="1"/>
          </p:nvPr>
        </p:nvSpPr>
        <p:spPr/>
        <p:txBody>
          <a:bodyPr/>
          <a:lstStyle/>
          <a:p>
            <a:pPr lvl="0" indent="0">
              <a:buNone/>
            </a:pPr>
            <a:r>
              <a:rPr>
                <a:latin typeface="Courier"/>
              </a:rPr>
              <a:t>Dispatcher    Mobile      API GW    Reconcile    Postgres
│            │           │          │           │
│ tap submit │           │          │           │
│──────────▶│ POST ...  │          │           │
│            │  Idempotency-Key: K1│          │           │
│            │──────────▶│          │           │
│            │           │──────────▶          │
│            │           │          │ INSERT (commit)
│            │           │          │──────────▶
│            │           │          │ ◀── ok
│            │           │ ◀── 201               │
│            │  ✕ network drop                   │
│ ◀──────────  user sees timeout                 │
│ tap retry  │                                    │
│──────────▶│ POST ... Idempotency-Key: K1 (same)│
│            │──────────▶│ idempotency check     │
│            │           │ → return cached 201   │
│            │ ◀── 201                            │
│ ◀──────────  modal closes; no duplicate        │
Invariant: at most one ReconcileEvent per (Idempotency-Key) per 24h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Weird Path</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5 min: pick the weird path</a:t>
            </a:r>
          </a:p>
          <a:p>
            <a:pPr lvl="0" indent="0" marL="0">
              <a:buNone/>
            </a:pPr>
            <a:r>
              <a:rPr/>
              <a:t>25 min: draw divergence + recovery</a:t>
            </a:r>
          </a:p>
          <a:p>
            <a:pPr lvl="0" indent="0" marL="0">
              <a:buNone/>
            </a:pPr>
            <a:r>
              <a:rPr/>
              <a:t>5 min: name the invariant</a:t>
            </a:r>
          </a:p>
          <a:p>
            <a:pPr lvl="0" indent="0" marL="0">
              <a:buNone/>
            </a:pPr>
            <a:r>
              <a:rPr/>
              <a:t>5 min: walk to another triad</a:t>
            </a:r>
          </a:p>
          <a:p>
            <a:pPr lvl="0" indent="0" marL="0">
              <a:buNone/>
            </a:pPr>
            <a:r>
              <a:rPr/>
              <a:t>⏱ 5 + 25 + 5 + 5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Cross-Review + AI Critique</a:t>
            </a:r>
          </a:p>
        </p:txBody>
      </p:sp>
      <p:sp>
        <p:nvSpPr>
          <p:cNvPr id="3" name="Content Placeholder 2"/>
          <p:cNvSpPr>
            <a:spLocks noGrp="1"/>
          </p:cNvSpPr>
          <p:nvPr>
            <p:ph idx="1"/>
          </p:nvPr>
        </p:nvSpPr>
        <p:spPr/>
        <p:txBody>
          <a:bodyPr/>
          <a:lstStyle/>
          <a:p>
            <a:pPr lvl="0" indent="0" marL="0">
              <a:spcBef>
                <a:spcPts val="3000"/>
              </a:spcBef>
              <a:buNone/>
            </a:pPr>
            <a:r>
              <a:rPr b="1"/>
              <a:t>What did we forget?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Cross-Review Questions</a:t>
            </a:r>
          </a:p>
        </p:txBody>
      </p:sp>
      <p:sp>
        <p:nvSpPr>
          <p:cNvPr id="3" name="Content Placeholder 2"/>
          <p:cNvSpPr>
            <a:spLocks noGrp="1"/>
          </p:cNvSpPr>
          <p:nvPr>
            <p:ph idx="1"/>
          </p:nvPr>
        </p:nvSpPr>
        <p:spPr/>
        <p:txBody>
          <a:bodyPr/>
          <a:lstStyle/>
          <a:p>
            <a:pPr lvl="0" indent="0" marL="0">
              <a:buNone/>
            </a:pPr>
            <a:r>
              <a:rPr/>
              <a:t>Happy path: does latency add up? Protocols consistent with Section 3?</a:t>
            </a:r>
          </a:p>
          <a:p>
            <a:pPr lvl="0" indent="0" marL="0">
              <a:buNone/>
            </a:pPr>
            <a:r>
              <a:rPr/>
              <a:t>Sad path: does the user have a clear recovery action?</a:t>
            </a:r>
          </a:p>
          <a:p>
            <a:pPr lvl="0" indent="0" marL="0">
              <a:buNone/>
            </a:pPr>
            <a:r>
              <a:rPr/>
              <a:t>Weird path: is an invariant named? Is the recovery actually safe?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AI Critique Prompt</a:t>
            </a:r>
          </a:p>
        </p:txBody>
      </p:sp>
      <p:sp>
        <p:nvSpPr>
          <p:cNvPr id="3" name="Content Placeholder 2"/>
          <p:cNvSpPr>
            <a:spLocks noGrp="1"/>
          </p:cNvSpPr>
          <p:nvPr>
            <p:ph idx="1"/>
          </p:nvPr>
        </p:nvSpPr>
        <p:spPr/>
        <p:txBody>
          <a:bodyPr/>
          <a:lstStyle/>
          <a:p>
            <a:pPr lvl="0" indent="0">
              <a:buNone/>
            </a:pPr>
            <a:r>
              <a:rPr>
                <a:latin typeface="Courier"/>
              </a:rPr>
              <a:t>Role: Engineering reviewer with strong sequence-diagram instincts.
Context: &lt;plain-text descriptions of the three sequence diagrams,
including all lifelines, arrows, protocols, latencies,
and annotations&gt;
Task: Identify what's missing, ranked by importance:
1. What sad/weird paths are NOT yet diagrammed but should be?
2. What arrow is missing from the happy path?
3. What invariant should be added to the weird path that isn't?
Constraints:
- Do not invent technologies
- Be specific
Format: Three sections; ranked items in each.</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Cross-Review + AI</a:t>
            </a:r>
          </a:p>
        </p:txBody>
      </p:sp>
      <p:sp>
        <p:nvSpPr>
          <p:cNvPr id="3" name="Content Placeholder 2"/>
          <p:cNvSpPr>
            <a:spLocks noGrp="1"/>
          </p:cNvSpPr>
          <p:nvPr>
            <p:ph idx="1"/>
          </p:nvPr>
        </p:nvSpPr>
        <p:spPr/>
        <p:txBody>
          <a:bodyPr/>
          <a:lstStyle/>
          <a:p>
            <a:pPr lvl="0" indent="0" marL="0">
              <a:spcBef>
                <a:spcPts val="3000"/>
              </a:spcBef>
              <a:buNone/>
            </a:pPr>
            <a:r>
              <a:rPr b="1"/>
              <a:t>Triad pairs • 45 minutes • Wrap</a:t>
            </a:r>
          </a:p>
          <a:p>
            <a:pPr lvl="0" indent="0" marL="0">
              <a:buNone/>
            </a:pPr>
            <a:r>
              <a:rPr/>
              <a:t>20 min: cross-review with 3 questions</a:t>
            </a:r>
          </a:p>
          <a:p>
            <a:pPr lvl="0" indent="0" marL="0">
              <a:buNone/>
            </a:pPr>
            <a:r>
              <a:rPr/>
              <a:t>10 min: AI critique</a:t>
            </a:r>
          </a:p>
          <a:p>
            <a:pPr lvl="0" indent="0" marL="0">
              <a:buNone/>
            </a:pPr>
            <a:r>
              <a:rPr/>
              <a:t>10 min: adopt / defer / reject</a:t>
            </a:r>
          </a:p>
          <a:p>
            <a:pPr lvl="0" indent="0" marL="0">
              <a:buNone/>
            </a:pPr>
            <a:r>
              <a:rPr/>
              <a:t>5 min: update Section 4 + provenance</a:t>
            </a:r>
          </a:p>
          <a:p>
            <a:pPr lvl="0" indent="0" marL="0">
              <a:buNone/>
            </a:pPr>
            <a:r>
              <a:rPr/>
              <a:t>⏱ 20 + 10 + 10 + 5 · 15-min wrap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4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Happy-path sequence (with latency)</a:t>
            </a:r>
          </a:p>
          <a:p>
            <a:pPr lvl="0" indent="0" marL="0">
              <a:buNone/>
            </a:pPr>
            <a:r>
              <a:rPr/>
              <a:t>Sad-path sequence (with recovery)</a:t>
            </a:r>
          </a:p>
          <a:p>
            <a:pPr lvl="0" indent="0" marL="0">
              <a:buNone/>
            </a:pPr>
            <a:r>
              <a:rPr/>
              <a:t>Weird-path sequence (with invariant)</a:t>
            </a:r>
          </a:p>
          <a:p>
            <a:pPr lvl="0" indent="0" marL="0">
              <a:buNone/>
            </a:pPr>
            <a:r>
              <a:rPr/>
              <a:t>Cross-reviewed + AI-critiqued</a:t>
            </a:r>
          </a:p>
          <a:p>
            <a:pPr lvl="0" indent="0" marL="0">
              <a:buNone/>
            </a:pPr>
            <a:r>
              <a:rPr/>
              <a:t>Technical Modeling Document (TMD) Section 4 drafted</a:t>
            </a:r>
          </a:p>
          <a:p>
            <a:pPr lvl="0" indent="0" marL="0">
              <a:buNone/>
            </a:pPr>
            <a:r>
              <a:rPr/>
              <a:t>What opens tomorrow</a:t>
            </a:r>
          </a:p>
          <a:p>
            <a:pPr lvl="0" indent="0" marL="0">
              <a:buNone/>
            </a:pPr>
            <a:r>
              <a:rPr/>
              <a:t>Performance baselines + monitoring</a:t>
            </a:r>
          </a:p>
          <a:p>
            <a:pPr lvl="0" indent="0" marL="0">
              <a:buNone/>
            </a:pPr>
            <a:r>
              <a:rPr/>
              <a:t>Validating AI-generated data summaries</a:t>
            </a:r>
          </a:p>
          <a:p>
            <a:pPr lvl="0" indent="0" marL="0">
              <a:buNone/>
            </a:pPr>
            <a:r>
              <a:rPr/>
              <a:t>Friday integration: full TMD ships</a:t>
            </a:r>
          </a:p>
          <a:p>
            <a:pPr lvl="0" indent="0" marL="0">
              <a:buNone/>
            </a:pPr>
            <a:r>
              <a:rPr/>
              <a:t>Bring to Day 5: TMD Sections 1–4. Friday adds Section 5 and assembles the full TMD.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arrow on your happy path would break first under real load?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2026-08-04T16:59:27Z</dcterms:created>
  <dcterms:modified xsi:type="dcterms:W3CDTF">2026-08-04T16:59:27Z</dcterms:modified>
</cp:coreProperties>
</file>

<file path=docProps/custom.xml><?xml version="1.0" encoding="utf-8"?>
<Properties xmlns="http://schemas.openxmlformats.org/officeDocument/2006/custom-properties" xmlns:vt="http://schemas.openxmlformats.org/officeDocument/2006/docPropsVTypes"/>
</file>