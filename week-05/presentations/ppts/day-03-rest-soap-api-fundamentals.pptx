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notesMaster" Target="notesMasters/notesMaster1.xml" /><Relationship Id="rId26" Type="http://schemas.openxmlformats.org/officeDocument/2006/relationships/viewProps" Target="viewProps.xml" /><Relationship Id="rId2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8" Type="http://schemas.openxmlformats.org/officeDocument/2006/relationships/tableStyles" Target="tableStyles.xml" /><Relationship Id="rId27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Today: design the API contract. The contract is what other teams integrate against — get it right and integration is cheap; get it wrong and it ripples for years.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By 16:00, every triad has TMD Section 3 with the API contract.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Arc: calibrate → design → deepen → critique.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Resource modeling is the foundation. Verbs in URLs are the classic rookie error — calibrate the eye in Block 1 before triads design their own endpoints.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Resist the urge to put verbs in URLs. POST + a noun is almost always the right pattern.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200 for everything is a smell. Specific codes are how the client behaves correctly.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“Share” is the calibration. POST /lists/{id}/shares wins. Force the resource framing.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Triads convert yesterday’s entity model into endpoints. The shape must trace to access patterns; if it doesn’t, the data model gets re-examined.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Every header, every code is intentional. No “200 with error in body” anti-pattern.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a triad uses verbs in URLs, redirect to nouns. Standard rookie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“We don’t need versioning yet” is a deferred-cost decision, not an absence of one. Force the strategy choice now — same for idempotency keys and error envelopes.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Most rookie APIs are accidentally non-idempotent. Force the choice.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URL path is the right default. Don’t over-engineer — pick a strategy and document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Standardize this shape across the whole API. Inconsistent errors are integration tax.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Push back on triads who “don’t need versioning yet.” They will. Pick a strategy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SOAP isn’t dead in regulated B2B integration. Block 4 names the specific cases — and uses AI as a hostile integrator to stress-test the REST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SOAP is not dead — it lives at integration boundaries with legacy systems. Don’t dismiss it; just don’t volunteer for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Add to Pattern Library. Reusable for any future API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Wrap-share: 1 endpoint proudest, 1 idempotency choice, 1 hardest error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Round-robin close: each person names a status code they’ll never confuse again (400 vs 422 is common).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hostile-partner lens is the bar APIs ship against. Tomorrow rolls the API, data model, and infra into a high-level technical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22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🔗 REST &amp; SOAP API Fundamentals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Week 5 • Day 3 • Technical Infrastructure &amp;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TPM Academy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Day 3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 REST resource modeling — nouns, not verbs</a:t>
            </a:r>
          </a:p>
          <a:p>
            <a:pPr lvl="0" indent="0" marL="0">
              <a:buNone/>
            </a:pPr>
            <a:r>
              <a:rPr/>
              <a:t>Apply HTTP methods + status codes consistently</a:t>
            </a:r>
          </a:p>
          <a:p>
            <a:pPr lvl="0" indent="0" marL="0">
              <a:buNone/>
            </a:pPr>
            <a:r>
              <a:rPr/>
              <a:t>Design idempotency for safe retries</a:t>
            </a:r>
          </a:p>
          <a:p>
            <a:pPr lvl="0" indent="0" marL="0">
              <a:buNone/>
            </a:pPr>
            <a:r>
              <a:rPr/>
              <a:t>Pick a versioning strategy</a:t>
            </a:r>
          </a:p>
          <a:p>
            <a:pPr lvl="0" indent="0" marL="0">
              <a:buNone/>
            </a:pPr>
            <a:r>
              <a:rPr/>
              <a:t>Standardize error semantics with the 7 most-needed codes</a:t>
            </a:r>
          </a:p>
          <a:p>
            <a:pPr lvl="0" indent="0" marL="0">
              <a:buNone/>
            </a:pPr>
            <a:r>
              <a:rPr/>
              <a:t>Know when SOAP is still the right call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🕑 Today’s Shape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Clock</a:t>
            </a:r>
          </a:p>
          <a:p>
            <a:pPr lvl="0" indent="0" marL="0">
              <a:buNone/>
            </a:pPr>
            <a:r>
              <a:rPr/>
              <a:t>Block</a:t>
            </a:r>
          </a:p>
          <a:p>
            <a:pPr lvl="0" indent="0" marL="0">
              <a:buNone/>
            </a:pPr>
            <a:r>
              <a:rPr/>
              <a:t>Outcome</a:t>
            </a:r>
          </a:p>
          <a:p>
            <a:pPr lvl="0" indent="0" marL="0">
              <a:buNone/>
            </a:pPr>
            <a:r>
              <a:rPr/>
              <a:t>09:00 – 09:15</a:t>
            </a:r>
          </a:p>
          <a:p>
            <a:pPr lvl="0" indent="0" marL="0">
              <a:buNone/>
            </a:pPr>
            <a:r>
              <a:rPr/>
              <a:t>Opening</a:t>
            </a:r>
          </a:p>
          <a:p>
            <a:pPr lvl="0" indent="0" marL="0">
              <a:buNone/>
            </a:pPr>
            <a:r>
              <a:rPr/>
              <a:t>Pin TMD Sections 1–2; recap REST principles</a:t>
            </a:r>
          </a:p>
          <a:p>
            <a:pPr lvl="0" indent="0" marL="0">
              <a:buNone/>
            </a:pPr>
            <a:r>
              <a:rPr/>
              <a:t>09:15 – 10:30</a:t>
            </a:r>
          </a:p>
          <a:p>
            <a:pPr lvl="0" indent="0" marL="0">
              <a:buNone/>
            </a:pPr>
            <a:r>
              <a:rPr/>
              <a:t>Block 1 + Activity 1</a:t>
            </a:r>
          </a:p>
          <a:p>
            <a:pPr lvl="0" indent="0" marL="0">
              <a:buNone/>
            </a:pPr>
            <a:r>
              <a:rPr/>
              <a:t>Resource modeling calibration</a:t>
            </a:r>
          </a:p>
          <a:p>
            <a:pPr lvl="0" indent="0" marL="0">
              <a:buNone/>
            </a:pPr>
            <a:r>
              <a:rPr/>
              <a:t>10:45 – 12:00</a:t>
            </a:r>
          </a:p>
          <a:p>
            <a:pPr lvl="0" indent="0" marL="0">
              <a:buNone/>
            </a:pPr>
            <a:r>
              <a:rPr/>
              <a:t>Block 2 + Activity 2</a:t>
            </a:r>
          </a:p>
          <a:p>
            <a:pPr lvl="0" indent="0" marL="0">
              <a:buNone/>
            </a:pPr>
            <a:r>
              <a:rPr/>
              <a:t>Design your feature’s API</a:t>
            </a:r>
          </a:p>
          <a:p>
            <a:pPr lvl="0" indent="0" marL="0">
              <a:buNone/>
            </a:pPr>
            <a:r>
              <a:rPr/>
              <a:t>13:00 – 14:15</a:t>
            </a:r>
          </a:p>
          <a:p>
            <a:pPr lvl="0" indent="0" marL="0">
              <a:buNone/>
            </a:pPr>
            <a:r>
              <a:rPr/>
              <a:t>Block 3 + Activity 3</a:t>
            </a:r>
          </a:p>
          <a:p>
            <a:pPr lvl="0" indent="0" marL="0">
              <a:buNone/>
            </a:pPr>
            <a:r>
              <a:rPr/>
              <a:t>Idempotency, versioning, errors</a:t>
            </a:r>
          </a:p>
          <a:p>
            <a:pPr lvl="0" indent="0" marL="0">
              <a:buNone/>
            </a:pPr>
            <a:r>
              <a:rPr/>
              <a:t>14:30 – 16:00</a:t>
            </a:r>
          </a:p>
          <a:p>
            <a:pPr lvl="0" indent="0" marL="0">
              <a:buNone/>
            </a:pPr>
            <a:r>
              <a:rPr/>
              <a:t>Block 4 + Activity 4 + Wrap</a:t>
            </a:r>
          </a:p>
          <a:p>
            <a:pPr lvl="0" indent="0" marL="0">
              <a:buNone/>
            </a:pPr>
            <a:r>
              <a:rPr/>
              <a:t>REST vs SOAP + AI critique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1 — REST &amp; Resource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Nouns, not verbs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📚 REST Method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Method</a:t>
            </a:r>
          </a:p>
          <a:p>
            <a:pPr lvl="0" indent="0" marL="0">
              <a:buNone/>
            </a:pPr>
            <a:r>
              <a:rPr/>
              <a:t>Purpose</a:t>
            </a:r>
          </a:p>
          <a:p>
            <a:pPr lvl="0" indent="0" marL="0">
              <a:buNone/>
            </a:pPr>
            <a:r>
              <a:rPr/>
              <a:t>Idempotent?</a:t>
            </a:r>
          </a:p>
          <a:p>
            <a:pPr lvl="0" indent="0" marL="0">
              <a:buNone/>
            </a:pPr>
            <a:r>
              <a:rPr/>
              <a:t>GET</a:t>
            </a:r>
          </a:p>
          <a:p>
            <a:pPr lvl="0" indent="0" marL="0">
              <a:buNone/>
            </a:pPr>
            <a:r>
              <a:rPr/>
              <a:t>Retrieve</a:t>
            </a:r>
          </a:p>
          <a:p>
            <a:pPr lvl="0" indent="0" marL="0">
              <a:buNone/>
            </a:pPr>
            <a:r>
              <a:rPr/>
              <a:t>Yes</a:t>
            </a:r>
          </a:p>
          <a:p>
            <a:pPr lvl="0" indent="0" marL="0">
              <a:buNone/>
            </a:pPr>
            <a:r>
              <a:rPr/>
              <a:t>POST</a:t>
            </a:r>
          </a:p>
          <a:p>
            <a:pPr lvl="0" indent="0" marL="0">
              <a:buNone/>
            </a:pPr>
            <a:r>
              <a:rPr/>
              <a:t>Create</a:t>
            </a:r>
          </a:p>
          <a:p>
            <a:pPr lvl="0" indent="0" marL="0">
              <a:buNone/>
            </a:pPr>
            <a:r>
              <a:rPr/>
              <a:t>No (typically)</a:t>
            </a:r>
          </a:p>
          <a:p>
            <a:pPr lvl="0" indent="0" marL="0">
              <a:buNone/>
            </a:pPr>
            <a:r>
              <a:rPr/>
              <a:t>PUT</a:t>
            </a:r>
          </a:p>
          <a:p>
            <a:pPr lvl="0" indent="0" marL="0">
              <a:buNone/>
            </a:pPr>
            <a:r>
              <a:rPr/>
              <a:t>Replace</a:t>
            </a:r>
          </a:p>
          <a:p>
            <a:pPr lvl="0" indent="0" marL="0">
              <a:buNone/>
            </a:pPr>
            <a:r>
              <a:rPr/>
              <a:t>Yes</a:t>
            </a:r>
          </a:p>
          <a:p>
            <a:pPr lvl="0" indent="0" marL="0">
              <a:buNone/>
            </a:pPr>
            <a:r>
              <a:rPr/>
              <a:t>PATCH</a:t>
            </a:r>
          </a:p>
          <a:p>
            <a:pPr lvl="0" indent="0" marL="0">
              <a:buNone/>
            </a:pPr>
            <a:r>
              <a:rPr/>
              <a:t>Partial update</a:t>
            </a:r>
          </a:p>
          <a:p>
            <a:pPr lvl="0" indent="0" marL="0">
              <a:buNone/>
            </a:pPr>
            <a:r>
              <a:rPr/>
              <a:t>No (typically)</a:t>
            </a:r>
          </a:p>
          <a:p>
            <a:pPr lvl="0" indent="0" marL="0">
              <a:buNone/>
            </a:pPr>
            <a:r>
              <a:rPr/>
              <a:t>DELETE</a:t>
            </a:r>
          </a:p>
          <a:p>
            <a:pPr lvl="0" indent="0" marL="0">
              <a:buNone/>
            </a:pPr>
            <a:r>
              <a:rPr/>
              <a:t>Remove</a:t>
            </a:r>
          </a:p>
          <a:p>
            <a:pPr lvl="0" indent="0" marL="0">
              <a:buNone/>
            </a:pPr>
            <a:r>
              <a:rPr/>
              <a:t>Yes</a:t>
            </a:r>
          </a:p>
          <a:p>
            <a:pPr lvl="0" indent="0" marL="0">
              <a:buNone/>
            </a:pPr>
            <a:r>
              <a:rPr/>
              <a:t>URLs are nouns (resources). The verb is the HTTP method. POST /share is wrong; POST /shares is right.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📊 Status Codes That Carry Meaning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Code</a:t>
            </a:r>
          </a:p>
          <a:p>
            <a:pPr lvl="0" indent="0" marL="0">
              <a:buNone/>
            </a:pPr>
            <a:r>
              <a:rPr/>
              <a:t>Meaning</a:t>
            </a:r>
          </a:p>
          <a:p>
            <a:pPr lvl="0" indent="0" marL="0">
              <a:buNone/>
            </a:pPr>
            <a:r>
              <a:rPr/>
              <a:t>When</a:t>
            </a:r>
          </a:p>
          <a:p>
            <a:pPr lvl="0" indent="0" marL="0">
              <a:buNone/>
            </a:pPr>
            <a:r>
              <a:rPr/>
              <a:t>200</a:t>
            </a:r>
          </a:p>
          <a:p>
            <a:pPr lvl="0" indent="0" marL="0">
              <a:buNone/>
            </a:pPr>
            <a:r>
              <a:rPr/>
              <a:t>OK</a:t>
            </a:r>
          </a:p>
          <a:p>
            <a:pPr lvl="0" indent="0" marL="0">
              <a:buNone/>
            </a:pPr>
            <a:r>
              <a:rPr/>
              <a:t>Successful retrieval / update</a:t>
            </a:r>
          </a:p>
          <a:p>
            <a:pPr lvl="0" indent="0" marL="0">
              <a:buNone/>
            </a:pPr>
            <a:r>
              <a:rPr/>
              <a:t>201</a:t>
            </a:r>
          </a:p>
          <a:p>
            <a:pPr lvl="0" indent="0" marL="0">
              <a:buNone/>
            </a:pPr>
            <a:r>
              <a:rPr/>
              <a:t>Created</a:t>
            </a:r>
          </a:p>
          <a:p>
            <a:pPr lvl="0" indent="0" marL="0">
              <a:buNone/>
            </a:pPr>
            <a:r>
              <a:rPr/>
              <a:t>Successful creation</a:t>
            </a:r>
          </a:p>
          <a:p>
            <a:pPr lvl="0" indent="0" marL="0">
              <a:buNone/>
            </a:pPr>
            <a:r>
              <a:rPr/>
              <a:t>204</a:t>
            </a:r>
          </a:p>
          <a:p>
            <a:pPr lvl="0" indent="0" marL="0">
              <a:buNone/>
            </a:pPr>
            <a:r>
              <a:rPr/>
              <a:t>No content</a:t>
            </a:r>
          </a:p>
          <a:p>
            <a:pPr lvl="0" indent="0" marL="0">
              <a:buNone/>
            </a:pPr>
            <a:r>
              <a:rPr/>
              <a:t>Successful with no body (e.g., DELETE)</a:t>
            </a:r>
          </a:p>
          <a:p>
            <a:pPr lvl="0" indent="0" marL="0">
              <a:buNone/>
            </a:pPr>
            <a:r>
              <a:rPr/>
              <a:t>400</a:t>
            </a:r>
          </a:p>
          <a:p>
            <a:pPr lvl="0" indent="0" marL="0">
              <a:buNone/>
            </a:pPr>
            <a:r>
              <a:rPr/>
              <a:t>Bad request</a:t>
            </a:r>
          </a:p>
          <a:p>
            <a:pPr lvl="0" indent="0" marL="0">
              <a:buNone/>
            </a:pPr>
            <a:r>
              <a:rPr/>
              <a:t>Validation failed</a:t>
            </a:r>
          </a:p>
          <a:p>
            <a:pPr lvl="0" indent="0" marL="0">
              <a:buNone/>
            </a:pPr>
            <a:r>
              <a:rPr/>
              <a:t>401</a:t>
            </a:r>
          </a:p>
          <a:p>
            <a:pPr lvl="0" indent="0" marL="0">
              <a:buNone/>
            </a:pPr>
            <a:r>
              <a:rPr/>
              <a:t>Unauthenticated</a:t>
            </a:r>
          </a:p>
          <a:p>
            <a:pPr lvl="0" indent="0" marL="0">
              <a:buNone/>
            </a:pPr>
            <a:r>
              <a:rPr/>
              <a:t>Missing / invalid token</a:t>
            </a:r>
          </a:p>
          <a:p>
            <a:pPr lvl="0" indent="0" marL="0">
              <a:buNone/>
            </a:pPr>
            <a:r>
              <a:rPr/>
              <a:t>403</a:t>
            </a:r>
          </a:p>
          <a:p>
            <a:pPr lvl="0" indent="0" marL="0">
              <a:buNone/>
            </a:pPr>
            <a:r>
              <a:rPr/>
              <a:t>Unauthorized</a:t>
            </a:r>
          </a:p>
          <a:p>
            <a:pPr lvl="0" indent="0" marL="0">
              <a:buNone/>
            </a:pPr>
            <a:r>
              <a:rPr/>
              <a:t>Token valid; lacks permission</a:t>
            </a:r>
          </a:p>
          <a:p>
            <a:pPr lvl="0" indent="0" marL="0">
              <a:buNone/>
            </a:pPr>
            <a:r>
              <a:rPr/>
              <a:t>404</a:t>
            </a:r>
          </a:p>
          <a:p>
            <a:pPr lvl="0" indent="0" marL="0">
              <a:buNone/>
            </a:pPr>
            <a:r>
              <a:rPr/>
              <a:t>Not found</a:t>
            </a:r>
          </a:p>
          <a:p>
            <a:pPr lvl="0" indent="0" marL="0">
              <a:buNone/>
            </a:pPr>
            <a:r>
              <a:rPr/>
              <a:t>Resource doesn’t exist</a:t>
            </a:r>
          </a:p>
          <a:p>
            <a:pPr lvl="0" indent="0" marL="0">
              <a:buNone/>
            </a:pPr>
            <a:r>
              <a:rPr/>
              <a:t>409</a:t>
            </a:r>
          </a:p>
          <a:p>
            <a:pPr lvl="0" indent="0" marL="0">
              <a:buNone/>
            </a:pPr>
            <a:r>
              <a:rPr/>
              <a:t>Conflict</a:t>
            </a:r>
          </a:p>
          <a:p>
            <a:pPr lvl="0" indent="0" marL="0">
              <a:buNone/>
            </a:pPr>
            <a:r>
              <a:rPr/>
              <a:t>Idempotency / state collision</a:t>
            </a:r>
          </a:p>
          <a:p>
            <a:pPr lvl="0" indent="0" marL="0">
              <a:buNone/>
            </a:pPr>
            <a:r>
              <a:rPr/>
              <a:t>422</a:t>
            </a:r>
          </a:p>
          <a:p>
            <a:pPr lvl="0" indent="0" marL="0">
              <a:buNone/>
            </a:pPr>
            <a:r>
              <a:rPr/>
              <a:t>Unprocessable</a:t>
            </a:r>
          </a:p>
          <a:p>
            <a:pPr lvl="0" indent="0" marL="0">
              <a:buNone/>
            </a:pPr>
            <a:r>
              <a:rPr/>
              <a:t>Validated but business rule violated</a:t>
            </a:r>
          </a:p>
          <a:p>
            <a:pPr lvl="0" indent="0" marL="0">
              <a:buNone/>
            </a:pPr>
            <a:r>
              <a:rPr/>
              <a:t>429</a:t>
            </a:r>
          </a:p>
          <a:p>
            <a:pPr lvl="0" indent="0" marL="0">
              <a:buNone/>
            </a:pPr>
            <a:r>
              <a:rPr/>
              <a:t>Rate limited</a:t>
            </a:r>
          </a:p>
          <a:p>
            <a:pPr lvl="0" indent="0" marL="0">
              <a:buNone/>
            </a:pPr>
            <a:r>
              <a:rPr/>
              <a:t>Too many requests</a:t>
            </a:r>
          </a:p>
          <a:p>
            <a:pPr lvl="0" indent="0" marL="0">
              <a:buNone/>
            </a:pPr>
            <a:r>
              <a:rPr/>
              <a:t>500/502/503</a:t>
            </a:r>
          </a:p>
          <a:p>
            <a:pPr lvl="0" indent="0" marL="0">
              <a:buNone/>
            </a:pPr>
            <a:r>
              <a:rPr/>
              <a:t>Server side</a:t>
            </a:r>
          </a:p>
          <a:p>
            <a:pPr lvl="0" indent="0" marL="0">
              <a:buNone/>
            </a:pPr>
            <a:r>
              <a:rPr/>
              <a:t>Different shapes of “us, not you”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1 — Resource Calibration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35 minutes</a:t>
            </a:r>
          </a:p>
          <a:p>
            <a:pPr lvl="0" indent="0" marL="0">
              <a:buNone/>
            </a:pPr>
            <a:r>
              <a:rPr/>
              <a:t>Design the resource model for a generic todo-list API (lists / items / collaborators).</a:t>
            </a:r>
          </a:p>
          <a:p>
            <a:pPr lvl="0" indent="0" marL="0">
              <a:buNone/>
            </a:pPr>
            <a:r>
              <a:rPr/>
              <a:t>10 min: sketch resources + URLs</a:t>
            </a:r>
          </a:p>
          <a:p>
            <a:pPr lvl="0" indent="0" marL="0">
              <a:buNone/>
            </a:pPr>
            <a:r>
              <a:rPr/>
              <a:t>10 min: methods per resource</a:t>
            </a:r>
          </a:p>
          <a:p>
            <a:pPr lvl="0" indent="0" marL="0">
              <a:buNone/>
            </a:pPr>
            <a:r>
              <a:rPr/>
              <a:t>10 min: trickiest design choice (sharing, reordering)</a:t>
            </a:r>
          </a:p>
          <a:p>
            <a:pPr lvl="0" indent="0" marL="0">
              <a:buNone/>
            </a:pPr>
            <a:r>
              <a:rPr/>
              <a:t>5 min: argue + readout prep</a:t>
            </a:r>
          </a:p>
          <a:p>
            <a:pPr lvl="0" indent="0" marL="0">
              <a:buNone/>
            </a:pPr>
            <a:r>
              <a:rPr/>
              <a:t>⏱ 10 + 10 + 10 + 5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2 — Your Feature’s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From entities to endpoints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📝 Worked Endpoint (FieldPulse)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POST /v1/dispatchers/{dispatcher_id}/reconcile-events
Headers:
Authorization: Bearer &lt;SSO JWT, scope: reconcile.write&gt;
Idempotency-Key: &lt;client UUID&gt;
Body:
ticket_ids: UUID[] (1..100)
submitted_at: ISO 8601 timestamp
client_metadata: { user_agent, location }
Responses:
201 Created — { id, ticket_ids, submitted_at }
400 Validation error — { error.code, fields[] }
401 Missing/invalid token
403 Token lacks reconcile.write scope
409 Idempotency-Key conflict
422 Tickets ineligible
429 Rate limited — Retry-After: &lt;seconds&gt;</a:t>
            </a:r>
          </a:p>
          <a:p>
            <a:pPr lvl="0" indent="0" marL="0">
              <a:buNone/>
            </a:pPr>
            <a:r>
              <a:rPr/>
              <a:t>The Authorization header carries a single sign-on (SSO) token.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2 — Design Your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40 minutes</a:t>
            </a:r>
          </a:p>
          <a:p>
            <a:pPr lvl="0" indent="0" marL="0">
              <a:buNone/>
            </a:pPr>
            <a:r>
              <a:rPr/>
              <a:t>10 min: list resources from data model</a:t>
            </a:r>
          </a:p>
          <a:p>
            <a:pPr lvl="0" indent="0" marL="0">
              <a:buNone/>
            </a:pPr>
            <a:r>
              <a:rPr/>
              <a:t>10 min: design URL paths</a:t>
            </a:r>
          </a:p>
          <a:p>
            <a:pPr lvl="0" indent="0" marL="0">
              <a:buNone/>
            </a:pPr>
            <a:r>
              <a:rPr/>
              <a:t>10 min: methods + status codes per path</a:t>
            </a:r>
          </a:p>
          <a:p>
            <a:pPr lvl="0" indent="0" marL="0">
              <a:buNone/>
            </a:pPr>
            <a:r>
              <a:rPr/>
              <a:t>10 min: document one endpoint in detail</a:t>
            </a:r>
          </a:p>
          <a:p>
            <a:pPr lvl="0" indent="0" marL="0">
              <a:buNone/>
            </a:pPr>
            <a:r>
              <a:rPr/>
              <a:t>⏱ 10 + 10 + 10 + 10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3 — Idempotency, Versioning, Errors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aspects most often hand-waved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🔄 Idempotency — Safe to Retry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Natural</a:t>
            </a:r>
          </a:p>
          <a:p>
            <a:pPr lvl="0" indent="0" marL="0">
              <a:buNone/>
            </a:pPr>
            <a:r>
              <a:rPr/>
              <a:t>PUT and DELETE are idempotent by HTTP definition.</a:t>
            </a:r>
          </a:p>
          <a:p>
            <a:pPr lvl="0" indent="0" marL="0">
              <a:buNone/>
            </a:pPr>
            <a:r>
              <a:rPr/>
              <a:t>Idempotency-Key header</a:t>
            </a:r>
          </a:p>
          <a:p>
            <a:pPr lvl="0" indent="0" marL="0">
              <a:buNone/>
            </a:pPr>
            <a:r>
              <a:rPr/>
              <a:t>Client sends a UUID; server stores key + response; returns same response on retry.</a:t>
            </a:r>
          </a:p>
          <a:p>
            <a:pPr lvl="0" indent="0" marL="0">
              <a:buNone/>
            </a:pPr>
            <a:r>
              <a:rPr/>
              <a:t>Conditional</a:t>
            </a:r>
          </a:p>
          <a:p>
            <a:pPr lvl="0" indent="0" marL="0">
              <a:buNone/>
            </a:pPr>
            <a:r>
              <a:rPr/>
              <a:t>If-Match / If-None-Match gate the operation by version.</a:t>
            </a:r>
          </a:p>
          <a:p>
            <a:pPr lvl="0" indent="0" marL="0">
              <a:buNone/>
            </a:pPr>
            <a:r>
              <a:rPr/>
              <a:t>For mutating endpoints: decide approach + window (typical: 24 hours).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📚 Versioning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Strategy</a:t>
            </a:r>
          </a:p>
          <a:p>
            <a:pPr lvl="0" indent="0" marL="0">
              <a:buNone/>
            </a:pPr>
            <a:r>
              <a:rPr/>
              <a:t>Where version lives</a:t>
            </a:r>
          </a:p>
          <a:p>
            <a:pPr lvl="0" indent="0" marL="0">
              <a:buNone/>
            </a:pPr>
            <a:r>
              <a:rPr/>
              <a:t>Pros</a:t>
            </a:r>
          </a:p>
          <a:p>
            <a:pPr lvl="0" indent="0" marL="0">
              <a:buNone/>
            </a:pPr>
            <a:r>
              <a:rPr/>
              <a:t>Cons</a:t>
            </a:r>
          </a:p>
          <a:p>
            <a:pPr lvl="0" indent="0" marL="0">
              <a:buNone/>
            </a:pPr>
            <a:r>
              <a:rPr/>
              <a:t>URL path</a:t>
            </a:r>
          </a:p>
          <a:p>
            <a:pPr lvl="0" indent="0" marL="0">
              <a:buNone/>
            </a:pPr>
            <a:r>
              <a:rPr/>
              <a:t>/v1/…</a:t>
            </a:r>
          </a:p>
          <a:p>
            <a:pPr lvl="0" indent="0" marL="0">
              <a:buNone/>
            </a:pPr>
            <a:r>
              <a:rPr/>
              <a:t>Easy to read; clear breaking</a:t>
            </a:r>
          </a:p>
          <a:p>
            <a:pPr lvl="0" indent="0" marL="0">
              <a:buNone/>
            </a:pPr>
            <a:r>
              <a:rPr/>
              <a:t>Code duplication</a:t>
            </a:r>
          </a:p>
          <a:p>
            <a:pPr lvl="0" indent="0" marL="0">
              <a:buNone/>
            </a:pPr>
            <a:r>
              <a:rPr/>
              <a:t>Header</a:t>
            </a:r>
          </a:p>
          <a:p>
            <a:pPr lvl="0" indent="0" marL="0">
              <a:buNone/>
            </a:pPr>
            <a:r>
              <a:rPr/>
              <a:t>X-API-Version: 2</a:t>
            </a:r>
          </a:p>
          <a:p>
            <a:pPr lvl="0" indent="0" marL="0">
              <a:buNone/>
            </a:pPr>
            <a:r>
              <a:rPr/>
              <a:t>URL stays clean</a:t>
            </a:r>
          </a:p>
          <a:p>
            <a:pPr lvl="0" indent="0" marL="0">
              <a:buNone/>
            </a:pPr>
            <a:r>
              <a:rPr/>
              <a:t>Less discoverable</a:t>
            </a:r>
          </a:p>
          <a:p>
            <a:pPr lvl="0" indent="0" marL="0">
              <a:buNone/>
            </a:pPr>
            <a:r>
              <a:rPr/>
              <a:t>Content negotiation</a:t>
            </a:r>
          </a:p>
          <a:p>
            <a:pPr lvl="0" indent="0" marL="0">
              <a:buNone/>
            </a:pPr>
            <a:r>
              <a:rPr/>
              <a:t>Accept: …vnd…;v=2</a:t>
            </a:r>
          </a:p>
          <a:p>
            <a:pPr lvl="0" indent="0" marL="0">
              <a:buNone/>
            </a:pPr>
            <a:r>
              <a:rPr/>
              <a:t>Standard</a:t>
            </a:r>
          </a:p>
          <a:p>
            <a:pPr lvl="0" indent="0" marL="0">
              <a:buNone/>
            </a:pPr>
            <a:r>
              <a:rPr/>
              <a:t>Often poorly understood</a:t>
            </a:r>
          </a:p>
          <a:p>
            <a:pPr lvl="0" indent="0" marL="0">
              <a:buNone/>
            </a:pPr>
            <a:r>
              <a:rPr/>
              <a:t>Default for B2B APIs: URL path versioning.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⚠️ Error Body Shape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{
"error": {
"code": "ticket_not_eligible",
"message": "Ticket cannot be reconciled in current state",
"fields": [
{"name": "ticket_ids[3]", "reason": "ticket already reconciled"}
]
},
"request_id": "req_01H...",
"documentation_url": "https://docs.../errors/ticket_not_eligible"
}</a:t>
            </a:r>
          </a:p>
          <a:p>
            <a:pPr lvl="0" indent="0" marL="0">
              <a:buNone/>
            </a:pPr>
            <a:r>
              <a:rPr/>
              <a:t>code — programmatic; clients switch on this</a:t>
            </a:r>
          </a:p>
          <a:p>
            <a:pPr lvl="0" indent="0" marL="0">
              <a:buNone/>
            </a:pPr>
            <a:r>
              <a:rPr/>
              <a:t>message — human-readable</a:t>
            </a:r>
          </a:p>
          <a:p>
            <a:pPr lvl="0" indent="0" marL="0">
              <a:buNone/>
            </a:pPr>
            <a:r>
              <a:rPr/>
              <a:t>fields — when validation failed</a:t>
            </a:r>
          </a:p>
          <a:p>
            <a:pPr lvl="0" indent="0" marL="0">
              <a:buNone/>
            </a:pPr>
            <a:r>
              <a:rPr/>
              <a:t>request_id — for support tickets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3 — Idempotency, Versioning, Errors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40 minutes</a:t>
            </a:r>
          </a:p>
          <a:p>
            <a:pPr lvl="0" indent="0" marL="0">
              <a:buNone/>
            </a:pPr>
            <a:r>
              <a:rPr/>
              <a:t>15 min: idempotency per mutating endpoint + window</a:t>
            </a:r>
          </a:p>
          <a:p>
            <a:pPr lvl="0" indent="0" marL="0">
              <a:buNone/>
            </a:pPr>
            <a:r>
              <a:rPr/>
              <a:t>10 min: pick versioning strategy</a:t>
            </a:r>
          </a:p>
          <a:p>
            <a:pPr lvl="0" indent="0" marL="0">
              <a:buNone/>
            </a:pPr>
            <a:r>
              <a:rPr/>
              <a:t>15 min: error body shape + 7 most-needed codes</a:t>
            </a:r>
          </a:p>
          <a:p>
            <a:pPr lvl="0" indent="0" marL="0">
              <a:buNone/>
            </a:pPr>
            <a:r>
              <a:rPr/>
              <a:t>⏱ 15 + 10 + 15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4 — REST vs SOAP + AI Critique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When SOAP is still the right answer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📚 When SOAP Is Still the Right Call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Integration partner only speaks SOAP (banks, government, Electronic Data Interchange (EDI)-adjacent)</a:t>
            </a:r>
          </a:p>
          <a:p>
            <a:pPr lvl="0" indent="0" marL="0">
              <a:buNone/>
            </a:pPr>
            <a:r>
              <a:rPr/>
              <a:t>WS-Security or WS-ReliableMessaging contractually required</a:t>
            </a:r>
          </a:p>
          <a:p>
            <a:pPr lvl="0" indent="0" marL="0">
              <a:buNone/>
            </a:pPr>
            <a:r>
              <a:rPr/>
              <a:t>Partner has invested heavily in SOAP tooling; rewrite is impractical</a:t>
            </a:r>
          </a:p>
          <a:p>
            <a:pPr lvl="0" indent="0" marL="0">
              <a:buNone/>
            </a:pPr>
            <a:r>
              <a:rPr/>
              <a:t>For most new B2B features: REST + JSON. SOAP appears occasionally for legacy enterprise integrations. Document the choice honestly.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🤖 AI Critique Prompt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Role: API design reviewer with strong REST opinions.
Context: &lt;paste URL paths, methods, status codes, error body
shape, idempotency approach, versioning strategy&gt;
Task: Identify the top 5 issues in this API contract.
Constraints:
- Be specific: cite the path, method, or convention
- For each, suggest the correction
- Avoid pedantic preferences (singular/plural is fine
if consistent)
Format: Numbered — Issue / What's wrong / Fix.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4 — SOAP + AI Critique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45 minutes • Wrap</a:t>
            </a:r>
          </a:p>
          <a:p>
            <a:pPr lvl="0" indent="0" marL="0">
              <a:buNone/>
            </a:pPr>
            <a:r>
              <a:rPr/>
              <a:t>10 min: SOAP question — any partner needs it?</a:t>
            </a:r>
          </a:p>
          <a:p>
            <a:pPr lvl="0" indent="0" marL="0">
              <a:buNone/>
            </a:pPr>
            <a:r>
              <a:rPr/>
              <a:t>10 min: AI critique → 5 issues</a:t>
            </a:r>
          </a:p>
          <a:p>
            <a:pPr lvl="0" indent="0" marL="0">
              <a:buNone/>
            </a:pPr>
            <a:r>
              <a:rPr/>
              <a:t>10 min: adopt / defer / reject</a:t>
            </a:r>
          </a:p>
          <a:p>
            <a:pPr lvl="0" indent="0" marL="0">
              <a:buNone/>
            </a:pPr>
            <a:r>
              <a:rPr/>
              <a:t>10 min: polish Section 3 + provenance</a:t>
            </a:r>
          </a:p>
          <a:p>
            <a:pPr lvl="0" indent="0" marL="0">
              <a:buNone/>
            </a:pPr>
            <a:r>
              <a:rPr/>
              <a:t>⏱ 10 + 10 + 10 + 10 · 15-min wrap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🎉 Day 3 Wrap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we built</a:t>
            </a:r>
          </a:p>
          <a:p>
            <a:pPr lvl="0" indent="0" marL="0">
              <a:buNone/>
            </a:pPr>
            <a:r>
              <a:rPr/>
              <a:t>Resource design with URLs</a:t>
            </a:r>
          </a:p>
          <a:p>
            <a:pPr lvl="0" indent="0" marL="0">
              <a:buNone/>
            </a:pPr>
            <a:r>
              <a:rPr/>
              <a:t>Methods + status codes</a:t>
            </a:r>
          </a:p>
          <a:p>
            <a:pPr lvl="0" indent="0" marL="0">
              <a:buNone/>
            </a:pPr>
            <a:r>
              <a:rPr/>
              <a:t>One detailed endpoint</a:t>
            </a:r>
          </a:p>
          <a:p>
            <a:pPr lvl="0" indent="0" marL="0">
              <a:buNone/>
            </a:pPr>
            <a:r>
              <a:rPr/>
              <a:t>Idempotency / versioning / error semantics</a:t>
            </a:r>
          </a:p>
          <a:p>
            <a:pPr lvl="0" indent="0" marL="0">
              <a:buNone/>
            </a:pPr>
            <a:r>
              <a:rPr/>
              <a:t>SOAP exceptions documented</a:t>
            </a:r>
          </a:p>
          <a:p>
            <a:pPr lvl="0" indent="0" marL="0">
              <a:buNone/>
            </a:pPr>
            <a:r>
              <a:rPr/>
              <a:t>Technical Modeling Document (TMD) Section 3 drafted</a:t>
            </a:r>
          </a:p>
          <a:p>
            <a:pPr lvl="0" indent="0" marL="0">
              <a:buNone/>
            </a:pPr>
            <a:r>
              <a:rPr/>
              <a:t>What opens tomorrow</a:t>
            </a:r>
          </a:p>
          <a:p>
            <a:pPr lvl="0" indent="0" marL="0">
              <a:buNone/>
            </a:pPr>
            <a:r>
              <a:rPr/>
              <a:t>High-level technical modeling</a:t>
            </a:r>
          </a:p>
          <a:p>
            <a:pPr lvl="0" indent="0" marL="0">
              <a:buNone/>
            </a:pPr>
            <a:r>
              <a:rPr/>
              <a:t>Sequence diagrams — happy + sad/weird</a:t>
            </a:r>
          </a:p>
          <a:p>
            <a:pPr lvl="0" indent="0" marL="0">
              <a:buNone/>
            </a:pPr>
            <a:r>
              <a:rPr/>
              <a:t>Putting data + cloud + APIs together</a:t>
            </a:r>
          </a:p>
          <a:p>
            <a:pPr lvl="0" indent="0" marL="0">
              <a:buNone/>
            </a:pPr>
            <a:r>
              <a:rPr/>
              <a:t>Bring to Day 4: TMD Sections 1–3. Tomorrow we draw the sequences end-to-end.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💬 Questions &amp;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Which of your endpoints would a hostile integration partner break first?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2026-08-04T16:59:25Z</dcterms:created>
  <dcterms:modified xsi:type="dcterms:W3CDTF">2026-08-04T16:59:25Z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