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notesMaster" Target="notesMasters/notesMaster1.xml" /><Relationship Id="rId33" Type="http://schemas.openxmlformats.org/officeDocument/2006/relationships/viewProps" Target="viewProps.xml" /><Relationship Id="rId32" Type="http://schemas.openxmlformats.org/officeDocument/2006/relationships/presProps" Target="presProps.xml" /><Relationship Id="rId1" Type="http://schemas.openxmlformats.org/officeDocument/2006/relationships/slideMaster" Target="slideMasters/slideMaster1.xml" /><Relationship Id="rId35" Type="http://schemas.openxmlformats.org/officeDocument/2006/relationships/tableStyles" Target="tableStyles.xml" /><Relationship Id="rId3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this as a live review game to close the week. Read the question, let triads commit to an answer out loud or on paper, then advance to the answer slide. The goal is retention through retrieval — make them commit before revealing.</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commitment before reveal. The retrieval effort is what moves knowledge into long-term memory — passively recognizing the right answer does far less.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rookie move is reverse — design the schema, then discover queries are slow. Force queries first.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Queries first, schema second. This is the whole discipline of Day 1 Block 1.</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trap is relational, since it’s the B2B default. But caches and sessions are the textbook key-value case.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the four buckets — the TPM’s job is to name the access pattern so the architect can pick the engine.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them vote. This is the single most important framing of Day 1 disguised as a T/F.</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triad that volunteers “let’s use Postgres” without describing access patterns has skipped the work.</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of these are legitimate. One is the vague one that hides the absence of a real reason.</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B2B features should be 80%+ managed. Self-managed is the exception that needs a named reason.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 “should” with no customer requirement is the tell. Let them wrestle with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Public HTTPS is the default for B2B SaaS. VPN and Direct Connect are contract-driven, not aspiration-driven.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People remember compute and storage. The one that surprises finance is the traffic leaving the cloud.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Provenance-log any cost figures you keep. Engineering refines; the TPM catches the surprise.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tests whether they read the status-code table for meaning, not just for “success vs error.”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200 for everything is a smell. Codes carry meaning — that’s the point of the table.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verb in the URL is the tell. Let them argue — this is the most common REST slip.</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Resist verbs in URLs. POST + a noun resource is almost always the right pattern.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tempting answers are the mechanical ones. The senior move is naming the promise you keep even under the edge case.</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Weird paths diverge from the happy path at one arrow — don’t redraw everything. Name the invariant and show the recovery.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 long as it’s rare” is the trap. Rarity doesn’t excuse a dead-end.</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the divergence point, the status code + error body from §3, and the recovery. That’s a complete sad path.</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four questions: meaning, on-call action, threshold + window, severity. Miss any one and it fails the test.</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Right-size: 3–5 alerts per feature. Track “mute reasons” — it’s the audit trail of alert quality.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one. This is the discipline that ties Weeks 2–5 together — the cumulative validation log.</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log is cumulative across the academy. The next TPM should be able to audit every entry.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by asking each triad which single question they got wrong and why. The misses are where next week’s coaching starts.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Week 5 Knowledge Check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Technical Infrastructure &amp; Modeling</a:t>
            </a:r>
          </a:p>
        </p:txBody>
      </p:sp>
      <p:sp>
        <p:nvSpPr>
          <p:cNvPr id="3" name="Content Placeholder 2"/>
          <p:cNvSpPr>
            <a:spLocks noGrp="1"/>
          </p:cNvSpPr>
          <p:nvPr>
            <p:ph idx="1"/>
          </p:nvPr>
        </p:nvSpPr>
        <p:spPr/>
        <p:txBody>
          <a:bodyPr/>
          <a:lstStyle/>
          <a:p>
            <a:pPr lvl="0" indent="0" marL="0">
              <a:spcBef>
                <a:spcPts val="3000"/>
              </a:spcBef>
              <a:buNone/>
            </a:pPr>
            <a:r>
              <a:rPr b="1"/>
              <a:t>Technical Product Manager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How This Works</a:t>
            </a:r>
          </a:p>
        </p:txBody>
      </p:sp>
      <p:sp>
        <p:nvSpPr>
          <p:cNvPr id="3" name="Content Placeholder 2"/>
          <p:cNvSpPr>
            <a:spLocks noGrp="1"/>
          </p:cNvSpPr>
          <p:nvPr>
            <p:ph idx="1"/>
          </p:nvPr>
        </p:nvSpPr>
        <p:spPr/>
        <p:txBody>
          <a:bodyPr/>
          <a:lstStyle/>
          <a:p>
            <a:pPr lvl="0" indent="0" marL="0">
              <a:buNone/>
            </a:pPr>
            <a:r>
              <a:rPr/>
              <a:t>12 questions across the week — data models, cloud architecture, REST/SOAP APIs, sequence modeling, baselines &amp; monitoring, AI-summary validation.  Commit to an answer before the reveal. Retrieval is the point.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a:t>
            </a:r>
          </a:p>
        </p:txBody>
      </p:sp>
      <p:sp>
        <p:nvSpPr>
          <p:cNvPr id="3" name="Content Placeholder 2"/>
          <p:cNvSpPr>
            <a:spLocks noGrp="1"/>
          </p:cNvSpPr>
          <p:nvPr>
            <p:ph idx="1"/>
          </p:nvPr>
        </p:nvSpPr>
        <p:spPr/>
        <p:txBody>
          <a:bodyPr/>
          <a:lstStyle/>
          <a:p>
            <a:pPr lvl="0" indent="0" marL="0">
              <a:buNone/>
            </a:pPr>
            <a:r>
              <a:rPr/>
              <a:t>In the “Access Pattern First” discipline, what is the first step before designing a schema?</a:t>
            </a:r>
          </a:p>
          <a:p>
            <a:pPr lvl="0" indent="-342900" marL="342900">
              <a:buAutoNum type="alphaUcParenR"/>
            </a:pPr>
            <a:r>
              <a:rPr/>
              <a:t>Pick the database engine (Postgres by default)</a:t>
            </a:r>
          </a:p>
          <a:p>
            <a:pPr lvl="0" indent="-342900" marL="342900">
              <a:buAutoNum type="alphaUcParenR"/>
            </a:pPr>
            <a:r>
              <a:rPr/>
              <a:t>List the queries the feature needs</a:t>
            </a:r>
          </a:p>
          <a:p>
            <a:pPr lvl="0" indent="-342900" marL="342900">
              <a:buAutoNum type="alphaUcParenR"/>
            </a:pPr>
            <a:r>
              <a:rPr/>
              <a:t>Draw the entity-relationship diagram</a:t>
            </a:r>
          </a:p>
          <a:p>
            <a:pPr lvl="0" indent="-342900" marL="342900">
              <a:buAutoNum type="alphaUcParenR"/>
            </a:pPr>
            <a:r>
              <a:rPr/>
              <a:t>Add indexes to speed up reads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 — B</a:t>
            </a:r>
          </a:p>
        </p:txBody>
      </p:sp>
      <p:sp>
        <p:nvSpPr>
          <p:cNvPr id="3" name="Content Placeholder 2"/>
          <p:cNvSpPr>
            <a:spLocks noGrp="1"/>
          </p:cNvSpPr>
          <p:nvPr>
            <p:ph idx="1"/>
          </p:nvPr>
        </p:nvSpPr>
        <p:spPr/>
        <p:txBody>
          <a:bodyPr/>
          <a:lstStyle/>
          <a:p>
            <a:pPr lvl="0" indent="0" marL="0">
              <a:buNone/>
            </a:pPr>
            <a:r>
              <a:rPr/>
              <a:t>List the queries the feature needs.</a:t>
            </a:r>
          </a:p>
          <a:p>
            <a:pPr lvl="0" indent="0" marL="0">
              <a:buNone/>
            </a:pPr>
            <a:r>
              <a:rPr/>
              <a:t>Then design the schema so those queries are cheap. If a data model can’t be defended by the queries that drive it, it’s wrong.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2</a:t>
            </a:r>
          </a:p>
        </p:txBody>
      </p:sp>
      <p:sp>
        <p:nvSpPr>
          <p:cNvPr id="3" name="Content Placeholder 2"/>
          <p:cNvSpPr>
            <a:spLocks noGrp="1"/>
          </p:cNvSpPr>
          <p:nvPr>
            <p:ph idx="1"/>
          </p:nvPr>
        </p:nvSpPr>
        <p:spPr/>
        <p:txBody>
          <a:bodyPr/>
          <a:lstStyle/>
          <a:p>
            <a:pPr lvl="0" indent="0" marL="0">
              <a:buNone/>
            </a:pPr>
            <a:r>
              <a:rPr/>
              <a:t>Which storage bucket do you reach for when you need high throughput, simple lookups, caches, and sessions?</a:t>
            </a:r>
          </a:p>
          <a:p>
            <a:pPr lvl="0" indent="-342900" marL="342900">
              <a:buAutoNum type="alphaUcParenR"/>
            </a:pPr>
            <a:r>
              <a:rPr/>
              <a:t>Relational (Postgres, MySQL)</a:t>
            </a:r>
          </a:p>
          <a:p>
            <a:pPr lvl="0" indent="-342900" marL="342900">
              <a:buAutoNum type="alphaUcParenR"/>
            </a:pPr>
            <a:r>
              <a:rPr/>
              <a:t>Document (MongoDB, Firestore)</a:t>
            </a:r>
          </a:p>
          <a:p>
            <a:pPr lvl="0" indent="-342900" marL="342900">
              <a:buAutoNum type="alphaUcParenR"/>
            </a:pPr>
            <a:r>
              <a:rPr/>
              <a:t>Key-value (Redis, DynamoDB)</a:t>
            </a:r>
          </a:p>
          <a:p>
            <a:pPr lvl="0" indent="-342900" marL="342900">
              <a:buAutoNum type="alphaUcParenR"/>
            </a:pPr>
            <a:r>
              <a:rPr/>
              <a:t>Search (Elasticsearch, OpenSearch)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2 — C</a:t>
            </a:r>
          </a:p>
        </p:txBody>
      </p:sp>
      <p:sp>
        <p:nvSpPr>
          <p:cNvPr id="3" name="Content Placeholder 2"/>
          <p:cNvSpPr>
            <a:spLocks noGrp="1"/>
          </p:cNvSpPr>
          <p:nvPr>
            <p:ph idx="1"/>
          </p:nvPr>
        </p:nvSpPr>
        <p:spPr/>
        <p:txBody>
          <a:bodyPr/>
          <a:lstStyle/>
          <a:p>
            <a:pPr lvl="0" indent="0" marL="0">
              <a:buNone/>
            </a:pPr>
            <a:r>
              <a:rPr/>
              <a:t>Key-value (Redis, DynamoDB).</a:t>
            </a:r>
          </a:p>
          <a:p>
            <a:pPr lvl="0" indent="0" marL="0">
              <a:buNone/>
            </a:pPr>
            <a:r>
              <a:rPr/>
              <a:t>High throughput, simple lookups, caches, sessions. Relational is the B2B default; document is flexible/hierarchical; search is full-text.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3 — True / False</a:t>
            </a:r>
          </a:p>
        </p:txBody>
      </p:sp>
      <p:sp>
        <p:nvSpPr>
          <p:cNvPr id="3" name="Content Placeholder 2"/>
          <p:cNvSpPr>
            <a:spLocks noGrp="1"/>
          </p:cNvSpPr>
          <p:nvPr>
            <p:ph idx="1"/>
          </p:nvPr>
        </p:nvSpPr>
        <p:spPr/>
        <p:txBody>
          <a:bodyPr/>
          <a:lstStyle/>
          <a:p>
            <a:pPr lvl="0" indent="0" marL="0">
              <a:buNone/>
            </a:pPr>
            <a:r>
              <a:rPr/>
              <a:t>In this course, the TPM’s job is to pick the database engine — for example, deciding Postgres vs MongoDB.</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3 — False</a:t>
            </a:r>
          </a:p>
        </p:txBody>
      </p:sp>
      <p:sp>
        <p:nvSpPr>
          <p:cNvPr id="3" name="Content Placeholder 2"/>
          <p:cNvSpPr>
            <a:spLocks noGrp="1"/>
          </p:cNvSpPr>
          <p:nvPr>
            <p:ph idx="1"/>
          </p:nvPr>
        </p:nvSpPr>
        <p:spPr/>
        <p:txBody>
          <a:bodyPr/>
          <a:lstStyle/>
          <a:p>
            <a:pPr lvl="0" indent="0" marL="0">
              <a:buNone/>
            </a:pPr>
            <a:r>
              <a:rPr/>
              <a:t>The TPM doesn’t pick the engine.</a:t>
            </a:r>
          </a:p>
          <a:p>
            <a:pPr lvl="0" indent="0" marL="0">
              <a:buNone/>
            </a:pPr>
            <a:r>
              <a:rPr/>
              <a:t>The TPM describes the access pattern clearly enough that the architect can.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4</a:t>
            </a:r>
          </a:p>
        </p:txBody>
      </p:sp>
      <p:sp>
        <p:nvSpPr>
          <p:cNvPr id="3" name="Content Placeholder 2"/>
          <p:cNvSpPr>
            <a:spLocks noGrp="1"/>
          </p:cNvSpPr>
          <p:nvPr>
            <p:ph idx="1"/>
          </p:nvPr>
        </p:nvSpPr>
        <p:spPr/>
        <p:txBody>
          <a:bodyPr/>
          <a:lstStyle/>
          <a:p>
            <a:pPr lvl="0" indent="0" marL="0">
              <a:buNone/>
            </a:pPr>
            <a:r>
              <a:rPr/>
              <a:t>In the managed-vs-self “Four-Question Test,” which justification for self-managing is called a “smell”?</a:t>
            </a:r>
          </a:p>
          <a:p>
            <a:pPr lvl="0" indent="-342900" marL="342900">
              <a:buAutoNum type="alphaUcParenR"/>
            </a:pPr>
            <a:r>
              <a:rPr/>
              <a:t>“Failure modes don’t match our needs”</a:t>
            </a:r>
          </a:p>
          <a:p>
            <a:pPr lvl="0" indent="-342900" marL="342900">
              <a:buAutoNum type="alphaUcParenR"/>
            </a:pPr>
            <a:r>
              <a:rPr/>
              <a:t>“Compliance forbids the managed service”</a:t>
            </a:r>
          </a:p>
          <a:p>
            <a:pPr lvl="0" indent="-342900" marL="342900">
              <a:buAutoNum type="alphaUcParenR"/>
            </a:pPr>
            <a:r>
              <a:rPr/>
              <a:t>“We want full control”</a:t>
            </a:r>
          </a:p>
          <a:p>
            <a:pPr lvl="0" indent="-342900" marL="342900">
              <a:buAutoNum type="alphaUcParenR"/>
            </a:pPr>
            <a:r>
              <a:rPr/>
              <a:t>“Cost is unreasonable at our scale”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4 — C</a:t>
            </a:r>
          </a:p>
        </p:txBody>
      </p:sp>
      <p:sp>
        <p:nvSpPr>
          <p:cNvPr id="3" name="Content Placeholder 2"/>
          <p:cNvSpPr>
            <a:spLocks noGrp="1"/>
          </p:cNvSpPr>
          <p:nvPr>
            <p:ph idx="1"/>
          </p:nvPr>
        </p:nvSpPr>
        <p:spPr/>
        <p:txBody>
          <a:bodyPr/>
          <a:lstStyle/>
          <a:p>
            <a:pPr lvl="0" indent="0" marL="0">
              <a:buNone/>
            </a:pPr>
            <a:r>
              <a:rPr/>
              <a:t>“We want full control.”</a:t>
            </a:r>
          </a:p>
          <a:p>
            <a:pPr lvl="0" indent="0" marL="0">
              <a:buNone/>
            </a:pPr>
            <a:r>
              <a:rPr/>
              <a:t>Default to managed. Push: what specific decision does the managed service foreclose? The other three are legitimate reasons to self-manage.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5 — True / False</a:t>
            </a:r>
          </a:p>
        </p:txBody>
      </p:sp>
      <p:sp>
        <p:nvSpPr>
          <p:cNvPr id="3" name="Content Placeholder 2"/>
          <p:cNvSpPr>
            <a:spLocks noGrp="1"/>
          </p:cNvSpPr>
          <p:nvPr>
            <p:ph idx="1"/>
          </p:nvPr>
        </p:nvSpPr>
        <p:spPr/>
        <p:txBody>
          <a:bodyPr/>
          <a:lstStyle/>
          <a:p>
            <a:pPr lvl="0" indent="0" marL="0">
              <a:buNone/>
            </a:pPr>
            <a:r>
              <a:rPr/>
              <a:t>“We should be more secure” is a sufficient reason to adopt a customer-VPN-only network boundary.</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5 — False</a:t>
            </a:r>
          </a:p>
        </p:txBody>
      </p:sp>
      <p:sp>
        <p:nvSpPr>
          <p:cNvPr id="3" name="Content Placeholder 2"/>
          <p:cNvSpPr>
            <a:spLocks noGrp="1"/>
          </p:cNvSpPr>
          <p:nvPr>
            <p:ph idx="1"/>
          </p:nvPr>
        </p:nvSpPr>
        <p:spPr/>
        <p:txBody>
          <a:bodyPr/>
          <a:lstStyle/>
          <a:p>
            <a:pPr lvl="0" indent="0" marL="0">
              <a:buNone/>
            </a:pPr>
            <a:r>
              <a:rPr/>
              <a:t>Don’t volunteer for VPN-only — it triples ops complexity.</a:t>
            </a:r>
          </a:p>
          <a:p>
            <a:pPr lvl="0" indent="0" marL="0">
              <a:buNone/>
            </a:pPr>
            <a:r>
              <a:rPr/>
              <a:t>“More secure” is a reason for stronger TLS. Only choose customer-VPN if a customer requires it.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6</a:t>
            </a:r>
          </a:p>
        </p:txBody>
      </p:sp>
      <p:sp>
        <p:nvSpPr>
          <p:cNvPr id="3" name="Content Placeholder 2"/>
          <p:cNvSpPr>
            <a:spLocks noGrp="1"/>
          </p:cNvSpPr>
          <p:nvPr>
            <p:ph idx="1"/>
          </p:nvPr>
        </p:nvSpPr>
        <p:spPr/>
        <p:txBody>
          <a:bodyPr/>
          <a:lstStyle/>
          <a:p>
            <a:pPr lvl="0" indent="0" marL="0">
              <a:buNone/>
            </a:pPr>
            <a:r>
              <a:rPr/>
              <a:t>In the ROM cost table, which cost is called out as the most-forgotten?</a:t>
            </a:r>
          </a:p>
          <a:p>
            <a:pPr lvl="0" indent="-342900" marL="342900">
              <a:buAutoNum type="alphaUcParenR"/>
            </a:pPr>
            <a:r>
              <a:rPr/>
              <a:t>Postgres (RDS) hours</a:t>
            </a:r>
          </a:p>
          <a:p>
            <a:pPr lvl="0" indent="-342900" marL="342900">
              <a:buAutoNum type="alphaUcParenR"/>
            </a:pPr>
            <a:r>
              <a:rPr/>
              <a:t>Egress bandwidth</a:t>
            </a:r>
          </a:p>
          <a:p>
            <a:pPr lvl="0" indent="-342900" marL="342900">
              <a:buAutoNum type="alphaUcParenR"/>
            </a:pPr>
            <a:r>
              <a:rPr/>
              <a:t>S3 storage</a:t>
            </a:r>
          </a:p>
          <a:p>
            <a:pPr lvl="0" indent="-342900" marL="342900">
              <a:buAutoNum type="alphaUcParenR"/>
            </a:pPr>
            <a:r>
              <a:rPr/>
              <a:t>Load balancer LCUs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6 — B</a:t>
            </a:r>
          </a:p>
        </p:txBody>
      </p:sp>
      <p:sp>
        <p:nvSpPr>
          <p:cNvPr id="3" name="Content Placeholder 2"/>
          <p:cNvSpPr>
            <a:spLocks noGrp="1"/>
          </p:cNvSpPr>
          <p:nvPr>
            <p:ph idx="1"/>
          </p:nvPr>
        </p:nvSpPr>
        <p:spPr/>
        <p:txBody>
          <a:bodyPr/>
          <a:lstStyle/>
          <a:p>
            <a:pPr lvl="0" indent="0" marL="0">
              <a:buNone/>
            </a:pPr>
            <a:r>
              <a:rPr/>
              <a:t>Egress bandwidth.</a:t>
            </a:r>
          </a:p>
          <a:p>
            <a:pPr lvl="0" indent="0" marL="0">
              <a:buNone/>
            </a:pPr>
            <a:r>
              <a:rPr/>
              <a:t>ROM goal is rough order of magnitude. The TPM job: catch the 2x surprise before it ships — and egress is the one that hides.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7</a:t>
            </a:r>
          </a:p>
        </p:txBody>
      </p:sp>
      <p:sp>
        <p:nvSpPr>
          <p:cNvPr id="3" name="Content Placeholder 2"/>
          <p:cNvSpPr>
            <a:spLocks noGrp="1"/>
          </p:cNvSpPr>
          <p:nvPr>
            <p:ph idx="1"/>
          </p:nvPr>
        </p:nvSpPr>
        <p:spPr/>
        <p:txBody>
          <a:bodyPr/>
          <a:lstStyle/>
          <a:p>
            <a:pPr lvl="0" indent="0" marL="0">
              <a:buNone/>
            </a:pPr>
            <a:r>
              <a:rPr/>
              <a:t>Which HTTP status code signals an idempotency or state collision?</a:t>
            </a:r>
          </a:p>
          <a:p>
            <a:pPr lvl="0" indent="-342900" marL="342900">
              <a:buAutoNum type="alphaUcParenR"/>
            </a:pPr>
            <a:r>
              <a:rPr/>
              <a:t>400 Bad request</a:t>
            </a:r>
          </a:p>
          <a:p>
            <a:pPr lvl="0" indent="-342900" marL="342900">
              <a:buAutoNum type="alphaUcParenR"/>
            </a:pPr>
            <a:r>
              <a:rPr/>
              <a:t>403 Unauthorized</a:t>
            </a:r>
          </a:p>
          <a:p>
            <a:pPr lvl="0" indent="-342900" marL="342900">
              <a:buAutoNum type="alphaUcParenR"/>
            </a:pPr>
            <a:r>
              <a:rPr/>
              <a:t>409 Conflict</a:t>
            </a:r>
          </a:p>
          <a:p>
            <a:pPr lvl="0" indent="-342900" marL="342900">
              <a:buAutoNum type="alphaUcParenR"/>
            </a:pPr>
            <a:r>
              <a:rPr/>
              <a:t>422 Unprocessable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7 — C</a:t>
            </a:r>
          </a:p>
        </p:txBody>
      </p:sp>
      <p:sp>
        <p:nvSpPr>
          <p:cNvPr id="3" name="Content Placeholder 2"/>
          <p:cNvSpPr>
            <a:spLocks noGrp="1"/>
          </p:cNvSpPr>
          <p:nvPr>
            <p:ph idx="1"/>
          </p:nvPr>
        </p:nvSpPr>
        <p:spPr/>
        <p:txBody>
          <a:bodyPr/>
          <a:lstStyle/>
          <a:p>
            <a:pPr lvl="0" indent="0" marL="0">
              <a:buNone/>
            </a:pPr>
            <a:r>
              <a:rPr/>
              <a:t>409 Conflict.</a:t>
            </a:r>
          </a:p>
          <a:p>
            <a:pPr lvl="0" indent="0" marL="0">
              <a:buNone/>
            </a:pPr>
            <a:r>
              <a:rPr/>
              <a:t>401 = unauthenticated. 403 = authenticated but lacks permission. 422 = validated but violates a business rule. Specific codes are how the client behaves correctly.</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8 — True / False</a:t>
            </a:r>
          </a:p>
        </p:txBody>
      </p:sp>
      <p:sp>
        <p:nvSpPr>
          <p:cNvPr id="3" name="Content Placeholder 2"/>
          <p:cNvSpPr>
            <a:spLocks noGrp="1"/>
          </p:cNvSpPr>
          <p:nvPr>
            <p:ph idx="1"/>
          </p:nvPr>
        </p:nvSpPr>
        <p:spPr/>
        <p:txBody>
          <a:bodyPr/>
          <a:lstStyle/>
          <a:p>
            <a:pPr lvl="0" indent="0" marL="0">
              <a:buNone/>
            </a:pPr>
            <a:r>
              <a:rPr/>
              <a:t>For a “share” action, POST /share (a verb in the URL) is the recommended REST pattern.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8 — False</a:t>
            </a:r>
          </a:p>
        </p:txBody>
      </p:sp>
      <p:sp>
        <p:nvSpPr>
          <p:cNvPr id="3" name="Content Placeholder 2"/>
          <p:cNvSpPr>
            <a:spLocks noGrp="1"/>
          </p:cNvSpPr>
          <p:nvPr>
            <p:ph idx="1"/>
          </p:nvPr>
        </p:nvSpPr>
        <p:spPr/>
        <p:txBody>
          <a:bodyPr/>
          <a:lstStyle/>
          <a:p>
            <a:pPr lvl="0" indent="0" marL="0">
              <a:buNone/>
            </a:pPr>
            <a:r>
              <a:rPr/>
              <a:t>URLs are nouns; the verb is the HTTP method.</a:t>
            </a:r>
          </a:p>
          <a:p>
            <a:pPr lvl="0" indent="0" marL="0">
              <a:buNone/>
            </a:pPr>
            <a:r>
              <a:rPr/>
              <a:t>POST /share is wrong. POST /shares is right.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9</a:t>
            </a:r>
          </a:p>
        </p:txBody>
      </p:sp>
      <p:sp>
        <p:nvSpPr>
          <p:cNvPr id="3" name="Content Placeholder 2"/>
          <p:cNvSpPr>
            <a:spLocks noGrp="1"/>
          </p:cNvSpPr>
          <p:nvPr>
            <p:ph idx="1"/>
          </p:nvPr>
        </p:nvSpPr>
        <p:spPr/>
        <p:txBody>
          <a:bodyPr/>
          <a:lstStyle/>
          <a:p>
            <a:pPr lvl="0" indent="0" marL="0">
              <a:buNone/>
            </a:pPr>
            <a:r>
              <a:rPr/>
              <a:t>In a weird-path sequence diagram, what is described as the “senior-author signal”?</a:t>
            </a:r>
          </a:p>
          <a:p>
            <a:pPr lvl="0" indent="-342900" marL="342900">
              <a:buAutoNum type="alphaUcParenR"/>
            </a:pPr>
            <a:r>
              <a:rPr/>
              <a:t>Showing every lifeline in the whole system</a:t>
            </a:r>
          </a:p>
          <a:p>
            <a:pPr lvl="0" indent="-342900" marL="342900">
              <a:buAutoNum type="alphaUcParenR"/>
            </a:pPr>
            <a:r>
              <a:rPr/>
              <a:t>Naming the invariant the design preserves</a:t>
            </a:r>
          </a:p>
          <a:p>
            <a:pPr lvl="0" indent="-342900" marL="342900">
              <a:buAutoNum type="alphaUcParenR"/>
            </a:pPr>
            <a:r>
              <a:rPr/>
              <a:t>Redrawing the full happy path first</a:t>
            </a:r>
          </a:p>
          <a:p>
            <a:pPr lvl="0" indent="-342900" marL="342900">
              <a:buAutoNum type="alphaUcParenR"/>
            </a:pPr>
            <a:r>
              <a:rPr/>
              <a:t>Adding a latency-budget note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9 — B</a:t>
            </a:r>
          </a:p>
        </p:txBody>
      </p:sp>
      <p:sp>
        <p:nvSpPr>
          <p:cNvPr id="3" name="Content Placeholder 2"/>
          <p:cNvSpPr>
            <a:spLocks noGrp="1"/>
          </p:cNvSpPr>
          <p:nvPr>
            <p:ph idx="1"/>
          </p:nvPr>
        </p:nvSpPr>
        <p:spPr/>
        <p:txBody>
          <a:bodyPr/>
          <a:lstStyle/>
          <a:p>
            <a:pPr lvl="0" indent="0" marL="0">
              <a:buNone/>
            </a:pPr>
            <a:r>
              <a:rPr/>
              <a:t>Naming the invariant.</a:t>
            </a:r>
          </a:p>
          <a:p>
            <a:pPr lvl="0" indent="0" marL="0">
              <a:buNone/>
            </a:pPr>
            <a:r>
              <a:rPr/>
              <a:t>“At most one ReconcileEvent per Idempotency-Key per 24h.” If a triad can’t name the invariant, the weird-path design isn’t done.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10 — True / False</a:t>
            </a:r>
          </a:p>
        </p:txBody>
      </p:sp>
      <p:sp>
        <p:nvSpPr>
          <p:cNvPr id="3" name="Content Placeholder 2"/>
          <p:cNvSpPr>
            <a:spLocks noGrp="1"/>
          </p:cNvSpPr>
          <p:nvPr>
            <p:ph idx="1"/>
          </p:nvPr>
        </p:nvSpPr>
        <p:spPr/>
        <p:txBody>
          <a:bodyPr/>
          <a:lstStyle/>
          <a:p>
            <a:pPr lvl="0" indent="0" marL="0">
              <a:buNone/>
            </a:pPr>
            <a:r>
              <a:rPr/>
              <a:t>A sad-path sequence that ends with the user stuck (no recovery action) is acceptable as long as the error is rare.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10 — False</a:t>
            </a:r>
          </a:p>
        </p:txBody>
      </p:sp>
      <p:sp>
        <p:nvSpPr>
          <p:cNvPr id="3" name="Content Placeholder 2"/>
          <p:cNvSpPr>
            <a:spLocks noGrp="1"/>
          </p:cNvSpPr>
          <p:nvPr>
            <p:ph idx="1"/>
          </p:nvPr>
        </p:nvSpPr>
        <p:spPr/>
        <p:txBody>
          <a:bodyPr/>
          <a:lstStyle/>
          <a:p>
            <a:pPr lvl="0" indent="0" marL="0">
              <a:buNone/>
            </a:pPr>
            <a:r>
              <a:rPr/>
              <a:t>The user must have a path forward — not a dead-end.</a:t>
            </a:r>
          </a:p>
          <a:p>
            <a:pPr lvl="0" indent="0" marL="0">
              <a:buNone/>
            </a:pPr>
            <a:r>
              <a:rPr/>
              <a:t>A sad path that ends “user is stuck” is not designed. Force the recovery action.</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11</a:t>
            </a:r>
          </a:p>
        </p:txBody>
      </p:sp>
      <p:sp>
        <p:nvSpPr>
          <p:cNvPr id="3" name="Content Placeholder 2"/>
          <p:cNvSpPr>
            <a:spLocks noGrp="1"/>
          </p:cNvSpPr>
          <p:nvPr>
            <p:ph idx="1"/>
          </p:nvPr>
        </p:nvSpPr>
        <p:spPr/>
        <p:txBody>
          <a:bodyPr/>
          <a:lstStyle/>
          <a:p>
            <a:pPr lvl="0" indent="0" marL="0">
              <a:buNone/>
            </a:pPr>
            <a:r>
              <a:rPr/>
              <a:t>The 4-Question Alert Test says that an alert which can’t answer all four questions is:</a:t>
            </a:r>
          </a:p>
          <a:p>
            <a:pPr lvl="0" indent="-342900" marL="342900">
              <a:buAutoNum type="alphaUcParenR"/>
            </a:pPr>
            <a:r>
              <a:rPr/>
              <a:t>A page-level (Sev1) alert</a:t>
            </a:r>
          </a:p>
          <a:p>
            <a:pPr lvl="0" indent="-342900" marL="342900">
              <a:buAutoNum type="alphaUcParenR"/>
            </a:pPr>
            <a:r>
              <a:rPr/>
              <a:t>Noise — it’ll be muted within a sprint</a:t>
            </a:r>
          </a:p>
          <a:p>
            <a:pPr lvl="0" indent="-342900" marL="342900">
              <a:buAutoNum type="alphaUcParenR"/>
            </a:pPr>
            <a:r>
              <a:rPr/>
              <a:t>An executive-dashboard metric</a:t>
            </a:r>
          </a:p>
          <a:p>
            <a:pPr lvl="0" indent="-342900" marL="342900">
              <a:buAutoNum type="alphaUcParenR"/>
            </a:pPr>
            <a:r>
              <a:rPr/>
              <a:t>A performance baseline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11 — B</a:t>
            </a:r>
          </a:p>
        </p:txBody>
      </p:sp>
      <p:sp>
        <p:nvSpPr>
          <p:cNvPr id="3" name="Content Placeholder 2"/>
          <p:cNvSpPr>
            <a:spLocks noGrp="1"/>
          </p:cNvSpPr>
          <p:nvPr>
            <p:ph idx="1"/>
          </p:nvPr>
        </p:nvSpPr>
        <p:spPr/>
        <p:txBody>
          <a:bodyPr/>
          <a:lstStyle/>
          <a:p>
            <a:pPr lvl="0" indent="0" marL="0">
              <a:buNone/>
            </a:pPr>
            <a:r>
              <a:rPr/>
              <a:t>Noise — it’ll be muted within a sprint.</a:t>
            </a:r>
          </a:p>
          <a:p>
            <a:pPr lvl="0" indent="0" marL="0">
              <a:buNone/>
            </a:pPr>
            <a:r>
              <a:rPr/>
              <a:t>If you can’t answer meaning, on-call action, threshold + window, and severity, the alert doesn’t earn its page.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 12</a:t>
            </a:r>
          </a:p>
        </p:txBody>
      </p:sp>
      <p:sp>
        <p:nvSpPr>
          <p:cNvPr id="3" name="Content Placeholder 2"/>
          <p:cNvSpPr>
            <a:spLocks noGrp="1"/>
          </p:cNvSpPr>
          <p:nvPr>
            <p:ph idx="1"/>
          </p:nvPr>
        </p:nvSpPr>
        <p:spPr/>
        <p:txBody>
          <a:bodyPr/>
          <a:lstStyle/>
          <a:p>
            <a:pPr lvl="0" indent="0" marL="0">
              <a:buNone/>
            </a:pPr>
            <a:r>
              <a:rPr/>
              <a:t>In the AI-Summary Validation Log, which status means “used as input but not yet validated — track to closure”?</a:t>
            </a:r>
          </a:p>
          <a:p>
            <a:pPr lvl="0" indent="-342900" marL="342900">
              <a:buAutoNum type="alphaUcParenR"/>
            </a:pPr>
            <a:r>
              <a:rPr/>
              <a:t>Cross-checked all citations</a:t>
            </a:r>
          </a:p>
          <a:p>
            <a:pPr lvl="0" indent="-342900" marL="342900">
              <a:buAutoNum type="alphaUcParenR"/>
            </a:pPr>
            <a:r>
              <a:rPr/>
              <a:t>Spot-checked</a:t>
            </a:r>
          </a:p>
          <a:p>
            <a:pPr lvl="0" indent="-342900" marL="342900">
              <a:buAutoNum type="alphaUcParenR"/>
            </a:pPr>
            <a:r>
              <a:rPr/>
              <a:t>Adopted with rationale</a:t>
            </a:r>
          </a:p>
          <a:p>
            <a:pPr lvl="0" indent="-342900" marL="342900">
              <a:buAutoNum type="alphaUcParenR"/>
            </a:pPr>
            <a:r>
              <a:rPr/>
              <a:t>Pending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Answer 12 — D</a:t>
            </a:r>
          </a:p>
        </p:txBody>
      </p:sp>
      <p:sp>
        <p:nvSpPr>
          <p:cNvPr id="3" name="Content Placeholder 2"/>
          <p:cNvSpPr>
            <a:spLocks noGrp="1"/>
          </p:cNvSpPr>
          <p:nvPr>
            <p:ph idx="1"/>
          </p:nvPr>
        </p:nvSpPr>
        <p:spPr/>
        <p:txBody>
          <a:bodyPr/>
          <a:lstStyle/>
          <a:p>
            <a:pPr lvl="0" indent="0" marL="0">
              <a:buNone/>
            </a:pPr>
            <a:r>
              <a:rPr/>
              <a:t>Pending.</a:t>
            </a:r>
          </a:p>
          <a:p>
            <a:pPr lvl="0" indent="0" marL="0">
              <a:buNone/>
            </a:pPr>
            <a:r>
              <a:rPr/>
              <a:t>Used as input but not yet validated. It needs a deadline and must be tracked to closure — otherwise it becomes “we trusted the AI.”</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That’s Week 5</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Score yourself — but the real check is whether your TMD can survive a hostile reviewer on Monday.</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2026-07-01T16:57:03Z</dcterms:created>
  <dcterms:modified xsi:type="dcterms:W3CDTF">2026-07-01T16:57:03Z</dcterms:modified>
</cp:coreProperties>
</file>

<file path=docProps/custom.xml><?xml version="1.0" encoding="utf-8"?>
<Properties xmlns="http://schemas.openxmlformats.org/officeDocument/2006/custom-properties" xmlns:vt="http://schemas.openxmlformats.org/officeDocument/2006/docPropsVTypes"/>
</file>