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Today: where the boxes physically run. Region/AZ, managed vs self, tenancy, network boundary,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quad has TMD Section 2 with topology +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decisions get made by end of day: region, AZ, managed/self, tenancy,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 and AZ choices intersect with residency, latency, and cost. Coach quads to defend any multi-region active-active stance — it’s expensive without specific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Regions and AZs are the most-confused terms. Walk through them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TMD Section 2 captures all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explicit cost and revisit trigger — same Week-4 trade-off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Push back on quads who default to multi-region active-active without justification — it’s expensive.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Managed is the default. The four-question test forces quads to name a specific reason before going self-managed — not a vibe about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B2B features should be 80%+ managed. Self-managed is the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quad’s table is mostly self-managed, surface the operational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components should be managed. Self-managed needs specific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Tenancy and network design touch sales, security, and ops. Single-tenant without customer evidence is the classic over-promise — push back when it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Tenancy is a customer + cost decision, not just a tech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“We should be more secure” is not a reason to add VPN — it’s a reason for stronger TLS.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anyone proposes single-tenant without customer evidence,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ROM costs are how finance partners stay surprised — or don’t. AI sanity check works well here; provenance log any cost figures you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Egress is the most-forgotten cost. Surface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The “could surprise within 6 months” frame is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quad names region/AZ stance, 1 trade-off, 1 cost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names a managed-service choice they’d defend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expertise question keeps managed-vs-self decisions honest. Tomorrow moves to API contracts that ride on this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☁️ Cloud Architecture &amp; Infrastructure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5 • Day 2 • Technical Infrastructure &amp;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2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the region + AZ choice in customer + compliance + cost terms</a:t>
            </a:r>
          </a:p>
          <a:p>
            <a:pPr lvl="0" indent="0" marL="0">
              <a:buNone/>
            </a:pPr>
            <a:r>
              <a:rPr/>
              <a:t>Default to managed services; defend any self-managed exception</a:t>
            </a:r>
          </a:p>
          <a:p>
            <a:pPr lvl="0" indent="0" marL="0">
              <a:buNone/>
            </a:pPr>
            <a:r>
              <a:rPr/>
              <a:t>Take a multi-tenancy stance tied to customer evidence</a:t>
            </a:r>
          </a:p>
          <a:p>
            <a:pPr lvl="0" indent="0" marL="0">
              <a:buNone/>
            </a:pPr>
            <a:r>
              <a:rPr/>
              <a:t>Choose a network boundary with revisit triggers</a:t>
            </a:r>
          </a:p>
          <a:p>
            <a:pPr lvl="0" indent="0" marL="0">
              <a:buNone/>
            </a:pPr>
            <a:r>
              <a:rPr/>
              <a:t>Add a rough order of magnitude (ROM) cost table — catch 2x surprises before they ship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TMD Section 1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Region + AZ stance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Managed vs self per component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Multi-tenancy + network boundary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ROM cost + AI sanity 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Region + 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the customer’s data lives matters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The Cloud Vocabulary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What it means</a:t>
            </a:r>
          </a:p>
          <a:p>
            <a:pPr lvl="0" indent="0" marL="0">
              <a:buNone/>
            </a:pPr>
            <a:r>
              <a:rPr/>
              <a:t>Region</a:t>
            </a:r>
          </a:p>
          <a:p>
            <a:pPr lvl="0" indent="0" marL="0">
              <a:buNone/>
            </a:pPr>
            <a:r>
              <a:rPr/>
              <a:t>A geographic cloud location (East US)</a:t>
            </a:r>
          </a:p>
          <a:p>
            <a:pPr lvl="0" indent="0" marL="0">
              <a:buNone/>
            </a:pPr>
            <a:r>
              <a:rPr/>
              <a:t>AZ</a:t>
            </a:r>
          </a:p>
          <a:p>
            <a:pPr lvl="0" indent="0" marL="0">
              <a:buNone/>
            </a:pPr>
            <a:r>
              <a:rPr/>
              <a:t>Failure-isolated facility within a region</a:t>
            </a:r>
          </a:p>
          <a:p>
            <a:pPr lvl="0" indent="0" marL="0">
              <a:buNone/>
            </a:pPr>
            <a:r>
              <a:rPr/>
              <a:t>Multi-region</a:t>
            </a:r>
          </a:p>
          <a:p>
            <a:pPr lvl="0" indent="0" marL="0">
              <a:buNone/>
            </a:pPr>
            <a:r>
              <a:rPr/>
              <a:t>Across regions; survives whole-region failure</a:t>
            </a:r>
          </a:p>
          <a:p>
            <a:pPr lvl="0" indent="0" marL="0">
              <a:buNone/>
            </a:pPr>
            <a:r>
              <a:rPr/>
              <a:t>Managed service</a:t>
            </a:r>
          </a:p>
          <a:p>
            <a:pPr lvl="0" indent="0" marL="0">
              <a:buNone/>
            </a:pPr>
            <a:r>
              <a:rPr/>
              <a:t>Cloud provider runs it (Azure Database for PostgreSQL, Blob Storage, Service Bus)</a:t>
            </a:r>
          </a:p>
          <a:p>
            <a:pPr lvl="0" indent="0" marL="0">
              <a:buNone/>
            </a:pPr>
            <a:r>
              <a:rPr/>
              <a:t>Self-managed</a:t>
            </a:r>
          </a:p>
          <a:p>
            <a:pPr lvl="0" indent="0" marL="0">
              <a:buNone/>
            </a:pPr>
            <a:r>
              <a:rPr/>
              <a:t>You run it on raw compute</a:t>
            </a:r>
          </a:p>
          <a:p>
            <a:pPr lvl="0" indent="0" marL="0">
              <a:buNone/>
            </a:pPr>
            <a:r>
              <a:rPr/>
              <a:t>Multi-tenant</a:t>
            </a:r>
          </a:p>
          <a:p>
            <a:pPr lvl="0" indent="0" marL="0">
              <a:buNone/>
            </a:pPr>
            <a:r>
              <a:rPr/>
              <a:t>One deployment serves all customers</a:t>
            </a:r>
          </a:p>
          <a:p>
            <a:pPr lvl="0" indent="0" marL="0">
              <a:buNone/>
            </a:pPr>
            <a:r>
              <a:rPr/>
              <a:t>Single-tenant</a:t>
            </a:r>
          </a:p>
          <a:p>
            <a:pPr lvl="0" indent="0" marL="0">
              <a:buNone/>
            </a:pPr>
            <a:r>
              <a:rPr/>
              <a:t>Each customer gets their own</a:t>
            </a:r>
          </a:p>
          <a:p>
            <a:pPr lvl="0" indent="0" marL="0">
              <a:buNone/>
            </a:pPr>
            <a:r>
              <a:rPr/>
              <a:t>Edge / CDN</a:t>
            </a:r>
          </a:p>
          <a:p>
            <a:pPr lvl="0" indent="0" marL="0">
              <a:buNone/>
            </a:pPr>
            <a:r>
              <a:rPr/>
              <a:t>Static content cached close to users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The Five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Region(s) — which?</a:t>
            </a:r>
          </a:p>
          <a:p>
            <a:pPr lvl="0" indent="0" marL="0">
              <a:buNone/>
            </a:pPr>
            <a:r>
              <a:rPr/>
              <a:t>Multi-AZ — single, multi-AZ, or multi-region?</a:t>
            </a:r>
          </a:p>
          <a:p>
            <a:pPr lvl="0" indent="0" marL="0">
              <a:buNone/>
            </a:pPr>
            <a:r>
              <a:rPr/>
              <a:t>Managed vs self-managed — for each component</a:t>
            </a:r>
          </a:p>
          <a:p>
            <a:pPr lvl="0" indent="0" marL="0">
              <a:buNone/>
            </a:pPr>
            <a:r>
              <a:rPr/>
              <a:t>Multi-tenancy — shared / pooled / dedicated / hybrid</a:t>
            </a:r>
          </a:p>
          <a:p>
            <a:pPr lvl="0" indent="0" marL="0">
              <a:buNone/>
            </a:pPr>
            <a:r>
              <a:rPr/>
              <a:t>Network boundary — public, VPN, ExpressRoute</a:t>
            </a:r>
          </a:p>
          <a:p>
            <a:pPr lvl="0" indent="0" marL="0">
              <a:buNone/>
            </a:pPr>
            <a:r>
              <a:rPr/>
              <a:t>Each has a cost dimension and a risk dimension. Surface both.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Region + AZ 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**Region:** East US (primary), West US 2 (warm-DR).
- Customer base: 92% US; 8% Canada (cross-region OK; +80ms)
- Compliance: SOC 2 audit retention requires named region
**AZ stance:** Multi-AZ active-active for stateful tiers
(Postgres primary + 2 read replicas across 3 AZs).
**Trade-off — multi-region active-active vs warm-DR:**
**Choice:** Warm-DR (Option A).
**Why:** Active-active doubles cost and adds cross-region
consistency complexity; multi-AZ within East US
satisfies our 99.5% availability SLO.
**Accepted cost:** Full East US outage breaches SLO ~30 min.
**Revisit trigger:** Second multi-hour East US outage in
12 months, OR availability SLO tightens to 99.9%+.</a:t>
            </a:r>
          </a:p>
          <a:p>
            <a:pPr lvl="0" indent="0" marL="0">
              <a:buNone/>
            </a:pPr>
            <a:r>
              <a:rPr/>
              <a:t>The warm disaster-recovery (DR) choice is judged against our availability Service Level Objective (SLO).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Region + 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45 minutes</a:t>
            </a:r>
          </a:p>
          <a:p>
            <a:pPr lvl="0" indent="0" marL="0">
              <a:buNone/>
            </a:pPr>
            <a:r>
              <a:rPr/>
              <a:t>5 min: pull customer location facts from Product Requirements Document (PRD) Section 2</a:t>
            </a:r>
          </a:p>
          <a:p>
            <a:pPr lvl="0" indent="0" marL="0">
              <a:buNone/>
            </a:pPr>
            <a:r>
              <a:rPr/>
              <a:t>5 min: pull compliance facts from Technical Concept Document (TCD) Section 3</a:t>
            </a:r>
          </a:p>
          <a:p>
            <a:pPr lvl="0" indent="0" marL="0">
              <a:buNone/>
            </a:pPr>
            <a:r>
              <a:rPr/>
              <a:t>10 min: decide region(s)</a:t>
            </a:r>
          </a:p>
          <a:p>
            <a:pPr lvl="0" indent="0" marL="0">
              <a:buNone/>
            </a:pPr>
            <a:r>
              <a:rPr/>
              <a:t>10 min: decide multi-AZ stance</a:t>
            </a:r>
          </a:p>
          <a:p>
            <a:pPr lvl="0" indent="0" marL="0">
              <a:buNone/>
            </a:pPr>
            <a:r>
              <a:rPr/>
              <a:t>5 min: capture trade-off (Week-4 template)</a:t>
            </a:r>
          </a:p>
          <a:p>
            <a:pPr lvl="0" indent="0" marL="0">
              <a:buNone/>
            </a:pPr>
            <a:r>
              <a:rPr/>
              <a:t>⏱ 5 + 5 + 10 + 10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Managed vs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Default to managed; defend exceptions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❓ The Four-Question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Default: use the managed service. Reasons to self-manage:</a:t>
            </a:r>
          </a:p>
          <a:p>
            <a:pPr lvl="0" indent="0" marL="0">
              <a:buNone/>
            </a:pPr>
            <a:r>
              <a:rPr/>
              <a:t>Do failure modes match our needs?</a:t>
            </a:r>
          </a:p>
          <a:p>
            <a:pPr lvl="0" indent="0" marL="0">
              <a:buNone/>
            </a:pPr>
            <a:r>
              <a:rPr/>
              <a:t>Is cost reasonable at expected scale?</a:t>
            </a:r>
          </a:p>
          <a:p>
            <a:pPr lvl="0" indent="0" marL="0">
              <a:buNone/>
            </a:pPr>
            <a:r>
              <a:rPr/>
              <a:t>Does compliance allow it?</a:t>
            </a:r>
          </a:p>
          <a:p>
            <a:pPr lvl="0" indent="0" marL="0">
              <a:buNone/>
            </a:pPr>
            <a:r>
              <a:rPr/>
              <a:t>Do we have a specific reason to control this?</a:t>
            </a:r>
          </a:p>
          <a:p>
            <a:pPr lvl="0" indent="0" marL="0">
              <a:buNone/>
            </a:pPr>
            <a:r>
              <a:rPr/>
              <a:t>“We want full control” is a smell. Push: what specific decision do you need that the managed service forecloses?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Managed/Self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Component</a:t>
            </a:r>
          </a:p>
          <a:p>
            <a:pPr lvl="0" indent="0" marL="0">
              <a:buNone/>
            </a:pPr>
            <a:r>
              <a:rPr/>
              <a:t>Managed option</a:t>
            </a:r>
          </a:p>
          <a:p>
            <a:pPr lvl="0" indent="0" marL="0">
              <a:buNone/>
            </a:pPr>
            <a:r>
              <a:rPr/>
              <a:t>Choice</a:t>
            </a:r>
          </a:p>
          <a:p>
            <a:pPr lvl="0" indent="0" marL="0">
              <a:buNone/>
            </a:pPr>
            <a:r>
              <a:rPr/>
              <a:t>Why</a:t>
            </a:r>
          </a:p>
          <a:p>
            <a:pPr lvl="0" indent="0" marL="0">
              <a:buNone/>
            </a:pPr>
            <a:r>
              <a:rPr/>
              <a:t>Postgres</a:t>
            </a:r>
          </a:p>
          <a:p>
            <a:pPr lvl="0" indent="0" marL="0">
              <a:buNone/>
            </a:pPr>
            <a:r>
              <a:rPr/>
              <a:t>Azure Database for PostgreSQL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Default; team ops capacity finite</a:t>
            </a:r>
          </a:p>
          <a:p>
            <a:pPr lvl="0" indent="0" marL="0">
              <a:buNone/>
            </a:pPr>
            <a:r>
              <a:rPr/>
              <a:t>Event Hubs</a:t>
            </a:r>
          </a:p>
          <a:p>
            <a:pPr lvl="0" indent="0" marL="0">
              <a:buNone/>
            </a:pPr>
            <a:r>
              <a:rPr/>
              <a:t>Azure Event Hubs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Same</a:t>
            </a:r>
          </a:p>
          <a:p>
            <a:pPr lvl="0" indent="0" marL="0">
              <a:buNone/>
            </a:pPr>
            <a:r>
              <a:rPr/>
              <a:t>Object storage</a:t>
            </a:r>
          </a:p>
          <a:p>
            <a:pPr lvl="0" indent="0" marL="0">
              <a:buNone/>
            </a:pPr>
            <a:r>
              <a:rPr/>
              <a:t>Blob Storage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Industry-standard durability</a:t>
            </a:r>
          </a:p>
          <a:p>
            <a:pPr lvl="0" indent="0" marL="0">
              <a:buNone/>
            </a:pPr>
            <a:r>
              <a:rPr/>
              <a:t>Custom AI service</a:t>
            </a:r>
          </a:p>
          <a:p>
            <a:pPr lvl="0" indent="0" marL="0">
              <a:buNone/>
            </a:pPr>
            <a:r>
              <a:rPr/>
              <a:t>None</a:t>
            </a:r>
          </a:p>
          <a:p>
            <a:pPr lvl="0" indent="0" marL="0">
              <a:buNone/>
            </a:pPr>
            <a:r>
              <a:rPr/>
              <a:t>Self-managed</a:t>
            </a:r>
          </a:p>
          <a:p>
            <a:pPr lvl="0" indent="0" marL="0">
              <a:buNone/>
            </a:pPr>
            <a:r>
              <a:rPr/>
              <a:t>No managed equivalent</a:t>
            </a:r>
          </a:p>
          <a:p>
            <a:pPr lvl="0" indent="0" marL="0">
              <a:buNone/>
            </a:pPr>
            <a:r>
              <a:rPr/>
              <a:t>Load balancer</a:t>
            </a:r>
          </a:p>
          <a:p>
            <a:pPr lvl="0" indent="0" marL="0">
              <a:buNone/>
            </a:pPr>
            <a:r>
              <a:rPr/>
              <a:t>Application Gateway</a:t>
            </a:r>
          </a:p>
          <a:p>
            <a:pPr lvl="0" indent="0" marL="0">
              <a:buNone/>
            </a:pPr>
            <a:r>
              <a:rPr/>
              <a:t>Managed</a:t>
            </a:r>
          </a:p>
          <a:p>
            <a:pPr lvl="0" indent="0" marL="0">
              <a:buNone/>
            </a:pPr>
            <a:r>
              <a:rPr/>
              <a:t>Trivial to use; standard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Managed vs Self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5 min: list each container (TCD Section 2)</a:t>
            </a:r>
          </a:p>
          <a:p>
            <a:pPr lvl="0" indent="0" marL="0">
              <a:buNone/>
            </a:pPr>
            <a:r>
              <a:rPr/>
              <a:t>10 min: identify managed-service option per container</a:t>
            </a:r>
          </a:p>
          <a:p>
            <a:pPr lvl="0" indent="0" marL="0">
              <a:buNone/>
            </a:pPr>
            <a:r>
              <a:rPr/>
              <a:t>15 min: managed vs self per container (4-question test)</a:t>
            </a:r>
          </a:p>
          <a:p>
            <a:pPr lvl="0" indent="0" marL="0">
              <a:buNone/>
            </a:pPr>
            <a:r>
              <a:rPr/>
              <a:t>10 min: capture the table</a:t>
            </a:r>
          </a:p>
          <a:p>
            <a:pPr lvl="0" indent="0" marL="0">
              <a:buNone/>
            </a:pPr>
            <a:r>
              <a:rPr/>
              <a:t>⏱ 5 + 10 + 15 + 10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Tenancy +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Stakeholder-touching decisions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👪 Multi-Tenancy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Stance</a:t>
            </a:r>
          </a:p>
          <a:p>
            <a:pPr lvl="0" indent="0" marL="0">
              <a:buNone/>
            </a:pPr>
            <a:r>
              <a:rPr/>
              <a:t>Architecture</a:t>
            </a:r>
          </a:p>
          <a:p>
            <a:pPr lvl="0" indent="0" marL="0">
              <a:buNone/>
            </a:pPr>
            <a:r>
              <a:rPr/>
              <a:t>Pros</a:t>
            </a:r>
          </a:p>
          <a:p>
            <a:pPr lvl="0" indent="0" marL="0">
              <a:buNone/>
            </a:pPr>
            <a:r>
              <a:rPr/>
              <a:t>Cons</a:t>
            </a:r>
          </a:p>
          <a:p>
            <a:pPr lvl="0" indent="0" marL="0">
              <a:buNone/>
            </a:pPr>
            <a:r>
              <a:rPr/>
              <a:t>Shared</a:t>
            </a:r>
          </a:p>
          <a:p>
            <a:pPr lvl="0" indent="0" marL="0">
              <a:buNone/>
            </a:pPr>
            <a:r>
              <a:rPr/>
              <a:t>One deployment, all tenants</a:t>
            </a:r>
          </a:p>
          <a:p>
            <a:pPr lvl="0" indent="0" marL="0">
              <a:buNone/>
            </a:pPr>
            <a:r>
              <a:rPr/>
              <a:t>Cheap</a:t>
            </a:r>
          </a:p>
          <a:p>
            <a:pPr lvl="0" indent="0" marL="0">
              <a:buNone/>
            </a:pPr>
            <a:r>
              <a:rPr/>
              <a:t>Noisy neighbor</a:t>
            </a:r>
          </a:p>
          <a:p>
            <a:pPr lvl="0" indent="0" marL="0">
              <a:buNone/>
            </a:pPr>
            <a:r>
              <a:rPr/>
              <a:t>Pooled</a:t>
            </a:r>
          </a:p>
          <a:p>
            <a:pPr lvl="0" indent="0" marL="0">
              <a:buNone/>
            </a:pPr>
            <a:r>
              <a:rPr/>
              <a:t>One deployment + per-tenant limits</a:t>
            </a:r>
          </a:p>
          <a:p>
            <a:pPr lvl="0" indent="0" marL="0">
              <a:buNone/>
            </a:pPr>
            <a:r>
              <a:rPr/>
              <a:t>Cheap-ish; isolated</a:t>
            </a:r>
          </a:p>
          <a:p>
            <a:pPr lvl="0" indent="0" marL="0">
              <a:buNone/>
            </a:pPr>
            <a:r>
              <a:rPr/>
              <a:t>Tenant-aware code</a:t>
            </a:r>
          </a:p>
          <a:p>
            <a:pPr lvl="0" indent="0" marL="0">
              <a:buNone/>
            </a:pPr>
            <a:r>
              <a:rPr/>
              <a:t>Dedicated</a:t>
            </a:r>
          </a:p>
          <a:p>
            <a:pPr lvl="0" indent="0" marL="0">
              <a:buNone/>
            </a:pPr>
            <a:r>
              <a:rPr/>
              <a:t>One deployment per tenant</a:t>
            </a:r>
          </a:p>
          <a:p>
            <a:pPr lvl="0" indent="0" marL="0">
              <a:buNone/>
            </a:pPr>
            <a:r>
              <a:rPr/>
              <a:t>Strongest isolation</a:t>
            </a:r>
          </a:p>
          <a:p>
            <a:pPr lvl="0" indent="0" marL="0">
              <a:buNone/>
            </a:pPr>
            <a:r>
              <a:rPr/>
              <a:t>Expensive</a:t>
            </a:r>
          </a:p>
          <a:p>
            <a:pPr lvl="0" indent="0" marL="0">
              <a:buNone/>
            </a:pPr>
            <a:r>
              <a:rPr/>
              <a:t>Hybrid</a:t>
            </a:r>
          </a:p>
          <a:p>
            <a:pPr lvl="0" indent="0" marL="0">
              <a:buNone/>
            </a:pPr>
            <a:r>
              <a:rPr/>
              <a:t>Most pooled; some dedicated</a:t>
            </a:r>
          </a:p>
          <a:p>
            <a:pPr lvl="0" indent="0" marL="0">
              <a:buNone/>
            </a:pPr>
            <a:r>
              <a:rPr/>
              <a:t>Match cost to value</a:t>
            </a:r>
          </a:p>
          <a:p>
            <a:pPr lvl="0" indent="0" marL="0">
              <a:buNone/>
            </a:pPr>
            <a:r>
              <a:rPr/>
              <a:t>Two patterns</a:t>
            </a:r>
          </a:p>
          <a:p>
            <a:pPr lvl="0" indent="0" marL="0">
              <a:buNone/>
            </a:pPr>
            <a:r>
              <a:rPr/>
              <a:t>Most B2B SaaS at our stage: pooled with per-tenant rate limits (revisit Week 4 Day 4).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🔗 Network Boundary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Public HTTPS</a:t>
            </a:r>
          </a:p>
          <a:p>
            <a:pPr lvl="0" indent="0" marL="0">
              <a:buNone/>
            </a:pPr>
            <a:r>
              <a:rPr/>
              <a:t>Default for B2B SaaS APIs. Standard Transport Layer Security (TLS); nothing else.</a:t>
            </a:r>
          </a:p>
          <a:p>
            <a:pPr lvl="0" indent="0" marL="0">
              <a:buNone/>
            </a:pPr>
            <a:r>
              <a:rPr/>
              <a:t>Customer-VPN-only</a:t>
            </a:r>
          </a:p>
          <a:p>
            <a:pPr lvl="0" indent="0" marL="0">
              <a:buNone/>
            </a:pPr>
            <a:r>
              <a:rPr/>
              <a:t>Some enterprise contracts; customer comes through their VPN tunnel.</a:t>
            </a:r>
          </a:p>
          <a:p>
            <a:pPr lvl="0" indent="0" marL="0">
              <a:buNone/>
            </a:pPr>
            <a:r>
              <a:rPr/>
              <a:t>ExpressRoute / Private Link</a:t>
            </a:r>
          </a:p>
          <a:p>
            <a:pPr lvl="0" indent="0" marL="0">
              <a:buNone/>
            </a:pPr>
            <a:r>
              <a:rPr/>
              <a:t>Large enterprise; regulated industries; dedicated network paths.</a:t>
            </a:r>
          </a:p>
          <a:p>
            <a:pPr lvl="0" indent="0" marL="0">
              <a:buNone/>
            </a:pPr>
            <a:r>
              <a:rPr/>
              <a:t>Don’t volunteer for VPN-only. It triples ops complexity. Only choose if a customer requires it.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Tenancy +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50 minutes</a:t>
            </a:r>
          </a:p>
          <a:p>
            <a:pPr lvl="0" indent="0" marL="0">
              <a:buNone/>
            </a:pPr>
            <a:r>
              <a:rPr/>
              <a:t>10 min: customer tenancy expectations (PRD Section 1)</a:t>
            </a:r>
          </a:p>
          <a:p>
            <a:pPr lvl="0" indent="0" marL="0">
              <a:buNone/>
            </a:pPr>
            <a:r>
              <a:rPr/>
              <a:t>10 min: pick stance with revisit trigger</a:t>
            </a:r>
          </a:p>
          <a:p>
            <a:pPr lvl="0" indent="0" marL="0">
              <a:buNone/>
            </a:pPr>
            <a:r>
              <a:rPr/>
              <a:t>15 min: network boundary stance</a:t>
            </a:r>
          </a:p>
          <a:p>
            <a:pPr lvl="0" indent="0" marL="0">
              <a:buNone/>
            </a:pPr>
            <a:r>
              <a:rPr/>
              <a:t>5 min: stakeholder implications (add to TCD Section 6 if missing)</a:t>
            </a:r>
          </a:p>
          <a:p>
            <a:pPr lvl="0" indent="0" marL="0">
              <a:buNone/>
            </a:pPr>
            <a:r>
              <a:rPr/>
              <a:t>⏱ 10 + 10 + 15 + 5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Cost + AI Sanity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Catch 2x surprises before they ship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💰 ROM Cost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Component</a:t>
                </a:r>
              </a:p>
              <a:p>
                <a:pPr lvl="0" indent="0" marL="0">
                  <a:buNone/>
                </a:pPr>
                <a:r>
                  <a:rPr/>
                  <a:t>Stance</a:t>
                </a:r>
              </a:p>
              <a:p>
                <a:pPr lvl="0" indent="0" marL="0">
                  <a:buNone/>
                </a:pPr>
                <a:r>
                  <a:rPr/>
                  <a:t>Cost / month</a:t>
                </a:r>
              </a:p>
              <a:p>
                <a:pPr lvl="0" indent="0" marL="0">
                  <a:buNone/>
                </a:pPr>
                <a:r>
                  <a:rPr/>
                  <a:t>Driver</a:t>
                </a:r>
              </a:p>
              <a:p>
                <a:pPr lvl="0" indent="0" marL="0">
                  <a:buNone/>
                </a:pPr>
                <a:r>
                  <a:rPr/>
                  <a:t>Azure Database for PostgreSQL</a:t>
                </a:r>
              </a:p>
              <a:p>
                <a:pPr lvl="0" indent="0" marL="0">
                  <a:buNone/>
                </a:pPr>
                <a:r>
                  <a:rPr/>
                  <a:t>Multi-AZ, 2 vCore GP</a:t>
                </a:r>
              </a:p>
              <a:p>
                <a:pPr lvl="0" indent="0" marL="0">
                  <a:buNone/>
                </a:pPr>
                <a:r>
                  <a:rPr/>
                  <a:t>$400–$700</a:t>
                </a:r>
              </a:p>
              <a:p>
                <a:pPr lvl="0" indent="0" marL="0">
                  <a:buNone/>
                </a:pPr>
                <a:r>
                  <a:rPr/>
                  <a:t>Hours; storage; IOPS</a:t>
                </a:r>
              </a:p>
              <a:p>
                <a:pPr lvl="0" indent="0" marL="0">
                  <a:buNone/>
                </a:pPr>
                <a:r>
                  <a:rPr/>
                  <a:t>Read replica</a:t>
                </a:r>
              </a:p>
              <a:p>
                <a:pPr lvl="0" indent="0" marL="0">
                  <a:buNone/>
                </a:pPr>
                <a:r>
                  <a:rPr/>
                  <a:t>Single-AZ</a:t>
                </a:r>
              </a:p>
              <a:p>
                <a:pPr lvl="0" indent="0" marL="0">
                  <a:buNone/>
                </a:pPr>
                <a:r>
                  <a:rPr/>
                  <a:t>$200–$350</a:t>
                </a:r>
              </a:p>
              <a:p>
                <a:pPr lvl="0" indent="0" marL="0">
                  <a:buNone/>
                </a:pPr>
                <a:r>
                  <a:rPr/>
                  <a:t>Hours</a:t>
                </a:r>
              </a:p>
              <a:p>
                <a:pPr lvl="0" indent="0" marL="0">
                  <a:buNone/>
                </a:pPr>
                <a:r>
                  <a:rPr/>
                  <a:t>Event Hubs</a:t>
                </a:r>
              </a:p>
              <a:p>
                <a:pPr lvl="0" indent="0" marL="0">
                  <a:buNone/>
                </a:pPr>
                <a:r>
                  <a:rPr/>
                  <a:t>Standard, 5 TUs</a:t>
                </a:r>
              </a:p>
              <a:p>
                <a:pPr lvl="0" indent="0" marL="0">
                  <a:buNone/>
                </a:pPr>
                <a:r>
                  <a:rPr/>
                  <a:t>$700–$1100</a:t>
                </a:r>
              </a:p>
              <a:p>
                <a:pPr lvl="0" indent="0" marL="0">
                  <a:buNone/>
                </a:pPr>
                <a:r>
                  <a:rPr/>
                  <a:t>Throughput units; storage; egress</a:t>
                </a:r>
              </a:p>
              <a:p>
                <a:pPr lvl="0" indent="0" marL="0">
                  <a:buNone/>
                </a:pPr>
                <a:r>
                  <a:rPr/>
                  <a:t>Blob Storage (audit)</a:t>
                </a:r>
              </a:p>
              <a:p>
                <a:pPr lvl="0" indent="0" marL="0">
                  <a:buNone/>
                </a:pPr>
                <a:r>
                  <a:rPr/>
                  <a:t>Standard tier</a:t>
                </a:r>
              </a:p>
              <a:p>
                <a:pPr lvl="0" indent="0" marL="0">
                  <a:buNone/>
                </a:pPr>
                <a:r>
                  <a:rPr/>
                  <a:t>$50/TB-month</a:t>
                </a:r>
              </a:p>
              <a:p>
                <a:pPr lvl="0" indent="0" marL="0">
                  <a:buNone/>
                </a:pPr>
                <a:r>
                  <a:rPr/>
                  <a:t>Storage; read/write ops</a:t>
                </a:r>
              </a:p>
              <a:p>
                <a:pPr lvl="0" indent="0" marL="0">
                  <a:buNone/>
                </a:pPr>
                <a:r>
                  <a:rPr/>
                  <a:t>Application Gateway</a:t>
                </a:r>
              </a:p>
              <a:p>
                <a:pPr lvl="0" indent="0" marL="0">
                  <a:buNone/>
                </a:pPr>
                <a:r>
                  <a:rPr/>
                  <a:t>Standard</a:t>
                </a:r>
              </a:p>
              <a:p>
                <a:pPr lvl="0" indent="0" marL="0">
                  <a:buNone/>
                </a:pPr>
                <a:r>
                  <a:rPr/>
                  <a:t>$25 + traffic</a:t>
                </a:r>
              </a:p>
              <a:p>
                <a:pPr lvl="0" indent="0" marL="0">
                  <a:buNone/>
                </a:pPr>
                <a:r>
                  <a:rPr/>
                  <a:t>Hours + CUs</a:t>
                </a:r>
              </a:p>
              <a:p>
                <a:pPr lvl="0" indent="0" marL="0">
                  <a:buNone/>
                </a:pPr>
                <a:r>
                  <a:rPr/>
                  <a:t>Egress bandwidth</a:t>
                </a:r>
              </a:p>
              <a:p>
                <a:pPr lvl="0" indent="0" marL="0">
                  <a:buNone/>
                </a:pPr>
                <a:r>
                  <a:rPr/>
                  <a:t>$50–</a:t>
                </a:r>
                <a14:m>
                  <m:oMath xmlns:m="http://schemas.openxmlformats.org/officeDocument/2006/math">
                    <m:r>
                      <m:t>150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t>d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r>
                      <m:t>d</m:t>
                    </m:r>
                    <m:r>
                      <m:rPr>
                        <m:sty m:val="p"/>
                      </m:rPr>
                      <m:t>&gt;</m:t>
                    </m:r>
                  </m:oMath>
                </a14:m>
                <a:r>
                  <a:rPr/>
                  <a:t>/GB out</a:t>
                </a:r>
              </a:p>
              <a:p>
                <a:pPr lvl="0" indent="0" marL="0">
                  <a:buNone/>
                </a:pPr>
                <a:r>
                  <a:rPr/>
                  <a:t>Goal: rough order of magnitude. Engineering will refine. The TPM job: catch the 2x surprise.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 Sanity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Role: SRE reviewing a feature's cloud topology.
Context: &lt;paste TMD Section 2 sections — region, AZ, managed services,
tenancy, network boundary, ROM cost&gt;
Task: Identify the top 3 risks in this topology that could
surprise the team within 6 months.
Constraints:
- Be specific to the configurations described
- For each: scenario, likelihood (L/M/H), suggested mitigation
- Do not invent platform features
Format: Numbered — Risk / Scenario / Likelihood / Mitigation.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Cost + AI Sanity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Quads • 55 minutes • Wrap</a:t>
            </a:r>
          </a:p>
          <a:p>
            <a:pPr lvl="0" indent="0" marL="0">
              <a:buNone/>
            </a:pPr>
            <a:r>
              <a:rPr/>
              <a:t>15 min: ROM cost table</a:t>
            </a:r>
          </a:p>
          <a:p>
            <a:pPr lvl="0" indent="0" marL="0">
              <a:buNone/>
            </a:pPr>
            <a:r>
              <a:rPr/>
              <a:t>10 min: AI sanity check (3 risks)</a:t>
            </a:r>
          </a:p>
          <a:p>
            <a:pPr lvl="0" indent="0" marL="0">
              <a:buNone/>
            </a:pPr>
            <a:r>
              <a:rPr/>
              <a:t>10 min: adopt / defer / reject</a:t>
            </a:r>
          </a:p>
          <a:p>
            <a:pPr lvl="0" indent="0" marL="0">
              <a:buNone/>
            </a:pPr>
            <a:r>
              <a:rPr/>
              <a:t>10 min: polish Section 2 + provenance note</a:t>
            </a:r>
          </a:p>
          <a:p>
            <a:pPr lvl="0" indent="0" marL="0">
              <a:buNone/>
            </a:pPr>
            <a:r>
              <a:rPr/>
              <a:t>⏱ 15 + 10 + 10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Region + AZ stance</a:t>
            </a:r>
          </a:p>
          <a:p>
            <a:pPr lvl="0" indent="0" marL="0">
              <a:buNone/>
            </a:pPr>
            <a:r>
              <a:rPr/>
              <a:t>Managed/self table</a:t>
            </a:r>
          </a:p>
          <a:p>
            <a:pPr lvl="0" indent="0" marL="0">
              <a:buNone/>
            </a:pPr>
            <a:r>
              <a:rPr/>
              <a:t>Multi-tenancy + network boundary</a:t>
            </a:r>
          </a:p>
          <a:p>
            <a:pPr lvl="0" indent="0" marL="0">
              <a:buNone/>
            </a:pPr>
            <a:r>
              <a:rPr/>
              <a:t>ROM cost table</a:t>
            </a:r>
          </a:p>
          <a:p>
            <a:pPr lvl="0" indent="0" marL="0">
              <a:buNone/>
            </a:pPr>
            <a:r>
              <a:rPr/>
              <a:t>Technical Modeling Document (TMD) Section 2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REST &amp; SOAP API fundamentals</a:t>
            </a:r>
          </a:p>
          <a:p>
            <a:pPr lvl="0" indent="0" marL="0">
              <a:buNone/>
            </a:pPr>
            <a:r>
              <a:rPr/>
              <a:t>Resource modeling, idempotency, errors</a:t>
            </a:r>
          </a:p>
          <a:p>
            <a:pPr lvl="0" indent="0" marL="0">
              <a:buNone/>
            </a:pPr>
            <a:r>
              <a:rPr/>
              <a:t>When SOAP is still right</a:t>
            </a:r>
          </a:p>
          <a:p>
            <a:pPr lvl="0" indent="0" marL="0">
              <a:buNone/>
            </a:pPr>
            <a:r>
              <a:rPr/>
              <a:t>Bring to Day 3: TMD Sections 1–2 + your data model. APIs ride on top of both tomorrow.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does your topology assume the team has expertise it might not have in 12 months?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2026-08-10T21:38:35Z</dcterms:created>
  <dcterms:modified xsi:type="dcterms:W3CDTF">2026-08-10T21:38:35Z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