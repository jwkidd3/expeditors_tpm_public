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design the API contract. The contract is what other teams integrate against — get it right and integration is cheap; get it wrong and it ripples for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TMD §3 with the API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design → deepen →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 modeling is the foundation. Verbs in URLs are the classic rookie error — calibrate the eye in Block 1 before triads design their own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Resist the urge to put verbs in URLs. POST + a noun is almost always the right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200 for everything is a smell. Specific codes are how the client behaves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“Share” is the calibration. POST /lists/{id}/shares wins. Force the resource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convert yesterday’s entity model into endpoints. The shape must trace to access patterns; if it doesn’t, the data model gets re-examined.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header, every code is intentional. No “200 with error in body” anti-pattern.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uses verbs in URLs, redirect to nouns. Standard rookie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don’t need versioning yet” is a deferred-cost decision, not an absence of one. Force the strategy choice now — same for idempotency keys and error envelopes.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rookie APIs are accidentally non-idempotent. Force the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URL path is the right default. Don’t over-engineer — pick a strategy and document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Standardize this shape across the whole API. Inconsistent errors are integration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triads who “don’t need versioning yet.” They will. Pick a strategy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SOAP isn’t dead in regulated B2B integration. Block 4 names the specific cases — and uses AI as a hostile integrator to stress-test the REST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SOAP is not dead — it lives at integration boundaries with legacy systems. Don’t dismiss it; just don’t volunteer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Reusable for any future API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1 endpoint proudest, 1 idempotency choice, 1 hardest error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status code they’ll never confuse again (400 vs 422 is common).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hostile-partner lens is the bar APIs ship against. Tomorrow rolls the API, data model, and infra into a high-level technical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🔗 REST &amp; SOAP API Fundamentals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3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REST resource modeling — nouns, not verbs</a:t>
            </a:r>
          </a:p>
          <a:p>
            <a:pPr lvl="0" indent="0" marL="0">
              <a:buNone/>
            </a:pPr>
            <a:r>
              <a:rPr/>
              <a:t>Apply HTTP methods + status codes consistently</a:t>
            </a:r>
          </a:p>
          <a:p>
            <a:pPr lvl="0" indent="0" marL="0">
              <a:buNone/>
            </a:pPr>
            <a:r>
              <a:rPr/>
              <a:t>Design idempotency for safe retries</a:t>
            </a:r>
          </a:p>
          <a:p>
            <a:pPr lvl="0" indent="0" marL="0">
              <a:buNone/>
            </a:pPr>
            <a:r>
              <a:rPr/>
              <a:t>Pick a versioning strategy</a:t>
            </a:r>
          </a:p>
          <a:p>
            <a:pPr lvl="0" indent="0" marL="0">
              <a:buNone/>
            </a:pPr>
            <a:r>
              <a:rPr/>
              <a:t>Standardize error semantics with the 7 most-needed codes</a:t>
            </a:r>
          </a:p>
          <a:p>
            <a:pPr lvl="0" indent="0" marL="0">
              <a:buNone/>
            </a:pPr>
            <a:r>
              <a:rPr/>
              <a:t>Know when SOAP is still the right call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§§1–2; recap REST principles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Resource modeling calibration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Design your feature’s API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Idempotency, versioning, errors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REST vs SOAP + AI critique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REST &amp; Resource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Nouns, not verbs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REST Method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</a:t>
            </a:r>
          </a:p>
          <a:p>
            <a:pPr lvl="0" indent="0" marL="0">
              <a:buNone/>
            </a:pPr>
            <a:r>
              <a:rPr/>
              <a:t>Purpose</a:t>
            </a:r>
          </a:p>
          <a:p>
            <a:pPr lvl="0" indent="0" marL="0">
              <a:buNone/>
            </a:pPr>
            <a:r>
              <a:rPr/>
              <a:t>Idempotent?</a:t>
            </a:r>
          </a:p>
          <a:p>
            <a:pPr lvl="0" indent="0" marL="0">
              <a:buNone/>
            </a:pPr>
            <a:r>
              <a:rPr/>
              <a:t>GET</a:t>
            </a:r>
          </a:p>
          <a:p>
            <a:pPr lvl="0" indent="0" marL="0">
              <a:buNone/>
            </a:pPr>
            <a:r>
              <a:rPr/>
              <a:t>Retrieve</a:t>
            </a:r>
          </a:p>
          <a:p>
            <a:pPr lvl="0" indent="0" marL="0">
              <a:buNone/>
            </a:pPr>
            <a:r>
              <a:rPr/>
              <a:t>Yes</a:t>
            </a:r>
          </a:p>
          <a:p>
            <a:pPr lvl="0" indent="0" marL="0">
              <a:buNone/>
            </a:pPr>
            <a:r>
              <a:rPr/>
              <a:t>POST</a:t>
            </a:r>
          </a:p>
          <a:p>
            <a:pPr lvl="0" indent="0" marL="0">
              <a:buNone/>
            </a:pPr>
            <a:r>
              <a:rPr/>
              <a:t>Create</a:t>
            </a:r>
          </a:p>
          <a:p>
            <a:pPr lvl="0" indent="0" marL="0">
              <a:buNone/>
            </a:pPr>
            <a:r>
              <a:rPr/>
              <a:t>No (typically)</a:t>
            </a:r>
          </a:p>
          <a:p>
            <a:pPr lvl="0" indent="0" marL="0">
              <a:buNone/>
            </a:pPr>
            <a:r>
              <a:rPr/>
              <a:t>PUT</a:t>
            </a:r>
          </a:p>
          <a:p>
            <a:pPr lvl="0" indent="0" marL="0">
              <a:buNone/>
            </a:pPr>
            <a:r>
              <a:rPr/>
              <a:t>Replace</a:t>
            </a:r>
          </a:p>
          <a:p>
            <a:pPr lvl="0" indent="0" marL="0">
              <a:buNone/>
            </a:pPr>
            <a:r>
              <a:rPr/>
              <a:t>Yes</a:t>
            </a:r>
          </a:p>
          <a:p>
            <a:pPr lvl="0" indent="0" marL="0">
              <a:buNone/>
            </a:pPr>
            <a:r>
              <a:rPr/>
              <a:t>PATCH</a:t>
            </a:r>
          </a:p>
          <a:p>
            <a:pPr lvl="0" indent="0" marL="0">
              <a:buNone/>
            </a:pPr>
            <a:r>
              <a:rPr/>
              <a:t>Partial update</a:t>
            </a:r>
          </a:p>
          <a:p>
            <a:pPr lvl="0" indent="0" marL="0">
              <a:buNone/>
            </a:pPr>
            <a:r>
              <a:rPr/>
              <a:t>No (typically)</a:t>
            </a:r>
          </a:p>
          <a:p>
            <a:pPr lvl="0" indent="0" marL="0">
              <a:buNone/>
            </a:pPr>
            <a:r>
              <a:rPr/>
              <a:t>DELETE</a:t>
            </a:r>
          </a:p>
          <a:p>
            <a:pPr lvl="0" indent="0" marL="0">
              <a:buNone/>
            </a:pPr>
            <a:r>
              <a:rPr/>
              <a:t>Remove</a:t>
            </a:r>
          </a:p>
          <a:p>
            <a:pPr lvl="0" indent="0" marL="0">
              <a:buNone/>
            </a:pPr>
            <a:r>
              <a:rPr/>
              <a:t>Yes</a:t>
            </a:r>
          </a:p>
          <a:p>
            <a:pPr lvl="0" indent="0" marL="0">
              <a:buNone/>
            </a:pPr>
            <a:r>
              <a:rPr/>
              <a:t>URLs are nouns (resources). The verb is the HTTP method. POST /share is wrong; POST /shares is right.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Status Codes That Carry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  <a:p>
            <a:pPr lvl="0" indent="0" marL="0">
              <a:buNone/>
            </a:pPr>
            <a:r>
              <a:rPr/>
              <a:t>Meaning</a:t>
            </a:r>
          </a:p>
          <a:p>
            <a:pPr lvl="0" indent="0" marL="0">
              <a:buNone/>
            </a:pPr>
            <a:r>
              <a:rPr/>
              <a:t>When</a:t>
            </a:r>
          </a:p>
          <a:p>
            <a:pPr lvl="0" indent="0" marL="0">
              <a:buNone/>
            </a:pPr>
            <a:r>
              <a:rPr/>
              <a:t>200</a:t>
            </a:r>
          </a:p>
          <a:p>
            <a:pPr lvl="0" indent="0" marL="0">
              <a:buNone/>
            </a:pPr>
            <a:r>
              <a:rPr/>
              <a:t>OK</a:t>
            </a:r>
          </a:p>
          <a:p>
            <a:pPr lvl="0" indent="0" marL="0">
              <a:buNone/>
            </a:pPr>
            <a:r>
              <a:rPr/>
              <a:t>Successful retrieval / update</a:t>
            </a:r>
          </a:p>
          <a:p>
            <a:pPr lvl="0" indent="0" marL="0">
              <a:buNone/>
            </a:pPr>
            <a:r>
              <a:rPr/>
              <a:t>201</a:t>
            </a:r>
          </a:p>
          <a:p>
            <a:pPr lvl="0" indent="0" marL="0">
              <a:buNone/>
            </a:pPr>
            <a:r>
              <a:rPr/>
              <a:t>Created</a:t>
            </a:r>
          </a:p>
          <a:p>
            <a:pPr lvl="0" indent="0" marL="0">
              <a:buNone/>
            </a:pPr>
            <a:r>
              <a:rPr/>
              <a:t>Successful creation</a:t>
            </a:r>
          </a:p>
          <a:p>
            <a:pPr lvl="0" indent="0" marL="0">
              <a:buNone/>
            </a:pPr>
            <a:r>
              <a:rPr/>
              <a:t>204</a:t>
            </a:r>
          </a:p>
          <a:p>
            <a:pPr lvl="0" indent="0" marL="0">
              <a:buNone/>
            </a:pPr>
            <a:r>
              <a:rPr/>
              <a:t>No content</a:t>
            </a:r>
          </a:p>
          <a:p>
            <a:pPr lvl="0" indent="0" marL="0">
              <a:buNone/>
            </a:pPr>
            <a:r>
              <a:rPr/>
              <a:t>Successful with no body (e.g., DELETE)</a:t>
            </a:r>
          </a:p>
          <a:p>
            <a:pPr lvl="0" indent="0" marL="0">
              <a:buNone/>
            </a:pPr>
            <a:r>
              <a:rPr/>
              <a:t>400</a:t>
            </a:r>
          </a:p>
          <a:p>
            <a:pPr lvl="0" indent="0" marL="0">
              <a:buNone/>
            </a:pPr>
            <a:r>
              <a:rPr/>
              <a:t>Bad request</a:t>
            </a:r>
          </a:p>
          <a:p>
            <a:pPr lvl="0" indent="0" marL="0">
              <a:buNone/>
            </a:pPr>
            <a:r>
              <a:rPr/>
              <a:t>Validation failed</a:t>
            </a:r>
          </a:p>
          <a:p>
            <a:pPr lvl="0" indent="0" marL="0">
              <a:buNone/>
            </a:pPr>
            <a:r>
              <a:rPr/>
              <a:t>401</a:t>
            </a:r>
          </a:p>
          <a:p>
            <a:pPr lvl="0" indent="0" marL="0">
              <a:buNone/>
            </a:pPr>
            <a:r>
              <a:rPr/>
              <a:t>Unauthenticated</a:t>
            </a:r>
          </a:p>
          <a:p>
            <a:pPr lvl="0" indent="0" marL="0">
              <a:buNone/>
            </a:pPr>
            <a:r>
              <a:rPr/>
              <a:t>Missing / invalid token</a:t>
            </a:r>
          </a:p>
          <a:p>
            <a:pPr lvl="0" indent="0" marL="0">
              <a:buNone/>
            </a:pPr>
            <a:r>
              <a:rPr/>
              <a:t>403</a:t>
            </a:r>
          </a:p>
          <a:p>
            <a:pPr lvl="0" indent="0" marL="0">
              <a:buNone/>
            </a:pPr>
            <a:r>
              <a:rPr/>
              <a:t>Unauthorized</a:t>
            </a:r>
          </a:p>
          <a:p>
            <a:pPr lvl="0" indent="0" marL="0">
              <a:buNone/>
            </a:pPr>
            <a:r>
              <a:rPr/>
              <a:t>Token valid; lacks permission</a:t>
            </a:r>
          </a:p>
          <a:p>
            <a:pPr lvl="0" indent="0" marL="0">
              <a:buNone/>
            </a:pPr>
            <a:r>
              <a:rPr/>
              <a:t>404</a:t>
            </a:r>
          </a:p>
          <a:p>
            <a:pPr lvl="0" indent="0" marL="0">
              <a:buNone/>
            </a:pPr>
            <a:r>
              <a:rPr/>
              <a:t>Not found</a:t>
            </a:r>
          </a:p>
          <a:p>
            <a:pPr lvl="0" indent="0" marL="0">
              <a:buNone/>
            </a:pPr>
            <a:r>
              <a:rPr/>
              <a:t>Resource doesn’t exist</a:t>
            </a:r>
          </a:p>
          <a:p>
            <a:pPr lvl="0" indent="0" marL="0">
              <a:buNone/>
            </a:pPr>
            <a:r>
              <a:rPr/>
              <a:t>409</a:t>
            </a:r>
          </a:p>
          <a:p>
            <a:pPr lvl="0" indent="0" marL="0">
              <a:buNone/>
            </a:pPr>
            <a:r>
              <a:rPr/>
              <a:t>Conflict</a:t>
            </a:r>
          </a:p>
          <a:p>
            <a:pPr lvl="0" indent="0" marL="0">
              <a:buNone/>
            </a:pPr>
            <a:r>
              <a:rPr/>
              <a:t>Idempotency / state collision</a:t>
            </a:r>
          </a:p>
          <a:p>
            <a:pPr lvl="0" indent="0" marL="0">
              <a:buNone/>
            </a:pPr>
            <a:r>
              <a:rPr/>
              <a:t>422</a:t>
            </a:r>
          </a:p>
          <a:p>
            <a:pPr lvl="0" indent="0" marL="0">
              <a:buNone/>
            </a:pPr>
            <a:r>
              <a:rPr/>
              <a:t>Unprocessable</a:t>
            </a:r>
          </a:p>
          <a:p>
            <a:pPr lvl="0" indent="0" marL="0">
              <a:buNone/>
            </a:pPr>
            <a:r>
              <a:rPr/>
              <a:t>Validated but business rule violated</a:t>
            </a:r>
          </a:p>
          <a:p>
            <a:pPr lvl="0" indent="0" marL="0">
              <a:buNone/>
            </a:pPr>
            <a:r>
              <a:rPr/>
              <a:t>429</a:t>
            </a:r>
          </a:p>
          <a:p>
            <a:pPr lvl="0" indent="0" marL="0">
              <a:buNone/>
            </a:pPr>
            <a:r>
              <a:rPr/>
              <a:t>Rate limited</a:t>
            </a:r>
          </a:p>
          <a:p>
            <a:pPr lvl="0" indent="0" marL="0">
              <a:buNone/>
            </a:pPr>
            <a:r>
              <a:rPr/>
              <a:t>Too many requests</a:t>
            </a:r>
          </a:p>
          <a:p>
            <a:pPr lvl="0" indent="0" marL="0">
              <a:buNone/>
            </a:pPr>
            <a:r>
              <a:rPr/>
              <a:t>500/502/503</a:t>
            </a:r>
          </a:p>
          <a:p>
            <a:pPr lvl="0" indent="0" marL="0">
              <a:buNone/>
            </a:pPr>
            <a:r>
              <a:rPr/>
              <a:t>Server side</a:t>
            </a:r>
          </a:p>
          <a:p>
            <a:pPr lvl="0" indent="0" marL="0">
              <a:buNone/>
            </a:pPr>
            <a:r>
              <a:rPr/>
              <a:t>Different shapes of “us, not you”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Resource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Design the resource model for a generic todo-list API (lists / items / collaborators).</a:t>
            </a:r>
          </a:p>
          <a:p>
            <a:pPr lvl="0" indent="0" marL="0">
              <a:buNone/>
            </a:pPr>
            <a:r>
              <a:rPr/>
              <a:t>10 min: sketch resources + URLs</a:t>
            </a:r>
          </a:p>
          <a:p>
            <a:pPr lvl="0" indent="0" marL="0">
              <a:buNone/>
            </a:pPr>
            <a:r>
              <a:rPr/>
              <a:t>10 min: methods per resource</a:t>
            </a:r>
          </a:p>
          <a:p>
            <a:pPr lvl="0" indent="0" marL="0">
              <a:buNone/>
            </a:pPr>
            <a:r>
              <a:rPr/>
              <a:t>10 min: trickiest design choice (sharing, reordering)</a:t>
            </a:r>
          </a:p>
          <a:p>
            <a:pPr lvl="0" indent="0" marL="0">
              <a:buNone/>
            </a:pPr>
            <a:r>
              <a:rPr/>
              <a:t>5 min: argue + readout prep</a:t>
            </a:r>
          </a:p>
          <a:p>
            <a:pPr lvl="0" indent="0" marL="0">
              <a:buNone/>
            </a:pPr>
            <a:r>
              <a:rPr/>
              <a:t>⏱ 10 + 10 + 10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Your Feature’s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entities to endpoints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Endpoint (FieldPulse)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Design Your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10 min: list resources from data model</a:t>
            </a:r>
          </a:p>
          <a:p>
            <a:pPr lvl="0" indent="0" marL="0">
              <a:buNone/>
            </a:pPr>
            <a:r>
              <a:rPr/>
              <a:t>10 min: design URL paths</a:t>
            </a:r>
          </a:p>
          <a:p>
            <a:pPr lvl="0" indent="0" marL="0">
              <a:buNone/>
            </a:pPr>
            <a:r>
              <a:rPr/>
              <a:t>10 min: methods + status codes per path</a:t>
            </a:r>
          </a:p>
          <a:p>
            <a:pPr lvl="0" indent="0" marL="0">
              <a:buNone/>
            </a:pPr>
            <a:r>
              <a:rPr/>
              <a:t>10 min: document one endpoint in detail</a:t>
            </a:r>
          </a:p>
          <a:p>
            <a:pPr lvl="0" indent="0" marL="0">
              <a:buNone/>
            </a:pPr>
            <a:r>
              <a:rPr/>
              <a:t>⏱ 10 + 10 + 10 + 10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Idempotency, Versioning,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aspects most often hand-waved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Idempotency — Safe to Retry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Natural</a:t>
            </a:r>
          </a:p>
          <a:p>
            <a:pPr lvl="0" indent="0" marL="0">
              <a:buNone/>
            </a:pPr>
            <a:r>
              <a:rPr/>
              <a:t>PUT and DELETE are idempotent by HTTP definition.</a:t>
            </a:r>
          </a:p>
          <a:p>
            <a:pPr lvl="0" indent="0" marL="0">
              <a:buNone/>
            </a:pPr>
            <a:r>
              <a:rPr/>
              <a:t>Idempotency-Key header</a:t>
            </a:r>
          </a:p>
          <a:p>
            <a:pPr lvl="0" indent="0" marL="0">
              <a:buNone/>
            </a:pPr>
            <a:r>
              <a:rPr/>
              <a:t>Client sends a UUID; server stores key + response; returns same response on retry.</a:t>
            </a:r>
          </a:p>
          <a:p>
            <a:pPr lvl="0" indent="0" marL="0">
              <a:buNone/>
            </a:pPr>
            <a:r>
              <a:rPr/>
              <a:t>Conditional</a:t>
            </a:r>
          </a:p>
          <a:p>
            <a:pPr lvl="0" indent="0" marL="0">
              <a:buNone/>
            </a:pPr>
            <a:r>
              <a:rPr/>
              <a:t>If-Match / If-None-Match gate the operation by version.</a:t>
            </a:r>
          </a:p>
          <a:p>
            <a:pPr lvl="0" indent="0" marL="0">
              <a:buNone/>
            </a:pPr>
            <a:r>
              <a:rPr/>
              <a:t>For mutating endpoints: decide approach + window (typical: 24 hours).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Versioning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Strategy</a:t>
            </a:r>
          </a:p>
          <a:p>
            <a:pPr lvl="0" indent="0" marL="0">
              <a:buNone/>
            </a:pPr>
            <a:r>
              <a:rPr/>
              <a:t>Where version lives</a:t>
            </a:r>
          </a:p>
          <a:p>
            <a:pPr lvl="0" indent="0" marL="0">
              <a:buNone/>
            </a:pPr>
            <a:r>
              <a:rPr/>
              <a:t>Pros</a:t>
            </a:r>
          </a:p>
          <a:p>
            <a:pPr lvl="0" indent="0" marL="0">
              <a:buNone/>
            </a:pPr>
            <a:r>
              <a:rPr/>
              <a:t>Cons</a:t>
            </a:r>
          </a:p>
          <a:p>
            <a:pPr lvl="0" indent="0" marL="0">
              <a:buNone/>
            </a:pPr>
            <a:r>
              <a:rPr/>
              <a:t>URL path</a:t>
            </a:r>
          </a:p>
          <a:p>
            <a:pPr lvl="0" indent="0" marL="0">
              <a:buNone/>
            </a:pPr>
            <a:r>
              <a:rPr/>
              <a:t>/v1/…</a:t>
            </a:r>
          </a:p>
          <a:p>
            <a:pPr lvl="0" indent="0" marL="0">
              <a:buNone/>
            </a:pPr>
            <a:r>
              <a:rPr/>
              <a:t>Easy to read; clear breaking</a:t>
            </a:r>
          </a:p>
          <a:p>
            <a:pPr lvl="0" indent="0" marL="0">
              <a:buNone/>
            </a:pPr>
            <a:r>
              <a:rPr/>
              <a:t>Code duplication</a:t>
            </a:r>
          </a:p>
          <a:p>
            <a:pPr lvl="0" indent="0" marL="0">
              <a:buNone/>
            </a:pPr>
            <a:r>
              <a:rPr/>
              <a:t>Header</a:t>
            </a:r>
          </a:p>
          <a:p>
            <a:pPr lvl="0" indent="0" marL="0">
              <a:buNone/>
            </a:pPr>
            <a:r>
              <a:rPr/>
              <a:t>X-API-Version: 2</a:t>
            </a:r>
          </a:p>
          <a:p>
            <a:pPr lvl="0" indent="0" marL="0">
              <a:buNone/>
            </a:pPr>
            <a:r>
              <a:rPr/>
              <a:t>URL stays clean</a:t>
            </a:r>
          </a:p>
          <a:p>
            <a:pPr lvl="0" indent="0" marL="0">
              <a:buNone/>
            </a:pPr>
            <a:r>
              <a:rPr/>
              <a:t>Less discoverable</a:t>
            </a:r>
          </a:p>
          <a:p>
            <a:pPr lvl="0" indent="0" marL="0">
              <a:buNone/>
            </a:pPr>
            <a:r>
              <a:rPr/>
              <a:t>Content negotiation</a:t>
            </a:r>
          </a:p>
          <a:p>
            <a:pPr lvl="0" indent="0" marL="0">
              <a:buNone/>
            </a:pPr>
            <a:r>
              <a:rPr/>
              <a:t>Accept: …vnd…;v=2</a:t>
            </a:r>
          </a:p>
          <a:p>
            <a:pPr lvl="0" indent="0" marL="0">
              <a:buNone/>
            </a:pPr>
            <a:r>
              <a:rPr/>
              <a:t>Standard</a:t>
            </a:r>
          </a:p>
          <a:p>
            <a:pPr lvl="0" indent="0" marL="0">
              <a:buNone/>
            </a:pPr>
            <a:r>
              <a:rPr/>
              <a:t>Often poorly understood</a:t>
            </a:r>
          </a:p>
          <a:p>
            <a:pPr lvl="0" indent="0" marL="0">
              <a:buNone/>
            </a:pPr>
            <a:r>
              <a:rPr/>
              <a:t>Default for B2B APIs: URL path versioning.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Error Body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— programmatic; clients switch on this</a:t>
            </a:r>
          </a:p>
          <a:p>
            <a:pPr lvl="0" indent="0" marL="0">
              <a:buNone/>
            </a:pPr>
            <a:r>
              <a:rPr/>
              <a:t>message — human-readable</a:t>
            </a:r>
          </a:p>
          <a:p>
            <a:pPr lvl="0" indent="0" marL="0">
              <a:buNone/>
            </a:pPr>
            <a:r>
              <a:rPr/>
              <a:t>fields — when validation failed</a:t>
            </a:r>
          </a:p>
          <a:p>
            <a:pPr lvl="0" indent="0" marL="0">
              <a:buNone/>
            </a:pPr>
            <a:r>
              <a:rPr/>
              <a:t>request_id — for support tickets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Idempotency, Versioning,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idempotency per mutating endpoint + window</a:t>
            </a:r>
          </a:p>
          <a:p>
            <a:pPr lvl="0" indent="0" marL="0">
              <a:buNone/>
            </a:pPr>
            <a:r>
              <a:rPr/>
              <a:t>10 min: pick versioning strategy</a:t>
            </a:r>
          </a:p>
          <a:p>
            <a:pPr lvl="0" indent="0" marL="0">
              <a:buNone/>
            </a:pPr>
            <a:r>
              <a:rPr/>
              <a:t>15 min: error body shape + 7 most-needed codes</a:t>
            </a:r>
          </a:p>
          <a:p>
            <a:pPr lvl="0" indent="0" marL="0">
              <a:buNone/>
            </a:pPr>
            <a:r>
              <a:rPr/>
              <a:t>⏱ 15 + 10 + 15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REST vs SOAP +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SOAP is still the right answer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When SOAP Is Still the Right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partner only speaks SOAP (banks, government, EDI-adjacent)</a:t>
            </a:r>
          </a:p>
          <a:p>
            <a:pPr lvl="0" indent="0" marL="0">
              <a:buNone/>
            </a:pPr>
            <a:r>
              <a:rPr/>
              <a:t>WS-Security or WS-ReliableMessaging contractually required</a:t>
            </a:r>
          </a:p>
          <a:p>
            <a:pPr lvl="0" indent="0" marL="0">
              <a:buNone/>
            </a:pPr>
            <a:r>
              <a:rPr/>
              <a:t>Partner has invested heavily in SOAP tooling; rewrite is impractical</a:t>
            </a:r>
          </a:p>
          <a:p>
            <a:pPr lvl="0" indent="0" marL="0">
              <a:buNone/>
            </a:pPr>
            <a:r>
              <a:rPr/>
              <a:t>For most new B2B features: REST + JSON. SOAP appears occasionally for legacy enterprise integrations. Document the choice honestly.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Critique Prompt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SOAP +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SOAP question — any partner needs it?</a:t>
            </a:r>
          </a:p>
          <a:p>
            <a:pPr lvl="0" indent="0" marL="0">
              <a:buNone/>
            </a:pPr>
            <a:r>
              <a:rPr/>
              <a:t>10 min: AI critique → 5 issues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polish §3 + provenance</a:t>
            </a:r>
          </a:p>
          <a:p>
            <a:pPr lvl="0" indent="0" marL="0">
              <a:buNone/>
            </a:pPr>
            <a:r>
              <a:rPr/>
              <a:t>⏱ 10 + 10 + 10 + 10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Resource design with URLs</a:t>
            </a:r>
          </a:p>
          <a:p>
            <a:pPr lvl="0" indent="0" marL="0">
              <a:buNone/>
            </a:pPr>
            <a:r>
              <a:rPr/>
              <a:t>Methods + status codes</a:t>
            </a:r>
          </a:p>
          <a:p>
            <a:pPr lvl="0" indent="0" marL="0">
              <a:buNone/>
            </a:pPr>
            <a:r>
              <a:rPr/>
              <a:t>One detailed endpoint</a:t>
            </a:r>
          </a:p>
          <a:p>
            <a:pPr lvl="0" indent="0" marL="0">
              <a:buNone/>
            </a:pPr>
            <a:r>
              <a:rPr/>
              <a:t>Idempotency / versioning / error semantics</a:t>
            </a:r>
          </a:p>
          <a:p>
            <a:pPr lvl="0" indent="0" marL="0">
              <a:buNone/>
            </a:pPr>
            <a:r>
              <a:rPr/>
              <a:t>SOAP exceptions documented</a:t>
            </a:r>
          </a:p>
          <a:p>
            <a:pPr lvl="0" indent="0" marL="0">
              <a:buNone/>
            </a:pPr>
            <a:r>
              <a:rPr/>
              <a:t>TMD §3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High-level technical modeling</a:t>
            </a:r>
          </a:p>
          <a:p>
            <a:pPr lvl="0" indent="0" marL="0">
              <a:buNone/>
            </a:pPr>
            <a:r>
              <a:rPr/>
              <a:t>Sequence diagrams — happy + sad/weird</a:t>
            </a:r>
          </a:p>
          <a:p>
            <a:pPr lvl="0" indent="0" marL="0">
              <a:buNone/>
            </a:pPr>
            <a:r>
              <a:rPr/>
              <a:t>Putting data + cloud + APIs together</a:t>
            </a:r>
          </a:p>
          <a:p>
            <a:pPr lvl="0" indent="0" marL="0">
              <a:buNone/>
            </a:pPr>
            <a:r>
              <a:rPr/>
              <a:t>Bring to Day 4: TMD §§1–3. Tomorrow we draw the sequences end-to-end.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endpoints would a hostile integration partner break first?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2026-05-15T23:22:19Z</dcterms:created>
  <dcterms:modified xsi:type="dcterms:W3CDTF">2026-05-15T23:22:19Z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