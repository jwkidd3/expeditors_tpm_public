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Friday. TMD §5 + integration + sign-off. New discipline today: AI-summary validation log, cumulative across Weeks 2–5.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the TMD is approved (or approved with gaps) and ready for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pieces of §5 + the integration. Hold the time strictly.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Baselines come in two flavors. Greenfield ones must carry named assumptions — “we don’t know” without a defensible estimate gets pushed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don’t know” is not a baseline. The assumption + reasoning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“verify at” date is the discipline. Make it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Greenfield baselines need named assumptions. “We don’t know” gets pushed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monitoring layers — and no more than five alerts. Over-alerting eats the next sprint; push back on alert lists that look like coverage theater.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teams over-invest in one layer (usually executive) and starve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4-question test is brutal but useful. Force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Mute-reasons tracking is unusual but powerful. It’s the audit trail of alert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back on triads with &gt; 5 alerts. They’ll be tuning all of next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consolidates four weeks of AI provenance into a single log. Pending entries without deadlines get returned — closure dates are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summarization of dashboards is increasingly common. Without validation, decisions get made on hallucinated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“Pending” entries need a deadline. Otherwise they become “we trusted the AI.”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cumulative view is the audit trail. Pin it to the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Pending entries with no deadline get pushed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TMD integration pulls in data model, infra, API, sequences, and baselines. Sign-off locks the artifact for Monday’s stakeholder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convention as Week 3 / Week 4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names sharpest TMD insight + 1 question for Week 6 + final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triad names 1 constraint they want to actively negotiate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Naming “I don’t actually know” is the first move toward learning it. Carry that list into Week 6 stakeholder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📊 Baselines, Monitoring &amp; AI-Summary Validation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5 • Day 5 • Technical Infrastructure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 — TMD ships today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performance baselines for SLOs + key operational signals</a:t>
            </a:r>
          </a:p>
          <a:p>
            <a:pPr lvl="0" indent="0" marL="0">
              <a:buNone/>
            </a:pPr>
            <a:r>
              <a:rPr/>
              <a:t>Design a three-layer monitoring plan (on-call / operator / executive)</a:t>
            </a:r>
          </a:p>
          <a:p>
            <a:pPr lvl="0" indent="0" marL="0">
              <a:buNone/>
            </a:pPr>
            <a:r>
              <a:rPr/>
              <a:t>Apply the 4-question test to every alert</a:t>
            </a:r>
          </a:p>
          <a:p>
            <a:pPr lvl="0" indent="0" marL="0">
              <a:buNone/>
            </a:pPr>
            <a:r>
              <a:rPr/>
              <a:t>Build an AI-summary validation log across all weeks</a:t>
            </a:r>
          </a:p>
          <a:p>
            <a:pPr lvl="0" indent="0" marL="0">
              <a:buNone/>
            </a:pPr>
            <a:r>
              <a:rPr/>
              <a:t>Assemble + sign off the full TMD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TMD §§1–4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Performance baselines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Monitoring plan (3 layers)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AI-summary validation log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TMD integration + cross-review + sign-off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Performance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do we start measuring from?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Two Kinds of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Kind</a:t>
            </a:r>
          </a:p>
          <a:p>
            <a:pPr lvl="0" indent="0" marL="0">
              <a:buNone/>
            </a:pPr>
            <a:r>
              <a:rPr/>
              <a:t>When</a:t>
            </a:r>
          </a:p>
          <a:p>
            <a:pPr lvl="0" indent="0" marL="0">
              <a:buNone/>
            </a:pPr>
            <a:r>
              <a:rPr/>
              <a:t>Source</a:t>
            </a:r>
          </a:p>
          <a:p>
            <a:pPr lvl="0" indent="0" marL="0">
              <a:buNone/>
            </a:pPr>
            <a:r>
              <a:rPr/>
              <a:t>Existing-system</a:t>
            </a:r>
          </a:p>
          <a:p>
            <a:pPr lvl="0" indent="0" marL="0">
              <a:buNone/>
            </a:pPr>
            <a:r>
              <a:rPr/>
              <a:t>Brownfield (improving existing)</a:t>
            </a:r>
          </a:p>
          <a:p>
            <a:pPr lvl="0" indent="0" marL="0">
              <a:buNone/>
            </a:pPr>
            <a:r>
              <a:rPr/>
              <a:t>Production data</a:t>
            </a:r>
          </a:p>
          <a:p>
            <a:pPr lvl="0" indent="0" marL="0">
              <a:buNone/>
            </a:pPr>
            <a:r>
              <a:rPr/>
              <a:t>Expected-launch</a:t>
            </a:r>
          </a:p>
          <a:p>
            <a:pPr lvl="0" indent="0" marL="0">
              <a:buNone/>
            </a:pPr>
            <a:r>
              <a:rPr/>
              <a:t>Greenfield (new feature)</a:t>
            </a:r>
          </a:p>
          <a:p>
            <a:pPr lvl="0" indent="0" marL="0">
              <a:buNone/>
            </a:pPr>
            <a:r>
              <a:rPr/>
              <a:t>Estimated; named assumption</a:t>
            </a:r>
          </a:p>
          <a:p>
            <a:pPr lvl="0" indent="0" marL="0">
              <a:buNone/>
            </a:pPr>
            <a:r>
              <a:rPr/>
              <a:t>Greenfield discipline: state the assumption rather than skip the baseline. “We expect ~200 reconcile-submits/day in the first 30 days, based on dispatcher count × shifts/day × adoption.”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Baseline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Metric</a:t>
            </a:r>
          </a:p>
          <a:p>
            <a:pPr lvl="0" indent="0" marL="0">
              <a:buNone/>
            </a:pPr>
            <a:r>
              <a:rPr/>
              <a:t>Baseline</a:t>
            </a:r>
          </a:p>
          <a:p>
            <a:pPr lvl="0" indent="0" marL="0">
              <a:buNone/>
            </a:pPr>
            <a:r>
              <a:rPr/>
              <a:t>Source / assumption</a:t>
            </a:r>
          </a:p>
          <a:p>
            <a:pPr lvl="0" indent="0" marL="0">
              <a:buNone/>
            </a:pPr>
            <a:r>
              <a:rPr/>
              <a:t>Verify at</a:t>
            </a:r>
          </a:p>
          <a:p>
            <a:pPr lvl="0" indent="0" marL="0">
              <a:buNone/>
            </a:pPr>
            <a:r>
              <a:rPr/>
              <a:t>Reconcile p95 latency</a:t>
            </a:r>
          </a:p>
          <a:p>
            <a:pPr lvl="0" indent="0" marL="0">
              <a:buNone/>
            </a:pPr>
            <a:r>
              <a:rPr/>
              <a:t>~700ms</a:t>
            </a:r>
          </a:p>
          <a:p>
            <a:pPr lvl="0" indent="0" marL="0">
              <a:buNone/>
            </a:pPr>
            <a:r>
              <a:rPr/>
              <a:t>Sequence-diagram totals + 30%</a:t>
            </a:r>
          </a:p>
          <a:p>
            <a:pPr lvl="0" indent="0" marL="0">
              <a:buNone/>
            </a:pPr>
            <a:r>
              <a:rPr/>
              <a:t>Launch + 7d</a:t>
            </a:r>
          </a:p>
          <a:p>
            <a:pPr lvl="0" indent="0" marL="0">
              <a:buNone/>
            </a:pPr>
            <a:r>
              <a:rPr/>
              <a:t>Reconcile availability</a:t>
            </a:r>
          </a:p>
          <a:p>
            <a:pPr lvl="0" indent="0" marL="0">
              <a:buNone/>
            </a:pPr>
            <a:r>
              <a:rPr/>
              <a:t>99.5% (= TCD §4)</a:t>
            </a:r>
          </a:p>
          <a:p>
            <a:pPr lvl="0" indent="0" marL="0">
              <a:buNone/>
            </a:pPr>
            <a:r>
              <a:rPr/>
              <a:t>Inherits monolith</a:t>
            </a:r>
          </a:p>
          <a:p>
            <a:pPr lvl="0" indent="0" marL="0">
              <a:buNone/>
            </a:pPr>
            <a:r>
              <a:rPr/>
              <a:t>Launch + 30d</a:t>
            </a:r>
          </a:p>
          <a:p>
            <a:pPr lvl="0" indent="0" marL="0">
              <a:buNone/>
            </a:pPr>
            <a:r>
              <a:rPr/>
              <a:t>Reconcile-submits/day</a:t>
            </a:r>
          </a:p>
          <a:p>
            <a:pPr lvl="0" indent="0" marL="0">
              <a:buNone/>
            </a:pPr>
            <a:r>
              <a:rPr/>
              <a:t>~200</a:t>
            </a:r>
          </a:p>
          <a:p>
            <a:pPr lvl="0" indent="0" marL="0">
              <a:buNone/>
            </a:pPr>
            <a:r>
              <a:rPr/>
              <a:t>Dispatchers × shifts × adoption</a:t>
            </a:r>
          </a:p>
          <a:p>
            <a:pPr lvl="0" indent="0" marL="0">
              <a:buNone/>
            </a:pPr>
            <a:r>
              <a:rPr/>
              <a:t>Launch + 7d</a:t>
            </a:r>
          </a:p>
          <a:p>
            <a:pPr lvl="0" indent="0" marL="0">
              <a:buNone/>
            </a:pPr>
            <a:r>
              <a:rPr/>
              <a:t>Submission error rate</a:t>
            </a:r>
          </a:p>
          <a:p>
            <a:pPr lvl="0" indent="0" marL="0">
              <a:buNone/>
            </a:pPr>
            <a:r>
              <a:rPr/>
              <a:t>&lt; 2%</a:t>
            </a:r>
          </a:p>
          <a:p>
            <a:pPr lvl="0" indent="0" marL="0">
              <a:buNone/>
            </a:pPr>
            <a:r>
              <a:rPr/>
              <a:t>Comparable features in app</a:t>
            </a:r>
          </a:p>
          <a:p>
            <a:pPr lvl="0" indent="0" marL="0">
              <a:buNone/>
            </a:pPr>
            <a:r>
              <a:rPr/>
              <a:t>Launch + 14d</a:t>
            </a:r>
          </a:p>
          <a:p>
            <a:pPr lvl="0" indent="0" marL="0">
              <a:buNone/>
            </a:pPr>
            <a:r>
              <a:rPr/>
              <a:t>“Verify at” dates make baselines real. Without them, baselines stay aspirational.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5 min: list metrics needing baselines</a:t>
            </a:r>
          </a:p>
          <a:p>
            <a:pPr lvl="0" indent="0" marL="0">
              <a:buNone/>
            </a:pPr>
            <a:r>
              <a:rPr/>
              <a:t>5 min: classify (existing vs expected)</a:t>
            </a:r>
          </a:p>
          <a:p>
            <a:pPr lvl="0" indent="0" marL="0">
              <a:buNone/>
            </a:pPr>
            <a:r>
              <a:rPr/>
              <a:t>15 min: capture baseline values + assumptions</a:t>
            </a:r>
          </a:p>
          <a:p>
            <a:pPr lvl="0" indent="0" marL="0">
              <a:buNone/>
            </a:pPr>
            <a:r>
              <a:rPr/>
              <a:t>10 min: set “verify at” dates</a:t>
            </a:r>
          </a:p>
          <a:p>
            <a:pPr lvl="0" indent="0" marL="0">
              <a:buNone/>
            </a:pPr>
            <a:r>
              <a:rPr/>
              <a:t>⏱ 5 + 5 + 15 + 10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Monitoring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layers; fire before users notice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Three Layers of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On-call alerts</a:t>
            </a:r>
          </a:p>
          <a:p>
            <a:pPr lvl="0" indent="0" marL="0">
              <a:buNone/>
            </a:pPr>
            <a:r>
              <a:rPr/>
              <a:t>Real-time. “Is something on fire?” Pages or Slack.</a:t>
            </a:r>
          </a:p>
          <a:p>
            <a:pPr lvl="0" indent="0" marL="0">
              <a:buNone/>
            </a:pPr>
            <a:r>
              <a:rPr/>
              <a:t>Operator dashboard</a:t>
            </a:r>
          </a:p>
          <a:p>
            <a:pPr lvl="0" indent="0" marL="0">
              <a:buNone/>
            </a:pPr>
            <a:r>
              <a:rPr/>
              <a:t>Daily/weekly. “Is the system trending right?” TPM + eng lead.</a:t>
            </a:r>
          </a:p>
          <a:p>
            <a:pPr lvl="0" indent="0" marL="0">
              <a:buNone/>
            </a:pPr>
            <a:r>
              <a:rPr/>
              <a:t>Executive dashboard</a:t>
            </a:r>
          </a:p>
          <a:p>
            <a:pPr lvl="0" indent="0" marL="0">
              <a:buNone/>
            </a:pPr>
            <a:r>
              <a:rPr/>
              <a:t>Weekly/monthly. “Are we meeting SLOs?” Leadership.</a:t>
            </a:r>
          </a:p>
          <a:p>
            <a:pPr lvl="0" indent="0" marL="0">
              <a:buNone/>
            </a:pPr>
            <a:r>
              <a:rPr/>
              <a:t>Three layers, three audiences, three rhythms.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The 4-Question Alert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does it mean? Plain English</a:t>
            </a:r>
          </a:p>
          <a:p>
            <a:pPr lvl="0" indent="0" marL="0">
              <a:buNone/>
            </a:pPr>
            <a:r>
              <a:rPr/>
              <a:t>What does on-call do? Specific first step</a:t>
            </a:r>
          </a:p>
          <a:p>
            <a:pPr lvl="0" indent="0" marL="0">
              <a:buNone/>
            </a:pPr>
            <a:r>
              <a:rPr/>
              <a:t>What’s the threshold + window? e.g., “5xx &gt; 1% over 5 min”</a:t>
            </a:r>
          </a:p>
          <a:p>
            <a:pPr lvl="0" indent="0" marL="0">
              <a:buNone/>
            </a:pPr>
            <a:r>
              <a:rPr/>
              <a:t>What’s the severity? Page / Slack / log</a:t>
            </a:r>
          </a:p>
          <a:p>
            <a:pPr lvl="0" indent="0" marL="0">
              <a:buNone/>
            </a:pPr>
            <a:r>
              <a:rPr/>
              <a:t>If you can’t answer all four, the alert is noise — it’ll be muted within a sprint.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Dashboard Right-Sizing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3–5 alerts per feature. More = noise.</a:t>
            </a:r>
          </a:p>
          <a:p>
            <a:pPr lvl="0" indent="0" marL="0">
              <a:buNone/>
            </a:pPr>
            <a:r>
              <a:rPr/>
              <a:t>&lt; 6 charts on the operator dashboard. More = nobody reads.</a:t>
            </a:r>
          </a:p>
          <a:p>
            <a:pPr lvl="0" indent="0" marL="0">
              <a:buNone/>
            </a:pPr>
            <a:r>
              <a:rPr/>
              <a:t>&lt; 4 charts on the executive dashboard. More = leadership tunes out.</a:t>
            </a:r>
          </a:p>
          <a:p>
            <a:pPr lvl="0" indent="0" marL="0">
              <a:buNone/>
            </a:pPr>
            <a:r>
              <a:rPr/>
              <a:t>Track “mute reasons” on the operator level — captures the alert-tuning conversation.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Monitoring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3–5 on-call alerts (4-question test each)</a:t>
            </a:r>
          </a:p>
          <a:p>
            <a:pPr lvl="0" indent="0" marL="0">
              <a:buNone/>
            </a:pPr>
            <a:r>
              <a:rPr/>
              <a:t>15 min: operator dashboard (&lt; 6 charts)</a:t>
            </a:r>
          </a:p>
          <a:p>
            <a:pPr lvl="0" indent="0" marL="0">
              <a:buNone/>
            </a:pPr>
            <a:r>
              <a:rPr/>
              <a:t>10 min: executive dashboard (&lt; 4 charts)</a:t>
            </a:r>
          </a:p>
          <a:p>
            <a:pPr lvl="0" indent="0" marL="0">
              <a:buNone/>
            </a:pPr>
            <a:r>
              <a:rPr/>
              <a:t>⏱ 15 + 15 + 10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AI-Summary Validation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new discipline; cumulative across Weeks 2–5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Why AI-Summary Validation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What happens</a:t>
            </a:r>
          </a:p>
          <a:p>
            <a:pPr lvl="0" indent="0" marL="0">
              <a:buNone/>
            </a:pPr>
            <a:r>
              <a:rPr/>
              <a:t>Wrong number</a:t>
            </a:r>
          </a:p>
          <a:p>
            <a:pPr lvl="0" indent="0" marL="0">
              <a:buNone/>
            </a:pPr>
            <a:r>
              <a:rPr/>
              <a:t>“p95 = 800ms” when chart shows 1200ms</a:t>
            </a:r>
          </a:p>
          <a:p>
            <a:pPr lvl="0" indent="0" marL="0">
              <a:buNone/>
            </a:pPr>
            <a:r>
              <a:rPr/>
              <a:t>Wrong direction</a:t>
            </a:r>
          </a:p>
          <a:p>
            <a:pPr lvl="0" indent="0" marL="0">
              <a:buNone/>
            </a:pPr>
            <a:r>
              <a:rPr/>
              <a:t>“improving” when trend is flat</a:t>
            </a:r>
          </a:p>
          <a:p>
            <a:pPr lvl="0" indent="0" marL="0">
              <a:buNone/>
            </a:pPr>
            <a:r>
              <a:rPr/>
              <a:t>Wrong attribution</a:t>
            </a:r>
          </a:p>
          <a:p>
            <a:pPr lvl="0" indent="0" marL="0">
              <a:buNone/>
            </a:pPr>
            <a:r>
              <a:rPr/>
              <a:t>Explains a spike with the wrong cause</a:t>
            </a:r>
          </a:p>
          <a:p>
            <a:pPr lvl="0" indent="0" marL="0">
              <a:buNone/>
            </a:pPr>
            <a:r>
              <a:rPr/>
              <a:t>Missing context</a:t>
            </a:r>
          </a:p>
          <a:p>
            <a:pPr lvl="0" indent="0" marL="0">
              <a:buNone/>
            </a:pPr>
            <a:r>
              <a:rPr/>
              <a:t>Headline summarized; relevant footnote missed</a:t>
            </a:r>
          </a:p>
          <a:p>
            <a:pPr lvl="0" indent="0" marL="0">
              <a:buNone/>
            </a:pPr>
            <a:r>
              <a:rPr/>
              <a:t>The TPM job: validate AI summaries against source data. Document the result.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Validation Status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Cross-checked all citations — every claim verified (best)</a:t>
            </a:r>
          </a:p>
          <a:p>
            <a:pPr lvl="0" indent="0" marL="0">
              <a:buNone/>
            </a:pPr>
            <a:r>
              <a:rPr/>
              <a:t>Spot-checked — N claims sampled and verified</a:t>
            </a:r>
          </a:p>
          <a:p>
            <a:pPr lvl="0" indent="0" marL="0">
              <a:buNone/>
            </a:pPr>
            <a:r>
              <a:rPr/>
              <a:t>Adopted with rationale — correctness self-evident or cheap to verify</a:t>
            </a:r>
          </a:p>
          <a:p>
            <a:pPr lvl="0" indent="0" marL="0">
              <a:buNone/>
            </a:pPr>
            <a:r>
              <a:rPr/>
              <a:t>Pending — used as input but not yet validated; track to closure</a:t>
            </a:r>
          </a:p>
          <a:p>
            <a:pPr lvl="0" indent="0" marL="0">
              <a:buNone/>
            </a:pPr>
            <a:r>
              <a:rPr/>
              <a:t>Rejected — output was wrong; cut</a:t>
            </a:r>
          </a:p>
          <a:p>
            <a:pPr lvl="0" indent="0" marL="0">
              <a:buNone/>
            </a:pPr>
            <a:r>
              <a:rPr/>
              <a:t>The log is cumulative across the academy weeks. The next TPM should be able to audit it.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Validation Log Entries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</a:t>
            </a:r>
          </a:p>
          <a:p>
            <a:pPr lvl="0" indent="0" marL="0">
              <a:buNone/>
            </a:pPr>
            <a:r>
              <a:rPr/>
              <a:t>Purpose</a:t>
            </a:r>
          </a:p>
          <a:p>
            <a:pPr lvl="0" indent="0" marL="0">
              <a:buNone/>
            </a:pPr>
            <a:r>
              <a:rPr/>
              <a:t>Source</a:t>
            </a:r>
          </a:p>
          <a:p>
            <a:pPr lvl="0" indent="0" marL="0">
              <a:buNone/>
            </a:pPr>
            <a:r>
              <a:rPr/>
              <a:t>Validation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Strategy brief themes (Wk 2 D4)</a:t>
            </a:r>
          </a:p>
          <a:p>
            <a:pPr lvl="0" indent="0" marL="0">
              <a:buNone/>
            </a:pPr>
            <a:r>
              <a:rPr/>
              <a:t>14 tickets + 3 interviews</a:t>
            </a:r>
          </a:p>
          <a:p>
            <a:pPr lvl="0" indent="0" marL="0">
              <a:buNone/>
            </a:pPr>
            <a:r>
              <a:rPr/>
              <a:t>Cross-checked citations; 1 hallucinated; cut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 indent="0" marL="0">
              <a:buNone/>
            </a:pPr>
            <a:r>
              <a:rPr/>
              <a:t>Architecture critique (Wk 4 D1)</a:t>
            </a:r>
          </a:p>
          <a:p>
            <a:pPr lvl="0" indent="0" marL="0">
              <a:buNone/>
            </a:pPr>
            <a:r>
              <a:rPr/>
              <a:t>TCD §1</a:t>
            </a:r>
          </a:p>
          <a:p>
            <a:pPr lvl="0" indent="0" marL="0">
              <a:buNone/>
            </a:pPr>
            <a:r>
              <a:rPr/>
              <a:t>Adopted 2/3 objections</a:t>
            </a:r>
          </a:p>
          <a:p>
            <a:pPr lvl="0" indent="0" marL="0">
              <a:buNone/>
            </a:pPr>
            <a:r>
              <a:rPr/>
              <a:t>3</a:t>
            </a:r>
          </a:p>
          <a:p>
            <a:pPr lvl="0" indent="0" marL="0">
              <a:buNone/>
            </a:pPr>
            <a:r>
              <a:rPr/>
              <a:t>API critique (Wk 5 D3)</a:t>
            </a:r>
          </a:p>
          <a:p>
            <a:pPr lvl="0" indent="0" marL="0">
              <a:buNone/>
            </a:pPr>
            <a:r>
              <a:rPr/>
              <a:t>TMD §3</a:t>
            </a:r>
          </a:p>
          <a:p>
            <a:pPr lvl="0" indent="0" marL="0">
              <a:buNone/>
            </a:pPr>
            <a:r>
              <a:rPr/>
              <a:t>Adopted 4/5 issues</a:t>
            </a:r>
          </a:p>
          <a:p>
            <a:pPr lvl="0" indent="0" marL="0">
              <a:buNone/>
            </a:pPr>
            <a:r>
              <a:rPr/>
              <a:t>4</a:t>
            </a:r>
          </a:p>
          <a:p>
            <a:pPr lvl="0" indent="0" marL="0">
              <a:buNone/>
            </a:pPr>
            <a:r>
              <a:rPr/>
              <a:t>Cloud risk scan (Wk 5 D2)</a:t>
            </a:r>
          </a:p>
          <a:p>
            <a:pPr lvl="0" indent="0" marL="0">
              <a:buNone/>
            </a:pPr>
            <a:r>
              <a:rPr/>
              <a:t>TMD §2</a:t>
            </a:r>
          </a:p>
          <a:p>
            <a:pPr lvl="0" indent="0" marL="0">
              <a:buNone/>
            </a:pPr>
            <a:r>
              <a:rPr/>
              <a:t>All 3 valid; 1 added to TCD risks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Sequence critique (Wk 5 D4)</a:t>
            </a:r>
          </a:p>
          <a:p>
            <a:pPr lvl="0" indent="0" marL="0">
              <a:buNone/>
            </a:pPr>
            <a:r>
              <a:rPr/>
              <a:t>TMD §4</a:t>
            </a:r>
          </a:p>
          <a:p>
            <a:pPr lvl="0" indent="0" marL="0">
              <a:buNone/>
            </a:pPr>
            <a:r>
              <a:rPr/>
              <a:t>Flagged missing audit publish; added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AI-Summary Validation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inventory all AI uses across Weeks 2–5</a:t>
            </a:r>
          </a:p>
          <a:p>
            <a:pPr lvl="0" indent="0" marL="0">
              <a:buNone/>
            </a:pPr>
            <a:r>
              <a:rPr/>
              <a:t>15 min: capture validation row per use</a:t>
            </a:r>
          </a:p>
          <a:p>
            <a:pPr lvl="0" indent="0" marL="0">
              <a:buNone/>
            </a:pPr>
            <a:r>
              <a:rPr/>
              <a:t>5 min: handle “Pending” — validate, defer, or accept risk</a:t>
            </a:r>
          </a:p>
          <a:p>
            <a:pPr lvl="0" indent="0" marL="0">
              <a:buNone/>
            </a:pPr>
            <a:r>
              <a:rPr/>
              <a:t>5 min: sanity check for unlogged uses</a:t>
            </a:r>
          </a:p>
          <a:p>
            <a:pPr lvl="0" indent="0" marL="0">
              <a:buNone/>
            </a:pPr>
            <a:r>
              <a:rPr/>
              <a:t>⏱ 15 + 15 + 5 + 5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TMD Integration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 top to bottom; cross-review; ship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The Friday TMD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Data model clarity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Cloud topology realism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API contract sharpness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Sequence model completeness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Baselines + monitoring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AI-validation discipline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Score thresholds: ≥3.0 ships as-is. 2.0–2.9 with named gaps. &lt;2.0 → facilitator review.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Integration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10 min: solo read-through</a:t>
            </a:r>
          </a:p>
          <a:p>
            <a:pPr lvl="0" indent="0" marL="0">
              <a:buNone/>
            </a:pPr>
            <a:r>
              <a:rPr/>
              <a:t>5 min: pool issues</a:t>
            </a:r>
          </a:p>
          <a:p>
            <a:pPr lvl="0" indent="0" marL="0">
              <a:buNone/>
            </a:pPr>
            <a:r>
              <a:rPr/>
              <a:t>20 min: cross-review with rubric</a:t>
            </a:r>
          </a:p>
          <a:p>
            <a:pPr lvl="0" indent="0" marL="0">
              <a:buNone/>
            </a:pPr>
            <a:r>
              <a:rPr/>
              <a:t>10 min: adopt / defer / reject + sign off</a:t>
            </a:r>
          </a:p>
          <a:p>
            <a:pPr lvl="0" indent="0" marL="0">
              <a:buNone/>
            </a:pPr>
            <a:r>
              <a:rPr/>
              <a:t>⏱ 10 + 5 + 20 + 10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5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shipped</a:t>
            </a:r>
          </a:p>
          <a:p>
            <a:pPr lvl="0" indent="0" marL="0">
              <a:buNone/>
            </a:pPr>
            <a:r>
              <a:rPr/>
              <a:t>Data model (§1)</a:t>
            </a:r>
          </a:p>
          <a:p>
            <a:pPr lvl="0" indent="0" marL="0">
              <a:buNone/>
            </a:pPr>
            <a:r>
              <a:rPr/>
              <a:t>Cloud topology + ROM cost (§2)</a:t>
            </a:r>
          </a:p>
          <a:p>
            <a:pPr lvl="0" indent="0" marL="0">
              <a:buNone/>
            </a:pPr>
            <a:r>
              <a:rPr/>
              <a:t>API contract (§3)</a:t>
            </a:r>
          </a:p>
          <a:p>
            <a:pPr lvl="0" indent="0" marL="0">
              <a:buNone/>
            </a:pPr>
            <a:r>
              <a:rPr/>
              <a:t>Three sequence diagrams (§4)</a:t>
            </a:r>
          </a:p>
          <a:p>
            <a:pPr lvl="0" indent="0" marL="0">
              <a:buNone/>
            </a:pPr>
            <a:r>
              <a:rPr/>
              <a:t>Baselines + monitoring + AI log (§5)</a:t>
            </a:r>
          </a:p>
          <a:p>
            <a:pPr lvl="0" indent="0" marL="0">
              <a:buNone/>
            </a:pPr>
            <a:r>
              <a:rPr/>
              <a:t>Integrated TMD — sibling to PRD + TCD</a:t>
            </a:r>
          </a:p>
          <a:p>
            <a:pPr lvl="0" indent="0" marL="0">
              <a:buNone/>
            </a:pPr>
            <a:r>
              <a:rPr/>
              <a:t>What opens Week 6</a:t>
            </a:r>
          </a:p>
          <a:p>
            <a:pPr lvl="0" indent="0" marL="0">
              <a:buNone/>
            </a:pPr>
            <a:r>
              <a:rPr/>
              <a:t>Stakeholder Alignment &amp; Negotiation</a:t>
            </a:r>
          </a:p>
          <a:p>
            <a:pPr lvl="0" indent="0" marL="0">
              <a:buNone/>
            </a:pPr>
            <a:r>
              <a:rPr/>
              <a:t>Stakeholder mapping</a:t>
            </a:r>
          </a:p>
          <a:p>
            <a:pPr lvl="0" indent="0" marL="0">
              <a:buNone/>
            </a:pPr>
            <a:r>
              <a:rPr/>
              <a:t>Communicating tech trade-offs</a:t>
            </a:r>
          </a:p>
          <a:p>
            <a:pPr lvl="0" indent="0" marL="0">
              <a:buNone/>
            </a:pPr>
            <a:r>
              <a:rPr/>
              <a:t>Negotiating priorities &amp; roadmaps</a:t>
            </a:r>
          </a:p>
          <a:p>
            <a:pPr lvl="0" indent="0" marL="0">
              <a:buNone/>
            </a:pPr>
            <a:r>
              <a:rPr/>
              <a:t>The TCD §6 matrix becomes the negotiation list</a:t>
            </a:r>
          </a:p>
          <a:p>
            <a:pPr lvl="0" indent="0" marL="0">
              <a:buNone/>
            </a:pPr>
            <a:r>
              <a:rPr/>
              <a:t>Bring to Monday: Your PRD + TCD + TMD. They are inputs to stakeholder conversations.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in your TMD did the “I don’t actually know” answer surface most strongly?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2026-05-15T23:22:26Z</dcterms:created>
  <dcterms:modified xsi:type="dcterms:W3CDTF">2026-05-15T23:22:26Z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