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Standalone instructor intro deck. Drop this into any cohort opener — kickoff session, Week 1 Day 1, or a one-off mid-academy session for a new instructor. Sets credibility, expectations, ground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Briefly establish credibility. Keep it under 90 seconds — the goal is to set context, not deliver a 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show-of-hands or chat poll on the prerequisite items helps calibrate pace for the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Position the academy in the wider learning map so participants see how today’s work pays off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the contract for the academy. Inviting accessibility requests up front reduces friction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 the participation contract. Demonstrate the chat/raise-hand mechanics before content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introductions tight. Use this to identify triads — pair complementary backgrounds where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Repeat verbally on Day 1. Some learners auto-launch notetakers without realizing.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Energy reset. Hand off to whatever comes next — kickoff agenda, Week 1 Day 1 content, or a different session opener.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👋 Instructor Introduction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Product Manager Academy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Who I am, what to expect, how we’ll work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👋 About Me</a:t>
            </a:r>
          </a:p>
        </p:txBody>
      </p:sp>
      <p:pic>
        <p:nvPicPr>
          <p:cNvPr descr="/home/runner/work/Expeditors_TPM_private/Expeditors_TPM_private/instructor/assets/avatar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John Kidd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John Kidd</a:t>
            </a:r>
          </a:p>
          <a:p>
            <a:pPr lvl="0" indent="0" marL="0">
              <a:buNone/>
            </a:pPr>
            <a:r>
              <a:rPr/>
              <a:t>20+ years building commercial software</a:t>
            </a:r>
          </a:p>
          <a:p>
            <a:pPr lvl="0" indent="0" marL="0">
              <a:buNone/>
            </a:pPr>
            <a:r>
              <a:rPr/>
              <a:t>20+ years teaching technology and related subjects</a:t>
            </a:r>
          </a:p>
          <a:p>
            <a:pPr lvl="0" indent="0" marL="0">
              <a:buNone/>
            </a:pPr>
            <a:r>
              <a:rPr/>
              <a:t>First tech I taught: Lotus Notes</a:t>
            </a:r>
          </a:p>
          <a:p>
            <a:pPr lvl="0" indent="0" marL="0">
              <a:buNone/>
            </a:pPr>
            <a:r>
              <a:rPr/>
              <a:t>Yes, I love Goldens!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This academy assumes you:</a:t>
            </a:r>
          </a:p>
          <a:p>
            <a:pPr lvl="0" indent="0" marL="0">
              <a:buNone/>
            </a:pPr>
            <a:r>
              <a:rPr/>
              <a:t>Completed the pre-work — PM Philosophies, Agile Methodologies, and Prompt Engineering</a:t>
            </a:r>
          </a:p>
          <a:p>
            <a:pPr lvl="0" indent="0" marL="0">
              <a:buNone/>
            </a:pPr>
            <a:r>
              <a:rPr/>
              <a:t>Are comfortable with browser-based tools and a markdown editor</a:t>
            </a:r>
          </a:p>
          <a:p>
            <a:pPr lvl="0" indent="0" marL="0">
              <a:buNone/>
            </a:pPr>
            <a:r>
              <a:rPr/>
              <a:t>Have working access to a generative AI assistant (ChatGPT, Claude, or equivalent)</a:t>
            </a:r>
          </a:p>
          <a:p>
            <a:pPr lvl="0" indent="0" marL="0">
              <a:buNone/>
            </a:pPr>
            <a:r>
              <a:rPr/>
              <a:t>Please note: if any of these is your first exposure, flag it now so we can pair exercises and pace appropriately.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Where This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Adjacent skills you’ll touch</a:t>
            </a:r>
          </a:p>
          <a:p>
            <a:pPr lvl="0" indent="0" marL="0">
              <a:buNone/>
            </a:pPr>
            <a:r>
              <a:rPr/>
              <a:t>Prompt engineering &amp; AI-augmented research</a:t>
            </a:r>
          </a:p>
          <a:p>
            <a:pPr lvl="0" indent="0" marL="0">
              <a:buNone/>
            </a:pPr>
            <a:r>
              <a:rPr/>
              <a:t>System design &amp; architecture trade-offs</a:t>
            </a:r>
          </a:p>
          <a:p>
            <a:pPr lvl="0" indent="0" marL="0">
              <a:buNone/>
            </a:pPr>
            <a:r>
              <a:rPr/>
              <a:t>Stakeholder mapping &amp; negotiation</a:t>
            </a:r>
          </a:p>
          <a:p>
            <a:pPr lvl="0" indent="0" marL="0">
              <a:buNone/>
            </a:pPr>
            <a:r>
              <a:rPr/>
              <a:t>Agile delivery and ADO mastery</a:t>
            </a:r>
          </a:p>
          <a:p>
            <a:pPr lvl="0" indent="0" marL="0">
              <a:buNone/>
            </a:pPr>
            <a:r>
              <a:rPr/>
              <a:t>Where to go next</a:t>
            </a:r>
          </a:p>
          <a:p>
            <a:pPr lvl="0" indent="0" marL="0">
              <a:buNone/>
            </a:pPr>
            <a:r>
              <a:rPr/>
              <a:t>Capstone artifact carries into your real product work</a:t>
            </a:r>
          </a:p>
          <a:p>
            <a:pPr lvl="0" indent="0" marL="0">
              <a:buNone/>
            </a:pPr>
            <a:r>
              <a:rPr/>
              <a:t>Ongoing TPM mentorship inside Expeditors</a:t>
            </a:r>
          </a:p>
          <a:p>
            <a:pPr lvl="0" indent="0" marL="0">
              <a:buNone/>
            </a:pPr>
            <a:r>
              <a:rPr/>
              <a:t>Skills/SkillIQ post-academy assessments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🤝 My Pledge to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will…</a:t>
            </a:r>
          </a:p>
          <a:p>
            <a:pPr lvl="0" indent="0" marL="0">
              <a:buNone/>
            </a:pPr>
            <a:r>
              <a:rPr/>
              <a:t>Make this academy interactive — small-group breakouts every block</a:t>
            </a:r>
          </a:p>
          <a:p>
            <a:pPr lvl="0" indent="0" marL="0">
              <a:buNone/>
            </a:pPr>
            <a:r>
              <a:rPr/>
              <a:t>Ask you questions — and welcome yours</a:t>
            </a:r>
          </a:p>
          <a:p>
            <a:pPr lvl="0" indent="0" marL="0">
              <a:buNone/>
            </a:pPr>
            <a:r>
              <a:rPr/>
              <a:t>Make sure every voice in the cohort gets heard</a:t>
            </a:r>
          </a:p>
          <a:p>
            <a:pPr lvl="0" indent="0" marL="0">
              <a:buNone/>
            </a:pPr>
            <a:r>
              <a:rPr/>
              <a:t>Create an inclusive learning environment</a:t>
            </a:r>
          </a:p>
          <a:p>
            <a:pPr lvl="0" indent="0" marL="0">
              <a:buNone/>
            </a:pPr>
            <a:r>
              <a:rPr/>
              <a:t>Use an on-screen timer for breaks and lab timeboxes</a:t>
            </a:r>
          </a:p>
          <a:p>
            <a:pPr lvl="0" indent="0" marL="0">
              <a:buNone/>
            </a:pPr>
            <a:r>
              <a:rPr/>
              <a:t>If you have an accessibility need, please let me know — in chat, by email, or directly — and I’ll adapt.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🧑‍🏫 How We’ll Work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materials live in the academy repo — decks under week-XX/presentations/, lab briefs under week-XX/labs/</a:t>
            </a:r>
          </a:p>
          <a:p>
            <a:pPr lvl="0" indent="0" marL="0">
              <a:buNone/>
            </a:pPr>
            <a:r>
              <a:rPr/>
              <a:t>We’ll use a generative AI assistant and a markdown editor — please install ahead per participant-setup/TECH-SETUP.md</a:t>
            </a:r>
          </a:p>
          <a:p>
            <a:pPr lvl="0" indent="0" marL="0">
              <a:buNone/>
            </a:pPr>
            <a:r>
              <a:rPr/>
              <a:t>Follow along in the day’s lab brief</a:t>
            </a:r>
          </a:p>
          <a:p>
            <a:pPr lvl="0" indent="0" marL="0">
              <a:buNone/>
            </a:pPr>
            <a:r>
              <a:rPr/>
              <a:t>Activities and labs are embedded in each day — come prepared to work in triads</a:t>
            </a:r>
          </a:p>
          <a:p>
            <a:pPr lvl="0" indent="0" marL="0">
              <a:buNone/>
            </a:pPr>
            <a:r>
              <a:rPr/>
              <a:t>Ask questions any time — chat, raised hand, or unmute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🗣️ Cohort 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~30 seconds each, please share:</a:t>
            </a:r>
          </a:p>
          <a:p>
            <a:pPr lvl="0" indent="0" marL="0">
              <a:buNone/>
            </a:pPr>
            <a:r>
              <a:rPr/>
              <a:t>Your name and pronouns</a:t>
            </a:r>
          </a:p>
          <a:p>
            <a:pPr lvl="0" indent="0" marL="0">
              <a:buNone/>
            </a:pPr>
            <a:r>
              <a:rPr/>
              <a:t>Current role and team</a:t>
            </a:r>
          </a:p>
          <a:p>
            <a:pPr lvl="0" indent="0" marL="0">
              <a:buNone/>
            </a:pPr>
            <a:r>
              <a:rPr/>
              <a:t>Where you’re based</a:t>
            </a:r>
          </a:p>
          <a:p>
            <a:pPr lvl="0" indent="0" marL="0">
              <a:buNone/>
            </a:pPr>
            <a:r>
              <a:rPr/>
              <a:t>A product you ship to today — internal or external</a:t>
            </a:r>
          </a:p>
          <a:p>
            <a:pPr lvl="0" indent="0" marL="0">
              <a:buNone/>
            </a:pPr>
            <a:r>
              <a:rPr/>
              <a:t>A fun fact — one sentence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🛡️ Recording &amp; Notetaker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Notetaker apps (Read AI, Otter, Fireflies, etc.) are not permitted in this session.</a:t>
            </a:r>
          </a:p>
          <a:p>
            <a:pPr lvl="0" indent="0" marL="0">
              <a:buNone/>
            </a:pPr>
            <a:r>
              <a:rPr/>
              <a:t>The instructor will decline notetaker requests — no exceptions</a:t>
            </a:r>
          </a:p>
          <a:p>
            <a:pPr lvl="0" indent="0" marL="0">
              <a:buNone/>
            </a:pPr>
            <a:r>
              <a:rPr/>
              <a:t>These tools capture more than shared text; they raise privacy and IP concerns</a:t>
            </a:r>
          </a:p>
          <a:p>
            <a:pPr lvl="0" indent="0" marL="0">
              <a:buNone/>
            </a:pPr>
            <a:r>
              <a:rPr/>
              <a:t>For follow-up questions, reach out directly to the instructor</a:t>
            </a:r>
          </a:p>
          <a:p>
            <a:pPr lvl="0" indent="0" marL="0">
              <a:buNone/>
            </a:pPr>
            <a:r>
              <a:rPr/>
              <a:t>Thanks for your cooperation.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Ready to Begin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Welcome to the TPM Academy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2026-07-19T11:55:20Z</dcterms:created>
  <dcterms:modified xsi:type="dcterms:W3CDTF">2026-07-19T11:55:20Z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