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3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notesMaster" Target="notesMasters/notesMaster1.xml" /><Relationship Id="rId32" Type="http://schemas.openxmlformats.org/officeDocument/2006/relationships/viewProps" Target="viewProps.xml" /><Relationship Id="rId31" Type="http://schemas.openxmlformats.org/officeDocument/2006/relationships/presProps" Target="presProps.xml" /><Relationship Id="rId1" Type="http://schemas.openxmlformats.org/officeDocument/2006/relationships/slideMaster" Target="slideMasters/slideMaster1.xml" /><Relationship Id="rId34" Type="http://schemas.openxmlformats.org/officeDocument/2006/relationships/tableStyles" Target="tableStyles.xml" /><Relationship Id="rId33"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8.xml.rels><?xml version="1.0" encoding="UTF-8"?><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9.xml.rels><?xml version="1.0" encoding="UTF-8"?><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10.xml.rels><?xml version="1.0" encoding="UTF-8"?><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11.xml.rels><?xml version="1.0" encoding="UTF-8"?><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12.xml.rels><?xml version="1.0" encoding="UTF-8"?><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13.xml.rels><?xml version="1.0" encoding="UTF-8"?><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14.xml.rels><?xml version="1.0" encoding="UTF-8"?><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15.xml.rels><?xml version="1.0" encoding="UTF-8"?><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_rels/notesSlide16.xml.rels><?xml version="1.0" encoding="UTF-8"?><Relationships xmlns="http://schemas.openxmlformats.org/package/2006/relationships"><Relationship Id="rId2" Type="http://schemas.openxmlformats.org/officeDocument/2006/relationships/slide" Target="../slides/slide17.xml" /><Relationship Id="rId1" Type="http://schemas.openxmlformats.org/officeDocument/2006/relationships/notesMaster" Target="../notesMasters/notesMaster1.xml" /></Relationships>
</file>

<file path=ppt/notesSlides/_rels/notesSlide17.xml.rels><?xml version="1.0" encoding="UTF-8"?><Relationships xmlns="http://schemas.openxmlformats.org/package/2006/relationships"><Relationship Id="rId2" Type="http://schemas.openxmlformats.org/officeDocument/2006/relationships/slide" Target="../slides/slide18.xml" /><Relationship Id="rId1" Type="http://schemas.openxmlformats.org/officeDocument/2006/relationships/notesMaster" Target="../notesMasters/notesMaster1.xml" /></Relationships>
</file>

<file path=ppt/notesSlides/_rels/notesSlide18.xml.rels><?xml version="1.0" encoding="UTF-8"?><Relationships xmlns="http://schemas.openxmlformats.org/package/2006/relationships"><Relationship Id="rId2" Type="http://schemas.openxmlformats.org/officeDocument/2006/relationships/slide" Target="../slides/slide19.xml" /><Relationship Id="rId1" Type="http://schemas.openxmlformats.org/officeDocument/2006/relationships/notesMaster" Target="../notesMasters/notesMaster1.xml" /></Relationships>
</file>

<file path=ppt/notesSlides/_rels/notesSlide19.xml.rels><?xml version="1.0" encoding="UTF-8"?><Relationships xmlns="http://schemas.openxmlformats.org/package/2006/relationships"><Relationship Id="rId2" Type="http://schemas.openxmlformats.org/officeDocument/2006/relationships/slide" Target="../slides/slide20.xml" /><Relationship Id="rId1" Type="http://schemas.openxmlformats.org/officeDocument/2006/relationships/notesMaster" Target="../notesMasters/notesMaster1.xml" /></Relationships>
</file>

<file path=ppt/notesSlides/_rels/notesSlide20.xml.rels><?xml version="1.0" encoding="UTF-8"?><Relationships xmlns="http://schemas.openxmlformats.org/package/2006/relationships"><Relationship Id="rId2" Type="http://schemas.openxmlformats.org/officeDocument/2006/relationships/slide" Target="../slides/slide21.xml" /><Relationship Id="rId1" Type="http://schemas.openxmlformats.org/officeDocument/2006/relationships/notesMaster" Target="../notesMasters/notesMaster1.xml" /></Relationships>
</file>

<file path=ppt/notesSlides/_rels/notesSlide21.xml.rels><?xml version="1.0" encoding="UTF-8"?><Relationships xmlns="http://schemas.openxmlformats.org/package/2006/relationships"><Relationship Id="rId2" Type="http://schemas.openxmlformats.org/officeDocument/2006/relationships/slide" Target="../slides/slide22.xml" /><Relationship Id="rId1" Type="http://schemas.openxmlformats.org/officeDocument/2006/relationships/notesMaster" Target="../notesMasters/notesMaster1.xml" /></Relationships>
</file>

<file path=ppt/notesSlides/_rels/notesSlide22.xml.rels><?xml version="1.0" encoding="UTF-8"?><Relationships xmlns="http://schemas.openxmlformats.org/package/2006/relationships"><Relationship Id="rId2" Type="http://schemas.openxmlformats.org/officeDocument/2006/relationships/slide" Target="../slides/slide23.xml" /><Relationship Id="rId1" Type="http://schemas.openxmlformats.org/officeDocument/2006/relationships/notesMaster" Target="../notesMasters/notesMaster1.xml" /></Relationships>
</file>

<file path=ppt/notesSlides/_rels/notesSlide23.xml.rels><?xml version="1.0" encoding="UTF-8"?><Relationships xmlns="http://schemas.openxmlformats.org/package/2006/relationships"><Relationship Id="rId2" Type="http://schemas.openxmlformats.org/officeDocument/2006/relationships/slide" Target="../slides/slide24.xml" /><Relationship Id="rId1" Type="http://schemas.openxmlformats.org/officeDocument/2006/relationships/notesMaster" Target="../notesMasters/notesMaster1.xml" /></Relationships>
</file>

<file path=ppt/notesSlides/_rels/notesSlide24.xml.rels><?xml version="1.0" encoding="UTF-8"?><Relationships xmlns="http://schemas.openxmlformats.org/package/2006/relationships"><Relationship Id="rId2" Type="http://schemas.openxmlformats.org/officeDocument/2006/relationships/slide" Target="../slides/slide25.xml" /><Relationship Id="rId1" Type="http://schemas.openxmlformats.org/officeDocument/2006/relationships/notesMaster" Target="../notesMasters/notesMaster1.xml" /></Relationships>
</file>

<file path=ppt/notesSlides/_rels/notesSlide25.xml.rels><?xml version="1.0" encoding="UTF-8"?><Relationships xmlns="http://schemas.openxmlformats.org/package/2006/relationships"><Relationship Id="rId2" Type="http://schemas.openxmlformats.org/officeDocument/2006/relationships/slide" Target="../slides/slide26.xml" /><Relationship Id="rId1" Type="http://schemas.openxmlformats.org/officeDocument/2006/relationships/notesMaster" Target="../notesMasters/notesMaster1.xml" /></Relationships>
</file>

<file path=ppt/notesSlides/_rels/notesSlide26.xml.rels><?xml version="1.0" encoding="UTF-8"?><Relationships xmlns="http://schemas.openxmlformats.org/package/2006/relationships"><Relationship Id="rId2" Type="http://schemas.openxmlformats.org/officeDocument/2006/relationships/slide" Target="../slides/slide27.xml" /><Relationship Id="rId1" Type="http://schemas.openxmlformats.org/officeDocument/2006/relationships/notesMaster" Target="../notesMasters/notesMaster1.xml" /></Relationships>
</file>

<file path=ppt/notesSlides/_rels/notesSlide27.xml.rels><?xml version="1.0" encoding="UTF-8"?><Relationships xmlns="http://schemas.openxmlformats.org/package/2006/relationships"><Relationship Id="rId2" Type="http://schemas.openxmlformats.org/officeDocument/2006/relationships/slide" Target="../slides/slide28.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Welcome the cohort. Mention that this half-day exists for one reason: by 12:30 today, everyone should know why they’re here, who they’re sitting with for the next eight weeks, and what to bring Monday morning.</a:t>
            </a:r>
          </a:p>
        </p:txBody>
      </p:sp>
      <p:sp>
        <p:nvSpPr>
          <p:cNvPr id="4" name="Slide Number Placeholder 3"/>
          <p:cNvSpPr>
            <a:spLocks noGrp="1"/>
          </p:cNvSpPr>
          <p:nvPr>
            <p:ph type="sldNum" sz="quarter" idx="10"/>
          </p:nvPr>
        </p:nvSpPr>
        <p:spPr/>
        <p:txBody>
          <a:bodyPr/>
          <a:lstStyle/>
          <a:p>
            <a:fld id="{18BDFEC3-8487-43E8-A154-7C12CBC1FFF2}" type="slidenum">
              <a:rPr lang="en-US"/>
              <a:t>2</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Keep it under 90 seconds. The purpose is establishing context, not delivering a CV.</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By 12:30 you should feel oriented, not informed. Orientation is about location and direction, not content.</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Keep this slide visible on a side monitor if possible. People navigate a session better when they can see the whole shape.</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Repeat this verbally on Day 1 of Week 1 too. Some learners auto-launch notetakers without realizing.</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Set the contract. Inviting accessibility requests early reduces friction later.</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Activity packet in kickoff/labs/kickoff-activities.md has the full brief. Time-box hard: 2 min setup, 8 min in pair A→B, 8 min B→A, 2 min surface highlights. Resist the urge to do a full round of introductions — they’d eat the whole morning.</a:t>
            </a:r>
          </a:p>
        </p:txBody>
      </p:sp>
      <p:sp>
        <p:nvSpPr>
          <p:cNvPr id="4" name="Slide Number Placeholder 3"/>
          <p:cNvSpPr>
            <a:spLocks noGrp="1"/>
          </p:cNvSpPr>
          <p:nvPr>
            <p:ph type="sldNum" sz="quarter" idx="10"/>
          </p:nvPr>
        </p:nvSpPr>
        <p:spPr/>
        <p:txBody>
          <a:bodyPr/>
          <a:lstStyle/>
          <a:p>
            <a:fld id="{18BDFEC3-8487-43E8-A154-7C12CBC1FFF2}" type="slidenum">
              <a:rPr lang="en-US"/>
              <a:t>8</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Energy reset. We’re done with logistics and into content for the first time.</a:t>
            </a:r>
          </a:p>
        </p:txBody>
      </p:sp>
      <p:sp>
        <p:nvSpPr>
          <p:cNvPr id="4" name="Slide Number Placeholder 3"/>
          <p:cNvSpPr>
            <a:spLocks noGrp="1"/>
          </p:cNvSpPr>
          <p:nvPr>
            <p:ph type="sldNum" sz="quarter" idx="10"/>
          </p:nvPr>
        </p:nvSpPr>
        <p:spPr/>
        <p:txBody>
          <a:bodyPr/>
          <a:lstStyle/>
          <a:p>
            <a:fld id="{18BDFEC3-8487-43E8-A154-7C12CBC1FFF2}" type="slidenum">
              <a:rPr lang="en-US"/>
              <a:t>9</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signature TPM move is technical translation under pressure. Not “I know how the system works” — anyone can learn that. It’s “I can make a decision that engineering trusts and customers feel.”</a:t>
            </a:r>
          </a:p>
        </p:txBody>
      </p:sp>
      <p:sp>
        <p:nvSpPr>
          <p:cNvPr id="4" name="Slide Number Placeholder 3"/>
          <p:cNvSpPr>
            <a:spLocks noGrp="1"/>
          </p:cNvSpPr>
          <p:nvPr>
            <p:ph type="sldNum" sz="quarter" idx="10"/>
          </p:nvPr>
        </p:nvSpPr>
        <p:spPr/>
        <p:txBody>
          <a:bodyPr/>
          <a:lstStyle/>
          <a:p>
            <a:fld id="{18BDFEC3-8487-43E8-A154-7C12CBC1FFF2}" type="slidenum">
              <a:rPr lang="en-US"/>
              <a:t>10</a:t>
            </a:fld>
            <a:endParaRPr lang="en-US"/>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classic mistake: TPMs are not “PMs who can read code.” They are PMs whose product surface is so technical that engineering trust depends on technical fluency. The boundary with EM is sharpest on who owns capacity decisions — TPMs influence, EMs decide.</a:t>
            </a:r>
          </a:p>
        </p:txBody>
      </p:sp>
      <p:sp>
        <p:nvSpPr>
          <p:cNvPr id="4" name="Slide Number Placeholder 3"/>
          <p:cNvSpPr>
            <a:spLocks noGrp="1"/>
          </p:cNvSpPr>
          <p:nvPr>
            <p:ph type="sldNum" sz="quarter" idx="10"/>
          </p:nvPr>
        </p:nvSpPr>
        <p:spPr/>
        <p:txBody>
          <a:bodyPr/>
          <a:lstStyle/>
          <a:p>
            <a:fld id="{18BDFEC3-8487-43E8-A154-7C12CBC1FFF2}" type="slidenum">
              <a:rPr lang="en-US"/>
              <a:t>11</a:t>
            </a:fld>
            <a:endParaRPr lang="en-US"/>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These five artifacts are the spine of the academy’s writing practice. Each week extends or stress-tests at least one. By Week 8 the cohort produces a complete set on a real-world capstone topic.</a:t>
            </a:r>
          </a:p>
        </p:txBody>
      </p:sp>
      <p:sp>
        <p:nvSpPr>
          <p:cNvPr id="4" name="Slide Number Placeholder 3"/>
          <p:cNvSpPr>
            <a:spLocks noGrp="1"/>
          </p:cNvSpPr>
          <p:nvPr>
            <p:ph type="sldNum" sz="quarter" idx="10"/>
          </p:nvPr>
        </p:nvSpPr>
        <p:spPr/>
        <p:txBody>
          <a:bodyPr/>
          <a:lstStyle/>
          <a:p>
            <a:fld id="{18BDFEC3-8487-43E8-A154-7C12CBC1FFF2}" type="slidenum">
              <a:rPr lang="en-US"/>
              <a:t>12</a:t>
            </a:fld>
            <a:endParaRPr lang="en-US"/>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slide is a setup for the academy’s ongoing critique posture. Every week we will surface at least one of these failure modes in cohort work.</a:t>
            </a:r>
          </a:p>
        </p:txBody>
      </p:sp>
      <p:sp>
        <p:nvSpPr>
          <p:cNvPr id="4" name="Slide Number Placeholder 3"/>
          <p:cNvSpPr>
            <a:spLocks noGrp="1"/>
          </p:cNvSpPr>
          <p:nvPr>
            <p:ph type="sldNum" sz="quarter" idx="10"/>
          </p:nvPr>
        </p:nvSpPr>
        <p:spPr/>
        <p:txBody>
          <a:bodyPr/>
          <a:lstStyle/>
          <a:p>
            <a:fld id="{18BDFEC3-8487-43E8-A154-7C12CBC1FFF2}" type="slidenum">
              <a:rPr lang="en-US"/>
              <a:t>13</a:t>
            </a:fld>
            <a:endParaRPr lang="en-US"/>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Activity 2 brief in kickoff-activities.md. Discourage abstract opinions — stories anchor the framework. If a quartet is stuck, prompt them with: “When did someone get burned because they didn’t ask the technical follow-up?”</a:t>
            </a:r>
          </a:p>
        </p:txBody>
      </p:sp>
      <p:sp>
        <p:nvSpPr>
          <p:cNvPr id="4" name="Slide Number Placeholder 3"/>
          <p:cNvSpPr>
            <a:spLocks noGrp="1"/>
          </p:cNvSpPr>
          <p:nvPr>
            <p:ph type="sldNum" sz="quarter" idx="10"/>
          </p:nvPr>
        </p:nvSpPr>
        <p:spPr/>
        <p:txBody>
          <a:bodyPr/>
          <a:lstStyle/>
          <a:p>
            <a:fld id="{18BDFEC3-8487-43E8-A154-7C12CBC1FFF2}" type="slidenum">
              <a:rPr lang="en-US"/>
              <a:t>14</a:t>
            </a:fld>
            <a:endParaRPr lang="en-US"/>
          </a:p>
        </p:txBody>
      </p:sp>
    </p:spTree>
  </p:cSld>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Hard timebox. Restart the timer visibly. Use the break to introduce yourself to a quartet whose readout you want to follow up on.</a:t>
            </a:r>
          </a:p>
        </p:txBody>
      </p:sp>
      <p:sp>
        <p:nvSpPr>
          <p:cNvPr id="4" name="Slide Number Placeholder 3"/>
          <p:cNvSpPr>
            <a:spLocks noGrp="1"/>
          </p:cNvSpPr>
          <p:nvPr>
            <p:ph type="sldNum" sz="quarter" idx="10"/>
          </p:nvPr>
        </p:nvSpPr>
        <p:spPr/>
        <p:txBody>
          <a:bodyPr/>
          <a:lstStyle/>
          <a:p>
            <a:fld id="{18BDFEC3-8487-43E8-A154-7C12CBC1FFF2}" type="slidenum">
              <a:rPr lang="en-US"/>
              <a:t>15</a:t>
            </a:fld>
            <a:endParaRPr lang="en-US"/>
          </a:p>
        </p:txBody>
      </p:sp>
    </p:spTree>
  </p:cSld>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first half of this block is map-and-commitment. The second half is the triad formation activity — the single most important decision of the morning.</a:t>
            </a:r>
          </a:p>
        </p:txBody>
      </p:sp>
      <p:sp>
        <p:nvSpPr>
          <p:cNvPr id="4" name="Slide Number Placeholder 3"/>
          <p:cNvSpPr>
            <a:spLocks noGrp="1"/>
          </p:cNvSpPr>
          <p:nvPr>
            <p:ph type="sldNum" sz="quarter" idx="10"/>
          </p:nvPr>
        </p:nvSpPr>
        <p:spPr/>
        <p:txBody>
          <a:bodyPr/>
          <a:lstStyle/>
          <a:p>
            <a:fld id="{18BDFEC3-8487-43E8-A154-7C12CBC1FFF2}" type="slidenum">
              <a:rPr lang="en-US"/>
              <a:t>16</a:t>
            </a:fld>
            <a:endParaRPr lang="en-US"/>
          </a:p>
        </p:txBody>
      </p:sp>
    </p:spTree>
  </p:cSld>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Two checkpoints, Week 3 and Week 8. Everything else is muscle-building. Stress that Week 3 is intentionally AI-free so the cohort proves they can write a PRD without leaning on a tool.</a:t>
            </a:r>
          </a:p>
        </p:txBody>
      </p:sp>
      <p:sp>
        <p:nvSpPr>
          <p:cNvPr id="4" name="Slide Number Placeholder 3"/>
          <p:cNvSpPr>
            <a:spLocks noGrp="1"/>
          </p:cNvSpPr>
          <p:nvPr>
            <p:ph type="sldNum" sz="quarter" idx="10"/>
          </p:nvPr>
        </p:nvSpPr>
        <p:spPr/>
        <p:txBody>
          <a:bodyPr/>
          <a:lstStyle/>
          <a:p>
            <a:fld id="{18BDFEC3-8487-43E8-A154-7C12CBC1FFF2}" type="slidenum">
              <a:rPr lang="en-US"/>
              <a:t>17</a:t>
            </a:fld>
            <a:endParaRPr lang="en-US"/>
          </a:p>
        </p:txBody>
      </p:sp>
    </p:spTree>
  </p:cSld>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Some cohorts ask why the mini-capstone uses a fictional product. Answer: it isolates the writing muscle from the political muscle. By Week 8 they bring both.</a:t>
            </a:r>
          </a:p>
        </p:txBody>
      </p:sp>
      <p:sp>
        <p:nvSpPr>
          <p:cNvPr id="4" name="Slide Number Placeholder 3"/>
          <p:cNvSpPr>
            <a:spLocks noGrp="1"/>
          </p:cNvSpPr>
          <p:nvPr>
            <p:ph type="sldNum" sz="quarter" idx="10"/>
          </p:nvPr>
        </p:nvSpPr>
        <p:spPr/>
        <p:txBody>
          <a:bodyPr/>
          <a:lstStyle/>
          <a:p>
            <a:fld id="{18BDFEC3-8487-43E8-A154-7C12CBC1FFF2}" type="slidenum">
              <a:rPr lang="en-US"/>
              <a:t>18</a:t>
            </a:fld>
            <a:endParaRPr lang="en-US"/>
          </a:p>
        </p:txBody>
      </p:sp>
    </p:spTree>
  </p:cSld>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provenance-note discipline matters more than the AI-on/off question. By Week 8 every artifact has a paragraph at the bottom describing how AI was used. This is the habit we want them to leave the academy with.</a:t>
            </a:r>
          </a:p>
        </p:txBody>
      </p:sp>
      <p:sp>
        <p:nvSpPr>
          <p:cNvPr id="4" name="Slide Number Placeholder 3"/>
          <p:cNvSpPr>
            <a:spLocks noGrp="1"/>
          </p:cNvSpPr>
          <p:nvPr>
            <p:ph type="sldNum" sz="quarter" idx="10"/>
          </p:nvPr>
        </p:nvSpPr>
        <p:spPr/>
        <p:txBody>
          <a:bodyPr/>
          <a:lstStyle/>
          <a:p>
            <a:fld id="{18BDFEC3-8487-43E8-A154-7C12CBC1FFF2}" type="slidenum">
              <a:rPr lang="en-US"/>
              <a:t>19</a:t>
            </a:fld>
            <a:endParaRPr lang="en-US"/>
          </a:p>
        </p:txBody>
      </p:sp>
    </p:spTree>
  </p:cSld>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Don’t recite tools — point at TECH-SETUP. The actionable part is: anyone whose AI access isn’t sorted needs to flag it before they leave today.</a:t>
            </a:r>
          </a:p>
        </p:txBody>
      </p:sp>
      <p:sp>
        <p:nvSpPr>
          <p:cNvPr id="4" name="Slide Number Placeholder 3"/>
          <p:cNvSpPr>
            <a:spLocks noGrp="1"/>
          </p:cNvSpPr>
          <p:nvPr>
            <p:ph type="sldNum" sz="quarter" idx="10"/>
          </p:nvPr>
        </p:nvSpPr>
        <p:spPr/>
        <p:txBody>
          <a:bodyPr/>
          <a:lstStyle/>
          <a:p>
            <a:fld id="{18BDFEC3-8487-43E8-A154-7C12CBC1FFF2}" type="slidenum">
              <a:rPr lang="en-US"/>
              <a:t>20</a:t>
            </a:fld>
            <a:endParaRPr lang="en-US"/>
          </a:p>
        </p:txBody>
      </p:sp>
    </p:spTree>
  </p:cSld>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Triad composition is the most consequential decision of the day. After Week 3, we reshuffle to expose participants to different working styles before the final capstone, where they pick their own collaborators.</a:t>
            </a:r>
          </a:p>
        </p:txBody>
      </p:sp>
      <p:sp>
        <p:nvSpPr>
          <p:cNvPr id="4" name="Slide Number Placeholder 3"/>
          <p:cNvSpPr>
            <a:spLocks noGrp="1"/>
          </p:cNvSpPr>
          <p:nvPr>
            <p:ph type="sldNum" sz="quarter" idx="10"/>
          </p:nvPr>
        </p:nvSpPr>
        <p:spPr/>
        <p:txBody>
          <a:bodyPr/>
          <a:lstStyle/>
          <a:p>
            <a:fld id="{18BDFEC3-8487-43E8-A154-7C12CBC1FFF2}" type="slidenum">
              <a:rPr lang="en-US"/>
              <a:t>21</a:t>
            </a:fld>
            <a:endParaRPr lang="en-US"/>
          </a:p>
        </p:txBody>
      </p:sp>
    </p:spTree>
  </p:cSld>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the most important 25 minutes of the half-day. Watch for cliques re-forming — if two friends end up in the same triad, gently break it up. Have index cards and Sharpies ready.</a:t>
            </a:r>
          </a:p>
        </p:txBody>
      </p:sp>
      <p:sp>
        <p:nvSpPr>
          <p:cNvPr id="4" name="Slide Number Placeholder 3"/>
          <p:cNvSpPr>
            <a:spLocks noGrp="1"/>
          </p:cNvSpPr>
          <p:nvPr>
            <p:ph type="sldNum" sz="quarter" idx="10"/>
          </p:nvPr>
        </p:nvSpPr>
        <p:spPr/>
        <p:txBody>
          <a:bodyPr/>
          <a:lstStyle/>
          <a:p>
            <a:fld id="{18BDFEC3-8487-43E8-A154-7C12CBC1FFF2}" type="slidenum">
              <a:rPr lang="en-US"/>
              <a:t>22</a:t>
            </a:fld>
            <a:endParaRPr lang="en-US"/>
          </a:p>
        </p:txBody>
      </p:sp>
    </p:spTree>
  </p:cSld>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Final stretch. The cohort has the most cognitive headroom right after triad formation — use it for the logistics they’ll actually retain.</a:t>
            </a:r>
          </a:p>
        </p:txBody>
      </p:sp>
      <p:sp>
        <p:nvSpPr>
          <p:cNvPr id="4" name="Slide Number Placeholder 3"/>
          <p:cNvSpPr>
            <a:spLocks noGrp="1"/>
          </p:cNvSpPr>
          <p:nvPr>
            <p:ph type="sldNum" sz="quarter" idx="10"/>
          </p:nvPr>
        </p:nvSpPr>
        <p:spPr/>
        <p:txBody>
          <a:bodyPr/>
          <a:lstStyle/>
          <a:p>
            <a:fld id="{18BDFEC3-8487-43E8-A154-7C12CBC1FFF2}" type="slidenum">
              <a:rPr lang="en-US"/>
              <a:t>23</a:t>
            </a:fld>
            <a:endParaRPr lang="en-US"/>
          </a:p>
        </p:txBody>
      </p:sp>
    </p:spTree>
  </p:cSld>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Same shape every day. Predictability is a feature — it lets people pre-plan attention. Friday afternoons may run slightly longer for capstone readouts.</a:t>
            </a:r>
          </a:p>
        </p:txBody>
      </p:sp>
      <p:sp>
        <p:nvSpPr>
          <p:cNvPr id="4" name="Slide Number Placeholder 3"/>
          <p:cNvSpPr>
            <a:spLocks noGrp="1"/>
          </p:cNvSpPr>
          <p:nvPr>
            <p:ph type="sldNum" sz="quarter" idx="10"/>
          </p:nvPr>
        </p:nvSpPr>
        <p:spPr/>
        <p:txBody>
          <a:bodyPr/>
          <a:lstStyle/>
          <a:p>
            <a:fld id="{18BDFEC3-8487-43E8-A154-7C12CBC1FFF2}" type="slidenum">
              <a:rPr lang="en-US"/>
              <a:t>24</a:t>
            </a:fld>
            <a:endParaRPr lang="en-US"/>
          </a:p>
        </p:txBody>
      </p:sp>
    </p:spTree>
  </p:cSld>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Feedback that arrives too late to act on is more demoralizing than no feedback. Stress the Monday-morning visible-change loop.</a:t>
            </a:r>
          </a:p>
        </p:txBody>
      </p:sp>
      <p:sp>
        <p:nvSpPr>
          <p:cNvPr id="4" name="Slide Number Placeholder 3"/>
          <p:cNvSpPr>
            <a:spLocks noGrp="1"/>
          </p:cNvSpPr>
          <p:nvPr>
            <p:ph type="sldNum" sz="quarter" idx="10"/>
          </p:nvPr>
        </p:nvSpPr>
        <p:spPr/>
        <p:txBody>
          <a:bodyPr/>
          <a:lstStyle/>
          <a:p>
            <a:fld id="{18BDFEC3-8487-43E8-A154-7C12CBC1FFF2}" type="slidenum">
              <a:rPr lang="en-US"/>
              <a:t>25</a:t>
            </a:fld>
            <a:endParaRPr lang="en-US"/>
          </a:p>
        </p:txBody>
      </p:sp>
    </p:spTree>
  </p:cSld>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slide is the action-item summary of the morning. Anyone who can’t tick all five flags it now — pull them aside during Q&amp;A or after close.</a:t>
            </a:r>
          </a:p>
        </p:txBody>
      </p:sp>
      <p:sp>
        <p:nvSpPr>
          <p:cNvPr id="4" name="Slide Number Placeholder 3"/>
          <p:cNvSpPr>
            <a:spLocks noGrp="1"/>
          </p:cNvSpPr>
          <p:nvPr>
            <p:ph type="sldNum" sz="quarter" idx="10"/>
          </p:nvPr>
        </p:nvSpPr>
        <p:spPr/>
        <p:txBody>
          <a:bodyPr/>
          <a:lstStyle/>
          <a:p>
            <a:fld id="{18BDFEC3-8487-43E8-A154-7C12CBC1FFF2}" type="slidenum">
              <a:rPr lang="en-US"/>
              <a:t>26</a:t>
            </a:fld>
            <a:endParaRPr lang="en-US"/>
          </a:p>
        </p:txBody>
      </p:sp>
    </p:spTree>
  </p:cSld>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Prep answers for each before today. If a question doesn’t have a clean answer, say so and commit to a follow-up. Don’t bluff — these are the people who will trust your technical judgment for the next eight weeks.</a:t>
            </a:r>
          </a:p>
        </p:txBody>
      </p:sp>
      <p:sp>
        <p:nvSpPr>
          <p:cNvPr id="4" name="Slide Number Placeholder 3"/>
          <p:cNvSpPr>
            <a:spLocks noGrp="1"/>
          </p:cNvSpPr>
          <p:nvPr>
            <p:ph type="sldNum" sz="quarter" idx="10"/>
          </p:nvPr>
        </p:nvSpPr>
        <p:spPr/>
        <p:txBody>
          <a:bodyPr/>
          <a:lstStyle/>
          <a:p>
            <a:fld id="{18BDFEC3-8487-43E8-A154-7C12CBC1FFF2}" type="slidenum">
              <a:rPr lang="en-US"/>
              <a:t>27</a:t>
            </a:fld>
            <a:endParaRPr lang="en-US"/>
          </a:p>
        </p:txBody>
      </p:sp>
    </p:spTree>
  </p:cSld>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End on energy. Repeat the room number / link / start time. Hang back for 15 minutes to handle individual access or scheduling questions one-on-one.</a:t>
            </a:r>
          </a:p>
        </p:txBody>
      </p:sp>
      <p:sp>
        <p:nvSpPr>
          <p:cNvPr id="4" name="Slide Number Placeholder 3"/>
          <p:cNvSpPr>
            <a:spLocks noGrp="1"/>
          </p:cNvSpPr>
          <p:nvPr>
            <p:ph type="sldNum" sz="quarter" idx="10"/>
          </p:nvPr>
        </p:nvSpPr>
        <p:spPr/>
        <p:txBody>
          <a:bodyPr/>
          <a:lstStyle/>
          <a:p>
            <a:fld id="{18BDFEC3-8487-43E8-A154-7C12CBC1FFF2}" type="slidenum">
              <a:rPr lang="en-US"/>
              <a:t>28</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9.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0.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1.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2.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3.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4.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5.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6.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7.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8.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9.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0.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1.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2.xml"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3.xml" /></Relationships>
</file>

<file path=ppt/slides/_rels/slide2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4.xml" /></Relationships>
</file>

<file path=ppt/slides/_rels/slide2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5.xml" /></Relationships>
</file>

<file path=ppt/slides/_rels/slide2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6.xml" /></Relationships>
</file>

<file path=ppt/slides/_rels/slide2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7.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 TPM Academy Kickoff</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Half-Day Orientation • Pre-Week 1</a:t>
            </a:r>
          </a:p>
        </p:txBody>
      </p:sp>
      <p:sp>
        <p:nvSpPr>
          <p:cNvPr id="3" name="Content Placeholder 2"/>
          <p:cNvSpPr>
            <a:spLocks noGrp="1"/>
          </p:cNvSpPr>
          <p:nvPr>
            <p:ph idx="1"/>
          </p:nvPr>
        </p:nvSpPr>
        <p:spPr/>
        <p:txBody>
          <a:bodyPr/>
          <a:lstStyle/>
          <a:p>
            <a:pPr lvl="0" indent="0" marL="0">
              <a:spcBef>
                <a:spcPts val="3000"/>
              </a:spcBef>
              <a:buNone/>
            </a:pPr>
            <a:r>
              <a:rPr b="1"/>
              <a:t>Technical Product Manager Academy</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About Me</a:t>
            </a:r>
          </a:p>
        </p:txBody>
      </p:sp>
      <p:sp>
        <p:nvSpPr>
          <p:cNvPr id="3" name="Content Placeholder 2"/>
          <p:cNvSpPr>
            <a:spLocks noGrp="1"/>
          </p:cNvSpPr>
          <p:nvPr>
            <p:ph idx="1"/>
          </p:nvPr>
        </p:nvSpPr>
        <p:spPr/>
        <p:txBody>
          <a:bodyPr/>
          <a:lstStyle/>
          <a:p>
            <a:pPr lvl="0" indent="0" marL="0">
              <a:buNone/>
            </a:pPr>
          </a:p>
          <a:p>
            <a:pPr lvl="0" indent="0" marL="0">
              <a:spcBef>
                <a:spcPts val="3000"/>
              </a:spcBef>
              <a:buNone/>
            </a:pPr>
            <a:r>
              <a:rPr b="1"/>
              <a:t>John Kidd</a:t>
            </a:r>
          </a:p>
          <a:p>
            <a:pPr lvl="0" indent="0" marL="0">
              <a:buNone/>
            </a:pPr>
            <a:r>
              <a:rPr/>
              <a:t>20+ years building commercial software</a:t>
            </a:r>
          </a:p>
          <a:p>
            <a:pPr lvl="0" indent="0" marL="0">
              <a:buNone/>
            </a:pPr>
            <a:r>
              <a:rPr/>
              <a:t>20+ years teaching technology and adjacent disciplines</a:t>
            </a:r>
          </a:p>
          <a:p>
            <a:pPr lvl="0" indent="0" marL="0">
              <a:buNone/>
            </a:pPr>
            <a:r>
              <a:rPr/>
              <a:t>First tech I taught: Lotus Notes</a:t>
            </a:r>
          </a:p>
          <a:p>
            <a:pPr lvl="0" indent="0" marL="0">
              <a:buNone/>
            </a:pPr>
            <a:r>
              <a:rPr/>
              <a:t>Yes, I love Goldens!</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Why This Half-Day Exists</a:t>
            </a:r>
          </a:p>
        </p:txBody>
      </p:sp>
      <p:sp>
        <p:nvSpPr>
          <p:cNvPr id="3" name="Content Placeholder 2"/>
          <p:cNvSpPr>
            <a:spLocks noGrp="1"/>
          </p:cNvSpPr>
          <p:nvPr>
            <p:ph idx="1"/>
          </p:nvPr>
        </p:nvSpPr>
        <p:spPr/>
        <p:txBody>
          <a:bodyPr/>
          <a:lstStyle/>
          <a:p>
            <a:pPr lvl="0" indent="0" marL="0">
              <a:buNone/>
            </a:pPr>
            <a:r>
              <a:rPr/>
              <a:t>An eight-week academy without a shared starting line tends to drift in week one. Today is the starting line.</a:t>
            </a:r>
          </a:p>
          <a:p>
            <a:pPr lvl="0" indent="0" marL="0">
              <a:buNone/>
            </a:pPr>
            <a:r>
              <a:rPr/>
              <a:t>Name what a Technical Product Manager actually is — and isn’t</a:t>
            </a:r>
          </a:p>
          <a:p>
            <a:pPr lvl="0" indent="0" marL="0">
              <a:buNone/>
            </a:pPr>
            <a:r>
              <a:rPr/>
              <a:t>See the full arc of the eight weeks before Day 1 begins</a:t>
            </a:r>
          </a:p>
          <a:p>
            <a:pPr lvl="0" indent="0" marL="0">
              <a:buNone/>
            </a:pPr>
            <a:r>
              <a:rPr/>
              <a:t>Form the triads you’ll work with through Week 3’s mini-capstone</a:t>
            </a:r>
          </a:p>
          <a:p>
            <a:pPr lvl="0" indent="0" marL="0">
              <a:buNone/>
            </a:pPr>
            <a:r>
              <a:rPr/>
              <a:t>Agree on the ground rules: AI policy, notetaker policy, attendance, feedback</a:t>
            </a:r>
          </a:p>
          <a:p>
            <a:pPr lvl="0" indent="0" marL="0">
              <a:buNone/>
            </a:pPr>
            <a:r>
              <a:rPr/>
              <a:t>Confirm everyone is technically ready for Monday</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This Morning’s Shape</a:t>
            </a:r>
          </a:p>
        </p:txBody>
      </p:sp>
      <p:sp>
        <p:nvSpPr>
          <p:cNvPr id="3" name="Content Placeholder 2"/>
          <p:cNvSpPr>
            <a:spLocks noGrp="1"/>
          </p:cNvSpPr>
          <p:nvPr>
            <p:ph idx="1"/>
          </p:nvPr>
        </p:nvSpPr>
        <p:spPr/>
        <p:txBody>
          <a:bodyPr/>
          <a:lstStyle/>
          <a:p>
            <a:pPr lvl="0" indent="0" marL="0">
              <a:buNone/>
            </a:pPr>
            <a:r>
              <a:rPr/>
              <a:t>Clock</a:t>
            </a:r>
          </a:p>
          <a:p>
            <a:pPr lvl="0" indent="0" marL="0">
              <a:buNone/>
            </a:pPr>
            <a:r>
              <a:rPr/>
              <a:t>Block</a:t>
            </a:r>
          </a:p>
          <a:p>
            <a:pPr lvl="0" indent="0" marL="0">
              <a:buNone/>
            </a:pPr>
            <a:r>
              <a:rPr/>
              <a:t>Outcome</a:t>
            </a:r>
          </a:p>
          <a:p>
            <a:pPr lvl="0" indent="0" marL="0">
              <a:buNone/>
            </a:pPr>
            <a:r>
              <a:rPr/>
              <a:t>09:00 – 09:30</a:t>
            </a:r>
          </a:p>
          <a:p>
            <a:pPr lvl="0" indent="0" marL="0">
              <a:buNone/>
            </a:pPr>
            <a:r>
              <a:rPr/>
              <a:t>Welcome &amp; Introductions</a:t>
            </a:r>
          </a:p>
          <a:p>
            <a:pPr lvl="0" indent="0" marL="0">
              <a:buNone/>
            </a:pPr>
            <a:r>
              <a:rPr/>
              <a:t>Faces, names, why-you’re-here</a:t>
            </a:r>
          </a:p>
          <a:p>
            <a:pPr lvl="0" indent="0" marL="0">
              <a:buNone/>
            </a:pPr>
            <a:r>
              <a:rPr/>
              <a:t>09:30 – 10:30</a:t>
            </a:r>
          </a:p>
          <a:p>
            <a:pPr lvl="0" indent="0" marL="0">
              <a:buNone/>
            </a:pPr>
            <a:r>
              <a:rPr/>
              <a:t>Block 1 — The TPM Role</a:t>
            </a:r>
          </a:p>
          <a:p>
            <a:pPr lvl="0" indent="0" marL="0">
              <a:buNone/>
            </a:pPr>
            <a:r>
              <a:rPr/>
              <a:t>Shared mental model of the job</a:t>
            </a:r>
          </a:p>
          <a:p>
            <a:pPr lvl="0" indent="0" marL="0">
              <a:buNone/>
            </a:pPr>
            <a:r>
              <a:rPr/>
              <a:t>10:30 – 10:45</a:t>
            </a:r>
          </a:p>
          <a:p>
            <a:pPr lvl="0" indent="0" marL="0">
              <a:buNone/>
            </a:pPr>
            <a:r>
              <a:rPr/>
              <a:t>Break</a:t>
            </a:r>
          </a:p>
          <a:p>
            <a:pPr lvl="0" indent="0" marL="0">
              <a:buNone/>
            </a:pPr>
            <a:r>
              <a:rPr/>
              <a:t>10:45 – 11:45</a:t>
            </a:r>
          </a:p>
          <a:p>
            <a:pPr lvl="0" indent="0" marL="0">
              <a:buNone/>
            </a:pPr>
            <a:r>
              <a:rPr/>
              <a:t>Block 2 — Curriculum Tour + Triad Formation</a:t>
            </a:r>
          </a:p>
          <a:p>
            <a:pPr lvl="0" indent="0" marL="0">
              <a:buNone/>
            </a:pPr>
            <a:r>
              <a:rPr/>
              <a:t>Eight-week map; your triad</a:t>
            </a:r>
          </a:p>
          <a:p>
            <a:pPr lvl="0" indent="0" marL="0">
              <a:buNone/>
            </a:pPr>
            <a:r>
              <a:rPr/>
              <a:t>11:45 – 12:30</a:t>
            </a:r>
          </a:p>
          <a:p>
            <a:pPr lvl="0" indent="0" marL="0">
              <a:buNone/>
            </a:pPr>
            <a:r>
              <a:rPr/>
              <a:t>Logistics, Q&amp;A, Week 1 launch</a:t>
            </a:r>
          </a:p>
          <a:p>
            <a:pPr lvl="0" indent="0" marL="0">
              <a:buNone/>
            </a:pPr>
            <a:r>
              <a:rPr/>
              <a:t>Ready to start Monday</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Recording &amp; Notetaker Policy</a:t>
            </a:r>
          </a:p>
        </p:txBody>
      </p:sp>
      <p:sp>
        <p:nvSpPr>
          <p:cNvPr id="3" name="Content Placeholder 2"/>
          <p:cNvSpPr>
            <a:spLocks noGrp="1"/>
          </p:cNvSpPr>
          <p:nvPr>
            <p:ph idx="1"/>
          </p:nvPr>
        </p:nvSpPr>
        <p:spPr/>
        <p:txBody>
          <a:bodyPr/>
          <a:lstStyle/>
          <a:p>
            <a:pPr lvl="0" indent="0" marL="0">
              <a:buNone/>
            </a:pPr>
            <a:r>
              <a:rPr/>
              <a:t>Notetaker apps (Read AI, Otter, Fireflies, etc.) are not permitted in any academy session.</a:t>
            </a:r>
          </a:p>
          <a:p>
            <a:pPr lvl="0" indent="0" marL="0">
              <a:buNone/>
            </a:pPr>
            <a:r>
              <a:rPr/>
              <a:t>The instructor will decline notetaker join requests — no exceptions</a:t>
            </a:r>
          </a:p>
          <a:p>
            <a:pPr lvl="0" indent="0" marL="0">
              <a:buNone/>
            </a:pPr>
            <a:r>
              <a:rPr/>
              <a:t>These tools capture more than shared text and raise privacy + IP concerns</a:t>
            </a:r>
          </a:p>
          <a:p>
            <a:pPr lvl="0" indent="0" marL="0">
              <a:buNone/>
            </a:pPr>
            <a:r>
              <a:rPr/>
              <a:t>For follow-up questions, reach out directly to the instructor</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My Pledge to You</a:t>
            </a:r>
          </a:p>
        </p:txBody>
      </p:sp>
      <p:sp>
        <p:nvSpPr>
          <p:cNvPr id="3" name="Content Placeholder 2"/>
          <p:cNvSpPr>
            <a:spLocks noGrp="1"/>
          </p:cNvSpPr>
          <p:nvPr>
            <p:ph idx="1"/>
          </p:nvPr>
        </p:nvSpPr>
        <p:spPr/>
        <p:txBody>
          <a:bodyPr/>
          <a:lstStyle/>
          <a:p>
            <a:pPr lvl="0" indent="0" marL="0">
              <a:buNone/>
            </a:pPr>
            <a:r>
              <a:rPr/>
              <a:t>I will…</a:t>
            </a:r>
          </a:p>
          <a:p>
            <a:pPr lvl="0" indent="0" marL="0">
              <a:buNone/>
            </a:pPr>
            <a:r>
              <a:rPr/>
              <a:t>Make this academy interactive — breakouts in every teaching block</a:t>
            </a:r>
          </a:p>
          <a:p>
            <a:pPr lvl="0" indent="0" marL="0">
              <a:buNone/>
            </a:pPr>
            <a:r>
              <a:rPr/>
              <a:t>Ask you questions — and welcome yours, any time</a:t>
            </a:r>
          </a:p>
          <a:p>
            <a:pPr lvl="0" indent="0" marL="0">
              <a:buNone/>
            </a:pPr>
            <a:r>
              <a:rPr/>
              <a:t>Make sure every voice in the cohort gets heard</a:t>
            </a:r>
          </a:p>
          <a:p>
            <a:pPr lvl="0" indent="0" marL="0">
              <a:buNone/>
            </a:pPr>
            <a:r>
              <a:rPr/>
              <a:t>Use an on-screen timer for breaks and activity timeboxes</a:t>
            </a:r>
          </a:p>
          <a:p>
            <a:pPr lvl="0" indent="0" marL="0">
              <a:buNone/>
            </a:pPr>
            <a:r>
              <a:rPr/>
              <a:t>Adapt to accessibility needs — let me know, on or off the record</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Activity 1 — Two Truths and a TPM</a:t>
            </a:r>
          </a:p>
        </p:txBody>
      </p:sp>
      <p:sp>
        <p:nvSpPr>
          <p:cNvPr id="3" name="Content Placeholder 2"/>
          <p:cNvSpPr>
            <a:spLocks noGrp="1"/>
          </p:cNvSpPr>
          <p:nvPr>
            <p:ph idx="1"/>
          </p:nvPr>
        </p:nvSpPr>
        <p:spPr/>
        <p:txBody>
          <a:bodyPr/>
          <a:lstStyle/>
          <a:p>
            <a:pPr lvl="0" indent="0" marL="0">
              <a:buNone/>
            </a:pPr>
            <a:r>
              <a:rPr/>
              <a:t>Format: Full room → pairs • 20 min</a:t>
            </a:r>
          </a:p>
          <a:p>
            <a:pPr lvl="0" indent="0" marL="0">
              <a:buNone/>
            </a:pPr>
            <a:r>
              <a:rPr/>
              <a:t>Pair up with someone you’ve never worked with</a:t>
            </a:r>
          </a:p>
          <a:p>
            <a:pPr lvl="0" indent="0" marL="0">
              <a:buNone/>
            </a:pPr>
            <a:r>
              <a:rPr/>
              <a:t>Each of you shares three statements: two true, one false — all about your product or engineering experience</a:t>
            </a:r>
          </a:p>
          <a:p>
            <a:pPr lvl="0" indent="0" marL="0">
              <a:buNone/>
            </a:pPr>
            <a:r>
              <a:rPr/>
              <a:t>Partner guesses the false one and asks one follow-up question</a:t>
            </a:r>
          </a:p>
          <a:p>
            <a:pPr lvl="0" indent="0" marL="0">
              <a:buNone/>
            </a:pPr>
            <a:r>
              <a:rPr/>
              <a:t>We’ll surface the most surprising “truth” from each pair when we regroup</a:t>
            </a:r>
          </a:p>
          <a:p>
            <a:pPr lvl="0" indent="0" marL="0">
              <a:buNone/>
            </a:pPr>
            <a:r>
              <a:rPr/>
              <a:t>Goal: leave the icebreaker with one new face you can put a story to.</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Block 1 — The TPM Role</a:t>
            </a:r>
          </a:p>
        </p:txBody>
      </p:sp>
      <p:sp>
        <p:nvSpPr>
          <p:cNvPr id="3" name="Content Placeholder 2"/>
          <p:cNvSpPr>
            <a:spLocks noGrp="1"/>
          </p:cNvSpPr>
          <p:nvPr>
            <p:ph idx="1"/>
          </p:nvPr>
        </p:nvSpPr>
        <p:spPr/>
        <p:txBody>
          <a:bodyPr/>
          <a:lstStyle/>
          <a:p>
            <a:pPr lvl="0" indent="0" marL="0">
              <a:spcBef>
                <a:spcPts val="3000"/>
              </a:spcBef>
              <a:buNone/>
            </a:pPr>
            <a:r>
              <a:rPr b="1"/>
              <a:t>What you’re actually signing up to do</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What is a Technical Product Manager?</a:t>
            </a:r>
          </a:p>
        </p:txBody>
      </p:sp>
      <p:sp>
        <p:nvSpPr>
          <p:cNvPr id="3" name="Content Placeholder 2"/>
          <p:cNvSpPr>
            <a:spLocks noGrp="1"/>
          </p:cNvSpPr>
          <p:nvPr>
            <p:ph idx="1"/>
          </p:nvPr>
        </p:nvSpPr>
        <p:spPr/>
        <p:txBody>
          <a:bodyPr/>
          <a:lstStyle/>
          <a:p>
            <a:pPr lvl="0" indent="0" marL="0">
              <a:buNone/>
            </a:pPr>
            <a:r>
              <a:rPr/>
              <a:t>A TPM owns the outcome of a technically constrained product surface — translating customer problems into engineering scope without losing either side of the translation.</a:t>
            </a:r>
          </a:p>
          <a:p>
            <a:pPr lvl="0" indent="0" marL="0">
              <a:buNone/>
            </a:pPr>
            <a:r>
              <a:rPr/>
              <a:t>Lives at the intersection of customer, system, and delivery</a:t>
            </a:r>
          </a:p>
          <a:p>
            <a:pPr lvl="0" indent="0" marL="0">
              <a:buNone/>
            </a:pPr>
            <a:r>
              <a:rPr/>
              <a:t>Owns a PRD that engineering can build and customers will value</a:t>
            </a:r>
          </a:p>
          <a:p>
            <a:pPr lvl="0" indent="0" marL="0">
              <a:buNone/>
            </a:pPr>
            <a:r>
              <a:rPr/>
              <a:t>Reasons about latency, data shape, dependencies, and trade-offs — not just features</a:t>
            </a:r>
          </a:p>
          <a:p>
            <a:pPr lvl="0" indent="0" marL="0">
              <a:buNone/>
            </a:pPr>
            <a:r>
              <a:rPr/>
              <a:t>Negotiates priorities with stakeholders who hold conflicting truths</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TPM vs PM vs EM</a:t>
            </a:r>
          </a:p>
        </p:txBody>
      </p:sp>
      <p:sp>
        <p:nvSpPr>
          <p:cNvPr id="3" name="Content Placeholder 2"/>
          <p:cNvSpPr>
            <a:spLocks noGrp="1"/>
          </p:cNvSpPr>
          <p:nvPr>
            <p:ph idx="1"/>
          </p:nvPr>
        </p:nvSpPr>
        <p:spPr/>
        <p:txBody>
          <a:bodyPr/>
          <a:lstStyle/>
          <a:p>
            <a:pPr lvl="0" indent="0" marL="0">
              <a:buNone/>
            </a:pPr>
            <a:r>
              <a:rPr/>
              <a:t>Product Manager</a:t>
            </a:r>
          </a:p>
          <a:p>
            <a:pPr lvl="0" indent="0" marL="0">
              <a:buNone/>
            </a:pPr>
            <a:r>
              <a:rPr/>
              <a:t>What and why</a:t>
            </a:r>
          </a:p>
          <a:p>
            <a:pPr lvl="0" indent="0" marL="0">
              <a:buNone/>
            </a:pPr>
            <a:r>
              <a:rPr/>
              <a:t>Customer evidence, market positioning</a:t>
            </a:r>
          </a:p>
          <a:p>
            <a:pPr lvl="0" indent="0" marL="0">
              <a:buNone/>
            </a:pPr>
            <a:r>
              <a:rPr/>
              <a:t>Outcome ownership across the product</a:t>
            </a:r>
          </a:p>
          <a:p>
            <a:pPr lvl="0" indent="0" marL="0">
              <a:buNone/>
            </a:pPr>
            <a:r>
              <a:rPr/>
              <a:t>Often less technical depth</a:t>
            </a:r>
          </a:p>
          <a:p>
            <a:pPr lvl="0" indent="0" marL="0">
              <a:buNone/>
            </a:pPr>
            <a:r>
              <a:rPr/>
              <a:t>Technical Product Manager</a:t>
            </a:r>
          </a:p>
          <a:p>
            <a:pPr lvl="0" indent="0" marL="0">
              <a:buNone/>
            </a:pPr>
            <a:r>
              <a:rPr/>
              <a:t>What, why, and feasible how</a:t>
            </a:r>
          </a:p>
          <a:p>
            <a:pPr lvl="0" indent="0" marL="0">
              <a:buNone/>
            </a:pPr>
            <a:r>
              <a:rPr/>
              <a:t>Customer evidence + system constraints</a:t>
            </a:r>
          </a:p>
          <a:p>
            <a:pPr lvl="0" indent="0" marL="0">
              <a:buNone/>
            </a:pPr>
            <a:r>
              <a:rPr/>
              <a:t>Often owns API/platform/infra surfaces</a:t>
            </a:r>
          </a:p>
          <a:p>
            <a:pPr lvl="0" indent="0" marL="0">
              <a:buNone/>
            </a:pPr>
            <a:r>
              <a:rPr/>
              <a:t>Speaks both languages fluently</a:t>
            </a:r>
          </a:p>
          <a:p>
            <a:pPr lvl="0" indent="0" marL="0">
              <a:buNone/>
            </a:pPr>
            <a:r>
              <a:rPr/>
              <a:t>Engineering Manager</a:t>
            </a:r>
          </a:p>
          <a:p>
            <a:pPr lvl="0" indent="0" marL="0">
              <a:buNone/>
            </a:pPr>
            <a:r>
              <a:rPr/>
              <a:t>How and who</a:t>
            </a:r>
          </a:p>
          <a:p>
            <a:pPr lvl="0" indent="0" marL="0">
              <a:buNone/>
            </a:pPr>
            <a:r>
              <a:rPr/>
              <a:t>People, delivery, technical execution quality</a:t>
            </a:r>
          </a:p>
          <a:p>
            <a:pPr lvl="0" indent="0" marL="0">
              <a:buNone/>
            </a:pPr>
            <a:r>
              <a:rPr/>
              <a:t>Owns engineering capacity and team health</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The Five Sibling Artifacts</a:t>
            </a:r>
          </a:p>
        </p:txBody>
      </p:sp>
      <p:sp>
        <p:nvSpPr>
          <p:cNvPr id="3" name="Content Placeholder 2"/>
          <p:cNvSpPr>
            <a:spLocks noGrp="1"/>
          </p:cNvSpPr>
          <p:nvPr>
            <p:ph idx="1"/>
          </p:nvPr>
        </p:nvSpPr>
        <p:spPr/>
        <p:txBody>
          <a:bodyPr/>
          <a:lstStyle/>
          <a:p>
            <a:pPr lvl="0" indent="0" marL="0">
              <a:buNone/>
            </a:pPr>
            <a:r>
              <a:rPr/>
              <a:t>By Week 5 you’ll have written each of these at least once:</a:t>
            </a:r>
          </a:p>
          <a:p>
            <a:pPr lvl="0" indent="0" marL="0">
              <a:buNone/>
            </a:pPr>
            <a:r>
              <a:rPr/>
              <a:t>Artifact</a:t>
            </a:r>
          </a:p>
          <a:p>
            <a:pPr lvl="0" indent="0" marL="0">
              <a:buNone/>
            </a:pPr>
            <a:r>
              <a:rPr/>
              <a:t>Question it answers</a:t>
            </a:r>
          </a:p>
          <a:p>
            <a:pPr lvl="0" indent="0" marL="0">
              <a:buNone/>
            </a:pPr>
            <a:r>
              <a:rPr/>
              <a:t>Owner of the truth</a:t>
            </a:r>
          </a:p>
          <a:p>
            <a:pPr lvl="0" indent="0" marL="0">
              <a:buNone/>
            </a:pPr>
            <a:r>
              <a:rPr/>
              <a:t>PRD — Product Requirements Document</a:t>
            </a:r>
          </a:p>
          <a:p>
            <a:pPr lvl="0" indent="0" marL="0">
              <a:buNone/>
            </a:pPr>
            <a:r>
              <a:rPr/>
              <a:t>What are we building and why?</a:t>
            </a:r>
          </a:p>
          <a:p>
            <a:pPr lvl="0" indent="0" marL="0">
              <a:buNone/>
            </a:pPr>
            <a:r>
              <a:rPr/>
              <a:t>TPM</a:t>
            </a:r>
          </a:p>
          <a:p>
            <a:pPr lvl="0" indent="0" marL="0">
              <a:buNone/>
            </a:pPr>
            <a:r>
              <a:rPr/>
              <a:t>TCD — Technical Concept Document</a:t>
            </a:r>
          </a:p>
          <a:p>
            <a:pPr lvl="0" indent="0" marL="0">
              <a:buNone/>
            </a:pPr>
            <a:r>
              <a:rPr/>
              <a:t>What is the high-level system shape?</a:t>
            </a:r>
          </a:p>
          <a:p>
            <a:pPr lvl="0" indent="0" marL="0">
              <a:buNone/>
            </a:pPr>
            <a:r>
              <a:rPr/>
              <a:t>TPM + Architect</a:t>
            </a:r>
          </a:p>
          <a:p>
            <a:pPr lvl="0" indent="0" marL="0">
              <a:buNone/>
            </a:pPr>
            <a:r>
              <a:rPr/>
              <a:t>TMD — Technical Modeling Document</a:t>
            </a:r>
          </a:p>
          <a:p>
            <a:pPr lvl="0" indent="0" marL="0">
              <a:buNone/>
            </a:pPr>
            <a:r>
              <a:rPr/>
              <a:t>What are the data and component models?</a:t>
            </a:r>
          </a:p>
          <a:p>
            <a:pPr lvl="0" indent="0" marL="0">
              <a:buNone/>
            </a:pPr>
            <a:r>
              <a:rPr/>
              <a:t>TPM + Tech Lead</a:t>
            </a:r>
          </a:p>
          <a:p>
            <a:pPr lvl="0" indent="0" marL="0">
              <a:buNone/>
            </a:pPr>
            <a:r>
              <a:rPr/>
              <a:t>SEP — Stakeholder Engagement Plan</a:t>
            </a:r>
          </a:p>
          <a:p>
            <a:pPr lvl="0" indent="0" marL="0">
              <a:buNone/>
            </a:pPr>
            <a:r>
              <a:rPr/>
              <a:t>Who is impacted and how do we engage them?</a:t>
            </a:r>
          </a:p>
          <a:p>
            <a:pPr lvl="0" indent="0" marL="0">
              <a:buNone/>
            </a:pPr>
            <a:r>
              <a:rPr/>
              <a:t>TPM</a:t>
            </a:r>
          </a:p>
          <a:p>
            <a:pPr lvl="0" indent="0" marL="0">
              <a:buNone/>
            </a:pPr>
            <a:r>
              <a:rPr/>
              <a:t>DP — Delivery Plan</a:t>
            </a:r>
          </a:p>
          <a:p>
            <a:pPr lvl="0" indent="0" marL="0">
              <a:buNone/>
            </a:pPr>
            <a:r>
              <a:rPr/>
              <a:t>How will we ship and measure?</a:t>
            </a:r>
          </a:p>
          <a:p>
            <a:pPr lvl="0" indent="0" marL="0">
              <a:buNone/>
            </a:pPr>
            <a:r>
              <a:rPr/>
              <a:t>TPM + EM</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Where TPMs Tend to Fail</a:t>
            </a:r>
          </a:p>
        </p:txBody>
      </p:sp>
      <p:sp>
        <p:nvSpPr>
          <p:cNvPr id="3" name="Content Placeholder 2"/>
          <p:cNvSpPr>
            <a:spLocks noGrp="1"/>
          </p:cNvSpPr>
          <p:nvPr>
            <p:ph idx="1"/>
          </p:nvPr>
        </p:nvSpPr>
        <p:spPr/>
        <p:txBody>
          <a:bodyPr/>
          <a:lstStyle/>
          <a:p>
            <a:pPr lvl="0" indent="0" marL="0">
              <a:buNone/>
            </a:pPr>
            <a:r>
              <a:rPr/>
              <a:t>Pre-deciding the solution. Walking in with the answer instead of the problem.</a:t>
            </a:r>
          </a:p>
          <a:p>
            <a:pPr lvl="0" indent="0" marL="0">
              <a:buNone/>
            </a:pPr>
            <a:r>
              <a:rPr/>
              <a:t>Misreading constraints. Treating “we’ve never built that” as “we can’t build that.”</a:t>
            </a:r>
          </a:p>
          <a:p>
            <a:pPr lvl="0" indent="0" marL="0">
              <a:buNone/>
            </a:pPr>
            <a:r>
              <a:rPr/>
              <a:t>Hiding behind technical detail. Using diagrams to dodge customer-value questions.</a:t>
            </a:r>
          </a:p>
          <a:p>
            <a:pPr lvl="0" indent="0" marL="0">
              <a:buNone/>
            </a:pPr>
            <a:r>
              <a:rPr/>
              <a:t>Hiding behind customer empathy. Using personas to dodge technical accountability.</a:t>
            </a:r>
          </a:p>
          <a:p>
            <a:pPr lvl="0" indent="0" marL="0">
              <a:buNone/>
            </a:pPr>
            <a:r>
              <a:rPr/>
              <a:t>Owning every artifact alone. The five sibling artifacts are collaborative, not solo writing exercises.</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Activity 2 — “Where Have You Seen a TPM Win or Lose?”</a:t>
            </a:r>
          </a:p>
        </p:txBody>
      </p:sp>
      <p:sp>
        <p:nvSpPr>
          <p:cNvPr id="3" name="Content Placeholder 2"/>
          <p:cNvSpPr>
            <a:spLocks noGrp="1"/>
          </p:cNvSpPr>
          <p:nvPr>
            <p:ph idx="1"/>
          </p:nvPr>
        </p:nvSpPr>
        <p:spPr/>
        <p:txBody>
          <a:bodyPr/>
          <a:lstStyle/>
          <a:p>
            <a:pPr lvl="0" indent="0" marL="0">
              <a:buNone/>
            </a:pPr>
            <a:r>
              <a:rPr/>
              <a:t>Format: Quartets • 30 min</a:t>
            </a:r>
          </a:p>
          <a:p>
            <a:pPr lvl="0" indent="0" marL="0">
              <a:buNone/>
            </a:pPr>
            <a:r>
              <a:rPr/>
              <a:t>Each person writes a 60-second story: a real TPM (or PM doing TPM work) you saw win or lose a decision</a:t>
            </a:r>
          </a:p>
          <a:p>
            <a:pPr lvl="0" indent="0" marL="0">
              <a:buNone/>
            </a:pPr>
            <a:r>
              <a:rPr/>
              <a:t>Read silently around the table — no narration</a:t>
            </a:r>
          </a:p>
          <a:p>
            <a:pPr lvl="0" indent="0" marL="0">
              <a:buNone/>
            </a:pPr>
            <a:r>
              <a:rPr/>
              <a:t>The quartet picks one story and identifies which failure mode (or its inverse) was in play</a:t>
            </a:r>
          </a:p>
          <a:p>
            <a:pPr lvl="0" indent="0" marL="0">
              <a:buNone/>
            </a:pPr>
            <a:r>
              <a:rPr/>
              <a:t>One quartet per readout: 90 seconds each</a:t>
            </a:r>
          </a:p>
          <a:p>
            <a:pPr lvl="0" indent="0" marL="0">
              <a:buNone/>
            </a:pPr>
            <a:r>
              <a:rPr/>
              <a:t>Deliverable: a tagged story per quartet, surfaced to the room.</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Break</a:t>
            </a:r>
          </a:p>
        </p:txBody>
      </p:sp>
      <p:sp>
        <p:nvSpPr>
          <p:cNvPr id="3" name="Content Placeholder 2"/>
          <p:cNvSpPr>
            <a:spLocks noGrp="1"/>
          </p:cNvSpPr>
          <p:nvPr>
            <p:ph idx="1"/>
          </p:nvPr>
        </p:nvSpPr>
        <p:spPr/>
        <p:txBody>
          <a:bodyPr/>
          <a:lstStyle/>
          <a:p>
            <a:pPr lvl="0" indent="0" marL="0">
              <a:spcBef>
                <a:spcPts val="3000"/>
              </a:spcBef>
              <a:buNone/>
            </a:pPr>
            <a:r>
              <a:rPr b="1"/>
              <a:t>15 minutes — be back at 10:45</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Block 2 — Curriculum Tour + Triad Formation</a:t>
            </a:r>
          </a:p>
        </p:txBody>
      </p:sp>
      <p:sp>
        <p:nvSpPr>
          <p:cNvPr id="3" name="Content Placeholder 2"/>
          <p:cNvSpPr>
            <a:spLocks noGrp="1"/>
          </p:cNvSpPr>
          <p:nvPr>
            <p:ph idx="1"/>
          </p:nvPr>
        </p:nvSpPr>
        <p:spPr/>
        <p:txBody>
          <a:bodyPr/>
          <a:lstStyle/>
          <a:p>
            <a:pPr lvl="0" indent="0" marL="0">
              <a:spcBef>
                <a:spcPts val="3000"/>
              </a:spcBef>
              <a:buNone/>
            </a:pPr>
            <a:r>
              <a:rPr b="1"/>
              <a:t>Where this is going, and who you’re going with</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The Eight-Week Map</a:t>
            </a:r>
          </a:p>
        </p:txBody>
      </p:sp>
      <p:sp>
        <p:nvSpPr>
          <p:cNvPr id="3" name="Content Placeholder 2"/>
          <p:cNvSpPr>
            <a:spLocks noGrp="1"/>
          </p:cNvSpPr>
          <p:nvPr>
            <p:ph idx="1"/>
          </p:nvPr>
        </p:nvSpPr>
        <p:spPr/>
        <p:txBody>
          <a:bodyPr/>
          <a:lstStyle/>
          <a:p>
            <a:pPr lvl="0" indent="0" marL="0">
              <a:buNone/>
            </a:pPr>
            <a:r>
              <a:rPr/>
              <a:t>Week</a:t>
            </a:r>
          </a:p>
          <a:p>
            <a:pPr lvl="0" indent="0" marL="0">
              <a:buNone/>
            </a:pPr>
            <a:r>
              <a:rPr/>
              <a:t>Theme</a:t>
            </a:r>
          </a:p>
          <a:p>
            <a:pPr lvl="0" indent="0" marL="0">
              <a:buNone/>
            </a:pPr>
            <a:r>
              <a:rPr/>
              <a:t>Capstone moment</a:t>
            </a:r>
          </a:p>
          <a:p>
            <a:pPr lvl="0" indent="0" marL="0">
              <a:buNone/>
            </a:pPr>
            <a:r>
              <a:rPr/>
              <a:t>1</a:t>
            </a:r>
          </a:p>
          <a:p>
            <a:pPr lvl="0" indent="0" marL="0">
              <a:buNone/>
            </a:pPr>
            <a:r>
              <a:rPr/>
              <a:t>Customer-Centric Foundations</a:t>
            </a:r>
          </a:p>
          <a:p>
            <a:pPr lvl="0" indent="0" marL="0">
              <a:buNone/>
            </a:pPr>
            <a:r>
              <a:rPr/>
              <a:t>—</a:t>
            </a:r>
          </a:p>
          <a:p>
            <a:pPr lvl="0" indent="0" marL="0">
              <a:buNone/>
            </a:pPr>
            <a:r>
              <a:rPr/>
              <a:t>2</a:t>
            </a:r>
          </a:p>
          <a:p>
            <a:pPr lvl="0" indent="0" marL="0">
              <a:buNone/>
            </a:pPr>
            <a:r>
              <a:rPr/>
              <a:t>Strategic Design &amp; Metrics</a:t>
            </a:r>
          </a:p>
          <a:p>
            <a:pPr lvl="0" indent="0" marL="0">
              <a:buNone/>
            </a:pPr>
            <a:r>
              <a:rPr/>
              <a:t>—</a:t>
            </a:r>
          </a:p>
          <a:p>
            <a:pPr lvl="0" indent="0" marL="0">
              <a:buNone/>
            </a:pPr>
            <a:r>
              <a:rPr/>
              <a:t>3</a:t>
            </a:r>
          </a:p>
          <a:p>
            <a:pPr lvl="0" indent="0" marL="0">
              <a:buNone/>
            </a:pPr>
            <a:r>
              <a:rPr/>
              <a:t>Requirements Engineering</a:t>
            </a:r>
          </a:p>
          <a:p>
            <a:pPr lvl="0" indent="0" marL="0">
              <a:buNone/>
            </a:pPr>
            <a:r>
              <a:rPr/>
              <a:t>Mini-capstone PRD + peer review</a:t>
            </a:r>
          </a:p>
          <a:p>
            <a:pPr lvl="0" indent="0" marL="0">
              <a:buNone/>
            </a:pPr>
            <a:r>
              <a:rPr/>
              <a:t>4</a:t>
            </a:r>
          </a:p>
          <a:p>
            <a:pPr lvl="0" indent="0" marL="0">
              <a:buNone/>
            </a:pPr>
            <a:r>
              <a:rPr/>
              <a:t>Technical Architecture &amp; Constraints</a:t>
            </a:r>
          </a:p>
          <a:p>
            <a:pPr lvl="0" indent="0" marL="0">
              <a:buNone/>
            </a:pPr>
            <a:r>
              <a:rPr/>
              <a:t>—</a:t>
            </a:r>
          </a:p>
          <a:p>
            <a:pPr lvl="0" indent="0" marL="0">
              <a:buNone/>
            </a:pPr>
            <a:r>
              <a:rPr/>
              <a:t>5</a:t>
            </a:r>
          </a:p>
          <a:p>
            <a:pPr lvl="0" indent="0" marL="0">
              <a:buNone/>
            </a:pPr>
            <a:r>
              <a:rPr/>
              <a:t>Technical Infrastructure &amp; Modeling</a:t>
            </a:r>
          </a:p>
          <a:p>
            <a:pPr lvl="0" indent="0" marL="0">
              <a:buNone/>
            </a:pPr>
            <a:r>
              <a:rPr/>
              <a:t>—</a:t>
            </a:r>
          </a:p>
          <a:p>
            <a:pPr lvl="0" indent="0" marL="0">
              <a:buNone/>
            </a:pPr>
            <a:r>
              <a:rPr/>
              <a:t>6</a:t>
            </a:r>
          </a:p>
          <a:p>
            <a:pPr lvl="0" indent="0" marL="0">
              <a:buNone/>
            </a:pPr>
            <a:r>
              <a:rPr/>
              <a:t>Stakeholder Alignment &amp; Negotiation</a:t>
            </a:r>
          </a:p>
          <a:p>
            <a:pPr lvl="0" indent="0" marL="0">
              <a:buNone/>
            </a:pPr>
            <a:r>
              <a:rPr/>
              <a:t>—</a:t>
            </a:r>
          </a:p>
          <a:p>
            <a:pPr lvl="0" indent="0" marL="0">
              <a:buNone/>
            </a:pPr>
            <a:r>
              <a:rPr/>
              <a:t>7</a:t>
            </a:r>
          </a:p>
          <a:p>
            <a:pPr lvl="0" indent="0" marL="0">
              <a:buNone/>
            </a:pPr>
            <a:r>
              <a:rPr/>
              <a:t>Agile Delivery &amp; ADO Mastery</a:t>
            </a:r>
          </a:p>
          <a:p>
            <a:pPr lvl="0" indent="0" marL="0">
              <a:buNone/>
            </a:pPr>
            <a:r>
              <a:rPr/>
              <a:t>—</a:t>
            </a:r>
          </a:p>
          <a:p>
            <a:pPr lvl="0" indent="0" marL="0">
              <a:buNone/>
            </a:pPr>
            <a:r>
              <a:rPr/>
              <a:t>8</a:t>
            </a:r>
          </a:p>
          <a:p>
            <a:pPr lvl="0" indent="0" marL="0">
              <a:buNone/>
            </a:pPr>
            <a:r>
              <a:rPr/>
              <a:t>AI Spec Development &amp; Capstone</a:t>
            </a:r>
          </a:p>
          <a:p>
            <a:pPr lvl="0" indent="0" marL="0">
              <a:buNone/>
            </a:pPr>
            <a:r>
              <a:rPr/>
              <a:t>Real-world capstone + presentations</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The Capstone Arc</a:t>
            </a:r>
          </a:p>
        </p:txBody>
      </p:sp>
      <p:sp>
        <p:nvSpPr>
          <p:cNvPr id="3" name="Content Placeholder 2"/>
          <p:cNvSpPr>
            <a:spLocks noGrp="1"/>
          </p:cNvSpPr>
          <p:nvPr>
            <p:ph idx="1"/>
          </p:nvPr>
        </p:nvSpPr>
        <p:spPr/>
        <p:txBody>
          <a:bodyPr/>
          <a:lstStyle/>
          <a:p>
            <a:pPr lvl="0" indent="0" marL="0">
              <a:buNone/>
            </a:pPr>
            <a:r>
              <a:rPr/>
              <a:t>Week 3 Mini-Capstone</a:t>
            </a:r>
          </a:p>
          <a:p>
            <a:pPr lvl="0" indent="0" marL="0">
              <a:buNone/>
            </a:pPr>
            <a:r>
              <a:rPr/>
              <a:t>Triad-built PRD</a:t>
            </a:r>
          </a:p>
          <a:p>
            <a:pPr lvl="0" indent="0" marL="0">
              <a:buNone/>
            </a:pPr>
            <a:r>
              <a:rPr/>
              <a:t>Running case study: FieldPulse (HVAC dispatch SaaS)</a:t>
            </a:r>
          </a:p>
          <a:p>
            <a:pPr lvl="0" indent="0" marL="0">
              <a:buNone/>
            </a:pPr>
            <a:r>
              <a:rPr/>
              <a:t>Peer review on Friday — every triad reads every other triad</a:t>
            </a:r>
          </a:p>
          <a:p>
            <a:pPr lvl="0" indent="0" marL="0">
              <a:buNone/>
            </a:pPr>
            <a:r>
              <a:rPr/>
              <a:t>AI tools off — honor system</a:t>
            </a:r>
          </a:p>
          <a:p>
            <a:pPr lvl="0" indent="0" marL="0">
              <a:buNone/>
            </a:pPr>
            <a:r>
              <a:rPr/>
              <a:t>Week 8 Final Capstone</a:t>
            </a:r>
          </a:p>
          <a:p>
            <a:pPr lvl="0" indent="0" marL="0">
              <a:buNone/>
            </a:pPr>
            <a:r>
              <a:rPr/>
              <a:t>Real product / problem you bring</a:t>
            </a:r>
          </a:p>
          <a:p>
            <a:pPr lvl="0" indent="0" marL="0">
              <a:buNone/>
            </a:pPr>
            <a:r>
              <a:rPr/>
              <a:t>Full set of 5 sibling artifacts</a:t>
            </a:r>
          </a:p>
          <a:p>
            <a:pPr lvl="0" indent="0" marL="0">
              <a:buNone/>
            </a:pPr>
            <a:r>
              <a:rPr/>
              <a:t>Friday: 12-minute presentation + Q&amp;A</a:t>
            </a:r>
          </a:p>
          <a:p>
            <a:pPr lvl="0" indent="0" marL="0">
              <a:buNone/>
            </a:pPr>
            <a:r>
              <a:rPr/>
              <a:t>AI tools on with validation discipline</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The AI Policy in One Sentence</a:t>
            </a:r>
          </a:p>
        </p:txBody>
      </p:sp>
      <p:sp>
        <p:nvSpPr>
          <p:cNvPr id="3" name="Content Placeholder 2"/>
          <p:cNvSpPr>
            <a:spLocks noGrp="1"/>
          </p:cNvSpPr>
          <p:nvPr>
            <p:ph idx="1"/>
          </p:nvPr>
        </p:nvSpPr>
        <p:spPr/>
        <p:txBody>
          <a:bodyPr/>
          <a:lstStyle/>
          <a:p>
            <a:pPr lvl="0" indent="0" marL="0">
              <a:buNone/>
            </a:pPr>
            <a:r>
              <a:rPr/>
              <a:t>AI tools are part of the curriculum, not a shortcut around it — except Week 3, where they are explicitly off so the muscle of unaided requirements writing gets built.</a:t>
            </a:r>
          </a:p>
          <a:p>
            <a:pPr lvl="0" indent="0" marL="0">
              <a:buNone/>
            </a:pPr>
            <a:r>
              <a:rPr/>
              <a:t>Weeks 1, 2, 4, 5, 6, 7, 8 — AI is in scope; validation discipline is required</a:t>
            </a:r>
          </a:p>
          <a:p>
            <a:pPr lvl="0" indent="0" marL="0">
              <a:buNone/>
            </a:pPr>
            <a:r>
              <a:rPr/>
              <a:t>Week 3 — AI off in your editor, off in your browser, honor system</a:t>
            </a:r>
          </a:p>
          <a:p>
            <a:pPr lvl="0" indent="0" marL="0">
              <a:buNone/>
            </a:pPr>
            <a:r>
              <a:rPr/>
              <a:t>Every AI-assisted artifact gets a provenance note: prompts used, what was kept, what was discarded</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What You’ll Use Day to Day</a:t>
            </a:r>
          </a:p>
        </p:txBody>
      </p:sp>
      <p:sp>
        <p:nvSpPr>
          <p:cNvPr id="3" name="Content Placeholder 2"/>
          <p:cNvSpPr>
            <a:spLocks noGrp="1"/>
          </p:cNvSpPr>
          <p:nvPr>
            <p:ph idx="1"/>
          </p:nvPr>
        </p:nvSpPr>
        <p:spPr/>
        <p:txBody>
          <a:bodyPr/>
          <a:lstStyle/>
          <a:p>
            <a:pPr lvl="0" indent="0" marL="0">
              <a:buNone/>
            </a:pPr>
            <a:r>
              <a:rPr/>
              <a:t>Markdown editor with live preview (Obsidian / VS Code + MPE / Typora)</a:t>
            </a:r>
          </a:p>
          <a:p>
            <a:pPr lvl="0" indent="0" marL="0">
              <a:buNone/>
            </a:pPr>
            <a:r>
              <a:rPr/>
              <a:t>Two AI assistants — Claude and ChatGPT are the most common; verify your access before Monday</a:t>
            </a:r>
          </a:p>
          <a:p>
            <a:pPr lvl="0" indent="0" marL="0">
              <a:buNone/>
            </a:pPr>
            <a:r>
              <a:rPr/>
              <a:t>Browser for the academy repo, decks, and the SkillIQ assessments</a:t>
            </a:r>
          </a:p>
          <a:p>
            <a:pPr lvl="0" indent="0" marL="0">
              <a:buNone/>
            </a:pPr>
            <a:r>
              <a:rPr/>
              <a:t>Diagramming tool — Miro / Lucidchart / Excalidraw / whiteboard</a:t>
            </a:r>
          </a:p>
          <a:p>
            <a:pPr lvl="0" indent="0" marL="0">
              <a:buNone/>
            </a:pPr>
            <a:r>
              <a:rPr/>
              <a:t>Azure DevOps — Week 7 only; we’ll confirm access before then</a:t>
            </a:r>
          </a:p>
          <a:p>
            <a:pPr lvl="0" indent="0" marL="0">
              <a:buNone/>
            </a:pPr>
            <a:r>
              <a:rPr/>
              <a:t>Full setup instructions are in setup/TECH-SETUP.md.</a:t>
            </a: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Triads — The Heart of the Cohort</a:t>
            </a:r>
          </a:p>
        </p:txBody>
      </p:sp>
      <p:sp>
        <p:nvSpPr>
          <p:cNvPr id="3" name="Content Placeholder 2"/>
          <p:cNvSpPr>
            <a:spLocks noGrp="1"/>
          </p:cNvSpPr>
          <p:nvPr>
            <p:ph idx="1"/>
          </p:nvPr>
        </p:nvSpPr>
        <p:spPr/>
        <p:txBody>
          <a:bodyPr/>
          <a:lstStyle/>
          <a:p>
            <a:pPr lvl="0" indent="0" marL="0">
              <a:buNone/>
            </a:pPr>
            <a:r>
              <a:rPr/>
              <a:t>Three participants per triad — fixed through end of Week 3</a:t>
            </a:r>
          </a:p>
          <a:p>
            <a:pPr lvl="0" indent="0" marL="0">
              <a:buNone/>
            </a:pPr>
            <a:r>
              <a:rPr/>
              <a:t>Every activity is run in triad unless otherwise marked</a:t>
            </a:r>
          </a:p>
          <a:p>
            <a:pPr lvl="0" indent="0" marL="0">
              <a:buNone/>
            </a:pPr>
            <a:r>
              <a:rPr/>
              <a:t>Triads carry the Week 3 mini-capstone PRD together</a:t>
            </a:r>
          </a:p>
          <a:p>
            <a:pPr lvl="0" indent="0" marL="0">
              <a:buNone/>
            </a:pPr>
            <a:r>
              <a:rPr/>
              <a:t>Composition rules: mix experience levels, mix domain backgrounds, no same-home-team pairs where possible</a:t>
            </a:r>
          </a:p>
          <a:p>
            <a:pPr lvl="0" indent="0" marL="0">
              <a:buNone/>
            </a:pPr>
            <a:r>
              <a:rPr/>
              <a:t>Triads reshuffle for Weeks 4–8</a:t>
            </a:r>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Activity 3 — Triad Formation + First Commitment</a:t>
            </a:r>
          </a:p>
        </p:txBody>
      </p:sp>
      <p:sp>
        <p:nvSpPr>
          <p:cNvPr id="3" name="Content Placeholder 2"/>
          <p:cNvSpPr>
            <a:spLocks noGrp="1"/>
          </p:cNvSpPr>
          <p:nvPr>
            <p:ph idx="1"/>
          </p:nvPr>
        </p:nvSpPr>
        <p:spPr/>
        <p:txBody>
          <a:bodyPr/>
          <a:lstStyle/>
          <a:p>
            <a:pPr lvl="0" indent="0" marL="0">
              <a:buNone/>
            </a:pPr>
            <a:r>
              <a:rPr/>
              <a:t>Format: Self-organize → triads • 25 min</a:t>
            </a:r>
          </a:p>
          <a:p>
            <a:pPr lvl="0" indent="0" marL="0">
              <a:buNone/>
            </a:pPr>
            <a:r>
              <a:rPr/>
              <a:t>Stand. Find two people with at least one different dimension from you: experience level, domain, or home team</a:t>
            </a:r>
          </a:p>
          <a:p>
            <a:pPr lvl="0" indent="0" marL="0">
              <a:buNone/>
            </a:pPr>
            <a:r>
              <a:rPr/>
              <a:t>Sit together. You are a triad through end of Week 3</a:t>
            </a:r>
          </a:p>
          <a:p>
            <a:pPr lvl="0" indent="0" marL="0">
              <a:buNone/>
            </a:pPr>
            <a:r>
              <a:rPr/>
              <a:t>Write a one-sentence triad commitment — something like: “We will tell each other when our drafts are weak, before peer review tells us”</a:t>
            </a:r>
          </a:p>
          <a:p>
            <a:pPr lvl="0" indent="0" marL="0">
              <a:buNone/>
            </a:pPr>
            <a:r>
              <a:rPr/>
              <a:t>Share triad names + commitments with the room — 30 seconds per triad</a:t>
            </a:r>
          </a:p>
          <a:p>
            <a:pPr lvl="0" indent="0" marL="0">
              <a:buNone/>
            </a:pPr>
            <a:r>
              <a:rPr/>
              <a:t>Deliverable: a named triad and a written commitment, on a single index card.</a:t>
            </a:r>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Logistics, Q&amp;A, Week 1 Launch</a:t>
            </a:r>
          </a:p>
        </p:txBody>
      </p:sp>
      <p:sp>
        <p:nvSpPr>
          <p:cNvPr id="3" name="Content Placeholder 2"/>
          <p:cNvSpPr>
            <a:spLocks noGrp="1"/>
          </p:cNvSpPr>
          <p:nvPr>
            <p:ph idx="1"/>
          </p:nvPr>
        </p:nvSpPr>
        <p:spPr/>
        <p:txBody>
          <a:bodyPr/>
          <a:lstStyle/>
          <a:p>
            <a:pPr lvl="0" indent="0" marL="0">
              <a:spcBef>
                <a:spcPts val="3000"/>
              </a:spcBef>
              <a:buNone/>
            </a:pPr>
            <a:r>
              <a:rPr b="1"/>
              <a:t>The last 45 minutes</a:t>
            </a:r>
          </a:p>
        </p:txBody>
      </p:sp>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Daily Rhythm Starting Monday</a:t>
            </a:r>
          </a:p>
        </p:txBody>
      </p:sp>
      <p:sp>
        <p:nvSpPr>
          <p:cNvPr id="3" name="Content Placeholder 2"/>
          <p:cNvSpPr>
            <a:spLocks noGrp="1"/>
          </p:cNvSpPr>
          <p:nvPr>
            <p:ph idx="1"/>
          </p:nvPr>
        </p:nvSpPr>
        <p:spPr/>
        <p:txBody>
          <a:bodyPr/>
          <a:lstStyle/>
          <a:p>
            <a:pPr lvl="0" indent="0" marL="0">
              <a:buNone/>
            </a:pPr>
            <a:r>
              <a:rPr/>
              <a:t>Block</a:t>
            </a:r>
          </a:p>
          <a:p>
            <a:pPr lvl="0" indent="0" marL="0">
              <a:buNone/>
            </a:pPr>
            <a:r>
              <a:rPr/>
              <a:t>Duration</a:t>
            </a:r>
          </a:p>
          <a:p>
            <a:pPr lvl="0" indent="0" marL="0">
              <a:buNone/>
            </a:pPr>
            <a:r>
              <a:rPr/>
              <a:t>Opening &amp; objectives</a:t>
            </a:r>
          </a:p>
          <a:p>
            <a:pPr lvl="0" indent="0" marL="0">
              <a:buNone/>
            </a:pPr>
            <a:r>
              <a:rPr/>
              <a:t>0:15</a:t>
            </a:r>
          </a:p>
          <a:p>
            <a:pPr lvl="0" indent="0" marL="0">
              <a:buNone/>
            </a:pPr>
            <a:r>
              <a:rPr/>
              <a:t>Teaching Block 1 + Activity 1</a:t>
            </a:r>
          </a:p>
          <a:p>
            <a:pPr lvl="0" indent="0" marL="0">
              <a:buNone/>
            </a:pPr>
            <a:r>
              <a:rPr/>
              <a:t>1:15</a:t>
            </a:r>
          </a:p>
          <a:p>
            <a:pPr lvl="0" indent="0" marL="0">
              <a:buNone/>
            </a:pPr>
            <a:r>
              <a:rPr/>
              <a:t>Morning break</a:t>
            </a:r>
          </a:p>
          <a:p>
            <a:pPr lvl="0" indent="0" marL="0">
              <a:buNone/>
            </a:pPr>
            <a:r>
              <a:rPr/>
              <a:t>0:15</a:t>
            </a:r>
          </a:p>
          <a:p>
            <a:pPr lvl="0" indent="0" marL="0">
              <a:buNone/>
            </a:pPr>
            <a:r>
              <a:rPr/>
              <a:t>Teaching Block 2 + Activity 2</a:t>
            </a:r>
          </a:p>
          <a:p>
            <a:pPr lvl="0" indent="0" marL="0">
              <a:buNone/>
            </a:pPr>
            <a:r>
              <a:rPr/>
              <a:t>1:15</a:t>
            </a:r>
          </a:p>
          <a:p>
            <a:pPr lvl="0" indent="0" marL="0">
              <a:buNone/>
            </a:pPr>
            <a:r>
              <a:rPr/>
              <a:t>Lunch</a:t>
            </a:r>
          </a:p>
          <a:p>
            <a:pPr lvl="0" indent="0" marL="0">
              <a:buNone/>
            </a:pPr>
            <a:r>
              <a:rPr/>
              <a:t>1:00</a:t>
            </a:r>
          </a:p>
          <a:p>
            <a:pPr lvl="0" indent="0" marL="0">
              <a:buNone/>
            </a:pPr>
            <a:r>
              <a:rPr/>
              <a:t>Teaching Block 3 + Activity 3</a:t>
            </a:r>
          </a:p>
          <a:p>
            <a:pPr lvl="0" indent="0" marL="0">
              <a:buNone/>
            </a:pPr>
            <a:r>
              <a:rPr/>
              <a:t>1:15</a:t>
            </a:r>
          </a:p>
          <a:p>
            <a:pPr lvl="0" indent="0" marL="0">
              <a:buNone/>
            </a:pPr>
            <a:r>
              <a:rPr/>
              <a:t>Afternoon break</a:t>
            </a:r>
          </a:p>
          <a:p>
            <a:pPr lvl="0" indent="0" marL="0">
              <a:buNone/>
            </a:pPr>
            <a:r>
              <a:rPr/>
              <a:t>0:15</a:t>
            </a:r>
          </a:p>
          <a:p>
            <a:pPr lvl="0" indent="0" marL="0">
              <a:buNone/>
            </a:pPr>
            <a:r>
              <a:rPr/>
              <a:t>Teaching Block 4 + Activity 4 + Wrap</a:t>
            </a:r>
          </a:p>
          <a:p>
            <a:pPr lvl="0" indent="0" marL="0">
              <a:buNone/>
            </a:pPr>
            <a:r>
              <a:rPr/>
              <a:t>1:30</a:t>
            </a:r>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Feedback &amp; Channels</a:t>
            </a:r>
          </a:p>
        </p:txBody>
      </p:sp>
      <p:sp>
        <p:nvSpPr>
          <p:cNvPr id="3" name="Content Placeholder 2"/>
          <p:cNvSpPr>
            <a:spLocks noGrp="1"/>
          </p:cNvSpPr>
          <p:nvPr>
            <p:ph idx="1"/>
          </p:nvPr>
        </p:nvSpPr>
        <p:spPr/>
        <p:txBody>
          <a:bodyPr/>
          <a:lstStyle/>
          <a:p>
            <a:pPr lvl="0" indent="0" marL="0">
              <a:buNone/>
            </a:pPr>
            <a:r>
              <a:rPr/>
              <a:t>During the academy</a:t>
            </a:r>
          </a:p>
          <a:p>
            <a:pPr lvl="0" indent="0" marL="0">
              <a:buNone/>
            </a:pPr>
            <a:r>
              <a:rPr/>
              <a:t>Daily anonymous pulse — one click, end of day</a:t>
            </a:r>
          </a:p>
          <a:p>
            <a:pPr lvl="0" indent="0" marL="0">
              <a:buNone/>
            </a:pPr>
            <a:r>
              <a:rPr/>
              <a:t>Triad-internal: keep it direct, low-stakes</a:t>
            </a:r>
          </a:p>
          <a:p>
            <a:pPr lvl="0" indent="0" marL="0">
              <a:buNone/>
            </a:pPr>
            <a:r>
              <a:rPr/>
              <a:t>Direct to instructor: any time, any channel</a:t>
            </a:r>
          </a:p>
          <a:p>
            <a:pPr lvl="0" indent="0" marL="0">
              <a:buNone/>
            </a:pPr>
            <a:r>
              <a:rPr/>
              <a:t>End of each week</a:t>
            </a:r>
          </a:p>
          <a:p>
            <a:pPr lvl="0" indent="0" marL="0">
              <a:buNone/>
            </a:pPr>
            <a:r>
              <a:rPr/>
              <a:t>Friday 15-minute retrospective — what worked / what to adjust</a:t>
            </a:r>
          </a:p>
          <a:p>
            <a:pPr lvl="0" indent="0" marL="0">
              <a:buNone/>
            </a:pPr>
            <a:r>
              <a:rPr/>
              <a:t>End-of-week pulse survey</a:t>
            </a:r>
          </a:p>
          <a:p>
            <a:pPr lvl="0" indent="0" marL="0">
              <a:buNone/>
            </a:pPr>
            <a:r>
              <a:rPr/>
              <a:t>Adjustments visible by Monday</a:t>
            </a:r>
          </a:p>
        </p:txBody>
      </p:sp>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What to Bring Monday</a:t>
            </a:r>
          </a:p>
        </p:txBody>
      </p:sp>
      <p:sp>
        <p:nvSpPr>
          <p:cNvPr id="3" name="Content Placeholder 2"/>
          <p:cNvSpPr>
            <a:spLocks noGrp="1"/>
          </p:cNvSpPr>
          <p:nvPr>
            <p:ph idx="1"/>
          </p:nvPr>
        </p:nvSpPr>
        <p:spPr/>
        <p:txBody>
          <a:bodyPr/>
          <a:lstStyle/>
          <a:p>
            <a:pPr lvl="0" indent="0" marL="0">
              <a:buNone/>
            </a:pPr>
            <a:r>
              <a:rPr/>
              <a:t>Laptop with markdown editor + browser + AI assistant access — all verified</a:t>
            </a:r>
          </a:p>
          <a:p>
            <a:pPr lvl="0" indent="0" marL="0">
              <a:buNone/>
            </a:pPr>
            <a:r>
              <a:rPr/>
              <a:t>A real product you ship to today (internal or external) — Week 1 uses it as a discussion anchor</a:t>
            </a:r>
          </a:p>
          <a:p>
            <a:pPr lvl="0" indent="0" marL="0">
              <a:buNone/>
            </a:pPr>
            <a:r>
              <a:rPr/>
              <a:t>Pre-work completed: PM Philosophies, Agile Methodologies, Prompt Engineering primer</a:t>
            </a:r>
          </a:p>
          <a:p>
            <a:pPr lvl="0" indent="0" marL="0">
              <a:buNone/>
            </a:pPr>
            <a:r>
              <a:rPr/>
              <a:t>SkillIQ pre-assessments done — Product Management and Data Literacy</a:t>
            </a:r>
          </a:p>
          <a:p>
            <a:pPr lvl="0" indent="0" marL="0">
              <a:buNone/>
            </a:pPr>
            <a:r>
              <a:rPr/>
              <a:t>Your triad commitment card</a:t>
            </a:r>
          </a:p>
        </p:txBody>
      </p:sp>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Open Q&amp;A</a:t>
            </a:r>
          </a:p>
        </p:txBody>
      </p:sp>
      <p:sp>
        <p:nvSpPr>
          <p:cNvPr id="3" name="Content Placeholder 2"/>
          <p:cNvSpPr>
            <a:spLocks noGrp="1"/>
          </p:cNvSpPr>
          <p:nvPr>
            <p:ph idx="1"/>
          </p:nvPr>
        </p:nvSpPr>
        <p:spPr/>
        <p:txBody>
          <a:bodyPr/>
          <a:lstStyle/>
          <a:p>
            <a:pPr lvl="0" indent="0" marL="0">
              <a:buNone/>
            </a:pPr>
            <a:r>
              <a:rPr/>
              <a:t>Common categories of questions to expect at this point:</a:t>
            </a:r>
          </a:p>
          <a:p>
            <a:pPr lvl="0" indent="0" marL="0">
              <a:buNone/>
            </a:pPr>
            <a:r>
              <a:rPr/>
              <a:t>“What if my AI access doesn’t work?”</a:t>
            </a:r>
          </a:p>
          <a:p>
            <a:pPr lvl="0" indent="0" marL="0">
              <a:buNone/>
            </a:pPr>
            <a:r>
              <a:rPr/>
              <a:t>“What happens if I miss a day?”</a:t>
            </a:r>
          </a:p>
          <a:p>
            <a:pPr lvl="0" indent="0" marL="0">
              <a:buNone/>
            </a:pPr>
            <a:r>
              <a:rPr/>
              <a:t>“Can our triad change if it’s not working?”</a:t>
            </a:r>
          </a:p>
          <a:p>
            <a:pPr lvl="0" indent="0" marL="0">
              <a:buNone/>
            </a:pPr>
            <a:r>
              <a:rPr/>
              <a:t>“How is performance evaluated?”</a:t>
            </a:r>
          </a:p>
          <a:p>
            <a:pPr lvl="0" indent="0" marL="0">
              <a:buNone/>
            </a:pPr>
            <a:r>
              <a:rPr/>
              <a:t>“What artifacts do I keep after the academy?”</a:t>
            </a:r>
          </a:p>
        </p:txBody>
      </p:sp>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See You Monday at 09:00</a:t>
            </a:r>
          </a:p>
        </p:txBody>
      </p:sp>
      <p:sp>
        <p:nvSpPr>
          <p:cNvPr id="3" name="Content Placeholder 2"/>
          <p:cNvSpPr>
            <a:spLocks noGrp="1"/>
          </p:cNvSpPr>
          <p:nvPr>
            <p:ph idx="1"/>
          </p:nvPr>
        </p:nvSpPr>
        <p:spPr/>
        <p:txBody>
          <a:bodyPr/>
          <a:lstStyle/>
          <a:p>
            <a:pPr lvl="0" indent="0" marL="0">
              <a:spcBef>
                <a:spcPts val="3000"/>
              </a:spcBef>
              <a:buNone/>
            </a:pPr>
            <a:r>
              <a:rPr b="1"/>
              <a:t>Week 1, Day 1 — AI Fundamentals &amp; Prompting for TPMs</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2026-05-15T23:20:48Z</dcterms:created>
  <dcterms:modified xsi:type="dcterms:W3CDTF">2026-05-15T23:20:48Z</dcterms:modified>
</cp:coreProperties>
</file>

<file path=docProps/custom.xml><?xml version="1.0" encoding="utf-8"?>
<Properties xmlns="http://schemas.openxmlformats.org/officeDocument/2006/custom-properties" xmlns:vt="http://schemas.openxmlformats.org/officeDocument/2006/docPropsVTypes"/>
</file>