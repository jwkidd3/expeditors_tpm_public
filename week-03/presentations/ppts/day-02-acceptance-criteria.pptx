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notesMasters/notesMaster1.xml" ContentType="application/vnd.openxmlformats-officedocument.presentationml.notesMaster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notesMasterIdLst>
    <p:notesMasterId r:id="rId2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notesMaster" Target="notesMasters/notesMaster1.xml" /><Relationship Id="rId27" Type="http://schemas.openxmlformats.org/officeDocument/2006/relationships/viewProps" Target="viewProps.xml" /><Relationship Id="rId2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29" Type="http://schemas.openxmlformats.org/officeDocument/2006/relationships/tableStyles" Target="tableStyles.xml" /><Relationship Id="rId28" Type="http://schemas.openxmlformats.org/officeDocument/2006/relationships/theme" Target="theme/theme1.xml" 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9C1CCF-B725-44A7-AA57-5E433BD85C9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8BDFEC3-8487-43E8-A154-7C12CBC1FFF2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827097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?><Relationships xmlns="http://schemas.openxmlformats.org/package/2006/relationships"><Relationship Id="rId2" Type="http://schemas.openxmlformats.org/officeDocument/2006/relationships/slide" Target="../slides/slide2.xml" /><Relationship Id="rId1" Type="http://schemas.openxmlformats.org/officeDocument/2006/relationships/notesMaster" Target="../notesMasters/notesMaster1.xml" /></Relationships>
</file>

<file path=ppt/notesSlides/_rels/notesSlide2.xml.rels><?xml version="1.0" encoding="UTF-8"?><Relationships xmlns="http://schemas.openxmlformats.org/package/2006/relationships"><Relationship Id="rId2" Type="http://schemas.openxmlformats.org/officeDocument/2006/relationships/slide" Target="../slides/slide3.xml" /><Relationship Id="rId1" Type="http://schemas.openxmlformats.org/officeDocument/2006/relationships/notesMaster" Target="../notesMasters/notesMaster1.xml" /></Relationships>
</file>

<file path=ppt/notesSlides/_rels/notesSlide3.xml.rels><?xml version="1.0" encoding="UTF-8"?><Relationships xmlns="http://schemas.openxmlformats.org/package/2006/relationships"><Relationship Id="rId2" Type="http://schemas.openxmlformats.org/officeDocument/2006/relationships/slide" Target="../slides/slide4.xml" /><Relationship Id="rId1" Type="http://schemas.openxmlformats.org/officeDocument/2006/relationships/notesMaster" Target="../notesMasters/notesMaster1.xml" /></Relationships>
</file>

<file path=ppt/notesSlides/_rels/notesSlide4.xml.rels><?xml version="1.0" encoding="UTF-8"?><Relationships xmlns="http://schemas.openxmlformats.org/package/2006/relationships"><Relationship Id="rId2" Type="http://schemas.openxmlformats.org/officeDocument/2006/relationships/slide" Target="../slides/slide5.xml" /><Relationship Id="rId1" Type="http://schemas.openxmlformats.org/officeDocument/2006/relationships/notesMaster" Target="../notesMasters/notesMaster1.xml" /></Relationships>
</file>

<file path=ppt/notesSlides/_rels/notesSlide5.xml.rels><?xml version="1.0" encoding="UTF-8"?><Relationships xmlns="http://schemas.openxmlformats.org/package/2006/relationships"><Relationship Id="rId2" Type="http://schemas.openxmlformats.org/officeDocument/2006/relationships/slide" Target="../slides/slide6.xml" /><Relationship Id="rId1" Type="http://schemas.openxmlformats.org/officeDocument/2006/relationships/notesMaster" Target="../notesMasters/notesMaster1.xml" /></Relationships>
</file>

<file path=ppt/notesSlides/_rels/notesSlide6.xml.rels><?xml version="1.0" encoding="UTF-8"?><Relationships xmlns="http://schemas.openxmlformats.org/package/2006/relationships"><Relationship Id="rId2" Type="http://schemas.openxmlformats.org/officeDocument/2006/relationships/slide" Target="../slides/slide7.xml" /><Relationship Id="rId1" Type="http://schemas.openxmlformats.org/officeDocument/2006/relationships/notesMaster" Target="../notesMasters/notesMaster1.xml" /></Relationships>
</file>

<file path=ppt/notesSlides/_rels/notesSlide7.xml.rels><?xml version="1.0" encoding="UTF-8"?><Relationships xmlns="http://schemas.openxmlformats.org/package/2006/relationships"><Relationship Id="rId2" Type="http://schemas.openxmlformats.org/officeDocument/2006/relationships/slide" Target="../slides/slide8.xml" /><Relationship Id="rId1" Type="http://schemas.openxmlformats.org/officeDocument/2006/relationships/notesMaster" Target="../notesMasters/notesMaster1.xml" /></Relationships>
</file>

<file path=ppt/notesSlides/_rels/notesSlide8.xml.rels><?xml version="1.0" encoding="UTF-8"?><Relationships xmlns="http://schemas.openxmlformats.org/package/2006/relationships"><Relationship Id="rId2" Type="http://schemas.openxmlformats.org/officeDocument/2006/relationships/slide" Target="../slides/slide9.xml" /><Relationship Id="rId1" Type="http://schemas.openxmlformats.org/officeDocument/2006/relationships/notesMaster" Target="../notesMasters/notesMaster1.xml" /></Relationships>
</file>

<file path=ppt/notesSlides/_rels/notesSlide9.xml.rels><?xml version="1.0" encoding="UTF-8"?><Relationships xmlns="http://schemas.openxmlformats.org/package/2006/relationships"><Relationship Id="rId2" Type="http://schemas.openxmlformats.org/officeDocument/2006/relationships/slide" Target="../slides/slide10.xml" /><Relationship Id="rId1" Type="http://schemas.openxmlformats.org/officeDocument/2006/relationships/notesMaster" Target="../notesMasters/notesMaster1.xml" /></Relationships>
</file>

<file path=ppt/notesSlides/_rels/notesSlide10.xml.rels><?xml version="1.0" encoding="UTF-8"?><Relationships xmlns="http://schemas.openxmlformats.org/package/2006/relationships"><Relationship Id="rId2" Type="http://schemas.openxmlformats.org/officeDocument/2006/relationships/slide" Target="../slides/slide11.xml" /><Relationship Id="rId1" Type="http://schemas.openxmlformats.org/officeDocument/2006/relationships/notesMaster" Target="../notesMasters/notesMaster1.xml" /></Relationships>
</file>

<file path=ppt/notesSlides/_rels/notesSlide11.xml.rels><?xml version="1.0" encoding="UTF-8"?><Relationships xmlns="http://schemas.openxmlformats.org/package/2006/relationships"><Relationship Id="rId2" Type="http://schemas.openxmlformats.org/officeDocument/2006/relationships/slide" Target="../slides/slide12.xml" /><Relationship Id="rId1" Type="http://schemas.openxmlformats.org/officeDocument/2006/relationships/notesMaster" Target="../notesMasters/notesMaster1.xml" /></Relationships>
</file>

<file path=ppt/notesSlides/_rels/notesSlide12.xml.rels><?xml version="1.0" encoding="UTF-8"?><Relationships xmlns="http://schemas.openxmlformats.org/package/2006/relationships"><Relationship Id="rId2" Type="http://schemas.openxmlformats.org/officeDocument/2006/relationships/slide" Target="../slides/slide13.xml" /><Relationship Id="rId1" Type="http://schemas.openxmlformats.org/officeDocument/2006/relationships/notesMaster" Target="../notesMasters/notesMaster1.xml" /></Relationships>
</file>

<file path=ppt/notesSlides/_rels/notesSlide13.xml.rels><?xml version="1.0" encoding="UTF-8"?><Relationships xmlns="http://schemas.openxmlformats.org/package/2006/relationships"><Relationship Id="rId2" Type="http://schemas.openxmlformats.org/officeDocument/2006/relationships/slide" Target="../slides/slide14.xml" /><Relationship Id="rId1" Type="http://schemas.openxmlformats.org/officeDocument/2006/relationships/notesMaster" Target="../notesMasters/notesMaster1.xml" /></Relationships>
</file>

<file path=ppt/notesSlides/_rels/notesSlide14.xml.rels><?xml version="1.0" encoding="UTF-8"?><Relationships xmlns="http://schemas.openxmlformats.org/package/2006/relationships"><Relationship Id="rId2" Type="http://schemas.openxmlformats.org/officeDocument/2006/relationships/slide" Target="../slides/slide15.xml" /><Relationship Id="rId1" Type="http://schemas.openxmlformats.org/officeDocument/2006/relationships/notesMaster" Target="../notesMasters/notesMaster1.xml" /></Relationships>
</file>

<file path=ppt/notesSlides/_rels/notesSlide15.xml.rels><?xml version="1.0" encoding="UTF-8"?><Relationships xmlns="http://schemas.openxmlformats.org/package/2006/relationships"><Relationship Id="rId2" Type="http://schemas.openxmlformats.org/officeDocument/2006/relationships/slide" Target="../slides/slide16.xml" /><Relationship Id="rId1" Type="http://schemas.openxmlformats.org/officeDocument/2006/relationships/notesMaster" Target="../notesMasters/notesMaster1.xml" /></Relationships>
</file>

<file path=ppt/notesSlides/_rels/notesSlide16.xml.rels><?xml version="1.0" encoding="UTF-8"?><Relationships xmlns="http://schemas.openxmlformats.org/package/2006/relationships"><Relationship Id="rId2" Type="http://schemas.openxmlformats.org/officeDocument/2006/relationships/slide" Target="../slides/slide17.xml" /><Relationship Id="rId1" Type="http://schemas.openxmlformats.org/officeDocument/2006/relationships/notesMaster" Target="../notesMasters/notesMaster1.xml" /></Relationships>
</file>

<file path=ppt/notesSlides/_rels/notesSlide17.xml.rels><?xml version="1.0" encoding="UTF-8"?><Relationships xmlns="http://schemas.openxmlformats.org/package/2006/relationships"><Relationship Id="rId2" Type="http://schemas.openxmlformats.org/officeDocument/2006/relationships/slide" Target="../slides/slide18.xml" /><Relationship Id="rId1" Type="http://schemas.openxmlformats.org/officeDocument/2006/relationships/notesMaster" Target="../notesMasters/notesMaster1.xml" /></Relationships>
</file>

<file path=ppt/notesSlides/_rels/notesSlide18.xml.rels><?xml version="1.0" encoding="UTF-8"?><Relationships xmlns="http://schemas.openxmlformats.org/package/2006/relationships"><Relationship Id="rId2" Type="http://schemas.openxmlformats.org/officeDocument/2006/relationships/slide" Target="../slides/slide19.xml" /><Relationship Id="rId1" Type="http://schemas.openxmlformats.org/officeDocument/2006/relationships/notesMaster" Target="../notesMasters/notesMaster1.xml" /></Relationships>
</file>

<file path=ppt/notesSlides/_rels/notesSlide19.xml.rels><?xml version="1.0" encoding="UTF-8"?><Relationships xmlns="http://schemas.openxmlformats.org/package/2006/relationships"><Relationship Id="rId2" Type="http://schemas.openxmlformats.org/officeDocument/2006/relationships/slide" Target="../slides/slide20.xml" /><Relationship Id="rId1" Type="http://schemas.openxmlformats.org/officeDocument/2006/relationships/notesMaster" Target="../notesMasters/notesMaster1.xml" /></Relationships>
</file>

<file path=ppt/notesSlides/_rels/notesSlide20.xml.rels><?xml version="1.0" encoding="UTF-8"?><Relationships xmlns="http://schemas.openxmlformats.org/package/2006/relationships"><Relationship Id="rId2" Type="http://schemas.openxmlformats.org/officeDocument/2006/relationships/slide" Target="../slides/slide21.xml" /><Relationship Id="rId1" Type="http://schemas.openxmlformats.org/officeDocument/2006/relationships/notesMaster" Target="../notesMasters/notesMaster1.xml" /></Relationships>
</file>

<file path=ppt/notesSlides/_rels/notesSlide21.xml.rels><?xml version="1.0" encoding="UTF-8"?><Relationships xmlns="http://schemas.openxmlformats.org/package/2006/relationships"><Relationship Id="rId2" Type="http://schemas.openxmlformats.org/officeDocument/2006/relationships/slide" Target="../slides/slide22.xml" /><Relationship Id="rId1" Type="http://schemas.openxmlformats.org/officeDocument/2006/relationships/notesMaster" Target="../notesMasters/notesMaster1.xml" /></Relationships>
</file>

<file path=ppt/notesSlides/_rels/notesSlide22.xml.rels><?xml version="1.0" encoding="UTF-8"?><Relationships xmlns="http://schemas.openxmlformats.org/package/2006/relationships"><Relationship Id="rId2" Type="http://schemas.openxmlformats.org/officeDocument/2006/relationships/slide" Target="../slides/slide23.xml" /><Relationship Id="rId1" Type="http://schemas.openxmlformats.org/officeDocument/2006/relationships/notesMaster" Target="../notesMasters/notesMaster1.xml" 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Reminder up front: still non-AI. Today produces Section 6 of the PRD. AC are where most PRDs fail when reviewed by engineers.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</a:t>
            </a:fld>
            <a:endParaRPr lang="en-US"/>
          </a:p>
        </p:txBody>
      </p:sp>
    </p:spTree>
  </p:cSld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By 16:00, every triad’s PRD Section 6 has 8–12 ACs covering all three paths. Review-resolution note is the trust artifact.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3</a:t>
            </a:fld>
            <a:endParaRPr lang="en-US"/>
          </a:p>
        </p:txBody>
      </p:sp>
    </p:spTree>
  </p:cSld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Arc: calibrate → happy → sad/weird → cross-review. Each block fills one part of Section 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4</a:t>
            </a:fld>
            <a:endParaRPr lang="en-US"/>
          </a:p>
        </p:txBody>
      </p:sp>
    </p:spTree>
  </p:cSld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calibrates the eye. Walk triads through the five failure modes before they write — recognizing bad AC is the prerequisite to writing good ones.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5</a:t>
            </a:fld>
            <a:endParaRPr lang="en-US"/>
          </a:p>
        </p:txBody>
      </p:sp>
    </p:spTree>
  </p:cSld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G/W/T form is not religion; the discipline is. Some teams use Cucumber-style; others use bullet form. Form follows the discipline.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6</a:t>
            </a:fld>
            <a:endParaRPr lang="en-US"/>
          </a:p>
        </p:txBody>
      </p:sp>
    </p:spTree>
  </p:cSld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 #3 (restating the goal) is the trickiest because it sounds correct. Use the “could you write a test without running A/B” check.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7</a:t>
            </a:fld>
            <a:endParaRPr lang="en-US"/>
          </a:p>
        </p:txBody>
      </p:sp>
    </p:spTree>
  </p:cSld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Walk the room — triads will over-confidently call some failures “clean.” Use those for shared learning.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8</a:t>
            </a:fld>
            <a:endParaRPr lang="en-US"/>
          </a:p>
        </p:txBody>
      </p:sp>
    </p:spTree>
  </p:cSld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Happy-path AC are the cheapest to write — start here so triads build momentum and have raw material for the sad/weird paths in Block 3.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9</a:t>
            </a:fld>
            <a:endParaRPr lang="en-US"/>
          </a:p>
        </p:txBody>
      </p:sp>
    </p:spTree>
  </p:cSld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Aim for 8–12 AC total with this distribution. Triads who write only happy-path AC get docked Friday.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10</a:t>
            </a:fld>
            <a:endParaRPr lang="en-US"/>
          </a:p>
        </p:txBody>
      </p:sp>
    </p:spTree>
  </p:cSld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“Within 1 second” passes the testability check. “Quickly” doesn’t. Force the number — a target you’ll verify.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11</a:t>
            </a:fld>
            <a:endParaRPr lang="en-US"/>
          </a:p>
        </p:txBody>
      </p:sp>
    </p:spTree>
  </p:cSld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Solo drafting is non-negotiable. Skipping it produces lowest-common-denominator AC.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12</a:t>
            </a:fld>
            <a:endParaRPr lang="en-US"/>
          </a:p>
        </p:txBody>
      </p:sp>
    </p:spTree>
  </p:cSld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Sad and weird paths are where most PRDs break down in engineering review. Push triads to generate exhaustively, then cull — under-coverage here is the most common Friday finding.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13</a:t>
            </a:fld>
            <a:endParaRPr lang="en-US"/>
          </a:p>
        </p:txBody>
      </p:sp>
    </p:spTree>
  </p:cSld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Sad paths are usually under-covered because they’re emotionally unrewarding to write. Force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14</a:t>
            </a:fld>
            <a:endParaRPr lang="en-US"/>
          </a:p>
        </p:txBody>
      </p:sp>
    </p:spTree>
  </p:cSld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Weird paths are where TPMs add the most value. Keep the cohort here even when they want to wrap up.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15</a:t>
            </a:fld>
            <a:endParaRPr lang="en-US"/>
          </a:p>
        </p:txBody>
      </p:sp>
    </p:spTree>
  </p:cSld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If a triad finishes early, push them to add a third weird-path AC. There’s always more.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16</a:t>
            </a:fld>
            <a:endParaRPr lang="en-US"/>
          </a:p>
        </p:txBody>
      </p:sp>
    </p:spTree>
  </p:cSld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Cross-review mid-week beats discovering AC weakness on Friday. Triads who read each other’s AC carry a sharper standard back to their own PRD.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17</a:t>
            </a:fld>
            <a:endParaRPr lang="en-US"/>
          </a:p>
        </p:txBody>
      </p:sp>
    </p:spTree>
  </p:cSld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Don’t formalize this with a rubric — that’s Friday’s tool. Today is dialogue.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18</a:t>
            </a:fld>
            <a:endParaRPr lang="en-US"/>
          </a:p>
        </p:txBody>
      </p:sp>
    </p:spTree>
  </p:cSld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“you write it” rule eliminates lazy review feedback. Enforce.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19</a:t>
            </a:fld>
            <a:endParaRPr lang="en-US"/>
          </a:p>
        </p:txBody>
      </p:sp>
    </p:spTree>
  </p:cSld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“pushed back” entries are the trust signal. They show the author triad thought, not just complied.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20</a:t>
            </a:fld>
            <a:endParaRPr lang="en-US"/>
          </a:p>
        </p:txBody>
      </p:sp>
    </p:spTree>
  </p:cSld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Wrap-share: each triad reads aloud one AC they’re proudest of and one they’re least sure about. The “least sure” is the calibration.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21</a:t>
            </a:fld>
            <a:endParaRPr lang="en-US"/>
          </a:p>
        </p:txBody>
      </p:sp>
    </p:spTree>
  </p:cSld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Round-robin close: each person names a weird-path AC they wouldn’t have written before today.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22</a:t>
            </a:fld>
            <a:endParaRPr lang="en-US"/>
          </a:p>
        </p:txBody>
      </p:sp>
    </p:spTree>
  </p:cSld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hostile-engineer test is the bar AC must clear by Friday. Tomorrow shifts to NFRs — the requirements AC can’t capture.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18BDFEC3-8487-43E8-A154-7C12CBC1FFF2}" type="slidenum">
              <a:rPr lang="en-US"/>
              <a:t>23</a:t>
            </a:fld>
            <a:endParaRPr lang="en-US"/>
          </a:p>
        </p:txBody>
      </p:sp>
    </p:spTree>
  </p:cSld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3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3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4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5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6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7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8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9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0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1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3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4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5.xml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6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7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8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19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0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1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notesSlide" Target="../notesSlides/notesSlide2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/>
          <a:lstStyle/>
          <a:p>
            <a:pPr lvl="0" indent="0" marL="0">
              <a:buNone/>
            </a:pPr>
            <a:r>
              <a:rPr/>
              <a:t>✅ Granular Acceptance Criteria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Week 3 • Day 2 • Requirements Engineering &amp; Mini-Capstone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TPM Academy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🎯 Day 2 Objectives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Write acceptance criteria (AC) in Given/When/Then form — testable, falsifiable, scoped</a:t>
            </a:r>
          </a:p>
          <a:p>
            <a:pPr lvl="0" indent="0" marL="0">
              <a:buNone/>
            </a:pPr>
            <a:r>
              <a:rPr/>
              <a:t>Detect and rewrite the 5 AC failure modes</a:t>
            </a:r>
          </a:p>
          <a:p>
            <a:pPr lvl="0" indent="0" marL="0">
              <a:buNone/>
            </a:pPr>
            <a:r>
              <a:rPr/>
              <a:t>Cover happy path / sad path / weird path — the discipline that distinguishes TPM AC from PM AC</a:t>
            </a:r>
          </a:p>
          <a:p>
            <a:pPr lvl="0" indent="0" marL="0">
              <a:buNone/>
            </a:pPr>
            <a:r>
              <a:rPr/>
              <a:t>Conduct an AC cross-review with another triad</a:t>
            </a:r>
          </a:p>
          <a:p>
            <a:pPr lvl="0" indent="0" marL="0">
              <a:buNone/>
            </a:pPr>
            <a:r>
              <a:rPr/>
              <a:t>Add a review-resolution note documenting what was adopted, deferred, or rejected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🕑 Today’s Shape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Clock</a:t>
            </a:r>
          </a:p>
          <a:p>
            <a:pPr lvl="0" indent="0" marL="0">
              <a:buNone/>
            </a:pPr>
            <a:r>
              <a:rPr/>
              <a:t>Block</a:t>
            </a:r>
          </a:p>
          <a:p>
            <a:pPr lvl="0" indent="0" marL="0">
              <a:buNone/>
            </a:pPr>
            <a:r>
              <a:rPr/>
              <a:t>Outcome</a:t>
            </a:r>
          </a:p>
          <a:p>
            <a:pPr lvl="0" indent="0" marL="0">
              <a:buNone/>
            </a:pPr>
            <a:r>
              <a:rPr/>
              <a:t>09:00 – 09:15</a:t>
            </a:r>
          </a:p>
          <a:p>
            <a:pPr lvl="0" indent="0" marL="0">
              <a:buNone/>
            </a:pPr>
            <a:r>
              <a:rPr/>
              <a:t>Opening</a:t>
            </a:r>
          </a:p>
          <a:p>
            <a:pPr lvl="0" indent="0" marL="0">
              <a:buNone/>
            </a:pPr>
            <a:r>
              <a:rPr/>
              <a:t>Restate non-AI rule; recap Day 1 output</a:t>
            </a:r>
          </a:p>
          <a:p>
            <a:pPr lvl="0" indent="0" marL="0">
              <a:buNone/>
            </a:pPr>
            <a:r>
              <a:rPr/>
              <a:t>09:15 – 10:30</a:t>
            </a:r>
          </a:p>
          <a:p>
            <a:pPr lvl="0" indent="0" marL="0">
              <a:buNone/>
            </a:pPr>
            <a:r>
              <a:rPr/>
              <a:t>Block 1 + Activity 1</a:t>
            </a:r>
          </a:p>
          <a:p>
            <a:pPr lvl="0" indent="0" marL="0">
              <a:buNone/>
            </a:pPr>
            <a:r>
              <a:rPr/>
              <a:t>AC Triage</a:t>
            </a:r>
          </a:p>
          <a:p>
            <a:pPr lvl="0" indent="0" marL="0">
              <a:buNone/>
            </a:pPr>
            <a:r>
              <a:rPr/>
              <a:t>10:45 – 12:00</a:t>
            </a:r>
          </a:p>
          <a:p>
            <a:pPr lvl="0" indent="0" marL="0">
              <a:buNone/>
            </a:pPr>
            <a:r>
              <a:rPr/>
              <a:t>Block 2 + Activity 2</a:t>
            </a:r>
          </a:p>
          <a:p>
            <a:pPr lvl="0" indent="0" marL="0">
              <a:buNone/>
            </a:pPr>
            <a:r>
              <a:rPr/>
              <a:t>Happy-path AC</a:t>
            </a:r>
          </a:p>
          <a:p>
            <a:pPr lvl="0" indent="0" marL="0">
              <a:buNone/>
            </a:pPr>
            <a:r>
              <a:rPr/>
              <a:t>13:00 – 14:15</a:t>
            </a:r>
          </a:p>
          <a:p>
            <a:pPr lvl="0" indent="0" marL="0">
              <a:buNone/>
            </a:pPr>
            <a:r>
              <a:rPr/>
              <a:t>Block 3 + Activity 3</a:t>
            </a:r>
          </a:p>
          <a:p>
            <a:pPr lvl="0" indent="0" marL="0">
              <a:buNone/>
            </a:pPr>
            <a:r>
              <a:rPr/>
              <a:t>Sad &amp; weird-path AC</a:t>
            </a:r>
          </a:p>
          <a:p>
            <a:pPr lvl="0" indent="0" marL="0">
              <a:buNone/>
            </a:pPr>
            <a:r>
              <a:rPr/>
              <a:t>14:30 – 16:00</a:t>
            </a:r>
          </a:p>
          <a:p>
            <a:pPr lvl="0" indent="0" marL="0">
              <a:buNone/>
            </a:pPr>
            <a:r>
              <a:rPr/>
              <a:t>Block 4 + Activity 4 + Wrap</a:t>
            </a:r>
          </a:p>
          <a:p>
            <a:pPr lvl="0" indent="0" marL="0">
              <a:buNone/>
            </a:pPr>
            <a:r>
              <a:rPr/>
              <a:t>AC Cross-Review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1 — What an AC Is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And the 5 ways AC most often fail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📚 The Given/When/Then Form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Is</a:t>
            </a:r>
          </a:p>
          <a:p>
            <a:pPr lvl="0" indent="0" marL="0">
              <a:buNone/>
            </a:pPr>
            <a:r>
              <a:rPr/>
              <a:t>Is not</a:t>
            </a:r>
          </a:p>
          <a:p>
            <a:pPr lvl="0" indent="0" marL="0">
              <a:buNone/>
            </a:pPr>
            <a:r>
              <a:rPr/>
              <a:t>Testable (you can write a test that passes/fails)</a:t>
            </a:r>
          </a:p>
          <a:p>
            <a:pPr lvl="0" indent="0" marL="0">
              <a:buNone/>
            </a:pPr>
            <a:r>
              <a:rPr/>
              <a:t>“The system should be intuitive”</a:t>
            </a:r>
          </a:p>
          <a:p>
            <a:pPr lvl="0" indent="0" marL="0">
              <a:buNone/>
            </a:pPr>
            <a:r>
              <a:rPr/>
              <a:t>Specific to one behavior</a:t>
            </a:r>
          </a:p>
          <a:p>
            <a:pPr lvl="0" indent="0" marL="0">
              <a:buNone/>
            </a:pPr>
            <a:r>
              <a:rPr/>
              <a:t>“The system handles errors well”</a:t>
            </a:r>
          </a:p>
          <a:p>
            <a:pPr lvl="0" indent="0" marL="0">
              <a:buNone/>
            </a:pPr>
            <a:r>
              <a:rPr/>
              <a:t>Implementation-agnostic</a:t>
            </a:r>
          </a:p>
          <a:p>
            <a:pPr lvl="0" indent="0" marL="0">
              <a:buNone/>
            </a:pPr>
            <a:r>
              <a:rPr/>
              <a:t>“Use Redis to cache the response”</a:t>
            </a:r>
          </a:p>
          <a:p>
            <a:pPr lvl="0" indent="0" marL="0">
              <a:buNone/>
            </a:pPr>
            <a:r>
              <a:rPr/>
              <a:t>Falsifiable (you can prove it wrong)</a:t>
            </a:r>
          </a:p>
          <a:p>
            <a:pPr lvl="0" indent="0" marL="0">
              <a:buNone/>
            </a:pPr>
            <a:r>
              <a:rPr/>
              <a:t>“Performance should be good”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⚠️ The Five AC Failure Modes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Failure</a:t>
            </a:r>
          </a:p>
          <a:p>
            <a:pPr lvl="0" indent="0" marL="0">
              <a:buNone/>
            </a:pPr>
            <a:r>
              <a:rPr/>
              <a:t>Example</a:t>
            </a:r>
          </a:p>
          <a:p>
            <a:pPr lvl="0" indent="0" marL="0">
              <a:buNone/>
            </a:pPr>
            <a:r>
              <a:rPr/>
              <a:t>Fix</a:t>
            </a:r>
          </a:p>
          <a:p>
            <a:pPr lvl="0" indent="0" marL="0">
              <a:buNone/>
            </a:pPr>
            <a:r>
              <a:rPr/>
              <a:t>1. Vague</a:t>
            </a:r>
          </a:p>
          <a:p>
            <a:pPr lvl="0" indent="0" marL="0">
              <a:buNone/>
            </a:pPr>
            <a:r>
              <a:rPr/>
              <a:t>“Then it loads quickly”</a:t>
            </a:r>
          </a:p>
          <a:p>
            <a:pPr lvl="0" indent="0" marL="0">
              <a:buNone/>
            </a:pPr>
            <a:r>
              <a:rPr/>
              <a:t>Replace with measurable target</a:t>
            </a:r>
          </a:p>
          <a:p>
            <a:pPr lvl="0" indent="0" marL="0">
              <a:buNone/>
            </a:pPr>
            <a:r>
              <a:rPr/>
              <a:t>2. Untestable</a:t>
            </a:r>
          </a:p>
          <a:p>
            <a:pPr lvl="0" indent="0" marL="0">
              <a:buNone/>
            </a:pPr>
            <a:r>
              <a:rPr/>
              <a:t>“Then user feels confident”</a:t>
            </a:r>
          </a:p>
          <a:p>
            <a:pPr lvl="0" indent="0" marL="0">
              <a:buNone/>
            </a:pPr>
            <a:r>
              <a:rPr/>
              <a:t>Anchor to system-visible state</a:t>
            </a:r>
          </a:p>
          <a:p>
            <a:pPr lvl="0" indent="0" marL="0">
              <a:buNone/>
            </a:pPr>
            <a:r>
              <a:rPr/>
              <a:t>3. Restating goal</a:t>
            </a:r>
          </a:p>
          <a:p>
            <a:pPr lvl="0" indent="0" marL="0">
              <a:buNone/>
            </a:pPr>
            <a:r>
              <a:rPr/>
              <a:t>“Then dispatchers reconcile faster”</a:t>
            </a:r>
          </a:p>
          <a:p>
            <a:pPr lvl="0" indent="0" marL="0">
              <a:buNone/>
            </a:pPr>
            <a:r>
              <a:rPr/>
              <a:t>Pin to in-system event, not metric</a:t>
            </a:r>
          </a:p>
          <a:p>
            <a:pPr lvl="0" indent="0" marL="0">
              <a:buNone/>
            </a:pPr>
            <a:r>
              <a:rPr/>
              <a:t>4. AND-soup</a:t>
            </a:r>
          </a:p>
          <a:p>
            <a:pPr lvl="0" indent="0" marL="0">
              <a:buNone/>
            </a:pPr>
            <a:r>
              <a:rPr/>
              <a:t>“Then X and Y and Z and W”</a:t>
            </a:r>
          </a:p>
          <a:p>
            <a:pPr lvl="0" indent="0" marL="0">
              <a:buNone/>
            </a:pPr>
            <a:r>
              <a:rPr/>
              <a:t>Split into multiple ACs</a:t>
            </a:r>
          </a:p>
          <a:p>
            <a:pPr lvl="0" indent="0" marL="0">
              <a:buNone/>
            </a:pPr>
            <a:r>
              <a:rPr/>
              <a:t>5. Implementation-prescriptive</a:t>
            </a:r>
          </a:p>
          <a:p>
            <a:pPr lvl="0" indent="0" marL="0">
              <a:buNone/>
            </a:pPr>
            <a:r>
              <a:rPr/>
              <a:t>“Redis cache hit returns…”</a:t>
            </a:r>
          </a:p>
          <a:p>
            <a:pPr lvl="0" indent="0" marL="0">
              <a:buNone/>
            </a:pPr>
            <a:r>
              <a:rPr/>
              <a:t>Behavior, not implementation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1 — AC Triage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35 minutes</a:t>
            </a:r>
          </a:p>
          <a:p>
            <a:pPr lvl="0" indent="0" marL="0">
              <a:buNone/>
            </a:pPr>
            <a:r>
              <a:rPr/>
              <a:t>You receive 12 AC examples. For each, identify which failure mode(s) are present (or “clean”). Rewrite the failed ones.</a:t>
            </a:r>
          </a:p>
          <a:p>
            <a:pPr lvl="0" indent="0" marL="0">
              <a:buNone/>
            </a:pPr>
            <a:r>
              <a:rPr/>
              <a:t>20 min: triage all 12</a:t>
            </a:r>
          </a:p>
          <a:p>
            <a:pPr lvl="0" indent="0" marL="0">
              <a:buNone/>
            </a:pPr>
            <a:r>
              <a:rPr/>
              <a:t>10 min: rewrite the failed ones</a:t>
            </a:r>
          </a:p>
          <a:p>
            <a:pPr lvl="0" indent="0" marL="0">
              <a:buNone/>
            </a:pPr>
            <a:r>
              <a:rPr/>
              <a:t>5 min: identify the most common failure mode in your pack</a:t>
            </a:r>
          </a:p>
          <a:p>
            <a:pPr lvl="0" indent="0" marL="0">
              <a:buNone/>
            </a:pPr>
            <a:r>
              <a:rPr/>
              <a:t>⏱ 20 triage · 10 rewrite · 5 reflect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2 — Happy-Path 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Easiest first; get them out of the way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🔗 Happy / Sad / Weird Path Coverage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Path</a:t>
            </a:r>
          </a:p>
          <a:p>
            <a:pPr lvl="0" indent="0" marL="0">
              <a:buNone/>
            </a:pPr>
            <a:r>
              <a:rPr/>
              <a:t>Question</a:t>
            </a:r>
          </a:p>
          <a:p>
            <a:pPr lvl="0" indent="0" marL="0">
              <a:buNone/>
            </a:pPr>
            <a:r>
              <a:rPr/>
              <a:t>Typical AC count</a:t>
            </a:r>
          </a:p>
          <a:p>
            <a:pPr lvl="0" indent="0" marL="0">
              <a:buNone/>
            </a:pPr>
            <a:r>
              <a:rPr/>
              <a:t>Happy</a:t>
            </a:r>
          </a:p>
          <a:p>
            <a:pPr lvl="0" indent="0" marL="0">
              <a:buNone/>
            </a:pPr>
            <a:r>
              <a:rPr/>
              <a:t>What does success look like end-to-end?</a:t>
            </a:r>
          </a:p>
          <a:p>
            <a:pPr lvl="0" indent="0" marL="0">
              <a:buNone/>
            </a:pPr>
            <a:r>
              <a:rPr/>
              <a:t>3–5</a:t>
            </a:r>
          </a:p>
          <a:p>
            <a:pPr lvl="0" indent="0" marL="0">
              <a:buNone/>
            </a:pPr>
            <a:r>
              <a:rPr/>
              <a:t>Sad</a:t>
            </a:r>
          </a:p>
          <a:p>
            <a:pPr lvl="0" indent="0" marL="0">
              <a:buNone/>
            </a:pPr>
            <a:r>
              <a:rPr/>
              <a:t>What happens when input is wrong, user lacks permission, etc.?</a:t>
            </a:r>
          </a:p>
          <a:p>
            <a:pPr lvl="0" indent="0" marL="0">
              <a:buNone/>
            </a:pPr>
            <a:r>
              <a:rPr/>
              <a:t>2–4</a:t>
            </a:r>
          </a:p>
          <a:p>
            <a:pPr lvl="0" indent="0" marL="0">
              <a:buNone/>
            </a:pPr>
            <a:r>
              <a:rPr/>
              <a:t>Weird</a:t>
            </a:r>
          </a:p>
          <a:p>
            <a:pPr lvl="0" indent="0" marL="0">
              <a:buNone/>
            </a:pPr>
            <a:r>
              <a:rPr/>
              <a:t>What about network drops, race conditions, edge cases the user wouldn’t think of?</a:t>
            </a:r>
          </a:p>
          <a:p>
            <a:pPr lvl="0" indent="0" marL="0">
              <a:buNone/>
            </a:pPr>
            <a:r>
              <a:rPr/>
              <a:t>2–4</a:t>
            </a:r>
          </a:p>
          <a:p>
            <a:pPr lvl="0" indent="0" marL="0">
              <a:buNone/>
            </a:pPr>
            <a:r>
              <a:rPr/>
              <a:t>The TPM differentiator: the weird-path coverage. PMs who don’t think technically miss it. Engineers who don’t think about users miss it differently.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✅ Worked Happy-Path Example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Note: the multiple “and”s here describe one observable state, not separate behaviors. Judgment call — if the “ands” represent different system actions, split.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2 — Happy-Path 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Identify the happy path from your Section 5. Each member solo-drafts 3 AC. Pool, de-dupe, refine to 3–5 final.</a:t>
            </a:r>
          </a:p>
          <a:p>
            <a:pPr lvl="0" indent="0" marL="0">
              <a:buNone/>
            </a:pPr>
            <a:r>
              <a:rPr/>
              <a:t>5 min: identify the happy path</a:t>
            </a:r>
          </a:p>
          <a:p>
            <a:pPr lvl="0" indent="0" marL="0">
              <a:buNone/>
            </a:pPr>
            <a:r>
              <a:rPr/>
              <a:t>15 min: solo drafts (3 each)</a:t>
            </a:r>
          </a:p>
          <a:p>
            <a:pPr lvl="0" indent="0" marL="0">
              <a:buNone/>
            </a:pPr>
            <a:r>
              <a:rPr/>
              <a:t>15 min: pool + refine</a:t>
            </a:r>
          </a:p>
          <a:p>
            <a:pPr lvl="0" indent="0" marL="0">
              <a:buNone/>
            </a:pPr>
            <a:r>
              <a:rPr/>
              <a:t>5 min: 5-failure-mode check</a:t>
            </a:r>
          </a:p>
          <a:p>
            <a:pPr lvl="0" indent="0" marL="0">
              <a:buNone/>
            </a:pPr>
            <a:r>
              <a:rPr/>
              <a:t>⏱ 5 + 15 + 15 + 5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3 — Sad &amp; Weird Paths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Where TPMs earn their seat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😞 Sad-Path Generator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happy-path AC, ask:</a:t>
            </a:r>
          </a:p>
          <a:p>
            <a:pPr lvl="0" indent="0" marL="0">
              <a:buNone/>
            </a:pPr>
            <a:r>
              <a:rPr/>
              <a:t>What if the input is invalid?</a:t>
            </a:r>
          </a:p>
          <a:p>
            <a:pPr lvl="0" indent="0" marL="0">
              <a:buNone/>
            </a:pPr>
            <a:r>
              <a:rPr/>
              <a:t>What if the user lacks permission?</a:t>
            </a:r>
          </a:p>
          <a:p>
            <a:pPr lvl="0" indent="0" marL="0">
              <a:buNone/>
            </a:pPr>
            <a:r>
              <a:rPr/>
              <a:t>What if the user cancels mid-flow?</a:t>
            </a:r>
          </a:p>
          <a:p>
            <a:pPr lvl="0" indent="0" marL="0">
              <a:buNone/>
            </a:pPr>
            <a:r>
              <a:rPr/>
              <a:t>What if the data is missing or stale?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💩 Weird-Path Generator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For each happy-path AC, ask:</a:t>
            </a:r>
          </a:p>
          <a:p>
            <a:pPr lvl="0" indent="0" marL="0">
              <a:buNone/>
            </a:pPr>
            <a:r>
              <a:rPr/>
              <a:t>What if the network drops mid-action?</a:t>
            </a:r>
          </a:p>
          <a:p>
            <a:pPr lvl="0" indent="0" marL="0">
              <a:buNone/>
            </a:pPr>
            <a:r>
              <a:rPr/>
              <a:t>What if two users do the same thing simultaneously (race)?</a:t>
            </a:r>
          </a:p>
          <a:p>
            <a:pPr lvl="0" indent="0" marL="0">
              <a:buNone/>
            </a:pPr>
            <a:r>
              <a:rPr/>
              <a:t>What if the action takes longer than expected (timeout)?</a:t>
            </a:r>
          </a:p>
          <a:p>
            <a:pPr lvl="0" indent="0" marL="0">
              <a:buNone/>
            </a:pPr>
            <a:r>
              <a:rPr/>
              <a:t>What if the upstream system is down?</a:t>
            </a:r>
          </a:p>
          <a:p>
            <a:pPr lvl="0" indent="0" marL="0">
              <a:buNone/>
            </a:pPr>
            <a:r>
              <a:rPr/>
              <a:t>What if the user is at the boundary (max, min, empty)?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3 — Sad &amp; Weird AC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Triads • 40 minutes</a:t>
            </a:r>
          </a:p>
          <a:p>
            <a:pPr lvl="0" indent="0" marL="0">
              <a:buNone/>
            </a:pPr>
            <a:r>
              <a:rPr/>
              <a:t>Each member produces 2 sad + 2 weird AC. Pool, cull to 4–6 (2–4 sad, 2–4 weird). Run the 5-failure check.</a:t>
            </a:r>
          </a:p>
          <a:p>
            <a:pPr lvl="0" indent="0" marL="0">
              <a:buNone/>
            </a:pPr>
            <a:r>
              <a:rPr/>
              <a:t>10 min: solo sad-path drafts</a:t>
            </a:r>
          </a:p>
          <a:p>
            <a:pPr lvl="0" indent="0" marL="0">
              <a:buNone/>
            </a:pPr>
            <a:r>
              <a:rPr/>
              <a:t>10 min: solo weird-path drafts</a:t>
            </a:r>
          </a:p>
          <a:p>
            <a:pPr lvl="0" indent="0" marL="0">
              <a:buNone/>
            </a:pPr>
            <a:r>
              <a:rPr/>
              <a:t>10 min: pool + cull</a:t>
            </a:r>
          </a:p>
          <a:p>
            <a:pPr lvl="0" indent="0" marL="0">
              <a:buNone/>
            </a:pPr>
            <a:r>
              <a:rPr/>
              <a:t>10 min: failure-mode check</a:t>
            </a:r>
          </a:p>
          <a:p>
            <a:pPr lvl="0" indent="0" marL="0">
              <a:buNone/>
            </a:pPr>
            <a:r>
              <a:rPr/>
              <a:t>⏱ 10 + 10 + 10 + 10</a:t>
            </a:r>
          </a:p>
        </p:txBody>
      </p:sp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Block 4 — AC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Apply the calibrated eye to another triad’s AC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🔎 Why Cross-Review Now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Friday’s review covers the whole Product Requirements Document (PRD). Today’s review covers just AC. Two reasons:</a:t>
            </a:r>
          </a:p>
          <a:p>
            <a:pPr lvl="0" indent="0" marL="0">
              <a:buNone/>
            </a:pPr>
            <a:r>
              <a:rPr/>
              <a:t>AC are where most PRD weakness shows up — fixing them mid-week leaves time for the rest</a:t>
            </a:r>
          </a:p>
          <a:p>
            <a:pPr lvl="0" indent="0" marL="0">
              <a:buNone/>
            </a:pPr>
            <a:r>
              <a:rPr/>
              <a:t>Reviewing another’s AC sharpens your eye for your own remaining gaps</a:t>
            </a:r>
          </a:p>
          <a:p>
            <a:pPr lvl="0" indent="0" marL="0">
              <a:buNone/>
            </a:pPr>
            <a:r>
              <a:rPr/>
              <a:t>Today’s review is informal: no scoring, no rubric. The point is feedback, not grading.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📝 The Review Protocol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Pair triads (instructor assigns)</a:t>
            </a:r>
          </a:p>
          <a:p>
            <a:pPr lvl="0" indent="0" marL="0">
              <a:buNone/>
            </a:pPr>
            <a:r>
              <a:rPr/>
              <a:t>Swap PRDs (reviewer reads Sections 1–5 first for context, then Section 6)</a:t>
            </a:r>
          </a:p>
          <a:p>
            <a:pPr lvl="0" indent="0" marL="0">
              <a:buNone/>
            </a:pPr>
            <a:r>
              <a:rPr/>
              <a:t>Identify failures and gaps: failure mode? path missing? implicit AC unwritten?</a:t>
            </a:r>
          </a:p>
          <a:p>
            <a:pPr lvl="0" indent="0" marL="0">
              <a:buNone/>
            </a:pPr>
            <a:r>
              <a:rPr/>
              <a:t>Author triad responds: adopt / defer / push back, with reasoning</a:t>
            </a:r>
          </a:p>
          <a:p>
            <a:pPr lvl="0" indent="0" marL="0">
              <a:buNone/>
            </a:pPr>
            <a:r>
              <a:rPr/>
              <a:t>Authors revise + write the resolution note</a:t>
            </a:r>
          </a:p>
          <a:p>
            <a:pPr lvl="0" indent="0" marL="0">
              <a:buNone/>
            </a:pPr>
            <a:r>
              <a:rPr/>
              <a:t>Reviewer rule: “this could be more specific” is unhelpful. If you say it, you also write the specific version.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📋 The Review-Resolution Note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At the bottom of Section 6, document what changed and why: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👥 Activity 4 — AC Cross-Review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Triad pairs • 45 minutes • Wrap</a:t>
            </a:r>
          </a:p>
          <a:p>
            <a:pPr lvl="0" indent="0" marL="0">
              <a:buNone/>
            </a:pPr>
            <a:r>
              <a:rPr/>
              <a:t>Pair with another triad. Swap PRDs. Review their AC. Author triad responds. Revise and write the resolution note.</a:t>
            </a:r>
          </a:p>
          <a:p>
            <a:pPr lvl="0" indent="0" marL="0">
              <a:buNone/>
            </a:pPr>
            <a:r>
              <a:rPr/>
              <a:t>5 min: read their Sections 1–5</a:t>
            </a:r>
          </a:p>
          <a:p>
            <a:pPr lvl="0" indent="0" marL="0">
              <a:buNone/>
            </a:pPr>
            <a:r>
              <a:rPr/>
              <a:t>15 min: review their Section 6 with the 5 failures + path coverage in mind</a:t>
            </a:r>
          </a:p>
          <a:p>
            <a:pPr lvl="0" indent="0" marL="0">
              <a:buNone/>
            </a:pPr>
            <a:r>
              <a:rPr/>
              <a:t>10 min: author triad responds</a:t>
            </a:r>
          </a:p>
          <a:p>
            <a:pPr lvl="0" indent="0" marL="0">
              <a:buNone/>
            </a:pPr>
            <a:r>
              <a:rPr/>
              <a:t>15 min: revise + write resolution note</a:t>
            </a:r>
          </a:p>
          <a:p>
            <a:pPr lvl="0" indent="0" marL="0">
              <a:buNone/>
            </a:pPr>
            <a:r>
              <a:rPr/>
              <a:t>⏱ 5 + 15 + 10 + 15 · 15-min wrap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🎉 Day 2 Wrap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What we built</a:t>
            </a:r>
          </a:p>
          <a:p>
            <a:pPr lvl="0" indent="0" marL="0">
              <a:buNone/>
            </a:pPr>
            <a:r>
              <a:rPr/>
              <a:t>5-failure-mode AC detector</a:t>
            </a:r>
          </a:p>
          <a:p>
            <a:pPr lvl="0" indent="0" marL="0">
              <a:buNone/>
            </a:pPr>
            <a:r>
              <a:rPr/>
              <a:t>Happy/sad/weird path coverage</a:t>
            </a:r>
          </a:p>
          <a:p>
            <a:pPr lvl="0" indent="0" marL="0">
              <a:buNone/>
            </a:pPr>
            <a:r>
              <a:rPr/>
              <a:t>8–12 AC per PRD</a:t>
            </a:r>
          </a:p>
          <a:p>
            <a:pPr lvl="0" indent="0" marL="0">
              <a:buNone/>
            </a:pPr>
            <a:r>
              <a:rPr/>
              <a:t>Cross-review + resolution note</a:t>
            </a:r>
          </a:p>
          <a:p>
            <a:pPr lvl="0" indent="0" marL="0">
              <a:buNone/>
            </a:pPr>
            <a:r>
              <a:rPr/>
              <a:t>What opens tomorrow</a:t>
            </a:r>
          </a:p>
          <a:p>
            <a:pPr lvl="0" indent="0" marL="0">
              <a:buNone/>
            </a:pPr>
            <a:r>
              <a:rPr/>
              <a:t>Non-Functional Requirements (NFR)</a:t>
            </a:r>
          </a:p>
          <a:p>
            <a:pPr lvl="0" indent="0" marL="0">
              <a:buNone/>
            </a:pPr>
            <a:r>
              <a:rPr/>
              <a:t>Performance, security, accessibility, observability, compliance</a:t>
            </a:r>
          </a:p>
          <a:p>
            <a:pPr lvl="0" indent="0" marL="0">
              <a:buNone/>
            </a:pPr>
            <a:r>
              <a:rPr/>
              <a:t>NFRs as constraints, not wishlists</a:t>
            </a:r>
          </a:p>
          <a:p>
            <a:pPr lvl="0" indent="0" marL="0">
              <a:buNone/>
            </a:pPr>
            <a:r>
              <a:rPr/>
              <a:t>Bring to Day 3: Your PRD with Sections 1–6 complete. NFRs come tomorrow.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💬 Questions &amp; Reflection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Which one of your AC would survive a hostile engineer reading it?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keywords/>
  <dcterms:created xsi:type="dcterms:W3CDTF">2026-07-22T12:58:52Z</dcterms:created>
  <dcterms:modified xsi:type="dcterms:W3CDTF">2026-07-22T12:58:52Z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/>
</file>