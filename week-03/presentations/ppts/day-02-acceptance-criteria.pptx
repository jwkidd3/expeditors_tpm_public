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notesMaster" Target="notesMasters/notesMaster1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Reminder up front: still non-AI. Today produces Section 6 of the PRD. AC are where most PRDs fail when reviewed by engineers.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quad’s PRD Section 6 has 8–12 ACs covering all three paths. Review-resolution note is the trust artifact.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calibrate → happy → sad/weird → cross-review. Each block fills one part of Section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calibrates the eye. Walk quads through the five failure modes before they write — recognizing bad AC is the prerequisite to writing good 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G/W/T form is not religion; the discipline is. Some teams use Cucumber-style; others use bullet form. Form follows the discipline.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Failure #3 (restating the goal) is the trickiest because it sounds correct. Use the “could you write a test without running A/B” check.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the room — quads will over-confidently call some failures “clean.” Use those for shared learning.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Happy-path AC are the cheapest to write — start here so quads build momentum and have raw material for the sad/weird paths in Block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Aim for 8–12 AC total with this distribution. Quads who write only happy-path AC get docked Friday.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“Within 1 second” passes the testability check. “Quickly” doesn’t. Force the number — a target you’ll verify.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Solo drafting is non-negotiable. Skipping it produces lowest-common-denominator AC.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Sad and weird paths are where most PRDs break down in engineering review. Push quads to generate exhaustively, then cull — under-coverage here is the most common Friday finding.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Sad paths are usually under-covered because they’re emotionally unrewarding to write. Force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Weird paths are where TPMs add the most value. Keep the cohort here even when they want to wrap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quad finishes early, push them to add a third weird-path AC. There’s always more.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Cross-review mid-week beats discovering AC weakness on Friday. Quads who read each other’s AC carry a sharper standard back to their own PRD.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Don’t formalize this with a rubric — that’s Friday’s tool. Today is dialogue.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“you write it” rule eliminates lazy review feedback. Enforce.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“pushed back” entries are the trust signal. They show the author quad thought, not just complied.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each quad reads aloud one AC they’re proudest of and one they’re least sure about. The “least sure” is the calibration.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names a weird-path AC they wouldn’t have written before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hostile-engineer test is the bar AC must clear by Friday. Tomorrow shifts to NFRs — the requirements AC can’t capture.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✅ Granular Acceptance Criteria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3 • Day 2 • Requirements Engineering &amp; Mini-Capstone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2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acceptance criteria (AC) in Given/When/Then form — testable, falsifiable, scoped</a:t>
            </a:r>
          </a:p>
          <a:p>
            <a:pPr lvl="0" indent="0" marL="0">
              <a:buNone/>
            </a:pPr>
            <a:r>
              <a:rPr/>
              <a:t>Detect and rewrite the 5 AC failure modes</a:t>
            </a:r>
          </a:p>
          <a:p>
            <a:pPr lvl="0" indent="0" marL="0">
              <a:buNone/>
            </a:pPr>
            <a:r>
              <a:rPr/>
              <a:t>Cover happy path / sad path / weird path — the discipline that distinguishes TPM AC from PM AC</a:t>
            </a:r>
          </a:p>
          <a:p>
            <a:pPr lvl="0" indent="0" marL="0">
              <a:buNone/>
            </a:pPr>
            <a:r>
              <a:rPr/>
              <a:t>Conduct an AC cross-review with another quad</a:t>
            </a:r>
          </a:p>
          <a:p>
            <a:pPr lvl="0" indent="0" marL="0">
              <a:buNone/>
            </a:pPr>
            <a:r>
              <a:rPr/>
              <a:t>Add a review-resolution note documenting what was adopted, deferred, or rejected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Restate non-AI rule; recap Day 1 output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AC Triage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Happy-path AC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Sad &amp; weird-path AC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AC Cross-Review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What an AC 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And the 5 ways AC most often fail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Given/When/Then Form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Given &lt;a precondition / starting state&gt;
When &lt;an action or event happens&gt;
Then &lt;an observable, falsifiable result&gt;</a:t>
            </a:r>
          </a:p>
          <a:p>
            <a:pPr lvl="0" indent="0" marL="0">
              <a:buNone/>
            </a:pPr>
            <a:r>
              <a:rPr/>
              <a:t>Is</a:t>
            </a:r>
          </a:p>
          <a:p>
            <a:pPr lvl="0" indent="0" marL="0">
              <a:buNone/>
            </a:pPr>
            <a:r>
              <a:rPr/>
              <a:t>Is not</a:t>
            </a:r>
          </a:p>
          <a:p>
            <a:pPr lvl="0" indent="0" marL="0">
              <a:buNone/>
            </a:pPr>
            <a:r>
              <a:rPr/>
              <a:t>Testable (you can write a test that passes/fails)</a:t>
            </a:r>
          </a:p>
          <a:p>
            <a:pPr lvl="0" indent="0" marL="0">
              <a:buNone/>
            </a:pPr>
            <a:r>
              <a:rPr/>
              <a:t>“The system should be intuitive”</a:t>
            </a:r>
          </a:p>
          <a:p>
            <a:pPr lvl="0" indent="0" marL="0">
              <a:buNone/>
            </a:pPr>
            <a:r>
              <a:rPr/>
              <a:t>Specific to one behavior</a:t>
            </a:r>
          </a:p>
          <a:p>
            <a:pPr lvl="0" indent="0" marL="0">
              <a:buNone/>
            </a:pPr>
            <a:r>
              <a:rPr/>
              <a:t>“The system handles errors well”</a:t>
            </a:r>
          </a:p>
          <a:p>
            <a:pPr lvl="0" indent="0" marL="0">
              <a:buNone/>
            </a:pPr>
            <a:r>
              <a:rPr/>
              <a:t>Implementation-agnostic</a:t>
            </a:r>
          </a:p>
          <a:p>
            <a:pPr lvl="0" indent="0" marL="0">
              <a:buNone/>
            </a:pPr>
            <a:r>
              <a:rPr/>
              <a:t>“Use Redis to cache the response”</a:t>
            </a:r>
          </a:p>
          <a:p>
            <a:pPr lvl="0" indent="0" marL="0">
              <a:buNone/>
            </a:pPr>
            <a:r>
              <a:rPr/>
              <a:t>Falsifiable (you can prove it wrong)</a:t>
            </a:r>
          </a:p>
          <a:p>
            <a:pPr lvl="0" indent="0" marL="0">
              <a:buNone/>
            </a:pPr>
            <a:r>
              <a:rPr/>
              <a:t>“Performance should be good”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⚠️ The Five AC Failure Modes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Failure</a:t>
            </a:r>
          </a:p>
          <a:p>
            <a:pPr lvl="0" indent="0" marL="0">
              <a:buNone/>
            </a:pPr>
            <a:r>
              <a:rPr/>
              <a:t>Example</a:t>
            </a:r>
          </a:p>
          <a:p>
            <a:pPr lvl="0" indent="0" marL="0">
              <a:buNone/>
            </a:pPr>
            <a:r>
              <a:rPr/>
              <a:t>Fix</a:t>
            </a:r>
          </a:p>
          <a:p>
            <a:pPr lvl="0" indent="0" marL="0">
              <a:buNone/>
            </a:pPr>
            <a:r>
              <a:rPr/>
              <a:t>1. Vague</a:t>
            </a:r>
          </a:p>
          <a:p>
            <a:pPr lvl="0" indent="0" marL="0">
              <a:buNone/>
            </a:pPr>
            <a:r>
              <a:rPr/>
              <a:t>“Then it loads quickly”</a:t>
            </a:r>
          </a:p>
          <a:p>
            <a:pPr lvl="0" indent="0" marL="0">
              <a:buNone/>
            </a:pPr>
            <a:r>
              <a:rPr/>
              <a:t>Replace with measurable target</a:t>
            </a:r>
          </a:p>
          <a:p>
            <a:pPr lvl="0" indent="0" marL="0">
              <a:buNone/>
            </a:pPr>
            <a:r>
              <a:rPr/>
              <a:t>2. Untestable</a:t>
            </a:r>
          </a:p>
          <a:p>
            <a:pPr lvl="0" indent="0" marL="0">
              <a:buNone/>
            </a:pPr>
            <a:r>
              <a:rPr/>
              <a:t>“Then user feels confident”</a:t>
            </a:r>
          </a:p>
          <a:p>
            <a:pPr lvl="0" indent="0" marL="0">
              <a:buNone/>
            </a:pPr>
            <a:r>
              <a:rPr/>
              <a:t>Anchor to system-visible state</a:t>
            </a:r>
          </a:p>
          <a:p>
            <a:pPr lvl="0" indent="0" marL="0">
              <a:buNone/>
            </a:pPr>
            <a:r>
              <a:rPr/>
              <a:t>3. Restating goal</a:t>
            </a:r>
          </a:p>
          <a:p>
            <a:pPr lvl="0" indent="0" marL="0">
              <a:buNone/>
            </a:pPr>
            <a:r>
              <a:rPr/>
              <a:t>“Then dispatchers reconcile faster”</a:t>
            </a:r>
          </a:p>
          <a:p>
            <a:pPr lvl="0" indent="0" marL="0">
              <a:buNone/>
            </a:pPr>
            <a:r>
              <a:rPr/>
              <a:t>Pin to in-system event, not metric</a:t>
            </a:r>
          </a:p>
          <a:p>
            <a:pPr lvl="0" indent="0" marL="0">
              <a:buNone/>
            </a:pPr>
            <a:r>
              <a:rPr/>
              <a:t>4. AND-soup</a:t>
            </a:r>
          </a:p>
          <a:p>
            <a:pPr lvl="0" indent="0" marL="0">
              <a:buNone/>
            </a:pPr>
            <a:r>
              <a:rPr/>
              <a:t>“Then X and Y and Z and W”</a:t>
            </a:r>
          </a:p>
          <a:p>
            <a:pPr lvl="0" indent="0" marL="0">
              <a:buNone/>
            </a:pPr>
            <a:r>
              <a:rPr/>
              <a:t>Split into multiple ACs</a:t>
            </a:r>
          </a:p>
          <a:p>
            <a:pPr lvl="0" indent="0" marL="0">
              <a:buNone/>
            </a:pPr>
            <a:r>
              <a:rPr/>
              <a:t>5. Implementation-prescriptive</a:t>
            </a:r>
          </a:p>
          <a:p>
            <a:pPr lvl="0" indent="0" marL="0">
              <a:buNone/>
            </a:pPr>
            <a:r>
              <a:rPr/>
              <a:t>“Redis cache hit returns…”</a:t>
            </a:r>
          </a:p>
          <a:p>
            <a:pPr lvl="0" indent="0" marL="0">
              <a:buNone/>
            </a:pPr>
            <a:r>
              <a:rPr/>
              <a:t>Behavior, not implementation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AC Triage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45 minutes</a:t>
            </a:r>
          </a:p>
          <a:p>
            <a:pPr lvl="0" indent="0" marL="0">
              <a:buNone/>
            </a:pPr>
            <a:r>
              <a:rPr/>
              <a:t>You receive 12 AC examples. For each, identify which failure mode(s) are present (or “clean”). Rewrite the failed ones.</a:t>
            </a:r>
          </a:p>
          <a:p>
            <a:pPr lvl="0" indent="0" marL="0">
              <a:buNone/>
            </a:pPr>
            <a:r>
              <a:rPr/>
              <a:t>30 min: triage all 12</a:t>
            </a:r>
          </a:p>
          <a:p>
            <a:pPr lvl="0" indent="0" marL="0">
              <a:buNone/>
            </a:pPr>
            <a:r>
              <a:rPr/>
              <a:t>10 min: rewrite the failed ones</a:t>
            </a:r>
          </a:p>
          <a:p>
            <a:pPr lvl="0" indent="0" marL="0">
              <a:buNone/>
            </a:pPr>
            <a:r>
              <a:rPr/>
              <a:t>5 min: identify the most common failure mode in your pack</a:t>
            </a:r>
          </a:p>
          <a:p>
            <a:pPr lvl="0" indent="0" marL="0">
              <a:buNone/>
            </a:pPr>
            <a:r>
              <a:rPr/>
              <a:t>⏱ 20 triage · 10 rewrite · 5 reflect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Happy-Path AC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Easiest first; get them out of the way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🔗 Happy / Sad / Weird Path Coverage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Path</a:t>
            </a:r>
          </a:p>
          <a:p>
            <a:pPr lvl="0" indent="0" marL="0">
              <a:buNone/>
            </a:pPr>
            <a:r>
              <a:rPr/>
              <a:t>Question</a:t>
            </a:r>
          </a:p>
          <a:p>
            <a:pPr lvl="0" indent="0" marL="0">
              <a:buNone/>
            </a:pPr>
            <a:r>
              <a:rPr/>
              <a:t>Typical AC count</a:t>
            </a:r>
          </a:p>
          <a:p>
            <a:pPr lvl="0" indent="0" marL="0">
              <a:buNone/>
            </a:pPr>
            <a:r>
              <a:rPr/>
              <a:t>Happy</a:t>
            </a:r>
          </a:p>
          <a:p>
            <a:pPr lvl="0" indent="0" marL="0">
              <a:buNone/>
            </a:pPr>
            <a:r>
              <a:rPr/>
              <a:t>What does success look like end-to-end?</a:t>
            </a:r>
          </a:p>
          <a:p>
            <a:pPr lvl="0" indent="0" marL="0">
              <a:buNone/>
            </a:pPr>
            <a:r>
              <a:rPr/>
              <a:t>3–5</a:t>
            </a:r>
          </a:p>
          <a:p>
            <a:pPr lvl="0" indent="0" marL="0">
              <a:buNone/>
            </a:pPr>
            <a:r>
              <a:rPr/>
              <a:t>Sad</a:t>
            </a:r>
          </a:p>
          <a:p>
            <a:pPr lvl="0" indent="0" marL="0">
              <a:buNone/>
            </a:pPr>
            <a:r>
              <a:rPr/>
              <a:t>What happens when input is wrong, user lacks permission, etc.?</a:t>
            </a:r>
          </a:p>
          <a:p>
            <a:pPr lvl="0" indent="0" marL="0">
              <a:buNone/>
            </a:pPr>
            <a:r>
              <a:rPr/>
              <a:t>2–4</a:t>
            </a:r>
          </a:p>
          <a:p>
            <a:pPr lvl="0" indent="0" marL="0">
              <a:buNone/>
            </a:pPr>
            <a:r>
              <a:rPr/>
              <a:t>Weird</a:t>
            </a:r>
          </a:p>
          <a:p>
            <a:pPr lvl="0" indent="0" marL="0">
              <a:buNone/>
            </a:pPr>
            <a:r>
              <a:rPr/>
              <a:t>What about network drops, race conditions, edge cases the user wouldn’t think of?</a:t>
            </a:r>
          </a:p>
          <a:p>
            <a:pPr lvl="0" indent="0" marL="0">
              <a:buNone/>
            </a:pPr>
            <a:r>
              <a:rPr/>
              <a:t>2–4</a:t>
            </a:r>
          </a:p>
          <a:p>
            <a:pPr lvl="0" indent="0" marL="0">
              <a:buNone/>
            </a:pPr>
            <a:r>
              <a:rPr/>
              <a:t>The TPM differentiator: the weird-path coverage. PMs who don’t think technically miss it. Engineers who don’t think about users miss it differently.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Worked Happy-Path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Given a dispatcher viewing the end-of-shift summary
When they tap "Reconcile all"
Then the reconcile modal opens within 1 second
and shows all open tickets pre-selected
and the header shows the count of tickets selected</a:t>
            </a:r>
          </a:p>
          <a:p>
            <a:pPr lvl="0" indent="0" marL="0">
              <a:buNone/>
            </a:pPr>
            <a:r>
              <a:rPr/>
              <a:t>Note: the multiple “and”s here describe one observable state, not separate behaviors. Judgment call — if the “ands” represent different system actions, split.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Happy-Path AC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50 minutes</a:t>
            </a:r>
          </a:p>
          <a:p>
            <a:pPr lvl="0" indent="0" marL="0">
              <a:buNone/>
            </a:pPr>
            <a:r>
              <a:rPr/>
              <a:t>Identify the happy path from your Section 5. Each member solo-drafts 3 AC. Pool, de-dupe, refine to 3–5 final.</a:t>
            </a:r>
          </a:p>
          <a:p>
            <a:pPr lvl="0" indent="0" marL="0">
              <a:buNone/>
            </a:pPr>
            <a:r>
              <a:rPr/>
              <a:t>5 min: identify the happy path</a:t>
            </a:r>
          </a:p>
          <a:p>
            <a:pPr lvl="0" indent="0" marL="0">
              <a:buNone/>
            </a:pPr>
            <a:r>
              <a:rPr/>
              <a:t>25 min: solo drafts (3 each)</a:t>
            </a:r>
          </a:p>
          <a:p>
            <a:pPr lvl="0" indent="0" marL="0">
              <a:buNone/>
            </a:pPr>
            <a:r>
              <a:rPr/>
              <a:t>15 min: pool + refine</a:t>
            </a:r>
          </a:p>
          <a:p>
            <a:pPr lvl="0" indent="0" marL="0">
              <a:buNone/>
            </a:pPr>
            <a:r>
              <a:rPr/>
              <a:t>5 min: 5-failure-mode check</a:t>
            </a:r>
          </a:p>
          <a:p>
            <a:pPr lvl="0" indent="0" marL="0">
              <a:buNone/>
            </a:pPr>
            <a:r>
              <a:rPr/>
              <a:t>⏱ 5 + 25 + 15 + 5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Sad &amp; Weird Paths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TPMs earn their seat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😞 Sad-Path Generator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each happy-path AC, ask:</a:t>
            </a:r>
          </a:p>
          <a:p>
            <a:pPr lvl="0" indent="0" marL="0">
              <a:buNone/>
            </a:pPr>
            <a:r>
              <a:rPr/>
              <a:t>What if the input is invalid?</a:t>
            </a:r>
          </a:p>
          <a:p>
            <a:pPr lvl="0" indent="0" marL="0">
              <a:buNone/>
            </a:pPr>
            <a:r>
              <a:rPr/>
              <a:t>What if the user lacks permission?</a:t>
            </a:r>
          </a:p>
          <a:p>
            <a:pPr lvl="0" indent="0" marL="0">
              <a:buNone/>
            </a:pPr>
            <a:r>
              <a:rPr/>
              <a:t>What if the user cancels mid-flow?</a:t>
            </a:r>
          </a:p>
          <a:p>
            <a:pPr lvl="0" indent="0" marL="0">
              <a:buNone/>
            </a:pPr>
            <a:r>
              <a:rPr/>
              <a:t>What if the data is missing or stale?</a:t>
            </a:r>
          </a:p>
          <a:p>
            <a:pPr lvl="0" indent="0">
              <a:buNone/>
            </a:pPr>
            <a:r>
              <a:rPr>
                <a:latin typeface="Courier"/>
              </a:rPr>
              <a:t>Given a dispatcher with 0 open tickets
When they tap "Reconcile all"
Then a non-modal toast appears with text "No tickets to reconcile"
and the dispatcher remains on the summary screen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💩 Weird-Path Generator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each happy-path AC, ask:</a:t>
            </a:r>
          </a:p>
          <a:p>
            <a:pPr lvl="0" indent="0" marL="0">
              <a:buNone/>
            </a:pPr>
            <a:r>
              <a:rPr/>
              <a:t>What if the network drops mid-action?</a:t>
            </a:r>
          </a:p>
          <a:p>
            <a:pPr lvl="0" indent="0" marL="0">
              <a:buNone/>
            </a:pPr>
            <a:r>
              <a:rPr/>
              <a:t>What if two users do the same thing simultaneously (race)?</a:t>
            </a:r>
          </a:p>
          <a:p>
            <a:pPr lvl="0" indent="0" marL="0">
              <a:buNone/>
            </a:pPr>
            <a:r>
              <a:rPr/>
              <a:t>What if the action takes longer than expected (timeout)?</a:t>
            </a:r>
          </a:p>
          <a:p>
            <a:pPr lvl="0" indent="0" marL="0">
              <a:buNone/>
            </a:pPr>
            <a:r>
              <a:rPr/>
              <a:t>What if the upstream system is down?</a:t>
            </a:r>
          </a:p>
          <a:p>
            <a:pPr lvl="0" indent="0" marL="0">
              <a:buNone/>
            </a:pPr>
            <a:r>
              <a:rPr/>
              <a:t>What if the user is at the boundary (max, min, empty)?</a:t>
            </a:r>
          </a:p>
          <a:p>
            <a:pPr lvl="0" indent="0">
              <a:buNone/>
            </a:pPr>
            <a:r>
              <a:rPr>
                <a:latin typeface="Courier"/>
              </a:rPr>
              <a:t>Given a dispatcher with 47 open tickets (more than modal can list)
When they tap "Reconcile all"
Then the modal opens with the first 25 tickets pre-selected
and a banner reads "22 more tickets — load more"
and a tap on the banner appends the next 25 below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Sad &amp; Weird AC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50 minutes</a:t>
            </a:r>
          </a:p>
          <a:p>
            <a:pPr lvl="0" indent="0" marL="0">
              <a:buNone/>
            </a:pPr>
            <a:r>
              <a:rPr/>
              <a:t>Each member produces 2 sad + 2 weird AC. Pool, cull to 4–6 (2–4 sad, 2–4 weird). Run the 5-failure check.</a:t>
            </a:r>
          </a:p>
          <a:p>
            <a:pPr lvl="0" indent="0" marL="0">
              <a:buNone/>
            </a:pPr>
            <a:r>
              <a:rPr/>
              <a:t>20 min: solo sad-path drafts</a:t>
            </a:r>
          </a:p>
          <a:p>
            <a:pPr lvl="0" indent="0" marL="0">
              <a:buNone/>
            </a:pPr>
            <a:r>
              <a:rPr/>
              <a:t>10 min: solo weird-path drafts</a:t>
            </a:r>
          </a:p>
          <a:p>
            <a:pPr lvl="0" indent="0" marL="0">
              <a:buNone/>
            </a:pPr>
            <a:r>
              <a:rPr/>
              <a:t>10 min: pool + cull</a:t>
            </a:r>
          </a:p>
          <a:p>
            <a:pPr lvl="0" indent="0" marL="0">
              <a:buNone/>
            </a:pPr>
            <a:r>
              <a:rPr/>
              <a:t>10 min: failure-mode check</a:t>
            </a:r>
          </a:p>
          <a:p>
            <a:pPr lvl="0" indent="0" marL="0">
              <a:buNone/>
            </a:pPr>
            <a:r>
              <a:rPr/>
              <a:t>⏱ 20 + 10 + 10 + 10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AC Cross-Review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Apply the calibrated eye to another quad’s AC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Why Cross-Review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Friday’s review covers the whole Product Requirements Document (PRD). Today’s review covers just AC. Two reasons:</a:t>
            </a:r>
          </a:p>
          <a:p>
            <a:pPr lvl="0" indent="0" marL="0">
              <a:buNone/>
            </a:pPr>
            <a:r>
              <a:rPr/>
              <a:t>AC are where most PRD weakness shows up — fixing them mid-week leaves time for the rest</a:t>
            </a:r>
          </a:p>
          <a:p>
            <a:pPr lvl="0" indent="0" marL="0">
              <a:buNone/>
            </a:pPr>
            <a:r>
              <a:rPr/>
              <a:t>Reviewing another’s AC sharpens your eye for your own remaining gaps</a:t>
            </a:r>
          </a:p>
          <a:p>
            <a:pPr lvl="0" indent="0" marL="0">
              <a:buNone/>
            </a:pPr>
            <a:r>
              <a:rPr/>
              <a:t>Today’s review is informal: no scoring, no rubric. The point is feedback, not grading.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Review Protocol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Pair quads (instructor assigns)</a:t>
            </a:r>
          </a:p>
          <a:p>
            <a:pPr lvl="0" indent="0" marL="0">
              <a:buNone/>
            </a:pPr>
            <a:r>
              <a:rPr/>
              <a:t>Swap PRDs (reviewer reads Sections 1–5 first for context, then Section 6)</a:t>
            </a:r>
          </a:p>
          <a:p>
            <a:pPr lvl="0" indent="0" marL="0">
              <a:buNone/>
            </a:pPr>
            <a:r>
              <a:rPr/>
              <a:t>Identify failures and gaps: failure mode? path missing? implicit AC unwritten?</a:t>
            </a:r>
          </a:p>
          <a:p>
            <a:pPr lvl="0" indent="0" marL="0">
              <a:buNone/>
            </a:pPr>
            <a:r>
              <a:rPr/>
              <a:t>Author quad responds: adopt / defer / push back, with reasoning</a:t>
            </a:r>
          </a:p>
          <a:p>
            <a:pPr lvl="0" indent="0" marL="0">
              <a:buNone/>
            </a:pPr>
            <a:r>
              <a:rPr/>
              <a:t>Authors revise + write the resolution note</a:t>
            </a:r>
          </a:p>
          <a:p>
            <a:pPr lvl="0" indent="0" marL="0">
              <a:buNone/>
            </a:pPr>
            <a:r>
              <a:rPr/>
              <a:t>Reviewer rule: “this could be more specific” is unhelpful. If you say it, you also write the specific version.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The Review-Resolution Note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the bottom of Section 6, document what changed and why:</a:t>
            </a:r>
          </a:p>
          <a:p>
            <a:pPr lvl="0" indent="0">
              <a:buNone/>
            </a:pPr>
            <a:r>
              <a:rPr>
                <a:latin typeface="Courier"/>
              </a:rPr>
              <a:t>## Review-resolution note (Day 2)
**Reviewers:** Quad B
**Findings:**
1. AC #3 was vague ("loads fast") — REWROTE with explicit 1-sec target
2. Missing weird-path AC for offline submit — ADDED as AC #11
3. AC #7 was implementation-prescriptive — REWROTE in user terms
**Deferred:**
- Reviewer suggested AC for "user clicks back button" — DEFERRED to NFR
discussion Day 3 (more about state preservation than acceptance)
**Pushed back:**
- Reviewer suggested splitting AC #2 — DECLINED. Original "and"
describes one observable state, not multiple behaviors.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AC Cross-Review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 pairs • 55 minutes • Wrap</a:t>
            </a:r>
          </a:p>
          <a:p>
            <a:pPr lvl="0" indent="0" marL="0">
              <a:buNone/>
            </a:pPr>
            <a:r>
              <a:rPr/>
              <a:t>Pair with another quad. Swap PRDs. Review their AC. Author quad responds. Revise and write the resolution note.</a:t>
            </a:r>
          </a:p>
          <a:p>
            <a:pPr lvl="0" indent="0" marL="0">
              <a:buNone/>
            </a:pPr>
            <a:r>
              <a:rPr/>
              <a:t>5 min: read their Sections 1–5</a:t>
            </a:r>
          </a:p>
          <a:p>
            <a:pPr lvl="0" indent="0" marL="0">
              <a:buNone/>
            </a:pPr>
            <a:r>
              <a:rPr/>
              <a:t>25 min: review their Section 6 with the 5 failures + path coverage in mind</a:t>
            </a:r>
          </a:p>
          <a:p>
            <a:pPr lvl="0" indent="0" marL="0">
              <a:buNone/>
            </a:pPr>
            <a:r>
              <a:rPr/>
              <a:t>10 min: author quad responds</a:t>
            </a:r>
          </a:p>
          <a:p>
            <a:pPr lvl="0" indent="0" marL="0">
              <a:buNone/>
            </a:pPr>
            <a:r>
              <a:rPr/>
              <a:t>15 min: revise + write resolution note</a:t>
            </a:r>
          </a:p>
          <a:p>
            <a:pPr lvl="0" indent="0" marL="0">
              <a:buNone/>
            </a:pPr>
            <a:r>
              <a:rPr/>
              <a:t>⏱ 5 + 25 + 10 + 15 · 15-min wrap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2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5-failure-mode AC detector</a:t>
            </a:r>
          </a:p>
          <a:p>
            <a:pPr lvl="0" indent="0" marL="0">
              <a:buNone/>
            </a:pPr>
            <a:r>
              <a:rPr/>
              <a:t>Happy/sad/weird path coverage</a:t>
            </a:r>
          </a:p>
          <a:p>
            <a:pPr lvl="0" indent="0" marL="0">
              <a:buNone/>
            </a:pPr>
            <a:r>
              <a:rPr/>
              <a:t>8–12 AC per PRD</a:t>
            </a:r>
          </a:p>
          <a:p>
            <a:pPr lvl="0" indent="0" marL="0">
              <a:buNone/>
            </a:pPr>
            <a:r>
              <a:rPr/>
              <a:t>Cross-review + resolution note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Non-Functional Requirements (NFR)</a:t>
            </a:r>
          </a:p>
          <a:p>
            <a:pPr lvl="0" indent="0" marL="0">
              <a:buNone/>
            </a:pPr>
            <a:r>
              <a:rPr/>
              <a:t>Performance, security, accessibility, observability, compliance</a:t>
            </a:r>
          </a:p>
          <a:p>
            <a:pPr lvl="0" indent="0" marL="0">
              <a:buNone/>
            </a:pPr>
            <a:r>
              <a:rPr/>
              <a:t>NFRs as constraints, not wishlists</a:t>
            </a:r>
          </a:p>
          <a:p>
            <a:pPr lvl="0" indent="0" marL="0">
              <a:buNone/>
            </a:pPr>
            <a:r>
              <a:rPr/>
              <a:t>Bring to Day 3: Your PRD with Sections 1–6 complete. NFRs come tomorrow.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one of your AC would survive a hostile engineer reading it?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2026-08-28T15:28:25Z</dcterms:created>
  <dcterms:modified xsi:type="dcterms:W3CDTF">2026-08-28T15:28:25Z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