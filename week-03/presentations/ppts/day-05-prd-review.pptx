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Friday. The PRD ships today. Cadence is different — morning reviews, afternoon revisions and secondary reviews. Still non-AI.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PRD ships today. Status flips from “In review” to “Approved” (or “Approved with gaps”).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the outline: morning in reviews, afternoon in revisions and secondary. Hold the time strictly — there’s no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cohort is uneven, share a PRD across two reviewer pairs. The rubric is what stays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rubric before reviews start. Reviewers who don’t have the exemplary bar in mind default to taste-based feedback rather than rubric-anchored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Calibrate mid-AM by surfacing one anonymous score and asking the room what justified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Catch generic-feedback reviewers early. The rule is enforceable.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Reviewers who skip strengths produce reviews authors discount. Make this non-negotiable.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coordination between reviewer triads. The author triad benefits from two independent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clarifying conversation is the highest-leverage moment. Steer it away from score defense and toward “help me understand finding #3” — that’s where learning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Sit in on at least one. Watch for defensiveness; coach toward curiosity.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summary is the closing discipline. Authors who skip it lose the thread in the afternoon revision.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Lunch follows. Keep clock strict — afternoon has no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every finding deserves adoption. The discipline is naming what you accept, what you defer, and what you push back on — with reasoning a reviewer can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Pushback is fine; pushback without reasoning is not. Coach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complete log has entries in all three buckets. All-Adopted means the author over-complied; all-Pushed-back means they under-listened.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let triads spend 60 min on prose. Coherence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pair of eyes on the revised PRD catches gaps the author triad still can’t see. Final score becomes the Week 3 capstone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Coach against re-finding the same defects. The AM reviewers already did that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PRDs land 2.0–3.5. The “with gaps” path is honest,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secondary reviewer wants more time: they had 35 min. That’s the constraint mature reviewers operate under.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read-aloud: facilitator names one strength of each triad’s PRD. Surfaces the cohort’s growth edge for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Specific reflections beat generic gratitude. Week 4 opens Monday with system thinking — bring the PRD discipline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🔎 PRD Review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• Day 5 • Mini-Capstone Ships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Conduct a structured peer review using the Friday rubric — specific findings, not impressions</a:t>
            </a:r>
          </a:p>
          <a:p>
            <a:pPr lvl="0" indent="0" marL="0">
              <a:buNone/>
            </a:pPr>
            <a:r>
              <a:rPr/>
              <a:t>Receive feedback in person with curiosity, not defense</a:t>
            </a:r>
          </a:p>
          <a:p>
            <a:pPr lvl="0" indent="0" marL="0">
              <a:buNone/>
            </a:pPr>
            <a:r>
              <a:rPr/>
              <a:t>Write a review-resolution log showing what was adopted, deferred, or rebutted</a:t>
            </a:r>
          </a:p>
          <a:p>
            <a:pPr lvl="0" indent="0" marL="0">
              <a:buNone/>
            </a:pPr>
            <a:r>
              <a:rPr/>
              <a:t>Pass a secondary review conducted by a different reviewer</a:t>
            </a:r>
          </a:p>
          <a:p>
            <a:pPr lvl="0" indent="0" marL="0">
              <a:buNone/>
            </a:pPr>
            <a:r>
              <a:rPr/>
              <a:t>Ship the mini-capstone deliverable: signed-off PRD + review trail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Cadence (different)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Opening; pairings posted</a:t>
            </a:r>
          </a:p>
          <a:p>
            <a:pPr lvl="0" indent="0" marL="0">
              <a:buNone/>
            </a:pPr>
            <a:r>
              <a:rPr/>
              <a:t>09:15 – 10:45</a:t>
            </a:r>
          </a:p>
          <a:p>
            <a:pPr lvl="0" indent="0" marL="0">
              <a:buNone/>
            </a:pPr>
            <a:r>
              <a:rPr/>
              <a:t>Primary review round 1</a:t>
            </a:r>
          </a:p>
          <a:p>
            <a:pPr lvl="0" indent="0" marL="0">
              <a:buNone/>
            </a:pPr>
            <a:r>
              <a:rPr/>
              <a:t>10:45 – 11:00</a:t>
            </a:r>
          </a:p>
          <a:p>
            <a:pPr lvl="0" indent="0" marL="0">
              <a:buNone/>
            </a:pPr>
            <a:r>
              <a:rPr/>
              <a:t>Break</a:t>
            </a:r>
          </a:p>
          <a:p>
            <a:pPr lvl="0" indent="0" marL="0">
              <a:buNone/>
            </a:pPr>
            <a:r>
              <a:rPr/>
              <a:t>11:00 – 12:00</a:t>
            </a:r>
          </a:p>
          <a:p>
            <a:pPr lvl="0" indent="0" marL="0">
              <a:buNone/>
            </a:pPr>
            <a:r>
              <a:rPr/>
              <a:t>Author response + clarifying conversation</a:t>
            </a:r>
          </a:p>
          <a:p>
            <a:pPr lvl="0" indent="0" marL="0">
              <a:buNone/>
            </a:pPr>
            <a:r>
              <a:rPr/>
              <a:t>12:00 – 13:00</a:t>
            </a:r>
          </a:p>
          <a:p>
            <a:pPr lvl="0" indent="0" marL="0">
              <a:buNone/>
            </a:pPr>
            <a:r>
              <a:rPr/>
              <a:t>Lunch</a:t>
            </a:r>
          </a:p>
          <a:p>
            <a:pPr lvl="0" indent="0" marL="0">
              <a:buNone/>
            </a:pPr>
            <a:r>
              <a:rPr/>
              <a:t>13:00 – 14:30</a:t>
            </a:r>
          </a:p>
          <a:p>
            <a:pPr lvl="0" indent="0" marL="0">
              <a:buNone/>
            </a:pPr>
            <a:r>
              <a:rPr/>
              <a:t>Revisions</a:t>
            </a:r>
          </a:p>
          <a:p>
            <a:pPr lvl="0" indent="0" marL="0">
              <a:buNone/>
            </a:pPr>
            <a:r>
              <a:rPr/>
              <a:t>14:30 – 14:45</a:t>
            </a:r>
          </a:p>
          <a:p>
            <a:pPr lvl="0" indent="0" marL="0">
              <a:buNone/>
            </a:pPr>
            <a:r>
              <a:rPr/>
              <a:t>Break</a:t>
            </a:r>
          </a:p>
          <a:p>
            <a:pPr lvl="0" indent="0" marL="0">
              <a:buNone/>
            </a:pPr>
            <a:r>
              <a:rPr/>
              <a:t>14:45 – 15:45</a:t>
            </a:r>
          </a:p>
          <a:p>
            <a:pPr lvl="0" indent="0" marL="0">
              <a:buNone/>
            </a:pPr>
            <a:r>
              <a:rPr/>
              <a:t>Secondary review</a:t>
            </a:r>
          </a:p>
          <a:p>
            <a:pPr lvl="0" indent="0" marL="0">
              <a:buNone/>
            </a:pPr>
            <a:r>
              <a:rPr/>
              <a:t>15:45 – 16:00</a:t>
            </a:r>
          </a:p>
          <a:p>
            <a:pPr lvl="0" indent="0" marL="0">
              <a:buNone/>
            </a:pPr>
            <a:r>
              <a:rPr/>
              <a:t>Wrap + sign-off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The Pairing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PRD is read by two primary reviewers in the morning, then by a different secondary reviewer in the afternoon.</a:t>
            </a:r>
          </a:p>
          <a:p>
            <a:pPr lvl="0" indent="0" marL="0">
              <a:buNone/>
            </a:pPr>
            <a:r>
              <a:rPr/>
              <a:t>PRD authors</a:t>
            </a:r>
          </a:p>
          <a:p>
            <a:pPr lvl="0" indent="0" marL="0">
              <a:buNone/>
            </a:pPr>
            <a:r>
              <a:rPr/>
              <a:t>AM primary reviewers</a:t>
            </a:r>
          </a:p>
          <a:p>
            <a:pPr lvl="0" indent="0" marL="0">
              <a:buNone/>
            </a:pPr>
            <a:r>
              <a:rPr/>
              <a:t>PM secondary</a:t>
            </a:r>
          </a:p>
          <a:p>
            <a:pPr lvl="0" indent="0" marL="0">
              <a:buNone/>
            </a:pPr>
            <a:r>
              <a:rPr/>
              <a:t>A</a:t>
            </a:r>
          </a:p>
          <a:p>
            <a:pPr lvl="0" indent="0" marL="0">
              <a:buNone/>
            </a:pPr>
            <a:r>
              <a:rPr/>
              <a:t>B, C</a:t>
            </a:r>
          </a:p>
          <a:p>
            <a:pPr lvl="0" indent="0" marL="0">
              <a:buNone/>
            </a:pPr>
            <a:r>
              <a:rPr/>
              <a:t>D</a:t>
            </a:r>
          </a:p>
          <a:p>
            <a:pPr lvl="0" indent="0" marL="0">
              <a:buNone/>
            </a:pPr>
            <a:r>
              <a:rPr/>
              <a:t>B</a:t>
            </a:r>
          </a:p>
          <a:p>
            <a:pPr lvl="0" indent="0" marL="0">
              <a:buNone/>
            </a:pPr>
            <a:r>
              <a:rPr/>
              <a:t>C, D</a:t>
            </a:r>
          </a:p>
          <a:p>
            <a:pPr lvl="0" indent="0" marL="0">
              <a:buNone/>
            </a:pPr>
            <a:r>
              <a:rPr/>
              <a:t>E</a:t>
            </a:r>
          </a:p>
          <a:p>
            <a:pPr lvl="0" indent="0" marL="0">
              <a:buNone/>
            </a:pPr>
            <a:r>
              <a:rPr/>
              <a:t>C</a:t>
            </a:r>
          </a:p>
          <a:p>
            <a:pPr lvl="0" indent="0" marL="0">
              <a:buNone/>
            </a:pPr>
            <a:r>
              <a:rPr/>
              <a:t>D, E</a:t>
            </a:r>
          </a:p>
          <a:p>
            <a:pPr lvl="0" indent="0" marL="0">
              <a:buNone/>
            </a:pPr>
            <a:r>
              <a:rPr/>
              <a:t>F</a:t>
            </a:r>
          </a:p>
          <a:p>
            <a:pPr lvl="0" indent="0" marL="0">
              <a:buNone/>
            </a:pPr>
            <a:r>
              <a:rPr/>
              <a:t>D</a:t>
            </a:r>
          </a:p>
          <a:p>
            <a:pPr lvl="0" indent="0" marL="0">
              <a:buNone/>
            </a:pPr>
            <a:r>
              <a:rPr/>
              <a:t>E, F</a:t>
            </a:r>
          </a:p>
          <a:p>
            <a:pPr lvl="0" indent="0" marL="0">
              <a:buNone/>
            </a:pPr>
            <a:r>
              <a:rPr/>
              <a:t>A</a:t>
            </a:r>
          </a:p>
          <a:p>
            <a:pPr lvl="0" indent="0" marL="0">
              <a:buNone/>
            </a:pPr>
            <a:r>
              <a:rPr/>
              <a:t>Each triad has 3 reading roles today: primary ×2 in AM, secondary ×1 in PM. Plus owning your own PRD throughout.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Friday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“exemplary” looks like, dimension by dimension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The Rubric (0–4 per dimension)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Exemplary (4)</a:t>
            </a:r>
          </a:p>
          <a:p>
            <a:pPr lvl="0" indent="0" marL="0">
              <a:buNone/>
            </a:pPr>
            <a:r>
              <a:rPr/>
              <a:t>Problem clarity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Engineer could scope without clarifying call</a:t>
            </a:r>
          </a:p>
          <a:p>
            <a:pPr lvl="0" indent="0" marL="0">
              <a:buNone/>
            </a:pPr>
            <a:r>
              <a:rPr/>
              <a:t>AC testability</a:t>
            </a:r>
          </a:p>
          <a:p>
            <a:pPr lvl="0" indent="0" marL="0">
              <a:buNone/>
            </a:pPr>
            <a:r>
              <a:rPr/>
              <a:t>25%</a:t>
            </a:r>
          </a:p>
          <a:p>
            <a:pPr lvl="0" indent="0" marL="0">
              <a:buNone/>
            </a:pPr>
            <a:r>
              <a:rPr/>
              <a:t>Each AC implementable + falsifiable; covers happy/sad/weird</a:t>
            </a:r>
          </a:p>
          <a:p>
            <a:pPr lvl="0" indent="0" marL="0">
              <a:buNone/>
            </a:pPr>
            <a:r>
              <a:rPr/>
              <a:t>NFR completeness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5 categories present; each has a defended target</a:t>
            </a:r>
          </a:p>
          <a:p>
            <a:pPr lvl="0" indent="0" marL="0">
              <a:buNone/>
            </a:pPr>
            <a:r>
              <a:rPr/>
              <a:t>Strategy linkage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Goals tie to Week-2 NS / KPIs / journey friction</a:t>
            </a:r>
          </a:p>
          <a:p>
            <a:pPr lvl="0" indent="0" marL="0">
              <a:buNone/>
            </a:pPr>
            <a:r>
              <a:rPr/>
              <a:t>Risk honesty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Real risks named; “no risks” is fail</a:t>
            </a:r>
          </a:p>
          <a:p>
            <a:pPr lvl="0" indent="0" marL="0">
              <a:buNone/>
            </a:pPr>
            <a:r>
              <a:rPr/>
              <a:t>Writing discipline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Clear, specific; no AI-generic prose</a:t>
            </a:r>
          </a:p>
          <a:p>
            <a:pPr lvl="0" indent="0" marL="0">
              <a:buNone/>
            </a:pPr>
            <a:r>
              <a:rPr/>
              <a:t>Score thresholds: ≥3.0 ships as-is. 2.0–2.9 ships with named gaps. &lt;2.0 → facilitator intervenes.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What Good Reviewing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Bad review</a:t>
            </a:r>
          </a:p>
          <a:p>
            <a:pPr lvl="0" indent="0" marL="0">
              <a:buNone/>
            </a:pPr>
            <a:r>
              <a:rPr/>
              <a:t>“§2 is unclear”</a:t>
            </a:r>
          </a:p>
          <a:p>
            <a:pPr lvl="0" indent="0" marL="0">
              <a:buNone/>
            </a:pPr>
            <a:r>
              <a:rPr/>
              <a:t>“AC could be more specific”</a:t>
            </a:r>
          </a:p>
          <a:p>
            <a:pPr lvl="0" indent="0" marL="0">
              <a:buNone/>
            </a:pPr>
            <a:r>
              <a:rPr/>
              <a:t>“NFRs feel light”</a:t>
            </a:r>
          </a:p>
          <a:p>
            <a:pPr lvl="0" indent="0" marL="0">
              <a:buNone/>
            </a:pPr>
            <a:r>
              <a:rPr/>
              <a:t>No section citations</a:t>
            </a:r>
          </a:p>
          <a:p>
            <a:pPr lvl="0" indent="0" marL="0">
              <a:buNone/>
            </a:pPr>
            <a:r>
              <a:rPr/>
              <a:t>Praise is generic</a:t>
            </a:r>
          </a:p>
          <a:p>
            <a:pPr lvl="0" indent="0" marL="0">
              <a:buNone/>
            </a:pPr>
            <a:r>
              <a:rPr/>
              <a:t>✅ Good review</a:t>
            </a:r>
          </a:p>
          <a:p>
            <a:pPr lvl="0" indent="0" marL="0">
              <a:buNone/>
            </a:pPr>
            <a:r>
              <a:rPr/>
              <a:t>“§2 doesn’t say small-shop or large-shop dispatchers; that changes scope”</a:t>
            </a:r>
          </a:p>
          <a:p>
            <a:pPr lvl="0" indent="0" marL="0">
              <a:buNone/>
            </a:pPr>
            <a:r>
              <a:rPr/>
              <a:t>“AC #4: ‘system handles errors gracefully’ — propose: ‘Given timeout &gt;5s, when user retries, then queued for offline submit’”</a:t>
            </a:r>
          </a:p>
          <a:p>
            <a:pPr lvl="0" indent="0" marL="0">
              <a:buNone/>
            </a:pPr>
            <a:r>
              <a:rPr/>
              <a:t>“NFR-7 has no Compliance entry; SOC 2 audit-trail missing”</a:t>
            </a:r>
          </a:p>
          <a:p>
            <a:pPr lvl="0" indent="0" marL="0">
              <a:buNone/>
            </a:pPr>
            <a:r>
              <a:rPr/>
              <a:t>Every finding cites a section</a:t>
            </a:r>
          </a:p>
          <a:p>
            <a:pPr lvl="0" indent="0" marL="0">
              <a:buNone/>
            </a:pPr>
            <a:r>
              <a:rPr/>
              <a:t>Praise is specific</a:t>
            </a:r>
          </a:p>
          <a:p>
            <a:pPr lvl="0" indent="0" marL="0">
              <a:buNone/>
            </a:pPr>
            <a:r>
              <a:rPr/>
              <a:t>The rule: if you say “could be more specific”, you write the specific version.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Review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strengths is required. Honest praise builds the trust that lets the harder feedback land.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Primary Review (AM)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reviewing triads per PRD • 90 minutes</a:t>
            </a:r>
          </a:p>
          <a:p>
            <a:pPr lvl="0" indent="0" marL="0">
              <a:buNone/>
            </a:pPr>
            <a:r>
              <a:rPr/>
              <a:t>0–10 min: read §§1–5; score Problem clarity + Strategy linkage</a:t>
            </a:r>
          </a:p>
          <a:p>
            <a:pPr lvl="0" indent="0" marL="0">
              <a:buNone/>
            </a:pPr>
            <a:r>
              <a:rPr/>
              <a:t>10–35 min: read §§6–7; score AC + NFRs</a:t>
            </a:r>
          </a:p>
          <a:p>
            <a:pPr lvl="0" indent="0" marL="0">
              <a:buNone/>
            </a:pPr>
            <a:r>
              <a:rPr/>
              <a:t>35–55 min: read §§8–11; score Risk honesty</a:t>
            </a:r>
          </a:p>
          <a:p>
            <a:pPr lvl="0" indent="0" marL="0">
              <a:buNone/>
            </a:pPr>
            <a:r>
              <a:rPr/>
              <a:t>55–75 min: write review document</a:t>
            </a:r>
          </a:p>
          <a:p>
            <a:pPr lvl="0" indent="0" marL="0">
              <a:buNone/>
            </a:pPr>
            <a:r>
              <a:rPr/>
              <a:t>75–90 min: refine + submit (no coordination with the other reviewer triad)</a:t>
            </a:r>
          </a:p>
          <a:p>
            <a:pPr lvl="0" indent="0" marL="0">
              <a:buNone/>
            </a:pPr>
            <a:r>
              <a:rPr/>
              <a:t>⏱ 10 + 25 + 20 + 20 + 15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Author Response + Clarifying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person; not about scores; about understanding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🗣️ The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 min: each reviewing triad gives a 2-min spoken summary</a:t>
            </a:r>
          </a:p>
          <a:p>
            <a:pPr lvl="0" indent="0" marL="0">
              <a:buNone/>
            </a:pPr>
            <a:r>
              <a:rPr/>
              <a:t>20 min: author triad asks — “Walk us through finding #3”; “Which AC was worst?”</a:t>
            </a:r>
          </a:p>
          <a:p>
            <a:pPr lvl="0" indent="0" marL="0">
              <a:buNone/>
            </a:pPr>
            <a:r>
              <a:rPr/>
              <a:t>25 min: reviewers ask — “We assumed X; right?”; “We disagreed about Y; what’s your take?”</a:t>
            </a:r>
          </a:p>
          <a:p>
            <a:pPr lvl="0" indent="0" marL="0">
              <a:buNone/>
            </a:pPr>
            <a:r>
              <a:rPr/>
              <a:t>10 min: author triad summarizes what they heard — adopt / defer / push back</a:t>
            </a:r>
          </a:p>
          <a:p>
            <a:pPr lvl="0" indent="0" marL="0">
              <a:buNone/>
            </a:pPr>
            <a:r>
              <a:rPr/>
              <a:t>Not about negotiating scores. About clarifying findings and surfacing implicit feedback that didn’t make the written review.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🚨 Common Conversation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</a:t>
            </a:r>
          </a:p>
          <a:p>
            <a:pPr lvl="0" indent="0" marL="0">
              <a:buNone/>
            </a:pPr>
            <a:r>
              <a:rPr/>
              <a:t>What to do</a:t>
            </a:r>
          </a:p>
          <a:p>
            <a:pPr lvl="0" indent="0" marL="0">
              <a:buNone/>
            </a:pPr>
            <a:r>
              <a:rPr/>
              <a:t>Author gets defensive</a:t>
            </a:r>
          </a:p>
          <a:p>
            <a:pPr lvl="0" indent="0" marL="0">
              <a:buNone/>
            </a:pPr>
            <a:r>
              <a:rPr/>
              <a:t>“What’s the version of this finding you would accept?”</a:t>
            </a:r>
          </a:p>
          <a:p>
            <a:pPr lvl="0" indent="0" marL="0">
              <a:buNone/>
            </a:pPr>
            <a:r>
              <a:rPr/>
              <a:t>Reviewer softens at the table</a:t>
            </a:r>
          </a:p>
          <a:p>
            <a:pPr lvl="0" indent="0" marL="0">
              <a:buNone/>
            </a:pPr>
            <a:r>
              <a:rPr/>
              <a:t>“What did you write? Stand by it or revise.”</a:t>
            </a:r>
          </a:p>
          <a:p>
            <a:pPr lvl="0" indent="0" marL="0">
              <a:buNone/>
            </a:pPr>
            <a:r>
              <a:rPr/>
              <a:t>Drift to debating the </a:t>
            </a:r>
            <a:r>
              <a:rPr i="1"/>
              <a:t>idea</a:t>
            </a:r>
          </a:p>
          <a:p>
            <a:pPr lvl="0" indent="0" marL="0">
              <a:buNone/>
            </a:pPr>
            <a:r>
              <a:rPr/>
              <a:t>“Today is the </a:t>
            </a:r>
            <a:r>
              <a:rPr i="1"/>
              <a:t>PRD</a:t>
            </a:r>
            <a:r>
              <a:rPr/>
              <a:t>. Critique the document, not the feature.”</a:t>
            </a:r>
          </a:p>
          <a:p>
            <a:pPr lvl="0" indent="0" marL="0">
              <a:buNone/>
            </a:pPr>
            <a:r>
              <a:rPr/>
              <a:t>Authors skip the summary</a:t>
            </a:r>
          </a:p>
          <a:p>
            <a:pPr lvl="0" indent="0" marL="0">
              <a:buNone/>
            </a:pPr>
            <a:r>
              <a:rPr/>
              <a:t>Force it: “Tell us what you heard, in 60 seconds.”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Author Response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Triad-of-three (author + 2 reviewing triads) • 60 minutes</a:t>
            </a:r>
          </a:p>
          <a:p>
            <a:pPr lvl="0" indent="0" marL="0">
              <a:buNone/>
            </a:pPr>
            <a:r>
              <a:rPr/>
              <a:t>5 min: reviewer summaries</a:t>
            </a:r>
          </a:p>
          <a:p>
            <a:pPr lvl="0" indent="0" marL="0">
              <a:buNone/>
            </a:pPr>
            <a:r>
              <a:rPr/>
              <a:t>20 min: author triad asks</a:t>
            </a:r>
          </a:p>
          <a:p>
            <a:pPr lvl="0" indent="0" marL="0">
              <a:buNone/>
            </a:pPr>
            <a:r>
              <a:rPr/>
              <a:t>25 min: reviewers ask</a:t>
            </a:r>
          </a:p>
          <a:p>
            <a:pPr lvl="0" indent="0" marL="0">
              <a:buNone/>
            </a:pPr>
            <a:r>
              <a:rPr/>
              <a:t>10 min: author triad summarizes what they heard</a:t>
            </a:r>
          </a:p>
          <a:p>
            <a:pPr lvl="0" indent="0" marL="0">
              <a:buNone/>
            </a:pPr>
            <a:r>
              <a:rPr/>
              <a:t>⏱ 5 + 20 + 25 + 10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Revisions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Adopt / Defer / Push back — with reasoning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Three-Bucket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</a:t>
            </a:r>
          </a:p>
          <a:p>
            <a:pPr lvl="0" indent="0" marL="0">
              <a:buNone/>
            </a:pPr>
            <a:r>
              <a:rPr/>
              <a:t>Change the PRD. Note in resolution log what you changed.</a:t>
            </a:r>
          </a:p>
          <a:p>
            <a:pPr lvl="0" indent="0" marL="0">
              <a:buNone/>
            </a:pPr>
            <a:r>
              <a:rPr/>
              <a:t>Defer</a:t>
            </a:r>
          </a:p>
          <a:p>
            <a:pPr lvl="0" indent="0" marL="0">
              <a:buNone/>
            </a:pPr>
            <a:r>
              <a:rPr/>
              <a:t>Track elsewhere (issue / ticket / follow-up). Note where in the log.</a:t>
            </a:r>
          </a:p>
          <a:p>
            <a:pPr lvl="0" indent="0" marL="0">
              <a:buNone/>
            </a:pPr>
            <a:r>
              <a:rPr/>
              <a:t>Push back</a:t>
            </a:r>
          </a:p>
          <a:p>
            <a:pPr lvl="0" indent="0" marL="0">
              <a:buNone/>
            </a:pPr>
            <a:r>
              <a:rPr/>
              <a:t>Decline the change. Note why in the log. The most senior signal.</a:t>
            </a:r>
          </a:p>
          <a:p>
            <a:pPr lvl="0" indent="0" marL="0">
              <a:buNone/>
            </a:pPr>
            <a:r>
              <a:rPr/>
              <a:t>The trust signal: Push-back entries with reasoning. Show the triad thought, not just complied.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Resolution Log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Revisions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90 minutes</a:t>
            </a:r>
          </a:p>
          <a:p>
            <a:pPr lvl="0" indent="0" marL="0">
              <a:buNone/>
            </a:pPr>
            <a:r>
              <a:rPr/>
              <a:t>Sort findings; revise in priority order (coherence, then specificity, then prose); update the resolution log.</a:t>
            </a:r>
          </a:p>
          <a:p>
            <a:pPr lvl="0" indent="0" marL="0">
              <a:buNone/>
            </a:pPr>
            <a:r>
              <a:rPr/>
              <a:t>15 min: sort findings into Adopt / Defer / Push back</a:t>
            </a:r>
          </a:p>
          <a:p>
            <a:pPr lvl="0" indent="0" marL="0">
              <a:buNone/>
            </a:pPr>
            <a:r>
              <a:rPr/>
              <a:t>60 min: revise in priority order</a:t>
            </a:r>
          </a:p>
          <a:p>
            <a:pPr lvl="0" indent="0" marL="0">
              <a:buNone/>
            </a:pPr>
            <a:r>
              <a:rPr/>
              <a:t>15 min: update resolution log + flip status to “Revised — secondary pending”</a:t>
            </a:r>
          </a:p>
          <a:p>
            <a:pPr lvl="0" indent="0" marL="0">
              <a:buNone/>
            </a:pPr>
            <a:r>
              <a:rPr/>
              <a:t>⏱ 15 + 60 + 15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Secondary Review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Different reviewer; revised PRD only; final score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The Secondary Reviewer’s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 revised PRD + the resolution log</a:t>
            </a:r>
          </a:p>
          <a:p>
            <a:pPr lvl="0" indent="0" marL="0">
              <a:buNone/>
            </a:pPr>
            <a:r>
              <a:rPr/>
              <a:t>Did the resolution log line up with the actual changes? (Honesty check)</a:t>
            </a:r>
          </a:p>
          <a:p>
            <a:pPr lvl="0" indent="0" marL="0">
              <a:buNone/>
            </a:pPr>
            <a:r>
              <a:rPr/>
              <a:t>Did revisions introduce new problems?</a:t>
            </a:r>
          </a:p>
          <a:p>
            <a:pPr lvl="0" indent="0" marL="0">
              <a:buNone/>
            </a:pPr>
            <a:r>
              <a:rPr/>
              <a:t>Are deferrals reasonable?</a:t>
            </a:r>
          </a:p>
          <a:p>
            <a:pPr lvl="0" indent="0" marL="0">
              <a:buNone/>
            </a:pPr>
            <a:r>
              <a:rPr/>
              <a:t>Score with the rubric — final number</a:t>
            </a:r>
          </a:p>
          <a:p>
            <a:pPr lvl="0" indent="0" marL="0">
              <a:buNone/>
            </a:pPr>
            <a:r>
              <a:rPr/>
              <a:t>The secondary reviewer does not relitigate AM findings. They evaluate the revised document on its own merits.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Verdict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Score ≥ 3.0</a:t>
            </a:r>
          </a:p>
          <a:p>
            <a:pPr lvl="0" indent="0" marL="0">
              <a:buNone/>
            </a:pPr>
            <a:r>
              <a:rPr/>
              <a:t>Ships as-is. Status: Approved.</a:t>
            </a:r>
          </a:p>
          <a:p>
            <a:pPr lvl="0" indent="0" marL="0">
              <a:buNone/>
            </a:pPr>
            <a:r>
              <a:rPr/>
              <a:t>Score 2.0–2.9</a:t>
            </a:r>
          </a:p>
          <a:p>
            <a:pPr lvl="0" indent="0" marL="0">
              <a:buNone/>
            </a:pPr>
            <a:r>
              <a:rPr/>
              <a:t>Ships with named gaps captured in resolution log. Status: Approved with gaps.</a:t>
            </a:r>
          </a:p>
          <a:p>
            <a:pPr lvl="0" indent="0" marL="0">
              <a:buNone/>
            </a:pPr>
            <a:r>
              <a:rPr/>
              <a:t>Score &lt; 2.0</a:t>
            </a:r>
          </a:p>
          <a:p>
            <a:pPr lvl="0" indent="0" marL="0">
              <a:buNone/>
            </a:pPr>
            <a:r>
              <a:rPr/>
              <a:t>Needs further revision. Facilitator review.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Secondary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Single reviewing triad • 60 minutes</a:t>
            </a:r>
          </a:p>
          <a:p>
            <a:pPr lvl="0" indent="0" marL="0">
              <a:buNone/>
            </a:pPr>
            <a:r>
              <a:rPr/>
              <a:t>35 min: read revised PRD + resolution log; score</a:t>
            </a:r>
          </a:p>
          <a:p>
            <a:pPr lvl="0" indent="0" marL="0">
              <a:buNone/>
            </a:pPr>
            <a:r>
              <a:rPr/>
              <a:t>15 min: write Secondary Review Note (improved / still needs work / verdict)</a:t>
            </a:r>
          </a:p>
          <a:p>
            <a:pPr lvl="0" indent="0" marL="0">
              <a:buNone/>
            </a:pPr>
            <a:r>
              <a:rPr/>
              <a:t>10 min: deliver to authors + sign-off</a:t>
            </a:r>
          </a:p>
          <a:p>
            <a:pPr lvl="0" indent="0" marL="0">
              <a:buNone/>
            </a:pPr>
            <a:r>
              <a:rPr/>
              <a:t>⏱ 35 + 15 + 10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shipped</a:t>
            </a:r>
          </a:p>
          <a:p>
            <a:pPr lvl="0" indent="0" marL="0">
              <a:buNone/>
            </a:pPr>
            <a:r>
              <a:rPr/>
              <a:t>11-section technical PRD per triad</a:t>
            </a:r>
          </a:p>
          <a:p>
            <a:pPr lvl="0" indent="0" marL="0">
              <a:buNone/>
            </a:pPr>
            <a:r>
              <a:rPr/>
              <a:t>2 primary reviews per PRD</a:t>
            </a:r>
          </a:p>
          <a:p>
            <a:pPr lvl="0" indent="0" marL="0">
              <a:buNone/>
            </a:pPr>
            <a:r>
              <a:rPr/>
              <a:t>Author response conversation</a:t>
            </a:r>
          </a:p>
          <a:p>
            <a:pPr lvl="0" indent="0" marL="0">
              <a:buNone/>
            </a:pPr>
            <a:r>
              <a:rPr/>
              <a:t>Secondary review + sign-off</a:t>
            </a:r>
          </a:p>
          <a:p>
            <a:pPr lvl="0" indent="0" marL="0">
              <a:buNone/>
            </a:pPr>
            <a:r>
              <a:rPr/>
              <a:t>Mini-capstone delivered</a:t>
            </a:r>
          </a:p>
          <a:p>
            <a:pPr lvl="0" indent="0" marL="0">
              <a:buNone/>
            </a:pPr>
            <a:r>
              <a:rPr/>
              <a:t>What opens Week 4</a:t>
            </a:r>
          </a:p>
          <a:p>
            <a:pPr lvl="0" indent="0" marL="0">
              <a:buNone/>
            </a:pPr>
            <a:r>
              <a:rPr/>
              <a:t>Technical Architecture &amp; Constraints</a:t>
            </a:r>
          </a:p>
          <a:p>
            <a:pPr lvl="0" indent="0" marL="0">
              <a:buNone/>
            </a:pPr>
            <a:r>
              <a:rPr/>
              <a:t>Monolith vs microservices</a:t>
            </a:r>
          </a:p>
          <a:p>
            <a:pPr lvl="0" indent="0" marL="0">
              <a:buNone/>
            </a:pPr>
            <a:r>
              <a:rPr/>
              <a:t>Security &amp; compliance — revisited at architecture level</a:t>
            </a:r>
          </a:p>
          <a:p>
            <a:pPr lvl="0" indent="0" marL="0">
              <a:buNone/>
            </a:pPr>
            <a:r>
              <a:rPr/>
              <a:t>System mapping; latency / availability targets</a:t>
            </a:r>
          </a:p>
          <a:p>
            <a:pPr lvl="0" indent="0" marL="0">
              <a:buNone/>
            </a:pPr>
            <a:r>
              <a:rPr/>
              <a:t>AI restored; PRD becomes architecture input</a:t>
            </a:r>
          </a:p>
          <a:p>
            <a:pPr lvl="0" indent="0" marL="0">
              <a:buNone/>
            </a:pPr>
            <a:r>
              <a:rPr/>
              <a:t>Bring to Monday: your final PRD. The NFRs you wrote this week are the first draft of Week-4 architectural constraints.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one finding from your review that will change how you write the next PRD?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2026-07-16T12:30:05Z</dcterms:created>
  <dcterms:modified xsi:type="dcterms:W3CDTF">2026-07-16T12:30:05Z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