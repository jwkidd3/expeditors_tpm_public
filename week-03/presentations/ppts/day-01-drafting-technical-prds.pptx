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is the first capstone. Triads convert their Week-2 strategy package into a Technical PRD that ships Friday after structured peer review. AI is OFF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this hard at the start of the week. Repeat Tuesday and Thursday. Friday’s reviews will surface generic prose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§§1–5 drafted. Day 2 adds AC; Day 3 adds NFRs; Day 4 assembles; Day 5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arc: choose → frame → bound → sketch. Each block needs the previous.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Anchor Block 1 by contrasting the TPM PRD with the generic PM PRD they may have seen. Set up the “engineer would accept without a clarifying call” test as today’s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“without a clarifying call” test is the single best evaluation criterion. Use it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Print the full template, one per triad. They write directly on the printed template — discourages copy-paste.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starts to merge two features into one, push back. They’re trying to avoid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 seeds §1. Triads who skip the memo write generic context sections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Block 2 by reminding triads §1 and §2 are where engineers decide whether to keep reading. The Week-1 interviews and Week-2 journey map are the raw material — not generic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Length matters. Half a page disciplines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Quote real customers. The Maria quote is what makes the section memorable to the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Solo drafting first. Then combine. Going straight to triad-write produces lowest-common-denominator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is where triads bound the work. Goals must be outcomes, non-goals pre-empt scope creep, and the in/out scope table becomes the negotiation tool for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as outcomes is the lever that makes Friday’s review productive. Goals as features makes review a complaint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skip non-goals lose Week 6 stakeholder negotiations. Plant the discipline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Out column is empty, ask “what’s the v2 of this feature?” — fill it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Empty Out columns and feature-shaped goals are the two most common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§5 sketch is where over-specification creeps in. Coach triads to leave room for engineering judgment — flow, surfaces, and interactions, not schema or class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over-specifications come from PMs who used to be engineers. Coach them: leave room for engineering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test is repeatable and high-leverage. Have triads run it on each other’s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shares feature name + 1 sentence each of context, problem, top goal, top non-goal. Catches generic features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section they’re proudest of and one they know is weak. Self-diagnosis sharpens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 the engineer-question test as a self-diagnostic. If their first question is about implementation, they over-specified; if it’s about user behavior, they under-specified. Day 2 picks up with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📝 Drafting Technical PRDs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1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🚫 This Week is Non-AI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 of structured thinking expressed as written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fills vagueness with confident generic prose. Vagueness is the bug we’re eliminating.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one feature concept from your Week-2 set, with explicit reasoning</a:t>
            </a:r>
          </a:p>
          <a:p>
            <a:pPr lvl="0" indent="0" marL="0">
              <a:buNone/>
            </a:pPr>
            <a:r>
              <a:rPr/>
              <a:t>Write a Context section that gives an engineer a reason to care before reading what to build</a:t>
            </a:r>
          </a:p>
          <a:p>
            <a:pPr lvl="0" indent="0" marL="0">
              <a:buNone/>
            </a:pPr>
            <a:r>
              <a:rPr/>
              <a:t>Write a Problem section grounded in your Week-1 interviews and Week-2 journey map</a:t>
            </a:r>
          </a:p>
          <a:p>
            <a:pPr lvl="0" indent="0" marL="0">
              <a:buNone/>
            </a:pPr>
            <a:r>
              <a:rPr/>
              <a:t>State goals + non-goals as user outcomes, not feature names</a:t>
            </a:r>
          </a:p>
          <a:p>
            <a:pPr lvl="0" indent="0" marL="0">
              <a:buNone/>
            </a:pPr>
            <a:r>
              <a:rPr/>
              <a:t>Write a solution sketch that lets an engineer imagine the shape without specifying the implementation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Week-2 artifacts; restate the non-AI rule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Pick the one feature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Section 1 (Context) + Section 2 (Problem)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Section 3 (Goals/non-goals) + Section 4 (Scope)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Section 5 (Solution sketch)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 TPM PRD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And how it differs from a generic PM PRD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TPM PRD vs Generic PM 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Generic PM PRD</a:t>
            </a:r>
          </a:p>
          <a:p>
            <a:pPr lvl="0" indent="0" marL="0">
              <a:buNone/>
            </a:pPr>
            <a:r>
              <a:rPr/>
              <a:t>Technical PRD (your job)</a:t>
            </a:r>
          </a:p>
          <a:p>
            <a:pPr lvl="0" indent="0" marL="0">
              <a:buNone/>
            </a:pPr>
            <a:r>
              <a:rPr/>
              <a:t>Heavy on business framing</a:t>
            </a:r>
          </a:p>
          <a:p>
            <a:pPr lvl="0" indent="0" marL="0">
              <a:buNone/>
            </a:pPr>
            <a:r>
              <a:rPr/>
              <a:t>Engineer-readable from §1</a:t>
            </a:r>
          </a:p>
          <a:p>
            <a:pPr lvl="0" indent="0" marL="0">
              <a:buNone/>
            </a:pPr>
            <a:r>
              <a:rPr/>
              <a:t>Vague on edge cases</a:t>
            </a:r>
          </a:p>
          <a:p>
            <a:pPr lvl="0" indent="0" marL="0">
              <a:buNone/>
            </a:pPr>
            <a:r>
              <a:rPr/>
              <a:t>Granular AC + NFRs</a:t>
            </a:r>
          </a:p>
          <a:p>
            <a:pPr lvl="0" indent="0" marL="0">
              <a:buNone/>
            </a:pPr>
            <a:r>
              <a:rPr/>
              <a:t>Light on dependencies</a:t>
            </a:r>
          </a:p>
          <a:p>
            <a:pPr lvl="0" indent="0" marL="0">
              <a:buNone/>
            </a:pPr>
            <a:r>
              <a:rPr/>
              <a:t>Names systems, owners, gaps</a:t>
            </a:r>
          </a:p>
          <a:p>
            <a:pPr lvl="0" indent="0" marL="0">
              <a:buNone/>
            </a:pPr>
            <a:r>
              <a:rPr/>
              <a:t>“Out of scope” usually missing</a:t>
            </a:r>
          </a:p>
          <a:p>
            <a:pPr lvl="0" indent="0" marL="0">
              <a:buNone/>
            </a:pPr>
            <a:r>
              <a:rPr/>
              <a:t>Out-of-scope explicit</a:t>
            </a:r>
          </a:p>
          <a:p>
            <a:pPr lvl="0" indent="0" marL="0">
              <a:buNone/>
            </a:pPr>
            <a:r>
              <a:rPr/>
              <a:t>Risks listed as “low”</a:t>
            </a:r>
          </a:p>
          <a:p>
            <a:pPr lvl="0" indent="0" marL="0">
              <a:buNone/>
            </a:pPr>
            <a:r>
              <a:rPr/>
              <a:t>Real risks named honestly</a:t>
            </a:r>
          </a:p>
          <a:p>
            <a:pPr lvl="0" indent="0" marL="0">
              <a:buNone/>
            </a:pPr>
            <a:r>
              <a:rPr/>
              <a:t>The TPM contract: a PRD an engineering lead would accept as scoping input without a clarifying call.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11-Section PRD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week’s daily build</a:t>
            </a:r>
          </a:p>
          <a:p>
            <a:pPr lvl="0" indent="0" marL="0">
              <a:buNone/>
            </a:pPr>
            <a:r>
              <a:rPr/>
              <a:t>Context</a:t>
            </a:r>
          </a:p>
          <a:p>
            <a:pPr lvl="0" indent="0" marL="0">
              <a:buNone/>
            </a:pPr>
            <a:r>
              <a:rPr/>
              <a:t>Problem</a:t>
            </a:r>
          </a:p>
          <a:p>
            <a:pPr lvl="0" indent="0" marL="0">
              <a:buNone/>
            </a:pPr>
            <a:r>
              <a:rPr/>
              <a:t>Goals &amp; non-goals</a:t>
            </a:r>
          </a:p>
          <a:p>
            <a:pPr lvl="0" indent="0" marL="0">
              <a:buNone/>
            </a:pPr>
            <a:r>
              <a:rPr/>
              <a:t>Scope (in / out)</a:t>
            </a:r>
          </a:p>
          <a:p>
            <a:pPr lvl="0" indent="0" marL="0">
              <a:buNone/>
            </a:pPr>
            <a:r>
              <a:rPr/>
              <a:t>Solution sketch</a:t>
            </a:r>
          </a:p>
          <a:p>
            <a:pPr lvl="0" indent="0" marL="0">
              <a:buNone/>
            </a:pPr>
            <a:r>
              <a:rPr/>
              <a:t>Acceptance Criteria (Day 2)</a:t>
            </a:r>
          </a:p>
          <a:p>
            <a:pPr lvl="0" indent="0" marL="0">
              <a:buNone/>
            </a:pPr>
            <a:r>
              <a:rPr/>
              <a:t>Continued</a:t>
            </a:r>
          </a:p>
          <a:p>
            <a:pPr lvl="0" indent="0" marL="0">
              <a:buNone/>
            </a:pPr>
            <a:r>
              <a:rPr/>
              <a:t>Non-Functional Reqs (Day 3)</a:t>
            </a:r>
          </a:p>
          <a:p>
            <a:pPr lvl="0" indent="0" marL="0">
              <a:buNone/>
            </a:pPr>
            <a:r>
              <a:rPr/>
              <a:t>Metrics &amp; validation (Day 4)</a:t>
            </a:r>
          </a:p>
          <a:p>
            <a:pPr lvl="0" indent="0" marL="0">
              <a:buNone/>
            </a:pPr>
            <a:r>
              <a:rPr/>
              <a:t>Risks &amp; open questions (Day 4)</a:t>
            </a:r>
          </a:p>
          <a:p>
            <a:pPr lvl="0" indent="0" marL="0">
              <a:buNone/>
            </a:pPr>
            <a:r>
              <a:rPr/>
              <a:t>Dependencies (Day 4)</a:t>
            </a:r>
          </a:p>
          <a:p>
            <a:pPr lvl="0" indent="0" marL="0">
              <a:buNone/>
            </a:pPr>
            <a:r>
              <a:rPr/>
              <a:t>Out-of-scope follow-ups (Day 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Pick One Feature, Defend the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Week-2 set has 3 feature concepts. Today you pick one. Use the four-dimension scoring sheet:</a:t>
            </a:r>
          </a:p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Friction severity</a:t>
            </a:r>
          </a:p>
          <a:p>
            <a:pPr lvl="0" indent="0" marL="0">
              <a:buNone/>
            </a:pPr>
            <a:r>
              <a:rPr/>
              <a:t>Mild annoyance</a:t>
            </a:r>
          </a:p>
          <a:p>
            <a:pPr lvl="0" indent="0" marL="0">
              <a:buNone/>
            </a:pPr>
            <a:r>
              <a:rPr/>
              <a:t>Task failure / lost data</a:t>
            </a:r>
          </a:p>
          <a:p>
            <a:pPr lvl="0" indent="0" marL="0">
              <a:buNone/>
            </a:pPr>
            <a:r>
              <a:rPr/>
              <a:t>Metric movability</a:t>
            </a:r>
          </a:p>
          <a:p>
            <a:pPr lvl="0" indent="0" marL="0">
              <a:buNone/>
            </a:pPr>
            <a:r>
              <a:rPr/>
              <a:t>Indirect, slow</a:t>
            </a:r>
          </a:p>
          <a:p>
            <a:pPr lvl="0" indent="0" marL="0">
              <a:buNone/>
            </a:pPr>
            <a:r>
              <a:rPr/>
              <a:t>Directly moves a Tier Sheet metric in 30 days</a:t>
            </a:r>
          </a:p>
          <a:p>
            <a:pPr lvl="0" indent="0" marL="0">
              <a:buNone/>
            </a:pPr>
            <a:r>
              <a:rPr/>
              <a:t>Build feasibility</a:t>
            </a:r>
          </a:p>
          <a:p>
            <a:pPr lvl="0" indent="0" marL="1270000">
              <a:buNone/>
            </a:pPr>
            <a:r>
              <a:rPr sz="2000"/>
              <a:t>1 quarter</a:t>
            </a:r>
          </a:p>
          <a:p>
            <a:pPr lvl="0" indent="0" marL="1270000">
              <a:buNone/>
            </a:pPr>
            <a:r>
              <a:rPr sz="2000"/>
              <a:t>Achievable in 6–8 weeks</a:t>
            </a:r>
          </a:p>
          <a:p>
            <a:pPr lvl="0" indent="0" marL="1270000">
              <a:buNone/>
            </a:pPr>
            <a:r>
              <a:rPr sz="2000"/>
              <a:t>Learning value</a:t>
            </a:r>
          </a:p>
          <a:p>
            <a:pPr lvl="0" indent="0" marL="1270000">
              <a:buNone/>
            </a:pPr>
            <a:r>
              <a:rPr sz="2000"/>
              <a:t>Confirms what we know</a:t>
            </a:r>
          </a:p>
          <a:p>
            <a:pPr lvl="0" indent="0" marL="1270000">
              <a:buNone/>
            </a:pPr>
            <a:r>
              <a:rPr sz="2000"/>
              <a:t>Tests an unproven assumption</a:t>
            </a:r>
          </a:p>
          <a:p>
            <a:pPr lvl="0" indent="0" marL="0">
              <a:buNone/>
            </a:pPr>
            <a:r>
              <a:rPr/>
              <a:t>Tie-breaker: if two features tie, the triad must argue, not split the difference. The discipline of choosing is the work.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Pick the One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Score your 3 Week-2 feature concepts on 4 dimensions. Pick one. Write a “Why this one” memo: 2 paragraphs, user terms + business terms.</a:t>
            </a:r>
          </a:p>
          <a:p>
            <a:pPr lvl="0" indent="0" marL="0">
              <a:buNone/>
            </a:pPr>
            <a:r>
              <a:rPr/>
              <a:t>5 min: re-read the 3 cards aloud</a:t>
            </a:r>
          </a:p>
          <a:p>
            <a:pPr lvl="0" indent="0" marL="0">
              <a:buNone/>
            </a:pPr>
            <a:r>
              <a:rPr/>
              <a:t>10 min: score each on 4 dimensions</a:t>
            </a:r>
          </a:p>
          <a:p>
            <a:pPr lvl="0" indent="0" marL="0">
              <a:buNone/>
            </a:pPr>
            <a:r>
              <a:rPr/>
              <a:t>10 min: pick + argue if tied</a:t>
            </a:r>
          </a:p>
          <a:p>
            <a:pPr lvl="0" indent="0" marL="0">
              <a:buNone/>
            </a:pPr>
            <a:r>
              <a:rPr/>
              <a:t>10 min: write the memo</a:t>
            </a:r>
          </a:p>
          <a:p>
            <a:pPr lvl="0" indent="0" marL="0">
              <a:buNone/>
            </a:pPr>
            <a:r>
              <a:rPr/>
              <a:t>⏱ 5 read · 10 score · 10 pick · 10 memo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Sections 1 and 2 of the PRD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Section 1 — Context (½ page max)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answers</a:t>
            </a:r>
          </a:p>
          <a:p>
            <a:pPr lvl="0" indent="0" marL="0">
              <a:buNone/>
            </a:pPr>
            <a:r>
              <a:rPr/>
              <a:t>Why this work?</a:t>
            </a:r>
          </a:p>
          <a:p>
            <a:pPr lvl="0" indent="0" marL="0">
              <a:buNone/>
            </a:pPr>
            <a:r>
              <a:rPr/>
              <a:t>Why now?</a:t>
            </a:r>
          </a:p>
          <a:p>
            <a:pPr lvl="0" indent="0" marL="0">
              <a:buNone/>
            </a:pPr>
            <a:r>
              <a:rPr/>
              <a:t>What changed?</a:t>
            </a:r>
          </a:p>
          <a:p>
            <a:pPr lvl="0" indent="0" marL="0">
              <a:buNone/>
            </a:pPr>
            <a:r>
              <a:rPr/>
              <a:t>What it avoids</a:t>
            </a:r>
          </a:p>
          <a:p>
            <a:pPr lvl="0" indent="0" marL="0">
              <a:buNone/>
            </a:pPr>
            <a:r>
              <a:rPr/>
              <a:t>“Customers are asking for it” (vague)</a:t>
            </a:r>
          </a:p>
          <a:p>
            <a:pPr lvl="0" indent="0" marL="0">
              <a:buNone/>
            </a:pPr>
            <a:r>
              <a:rPr/>
              <a:t>Marketing language</a:t>
            </a:r>
          </a:p>
          <a:p>
            <a:pPr lvl="0" indent="0" marL="0">
              <a:buNone/>
            </a:pPr>
            <a:r>
              <a:rPr/>
              <a:t>Restating company strategy from scratch</a:t>
            </a:r>
          </a:p>
          <a:p>
            <a:pPr lvl="0" indent="0" marL="0">
              <a:buNone/>
            </a:pPr>
            <a:r>
              <a:rPr/>
              <a:t>The test: after reading §1, the engineer should be willing to keep reading §2.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Section 2 — Problem (½ to ¾ page)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user’s job-to-be-done, the friction they hit today, why workarounds are inadequate.</a:t>
            </a:r>
          </a:p>
          <a:p>
            <a:pPr lvl="0" indent="0" marL="0">
              <a:buNone/>
            </a:pPr>
            <a:r>
              <a:rPr/>
              <a:t>Tie explicitly to the Week-2 journey map. Reference your friction stars by name.</a:t>
            </a:r>
          </a:p>
          <a:p>
            <a:pPr lvl="0" indent="0" marL="0">
              <a:buNone/>
            </a:pPr>
            <a:r>
              <a:rPr/>
              <a:t>❌ Generic</a:t>
            </a:r>
          </a:p>
          <a:p>
            <a:pPr lvl="0" indent="0" marL="0">
              <a:buNone/>
            </a:pPr>
            <a:r>
              <a:rPr/>
              <a:t>“Dispatchers struggle with reconciliation. The current process is inefficient and error-prone.”</a:t>
            </a:r>
          </a:p>
          <a:p>
            <a:pPr lvl="0" indent="0" marL="0">
              <a:buNone/>
            </a:pPr>
            <a:r>
              <a:rPr/>
              <a:t>✅ Specific</a:t>
            </a:r>
          </a:p>
          <a:p>
            <a:pPr lvl="0" indent="0" marL="0">
              <a:buNone/>
            </a:pPr>
            <a:r>
              <a:rPr/>
              <a:t>“Dispatchers spend ~45 min after-shift cross-checking 3 systems (paper tickets, truck stock, timecards). Maria (Interview 2) said: ‘I usually just guess on the last 4 entries by 6:30 because I want to get home.’”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§1 + §2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member drafts §1 alone, then triad picks the strongest. Repeat for §2. Quote a real customer at least once.</a:t>
            </a:r>
          </a:p>
          <a:p>
            <a:pPr lvl="0" indent="0" marL="0">
              <a:buNone/>
            </a:pPr>
            <a:r>
              <a:rPr/>
              <a:t>10 min: solo §1 drafts</a:t>
            </a:r>
          </a:p>
          <a:p>
            <a:pPr lvl="0" indent="0" marL="0">
              <a:buNone/>
            </a:pPr>
            <a:r>
              <a:rPr/>
              <a:t>10 min: pick + combine</a:t>
            </a:r>
          </a:p>
          <a:p>
            <a:pPr lvl="0" indent="0" marL="0">
              <a:buNone/>
            </a:pPr>
            <a:r>
              <a:rPr/>
              <a:t>10 min: solo §2 drafts</a:t>
            </a:r>
          </a:p>
          <a:p>
            <a:pPr lvl="0" indent="0" marL="0">
              <a:buNone/>
            </a:pPr>
            <a:r>
              <a:rPr/>
              <a:t>10 min: pick + combine + quote check</a:t>
            </a:r>
          </a:p>
          <a:p>
            <a:pPr lvl="0" indent="0" marL="0">
              <a:buNone/>
            </a:pPr>
            <a:r>
              <a:rPr/>
              <a:t>⏱ 10 + 10 + 10 + 10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Goals, Non-Goals,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Sections 3 and 4 — bound the work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Section 3 — Goals (3–5)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goal is a user outcome, not a feature</a:t>
            </a:r>
          </a:p>
          <a:p>
            <a:pPr lvl="0" indent="0" marL="0">
              <a:buNone/>
            </a:pPr>
            <a:r>
              <a:rPr/>
              <a:t>Each goal is observable within 30 days of ship</a:t>
            </a:r>
          </a:p>
          <a:p>
            <a:pPr lvl="0" indent="0" marL="0">
              <a:buNone/>
            </a:pPr>
            <a:r>
              <a:rPr/>
              <a:t>Each goal ties to a Tier Sheet metric from Week 2</a:t>
            </a:r>
          </a:p>
          <a:p>
            <a:pPr lvl="0" indent="0" marL="0">
              <a:buNone/>
            </a:pPr>
            <a:r>
              <a:rPr/>
              <a:t>❌ Feature-shaped</a:t>
            </a:r>
          </a:p>
          <a:p>
            <a:pPr lvl="0" indent="0" marL="0">
              <a:buNone/>
            </a:pPr>
            <a:r>
              <a:rPr/>
              <a:t>“Ship the new reconcile dashboard”</a:t>
            </a:r>
          </a:p>
          <a:p>
            <a:pPr lvl="0" indent="0" marL="0">
              <a:buNone/>
            </a:pPr>
            <a:r>
              <a:rPr/>
              <a:t>✅ Outcome-shaped</a:t>
            </a:r>
          </a:p>
          <a:p>
            <a:pPr lvl="0" indent="0" marL="0">
              <a:buNone/>
            </a:pPr>
            <a:r>
              <a:rPr/>
              <a:t>“Dispatchers see open work without hunting; median time-to-close drops 30%.”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🚫 Non-Goals (2–4) — the under-valued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Non-goals state what you explicitly will not do. Done well, this section pre-empts most scope-creep negotiations later.</a:t>
            </a:r>
          </a:p>
          <a:p>
            <a:pPr lvl="0" indent="0" marL="0">
              <a:buNone/>
            </a:pPr>
            <a:r>
              <a:rPr/>
              <a:t>FieldPulse examples:</a:t>
            </a:r>
          </a:p>
          <a:p>
            <a:pPr lvl="0" indent="0" marL="0">
              <a:buNone/>
            </a:pPr>
            <a:r>
              <a:rPr/>
              <a:t>“We will not redesign the navigation bar”</a:t>
            </a:r>
          </a:p>
          <a:p>
            <a:pPr lvl="0" indent="0" marL="0">
              <a:buNone/>
            </a:pPr>
            <a:r>
              <a:rPr/>
              <a:t>“We will not change the underlying data model for tickets”</a:t>
            </a:r>
          </a:p>
          <a:p>
            <a:pPr lvl="0" indent="0" marL="0">
              <a:buNone/>
            </a:pPr>
            <a:r>
              <a:rPr/>
              <a:t>“This iteration will not support tablets”</a:t>
            </a:r>
          </a:p>
          <a:p>
            <a:pPr lvl="0" indent="0" marL="0">
              <a:buNone/>
            </a:pPr>
            <a:r>
              <a:rPr/>
              <a:t>Coach’s prompt: “What’s the most ambitious thing a stakeholder might think this includes?” Put that in non-goals.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📍 Section 4 — Scope (in / 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scope</a:t>
            </a:r>
          </a:p>
          <a:p>
            <a:pPr lvl="0" indent="0" marL="0">
              <a:buNone/>
            </a:pPr>
            <a:r>
              <a:rPr/>
              <a:t>Out of scope (this iteration)</a:t>
            </a:r>
          </a:p>
          <a:p>
            <a:pPr lvl="0" indent="0" marL="0">
              <a:buNone/>
            </a:pPr>
            <a:r>
              <a:rPr/>
              <a:t>Mobile flow</a:t>
            </a:r>
          </a:p>
          <a:p>
            <a:pPr lvl="0" indent="0" marL="0">
              <a:buNone/>
            </a:pPr>
            <a:r>
              <a:rPr/>
              <a:t>Tablet layout</a:t>
            </a:r>
          </a:p>
          <a:p>
            <a:pPr lvl="0" indent="0" marL="0">
              <a:buNone/>
            </a:pPr>
            <a:r>
              <a:rPr/>
              <a:t>Online + offline draft</a:t>
            </a:r>
          </a:p>
          <a:p>
            <a:pPr lvl="0" indent="0" marL="0">
              <a:buNone/>
            </a:pPr>
            <a:r>
              <a:rPr/>
              <a:t>Offline-first sync</a:t>
            </a:r>
          </a:p>
          <a:p>
            <a:pPr lvl="0" indent="0" marL="0">
              <a:buNone/>
            </a:pPr>
            <a:r>
              <a:rPr/>
              <a:t>English only</a:t>
            </a:r>
          </a:p>
          <a:p>
            <a:pPr lvl="0" indent="0" marL="0">
              <a:buNone/>
            </a:pPr>
            <a:r>
              <a:rPr/>
              <a:t>Spanish localization</a:t>
            </a:r>
          </a:p>
          <a:p>
            <a:pPr lvl="0" indent="0" marL="0">
              <a:buNone/>
            </a:pPr>
            <a:r>
              <a:rPr/>
              <a:t>Single-shop dispatchers</a:t>
            </a:r>
          </a:p>
          <a:p>
            <a:pPr lvl="0" indent="0" marL="0">
              <a:buNone/>
            </a:pPr>
            <a:r>
              <a:rPr/>
              <a:t>Multi-shop / franchise admins</a:t>
            </a:r>
          </a:p>
          <a:p>
            <a:pPr lvl="0" indent="0" marL="0">
              <a:buNone/>
            </a:pPr>
            <a:r>
              <a:rPr/>
              <a:t>The right column is the negotiation tool: “I see what you might also want; here’s why this iteration doesn’t include it.”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§3 + §4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Draft 5 candidate goals; cull to 3. Draft 3 non-goals; cull to 2. Build the in/out scope table.</a:t>
            </a:r>
          </a:p>
          <a:p>
            <a:pPr lvl="0" indent="0" marL="0">
              <a:buNone/>
            </a:pPr>
            <a:r>
              <a:rPr/>
              <a:t>10 min: goals (draft 5, cull to 3)</a:t>
            </a:r>
          </a:p>
          <a:p>
            <a:pPr lvl="0" indent="0" marL="0">
              <a:buNone/>
            </a:pPr>
            <a:r>
              <a:rPr/>
              <a:t>10 min: non-goals (draft 3, cull to 2)</a:t>
            </a:r>
          </a:p>
          <a:p>
            <a:pPr lvl="0" indent="0" marL="0">
              <a:buNone/>
            </a:pPr>
            <a:r>
              <a:rPr/>
              <a:t>15 min: scope table</a:t>
            </a:r>
          </a:p>
          <a:p>
            <a:pPr lvl="0" indent="0" marL="0">
              <a:buNone/>
            </a:pPr>
            <a:r>
              <a:rPr/>
              <a:t>5 min: sanity-check goal ↔ metric ties</a:t>
            </a:r>
          </a:p>
          <a:p>
            <a:pPr lvl="0" indent="0" marL="0">
              <a:buNone/>
            </a:pPr>
            <a:r>
              <a:rPr/>
              <a:t>⏱ 10 + 10 + 15 + 5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Solution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Just enough for an engineer to imagine the shape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What Goes In §5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Include</a:t>
            </a:r>
          </a:p>
          <a:p>
            <a:pPr lvl="0" indent="0" marL="0">
              <a:buNone/>
            </a:pPr>
            <a:r>
              <a:rPr/>
              <a:t>User-visible flow (4–8 steps)</a:t>
            </a:r>
          </a:p>
          <a:p>
            <a:pPr lvl="0" indent="0" marL="0">
              <a:buNone/>
            </a:pPr>
            <a:r>
              <a:rPr/>
              <a:t>Key surfaces affected</a:t>
            </a:r>
          </a:p>
          <a:p>
            <a:pPr lvl="0" indent="0" marL="0">
              <a:buNone/>
            </a:pPr>
            <a:r>
              <a:rPr/>
              <a:t>Hard interactions with other systems</a:t>
            </a:r>
          </a:p>
          <a:p>
            <a:pPr lvl="0" indent="0" marL="0">
              <a:buNone/>
            </a:pPr>
            <a:r>
              <a:rPr/>
              <a:t>Happy-path narrative (one paragraph)</a:t>
            </a:r>
          </a:p>
          <a:p>
            <a:pPr lvl="0" indent="0" marL="0">
              <a:buNone/>
            </a:pPr>
            <a:r>
              <a:rPr/>
              <a:t>Optional: 1–2 paper sketches</a:t>
            </a:r>
          </a:p>
          <a:p>
            <a:pPr lvl="0" indent="0" marL="0">
              <a:buNone/>
            </a:pPr>
            <a:r>
              <a:rPr/>
              <a:t>❌ Exclude</a:t>
            </a:r>
          </a:p>
          <a:p>
            <a:pPr lvl="0" indent="0" marL="0">
              <a:buNone/>
            </a:pPr>
            <a:r>
              <a:rPr/>
              <a:t>Database schema decisions</a:t>
            </a:r>
          </a:p>
          <a:p>
            <a:pPr lvl="0" indent="0" marL="0">
              <a:buNone/>
            </a:pPr>
            <a:r>
              <a:rPr/>
              <a:t>Specific API contracts</a:t>
            </a:r>
          </a:p>
          <a:p>
            <a:pPr lvl="0" indent="0" marL="0">
              <a:buNone/>
            </a:pPr>
            <a:r>
              <a:rPr/>
              <a:t>Class names, library picks</a:t>
            </a:r>
          </a:p>
          <a:p>
            <a:pPr lvl="0" indent="0" marL="0">
              <a:buNone/>
            </a:pPr>
            <a:r>
              <a:rPr/>
              <a:t>Pixel-level layout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The “Engineer’s First Three Questions”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writing §5, ask: what are the first three questions an engineer would ask after reading this?</a:t>
            </a:r>
          </a:p>
          <a:p>
            <a:pPr lvl="0" indent="0" marL="0">
              <a:buNone/>
            </a:pPr>
            <a:r>
              <a:rPr/>
              <a:t>Their first question is about</a:t>
            </a:r>
          </a:p>
          <a:p>
            <a:pPr lvl="0" indent="0" marL="0">
              <a:buNone/>
            </a:pPr>
            <a:r>
              <a:rPr/>
              <a:t>Diagnosis</a:t>
            </a:r>
          </a:p>
          <a:p>
            <a:pPr lvl="0" indent="0" marL="0">
              <a:buNone/>
            </a:pPr>
            <a:r>
              <a:rPr/>
              <a:t>Implementation choice</a:t>
            </a:r>
          </a:p>
          <a:p>
            <a:pPr lvl="0" indent="0" marL="0">
              <a:buNone/>
            </a:pPr>
            <a:r>
              <a:rPr/>
              <a:t>You over-specified; pull back</a:t>
            </a:r>
          </a:p>
          <a:p>
            <a:pPr lvl="0" indent="0" marL="0">
              <a:buNone/>
            </a:pPr>
            <a:r>
              <a:rPr/>
              <a:t>User behavior or scope</a:t>
            </a:r>
          </a:p>
          <a:p>
            <a:pPr lvl="0" indent="0" marL="0">
              <a:buNone/>
            </a:pPr>
            <a:r>
              <a:rPr/>
              <a:t>You under-specified; add detail</a:t>
            </a:r>
          </a:p>
          <a:p>
            <a:pPr lvl="0" indent="0" marL="0">
              <a:buNone/>
            </a:pPr>
            <a:r>
              <a:rPr/>
              <a:t>Edge cases / error states</a:t>
            </a:r>
          </a:p>
          <a:p>
            <a:pPr lvl="0" indent="0" marL="0">
              <a:buNone/>
            </a:pPr>
            <a:r>
              <a:rPr/>
              <a:t>That’s correct — AC tomorrow will address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§5 Solution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+ Wrap</a:t>
            </a:r>
          </a:p>
          <a:p>
            <a:pPr lvl="0" indent="0" marL="0">
              <a:buNone/>
            </a:pPr>
            <a:r>
              <a:rPr/>
              <a:t>Sketch the flow on paper. Write the happy-path paragraph. List hard interactions. Run the three-questions test.</a:t>
            </a:r>
          </a:p>
          <a:p>
            <a:pPr lvl="0" indent="0" marL="0">
              <a:buNone/>
            </a:pPr>
            <a:r>
              <a:rPr/>
              <a:t>15 min: sketch flow (4–8 steps)</a:t>
            </a:r>
          </a:p>
          <a:p>
            <a:pPr lvl="0" indent="0" marL="0">
              <a:buNone/>
            </a:pPr>
            <a:r>
              <a:rPr/>
              <a:t>10 min: happy-path paragraph</a:t>
            </a:r>
          </a:p>
          <a:p>
            <a:pPr lvl="0" indent="0" marL="0">
              <a:buNone/>
            </a:pPr>
            <a:r>
              <a:rPr/>
              <a:t>10 min: hard interactions list</a:t>
            </a:r>
          </a:p>
          <a:p>
            <a:pPr lvl="0" indent="0" marL="0">
              <a:buNone/>
            </a:pPr>
            <a:r>
              <a:rPr/>
              <a:t>10 min: three-questions test</a:t>
            </a:r>
          </a:p>
          <a:p>
            <a:pPr lvl="0" indent="0" marL="0">
              <a:buNone/>
            </a:pPr>
            <a:r>
              <a:rPr/>
              <a:t>⏱ 15 + 10 + 10 + 10 · 15-min wrap-share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Feature locked in with reasoning</a:t>
            </a:r>
          </a:p>
          <a:p>
            <a:pPr lvl="0" indent="0" marL="0">
              <a:buNone/>
            </a:pPr>
            <a:r>
              <a:rPr/>
              <a:t>§1 Context (engineer-readable)</a:t>
            </a:r>
          </a:p>
          <a:p>
            <a:pPr lvl="0" indent="0" marL="0">
              <a:buNone/>
            </a:pPr>
            <a:r>
              <a:rPr/>
              <a:t>§2 Problem (with customer quote)</a:t>
            </a:r>
          </a:p>
          <a:p>
            <a:pPr lvl="0" indent="0" marL="0">
              <a:buNone/>
            </a:pPr>
            <a:r>
              <a:rPr/>
              <a:t>§3 Goals + non-goals (user outcomes)</a:t>
            </a:r>
          </a:p>
          <a:p>
            <a:pPr lvl="0" indent="0" marL="0">
              <a:buNone/>
            </a:pPr>
            <a:r>
              <a:rPr/>
              <a:t>§4 Scope (in/out table)</a:t>
            </a:r>
          </a:p>
          <a:p>
            <a:pPr lvl="0" indent="0" marL="0">
              <a:buNone/>
            </a:pPr>
            <a:r>
              <a:rPr/>
              <a:t>§5 Solution sketch (no over-spec)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Granular Acceptance Criteria</a:t>
            </a:r>
          </a:p>
          <a:p>
            <a:pPr lvl="0" indent="0" marL="0">
              <a:buNone/>
            </a:pPr>
            <a:r>
              <a:rPr/>
              <a:t>Given/When/Then form</a:t>
            </a:r>
          </a:p>
          <a:p>
            <a:pPr lvl="0" indent="0" marL="0">
              <a:buNone/>
            </a:pPr>
            <a:r>
              <a:rPr/>
              <a:t>The 5 AC failure modes</a:t>
            </a:r>
          </a:p>
          <a:p>
            <a:pPr lvl="0" indent="0" marL="0">
              <a:buNone/>
            </a:pPr>
            <a:r>
              <a:rPr/>
              <a:t>Peer-AC review</a:t>
            </a:r>
          </a:p>
          <a:p>
            <a:pPr lvl="0" indent="0" marL="0">
              <a:buNone/>
            </a:pPr>
            <a:r>
              <a:rPr/>
              <a:t>Bring to Day 2: Your draft §§1–5. AC will be written against them.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an engineer read your §5 right now, what would their first question be?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2026-07-01T16:56:09Z</dcterms:created>
  <dcterms:modified xsi:type="dcterms:W3CDTF">2026-07-01T16:56:09Z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