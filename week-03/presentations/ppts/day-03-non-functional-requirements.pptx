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Mid-week. AC done yesterday. Today is NFRs — the requirements that decide whether the feature survives contact with reality. Still non-AI.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quad has Section 7 complete. PRD is one day from full 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Perf+Obs → Sec+A11y+Comp → review with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NFR sections fail by being either generic (“the system shall be performant”) or untestable. Block 1 calibrates the shape before quads write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Defense field is the single most-skipped part of NFRs in the wild. Force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“No defense” and “boilerplate” are the most common; both result from copying templates without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A11y and Compliance are the most-skipped. Plant the discipline of “no category empty.”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Quads will under-detect “no defense” — it sounds clean if the number is specific. Surface this with your own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and observability are paired because one is meaningless without the other. Push quads toward p95 targets and named events, not averages and vague “monitoring.”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p95, not average. Average lies — if 50% of users hit 200ms and 50% hit 5s, the average is 2.6s but the experience is bimodal.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where Week-2’s Tier Sheet pays off. Quads who skipped that work struggle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quad’s perf target is “average,” push to p95. Average is the most common rookie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categories often get skipped or hand-waved. Today quads draft first versions — specific enough that security, a11y, and compliance reviewers can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this honestly — TPMs don’t need to be security architects. They need to draft the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quad omits A11y, redirect to Week 2 Day 3’s A11y Floor work. The 8 checks become the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Compliance is the most-skipped category. Force at least one NFR.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“The system shall be secure” gets a hard no. Push for specifics.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Senior engineers expect NFR sections to surface trade-offs, not pretend everything is achievable simultaneously. Block 4 forces that maturity before Friday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“Known Trade-offs” subsection is the senior-author signal. Quads who include it score higher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accept this” is a strong, mature stance. “We will if X happens” is even stronger.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 share: each quad reads aloud one explicit trade-off they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trade-off they made explicit they wouldn’t have surfaced before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push-back test sharpens self-assessment. Tomorrow assembles Sections 8–11 and integrates the full PRD for Friday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🔧 Non-Functional Requirements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• Day 3 • Requirements Engineering &amp; Mini-Capstone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NFRs in Requirement / Defense / Verification form — specific, defended, testable</a:t>
            </a:r>
          </a:p>
          <a:p>
            <a:pPr lvl="0" indent="0" marL="0">
              <a:buNone/>
            </a:pPr>
            <a:r>
              <a:rPr/>
              <a:t>Cover all five categories: Performance, Security, Accessibility, Observability, Compliance</a:t>
            </a:r>
          </a:p>
          <a:p>
            <a:pPr lvl="0" indent="0" marL="0">
              <a:buNone/>
            </a:pPr>
            <a:r>
              <a:rPr/>
              <a:t>Tie observability NFRs to the Tier Sheet operational signals from Week 2</a:t>
            </a:r>
          </a:p>
          <a:p>
            <a:pPr lvl="0" indent="0" marL="0">
              <a:buNone/>
            </a:pPr>
            <a:r>
              <a:rPr/>
              <a:t>Surface NFR trade-offs explicitly — mature Product Requirements Documents (PRDs) name the tensions</a:t>
            </a:r>
          </a:p>
          <a:p>
            <a:pPr lvl="0" indent="0" marL="0">
              <a:buNone/>
            </a:pPr>
            <a:r>
              <a:rPr/>
              <a:t>Deliver Section 7 with 6–10 NFRs + a Known Trade-offs subsection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Recap Section 6; restate non-AI; print NFR template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NFR Triage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Performance + Observability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Security + A11y + Compliance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NFR Cross-Review + Trade-offs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an NFR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most NFR sections fail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NFR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NFR is a constraint the system must hold under specified conditions, with a measurable target, a defended rationale, and a verification method.</a:t>
            </a:r>
          </a:p>
          <a:p>
            <a:pPr lvl="0" indent="0">
              <a:buNone/>
            </a:pPr>
            <a:r>
              <a:rPr>
                <a:latin typeface="Courier"/>
              </a:rPr>
              <a:t>### NFR — &lt;short name&gt;
**Category:** Performance / Security / Accessibility / Observability / Compliance
**Requirement:** &lt;specific, measurable target&gt;
**Defense:** &lt;why this number; what scenario justifies it&gt;
**Verification:** &lt;how we test/observe in production&gt;</a:t>
            </a:r>
          </a:p>
          <a:p>
            <a:pPr lvl="0" indent="0" marL="0">
              <a:buNone/>
            </a:pPr>
            <a:r>
              <a:rPr/>
              <a:t>Defense is the section that distinguishes TPM from boilerplate. “p95 &lt; 400ms because dispatchers tap this 40 times per shift” beats “should be fast.”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The 5 NFR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Example</a:t>
            </a:r>
          </a:p>
          <a:p>
            <a:pPr lvl="0" indent="0" marL="0">
              <a:buNone/>
            </a:pPr>
            <a:r>
              <a:rPr/>
              <a:t>Boilerplate</a:t>
            </a:r>
          </a:p>
          <a:p>
            <a:pPr lvl="0" indent="0" marL="0">
              <a:buNone/>
            </a:pPr>
            <a:r>
              <a:rPr/>
              <a:t>“Performance must be acceptable”</a:t>
            </a:r>
          </a:p>
          <a:p>
            <a:pPr lvl="0" indent="0" marL="0">
              <a:buNone/>
            </a:pPr>
            <a:r>
              <a:rPr/>
              <a:t>Unmeasurable</a:t>
            </a:r>
          </a:p>
          <a:p>
            <a:pPr lvl="0" indent="0" marL="0">
              <a:buNone/>
            </a:pPr>
            <a:r>
              <a:rPr/>
              <a:t>“The system shall be highly available”</a:t>
            </a:r>
          </a:p>
          <a:p>
            <a:pPr lvl="0" indent="0" marL="0">
              <a:buNone/>
            </a:pPr>
            <a:r>
              <a:rPr/>
              <a:t>No defense</a:t>
            </a:r>
          </a:p>
          <a:p>
            <a:pPr lvl="0" indent="0" marL="0">
              <a:buNone/>
            </a:pPr>
            <a:r>
              <a:rPr/>
              <a:t>“p95 latency &lt; 100ms” (with no rationale)</a:t>
            </a:r>
          </a:p>
          <a:p>
            <a:pPr lvl="0" indent="0" marL="0">
              <a:buNone/>
            </a:pPr>
            <a:r>
              <a:rPr/>
              <a:t>No verification</a:t>
            </a:r>
          </a:p>
          <a:p>
            <a:pPr lvl="0" indent="0" marL="0">
              <a:buNone/>
            </a:pPr>
            <a:r>
              <a:rPr/>
              <a:t>“The system shall be secure” (how would we know?)</a:t>
            </a:r>
          </a:p>
          <a:p>
            <a:pPr lvl="0" indent="0" marL="0">
              <a:buNone/>
            </a:pPr>
            <a:r>
              <a:rPr/>
              <a:t>Wrong category</a:t>
            </a:r>
          </a:p>
          <a:p>
            <a:pPr lvl="0" indent="0" marL="0">
              <a:buNone/>
            </a:pPr>
            <a:r>
              <a:rPr/>
              <a:t>A “Performance” NFR that’s actually a feature requirement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Five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</a:t>
            </a:r>
          </a:p>
          <a:p>
            <a:pPr lvl="0" indent="0" marL="0">
              <a:buNone/>
            </a:pPr>
            <a:r>
              <a:rPr/>
              <a:t>Latency (p50 / p95 / p99)</a:t>
            </a:r>
          </a:p>
          <a:p>
            <a:pPr lvl="0" indent="0" marL="0">
              <a:buNone/>
            </a:pPr>
            <a:r>
              <a:rPr/>
              <a:t>Throughput</a:t>
            </a:r>
          </a:p>
          <a:p>
            <a:pPr lvl="0" indent="0" marL="0">
              <a:buNone/>
            </a:pPr>
            <a:r>
              <a:rPr/>
              <a:t>Resource caps</a:t>
            </a:r>
          </a:p>
          <a:p>
            <a:pPr lvl="0" indent="0" marL="0">
              <a:buNone/>
            </a:pPr>
            <a:r>
              <a:rPr/>
              <a:t>Cold-start</a:t>
            </a:r>
          </a:p>
          <a:p>
            <a:pPr lvl="0" indent="0" marL="0">
              <a:buNone/>
            </a:pPr>
            <a:r>
              <a:rPr/>
              <a:t>Security</a:t>
            </a:r>
          </a:p>
          <a:p>
            <a:pPr lvl="0" indent="0" marL="0">
              <a:buNone/>
            </a:pPr>
            <a:r>
              <a:rPr/>
              <a:t>AuthN / AuthZ</a:t>
            </a:r>
          </a:p>
          <a:p>
            <a:pPr lvl="0" indent="0" marL="0">
              <a:buNone/>
            </a:pPr>
            <a:r>
              <a:rPr/>
              <a:t>Data classification</a:t>
            </a:r>
          </a:p>
          <a:p>
            <a:pPr lvl="0" indent="0" marL="0">
              <a:buNone/>
            </a:pPr>
            <a:r>
              <a:rPr/>
              <a:t>Encryption</a:t>
            </a:r>
          </a:p>
          <a:p>
            <a:pPr lvl="0" indent="0" marL="0">
              <a:buNone/>
            </a:pPr>
            <a:r>
              <a:rPr/>
              <a:t>Audit logging</a:t>
            </a:r>
          </a:p>
          <a:p>
            <a:pPr lvl="0" indent="0" marL="0">
              <a:buNone/>
            </a:pPr>
            <a:r>
              <a:rPr/>
              <a:t>Accessibility</a:t>
            </a:r>
          </a:p>
          <a:p>
            <a:pPr lvl="0" indent="0" marL="0">
              <a:buNone/>
            </a:pPr>
            <a:r>
              <a:rPr/>
              <a:t>WCAG 2.1 AA</a:t>
            </a:r>
          </a:p>
          <a:p>
            <a:pPr lvl="0" indent="0" marL="0">
              <a:buNone/>
            </a:pPr>
            <a:r>
              <a:rPr/>
              <a:t>Keyboard reachability</a:t>
            </a:r>
          </a:p>
          <a:p>
            <a:pPr lvl="0" indent="0" marL="0">
              <a:buNone/>
            </a:pPr>
            <a:r>
              <a:rPr/>
              <a:t>Screen reader</a:t>
            </a:r>
          </a:p>
          <a:p>
            <a:pPr lvl="0" indent="0" marL="0">
              <a:buNone/>
            </a:pPr>
            <a:r>
              <a:rPr/>
              <a:t>Reduced motion</a:t>
            </a:r>
          </a:p>
          <a:p>
            <a:pPr lvl="0" indent="0" marL="0">
              <a:buNone/>
            </a:pPr>
            <a:r>
              <a:rPr/>
              <a:t>Observability</a:t>
            </a:r>
          </a:p>
          <a:p>
            <a:pPr lvl="0" indent="0" marL="0">
              <a:buNone/>
            </a:pPr>
            <a:r>
              <a:rPr/>
              <a:t>Logs (structured)</a:t>
            </a:r>
          </a:p>
          <a:p>
            <a:pPr lvl="0" indent="0" marL="0">
              <a:buNone/>
            </a:pPr>
            <a:r>
              <a:rPr/>
              <a:t>Metrics (Tier Sheet!)</a:t>
            </a:r>
          </a:p>
          <a:p>
            <a:pPr lvl="0" indent="0" marL="0">
              <a:buNone/>
            </a:pPr>
            <a:r>
              <a:rPr/>
              <a:t>Traces</a:t>
            </a:r>
          </a:p>
          <a:p>
            <a:pPr lvl="0" indent="0" marL="0">
              <a:buNone/>
            </a:pPr>
            <a:r>
              <a:rPr/>
              <a:t>Alerts</a:t>
            </a:r>
          </a:p>
          <a:p>
            <a:pPr lvl="0" indent="0" marL="0">
              <a:buNone/>
            </a:pPr>
            <a:r>
              <a:rPr/>
              <a:t>Compliance</a:t>
            </a:r>
          </a:p>
          <a:p>
            <a:pPr lvl="0" indent="0" marL="0">
              <a:buNone/>
            </a:pPr>
            <a:r>
              <a:rPr/>
              <a:t>Data residency</a:t>
            </a:r>
          </a:p>
          <a:p>
            <a:pPr lvl="0" indent="0" marL="0">
              <a:buNone/>
            </a:pPr>
            <a:r>
              <a:rPr/>
              <a:t>Retention windows</a:t>
            </a:r>
          </a:p>
          <a:p>
            <a:pPr lvl="0" indent="0" marL="0">
              <a:buNone/>
            </a:pPr>
            <a:r>
              <a:rPr/>
              <a:t>Industry-specific</a:t>
            </a:r>
          </a:p>
          <a:p>
            <a:pPr lvl="0" indent="0" marL="0">
              <a:buNone/>
            </a:pPr>
            <a:r>
              <a:rPr/>
              <a:t>Audit trails</a:t>
            </a:r>
          </a:p>
          <a:p>
            <a:pPr lvl="0" indent="0" marL="0">
              <a:buNone/>
            </a:pPr>
            <a:r>
              <a:rPr/>
              <a:t>(Coverage)</a:t>
            </a:r>
          </a:p>
          <a:p>
            <a:pPr lvl="0" indent="0" marL="0">
              <a:buNone/>
            </a:pPr>
            <a:r>
              <a:rPr/>
              <a:t>Each gets ≥ 1 NFR</a:t>
            </a:r>
          </a:p>
          <a:p>
            <a:pPr lvl="0" indent="0" marL="0">
              <a:buNone/>
            </a:pPr>
            <a:r>
              <a:rPr/>
              <a:t>6–10 total</a:t>
            </a:r>
          </a:p>
          <a:p>
            <a:pPr lvl="0" indent="0" marL="0">
              <a:buNone/>
            </a:pPr>
            <a:r>
              <a:rPr/>
              <a:t>No category empty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NFR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10 NFR examples. Identify the failure mode(s) for each. Rewrite the 5 worst.</a:t>
            </a:r>
          </a:p>
          <a:p>
            <a:pPr lvl="0" indent="0" marL="0">
              <a:buNone/>
            </a:pPr>
            <a:r>
              <a:rPr/>
              <a:t>25 min: triage all 10</a:t>
            </a:r>
          </a:p>
          <a:p>
            <a:pPr lvl="0" indent="0" marL="0">
              <a:buNone/>
            </a:pPr>
            <a:r>
              <a:rPr/>
              <a:t>15 min: rewrite the 5 worst</a:t>
            </a:r>
          </a:p>
          <a:p>
            <a:pPr lvl="0" indent="0" marL="0">
              <a:buNone/>
            </a:pPr>
            <a:r>
              <a:rPr/>
              <a:t>5 min: identify the hardest one to defend even after rewriting</a:t>
            </a:r>
          </a:p>
          <a:p>
            <a:pPr lvl="0" indent="0" marL="0">
              <a:buNone/>
            </a:pPr>
            <a:r>
              <a:rPr/>
              <a:t>⏱ 15 triage · 15 rewrite · 5 reflect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Performance +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“What should we expect” + “How would we know”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⚡ Worked Performance NFR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### NFR — Reconcile flow latency
**Category:** Performance
**Requirement:** Modal opens within 1 second (p95) on the median
dispatcher device (mid-tier Android, 2-yr-old hardware)
on a 4G LTE connection.
**Defense:** Dispatchers tap "Reconcile all" 30+ times per shift.
At p95 = 1s, cumulative wait ≤ 30s/shift. At p95 = 3s,
wait = 90s/shift, crossing the threshold dispatchers
reported as "I'd rather use paper."
**Verification:** Synthetic transaction in Datadog from a fleet of
mid-tier devices. p95 reported daily; alert if 7-day
trailing p95 &gt; 1.2s.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Worked Observability NFR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### NFR — Reconcile flow event coverage
**Category:** Observability
**Requirement:** The reconcile flow emits structured events for:
open_modal, ticket_select, ticket_deselect,
submit_attempt, submit_success, submit_failure (with
reason), abandon (modal closed without submit).
**Defense:** Three Tier-Sheet operational signals (abandonment rate,
submit-failure reasons, time-to-submit) require these
events. Without them, we cannot measure success.
**Verification:** Smoke test in staging asserts each event fires;
production dashboard tracks event counts per dispatcher
per shift.</a:t>
            </a:r>
          </a:p>
          <a:p>
            <a:pPr lvl="0" indent="0" marL="0">
              <a:buNone/>
            </a:pPr>
            <a:r>
              <a:rPr/>
              <a:t>The cross-check: every Tier Sheet operational signal needs an observability NFR enabling it. If you can’t measure it, you can’t move it.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Perf + Obs NFRs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Each member proposes 1 Performance NFR; quad picks 2–3. Same drill for Observability.</a:t>
            </a:r>
          </a:p>
          <a:p>
            <a:pPr lvl="0" indent="0" marL="0">
              <a:buNone/>
            </a:pPr>
            <a:r>
              <a:rPr/>
              <a:t>25 min: 2–3 Performance NFRs with defenses</a:t>
            </a:r>
          </a:p>
          <a:p>
            <a:pPr lvl="0" indent="0" marL="0">
              <a:buNone/>
            </a:pPr>
            <a:r>
              <a:rPr/>
              <a:t>15 min: 2–3 Observability NFRs (reference Tier Sheet)</a:t>
            </a:r>
          </a:p>
          <a:p>
            <a:pPr lvl="0" indent="0" marL="0">
              <a:buNone/>
            </a:pPr>
            <a:r>
              <a:rPr/>
              <a:t>10 min: cross-check perf ↔ obs coverage</a:t>
            </a:r>
          </a:p>
          <a:p>
            <a:pPr lvl="0" indent="0" marL="0">
              <a:buNone/>
            </a:pPr>
            <a:r>
              <a:rPr/>
              <a:t>⏱ 25 + 15 + 10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Security + A11y +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“draft the first version” categories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🔒 Security NFRs — the standard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AuthN: How do we know who the user is?</a:t>
            </a:r>
          </a:p>
          <a:p>
            <a:pPr lvl="0" indent="0" marL="0">
              <a:buNone/>
            </a:pPr>
            <a:r>
              <a:rPr/>
              <a:t>AuthZ: What can this user do? (Explicit not-allowed list)</a:t>
            </a:r>
          </a:p>
          <a:p>
            <a:pPr lvl="0" indent="0" marL="0">
              <a:buNone/>
            </a:pPr>
            <a:r>
              <a:rPr/>
              <a:t>Data classification: personally identifiable information (PII) / Payment Card Industry (PCI) / internal / public — what touches what?</a:t>
            </a:r>
          </a:p>
          <a:p>
            <a:pPr lvl="0" indent="0" marL="0">
              <a:buNone/>
            </a:pPr>
            <a:r>
              <a:rPr/>
              <a:t>Encryption: In transit via Transport Layer Security (TLS 1.2+); at rest (managed keys?)</a:t>
            </a:r>
          </a:p>
          <a:p>
            <a:pPr lvl="0" indent="0" marL="0">
              <a:buNone/>
            </a:pPr>
            <a:r>
              <a:rPr/>
              <a:t>Audit: What user actions are logged? Where? Retained how long?</a:t>
            </a:r>
          </a:p>
          <a:p>
            <a:pPr lvl="0" indent="0" marL="0">
              <a:buNone/>
            </a:pPr>
            <a:r>
              <a:rPr/>
              <a:t>The TPM job: not to be the security expert. To draft the first version so the security team has a starting point.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♿️ Accessibility NFRs (pull from Week 2 Day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floor is the Web Content Accessibility Guidelines (WCAG) 2.1 AA standard.</a:t>
            </a:r>
          </a:p>
          <a:p>
            <a:pPr lvl="0" indent="0">
              <a:buNone/>
            </a:pPr>
            <a:r>
              <a:rPr>
                <a:latin typeface="Courier"/>
              </a:rPr>
              <a:t>### NFR — Accessibility floor
**Category:** Accessibility
**Requirement:** The reconcile flow conforms to WCAG 2.1 AA. All
interactive elements keyboard-focusable; visible focus
indicators; 4.5:1 text contrast minimum; form fields
labeled; error messages identify the field.
**Defense:** Customer base includes dispatchers using assistive
technology (Interview 3: screen-reader user). ADA
exposure is non-trivial in our segment.
**Verification:** axe-core scan on every PR; manual screen-reader
pass before launch.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Compliance NFRs — FieldPulse-flavored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### NFR — Audit trail retention
**Category:** Compliance
**Requirement:** Reconcile-flow events are retained for 24 months
in the audit event store, queryable by dispatcher_id
and date range.
**Defense:** SOC 2 Type II requires user-action audit trail;
dispatch decisions are subject to wage-and-hour audit
by some state authorities.
**Verification:** Quarterly audit-trail test: random user-event
from 18 months ago must be retrievable in &lt;10 minutes.</a:t>
            </a:r>
          </a:p>
          <a:p>
            <a:pPr lvl="0" indent="0" marL="0">
              <a:buNone/>
            </a:pPr>
            <a:r>
              <a:rPr/>
              <a:t>If you have no compliance NFR, ask: “If a regulator audited this feature, what would they ask?” That answer is your NFR.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Sec + A11y + Comp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3–5 Security NFRs (5-question set). 1–2 A11y NFRs (Week 2 Day 3). 1–2 Compliance NFRs.</a:t>
            </a:r>
          </a:p>
          <a:p>
            <a:pPr lvl="0" indent="0" marL="0">
              <a:buNone/>
            </a:pPr>
            <a:r>
              <a:rPr/>
              <a:t>25 min: Security (3–5 NFRs)</a:t>
            </a:r>
          </a:p>
          <a:p>
            <a:pPr lvl="0" indent="0" marL="0">
              <a:buNone/>
            </a:pPr>
            <a:r>
              <a:rPr/>
              <a:t>10 min: Accessibility (1–2 NFRs)</a:t>
            </a:r>
          </a:p>
          <a:p>
            <a:pPr lvl="0" indent="0" marL="0">
              <a:buNone/>
            </a:pPr>
            <a:r>
              <a:rPr/>
              <a:t>10 min: Compliance (1–2 NFRs)</a:t>
            </a:r>
          </a:p>
          <a:p>
            <a:pPr lvl="0" indent="0" marL="0">
              <a:buNone/>
            </a:pPr>
            <a:r>
              <a:rPr/>
              <a:t>5 min: defenses are real, not boilerplate</a:t>
            </a:r>
          </a:p>
          <a:p>
            <a:pPr lvl="0" indent="0" marL="0">
              <a:buNone/>
            </a:pPr>
            <a:r>
              <a:rPr/>
              <a:t>⏱ 25 + 10 + 10 + 5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Trade-Offs &amp; Cross-Review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Mature NFR sections name the tensions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⚔️ Four Classic NFR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</a:t>
            </a:r>
          </a:p>
          <a:p>
            <a:pPr lvl="0" indent="0" marL="0">
              <a:buNone/>
            </a:pPr>
            <a:r>
              <a:rPr/>
              <a:t>The tension</a:t>
            </a:r>
          </a:p>
          <a:p>
            <a:pPr lvl="0" indent="0" marL="0">
              <a:buNone/>
            </a:pPr>
            <a:r>
              <a:rPr/>
              <a:t>Performance vs Observability</a:t>
            </a:r>
          </a:p>
          <a:p>
            <a:pPr lvl="0" indent="0" marL="0">
              <a:buNone/>
            </a:pPr>
            <a:r>
              <a:rPr/>
              <a:t>Heavy logging slows the hot path; light logging blinds you</a:t>
            </a:r>
          </a:p>
          <a:p>
            <a:pPr lvl="0" indent="0" marL="0">
              <a:buNone/>
            </a:pPr>
            <a:r>
              <a:rPr/>
              <a:t>Security vs Time-to-first-value</a:t>
            </a:r>
          </a:p>
          <a:p>
            <a:pPr lvl="0" indent="0" marL="0">
              <a:buNone/>
            </a:pPr>
            <a:r>
              <a:rPr/>
              <a:t>Strict authZ blocks the new-user happy path</a:t>
            </a:r>
          </a:p>
          <a:p>
            <a:pPr lvl="0" indent="0" marL="0">
              <a:buNone/>
            </a:pPr>
            <a:r>
              <a:rPr/>
              <a:t>Compliance vs Latency</a:t>
            </a:r>
          </a:p>
          <a:p>
            <a:pPr lvl="0" indent="0" marL="0">
              <a:buNone/>
            </a:pPr>
            <a:r>
              <a:rPr/>
              <a:t>EU data residency adds cross-region hops</a:t>
            </a:r>
          </a:p>
          <a:p>
            <a:pPr lvl="0" indent="0" marL="0">
              <a:buNone/>
            </a:pPr>
            <a:r>
              <a:rPr/>
              <a:t>Accessibility vs Visual Polish</a:t>
            </a:r>
          </a:p>
          <a:p>
            <a:pPr lvl="0" indent="0" marL="0">
              <a:buNone/>
            </a:pPr>
            <a:r>
              <a:rPr/>
              <a:t>Some animations conflict with reduced-motion / screen-reader</a:t>
            </a:r>
          </a:p>
          <a:p>
            <a:pPr lvl="0" indent="0" marL="0">
              <a:buNone/>
            </a:pPr>
            <a:r>
              <a:rPr/>
              <a:t>Mature sections: name the trade-off, name the resolution (or note the open tension).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Known-Trade-offs Subsection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### Known trade-offs (in this section)
- **Audit logging vs latency:** NFR-7 (full event logging) adds
~30ms to the hot path tested in NFR-1. We accept this; if
hot-path latency becomes the bottleneck, we will move logging
to async dispatch.
- **Strict RBAC vs onboarding:** NFR-10 (managers cannot view
dispatcher reconciles in their first week) blocks an onboarding
scenario. Resolved: managers see read-only view in week 1; full
view in week 2.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NFR Cross-Review +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 pairs • 55 minutes • Wrap</a:t>
            </a:r>
          </a:p>
          <a:p>
            <a:pPr lvl="0" indent="0" marL="0">
              <a:buNone/>
            </a:pPr>
            <a:r>
              <a:rPr/>
              <a:t>Cross-review the NFR section (same pairing as Day 2). Surface trade-offs. Add the Known Trade-offs subsection.</a:t>
            </a:r>
          </a:p>
          <a:p>
            <a:pPr lvl="0" indent="0" marL="0">
              <a:buNone/>
            </a:pPr>
            <a:r>
              <a:rPr/>
              <a:t>10 min: read NFR section, check defenses + verifications</a:t>
            </a:r>
          </a:p>
          <a:p>
            <a:pPr lvl="0" indent="0" marL="0">
              <a:buNone/>
            </a:pPr>
            <a:r>
              <a:rPr/>
              <a:t>10 min: reviewer surfaces trade-offs</a:t>
            </a:r>
          </a:p>
          <a:p>
            <a:pPr lvl="0" indent="0" marL="0">
              <a:buNone/>
            </a:pPr>
            <a:r>
              <a:rPr/>
              <a:t>10 min: author quad responds</a:t>
            </a:r>
          </a:p>
          <a:p>
            <a:pPr lvl="0" indent="0" marL="0">
              <a:buNone/>
            </a:pPr>
            <a:r>
              <a:rPr/>
              <a:t>25 min: revise + add Known Trade-offs subsection</a:t>
            </a:r>
          </a:p>
          <a:p>
            <a:pPr lvl="0" indent="0" marL="0">
              <a:buNone/>
            </a:pPr>
            <a:r>
              <a:rPr/>
              <a:t>⏱ 10 + 10 + 10 + 25 · 15-min wrap-share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NFR Triage discipline (5 failure modes)</a:t>
            </a:r>
          </a:p>
          <a:p>
            <a:pPr lvl="0" indent="0" marL="0">
              <a:buNone/>
            </a:pPr>
            <a:r>
              <a:rPr/>
              <a:t>Coverage across 5 categories</a:t>
            </a:r>
          </a:p>
          <a:p>
            <a:pPr lvl="0" indent="0" marL="0">
              <a:buNone/>
            </a:pPr>
            <a:r>
              <a:rPr/>
              <a:t>Tier-Sheet-linked observability</a:t>
            </a:r>
          </a:p>
          <a:p>
            <a:pPr lvl="0" indent="0" marL="0">
              <a:buNone/>
            </a:pPr>
            <a:r>
              <a:rPr/>
              <a:t>Known Trade-offs subsection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Mini-capstone Product Requirements Document (PRD) assembly</a:t>
            </a:r>
          </a:p>
          <a:p>
            <a:pPr lvl="0" indent="0" marL="0">
              <a:buNone/>
            </a:pPr>
            <a:r>
              <a:rPr/>
              <a:t>Add Section 8 Metrics, Section 9 Risks, Section 10 Deps, Section 11 Out-of-scope</a:t>
            </a:r>
          </a:p>
          <a:p>
            <a:pPr lvl="0" indent="0" marL="0">
              <a:buNone/>
            </a:pPr>
            <a:r>
              <a:rPr/>
              <a:t>Final pass + integration check</a:t>
            </a:r>
          </a:p>
          <a:p>
            <a:pPr lvl="0" indent="0" marL="0">
              <a:buNone/>
            </a:pPr>
            <a:r>
              <a:rPr/>
              <a:t>Still non-AI</a:t>
            </a:r>
          </a:p>
          <a:p>
            <a:pPr lvl="0" indent="0" marL="0">
              <a:buNone/>
            </a:pPr>
            <a:r>
              <a:rPr/>
              <a:t>Bring to Day 4: Sections 1–7 complete. Tomorrow you ship.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your NFRs would a senior engineer push back on hardest?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2026-08-23T18:36:03Z</dcterms:created>
  <dcterms:modified xsi:type="dcterms:W3CDTF">2026-08-23T18:36:03Z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