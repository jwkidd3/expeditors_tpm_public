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notesMaster" Target="notesMasters/notesMaster1.xml" /><Relationship Id="rId33" Type="http://schemas.openxmlformats.org/officeDocument/2006/relationships/viewProps" Target="viewProps.xml" /><Relationship Id="rId32" Type="http://schemas.openxmlformats.org/officeDocument/2006/relationships/presProps" Target="presProps.xml" /><Relationship Id="rId1" Type="http://schemas.openxmlformats.org/officeDocument/2006/relationships/slideMaster" Target="slideMasters/slideMaster1.xml" /><Relationship Id="rId35" Type="http://schemas.openxmlformats.org/officeDocument/2006/relationships/tableStyles" Target="tableStyles.xml" /><Relationship Id="rId3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this as a live review game to close the week. Read the question, let triads commit to an answer out loud or on paper, then advance to the answer slide. The goal is retention through retrieval — make them commit before revealing.</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Emphasize commitment before reveal. The retrieval effort is what moves knowledge into long-term memory — passively recognizing the right answer does far less.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Day 1’s anchor. Let them argue A vs B — approval by a sponsor is not the same as being engineer-ready. The “no clarifying call” test is the whole week’s north star.</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Reinforce: this is what “technical” means here — not jargon, but self-sufficient for scoping. Every section serves this test.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word “faster” is the trap. Let them vote before revealing — this is the defining constraint of the week.</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Repeat the framing: the discipline of structured thinking expressed as written words. Friday’s review surfaces generic prose fast.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of these are on the “exclude” list. Ex-engineers reach for schema and contracts. §5 gives shape, not implementation.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Tie to the “engineer’s first three questions” test: if their first question is about implementation, you over-specified; if it’s about user behavior, you under-specified.</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trickiest failure mode because it sounds correct. Use the “could you write a test without running an A/B?” check to expose it.</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Contrast with a clean AC: “Then the reconcile modal opens within 1 second and shows open tickets pre-selected.” That’s testable; “reconcile faster” is a metric.</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them vote. This is where TPMs earn their seat — hold the cohort on weird paths even when they want to wrap.</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Aim for 8–12 AC total: 3–5 happy, 2–4 sad, 2–4 weird. Happy-path-only PRDs get docked Friday.</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Most people pick Requirement or Verification. The Defense field — the “why this number” — is the most-skipped part of NFRs in the wild.</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Force the Defense field in every NFR. “No defense” reads clean when the number is specific — that’s exactly why triads under-detect it.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Average is the most common rookie failure. Push the room to explain why the mean is misleading before revealing.</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Anchor to the worked NFR: p95 opens within 1s on a mid-tier Android over 4G, verified by synthetic transactions with a trailing-p95 alert.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Senior engineers expect this. Let them vote — the reflex to hide trade-offs is what this question tests.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Classic tensions: performance vs observability, security vs time-to-first-value, compliance vs latency, accessibility vs visual polish. Name them, don’t hide them.</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auth team” feels like an owner but isn’t. This is the “TBD owner” trap in disguise.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discipline runs through §9 open questions — every one gets an owner and a “needed by” date. Names and dates, not teams and “soon.”</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one flushes out the instinct to look confident. Let them vote before the reveal.</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a triad insists they have none, ask: “What scenario would make us regret this?” There’s always at least one.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weights are deliberate. AC is where PRDs most often break under engineering review — so it carries the most points.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“with gaps” path is honest, not a failure — most PRDs land 2.0–3.5.</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and D are real Friday rules too — that’s the trap. But “the reviewer rule” is the one that kills lazy feedback.</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strengths (required) and no reviewer coordination (independence) are also real rules — but this is the one that makes review useful instead of vague.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by asking each triad which single question they got wrong and why. The misses point at the section of their PRD they should reread before Week 4’s architecture work.</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Week 3 Knowledge Check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Requirements Engineering &amp; Mini-Capstone</a:t>
            </a:r>
          </a:p>
        </p:txBody>
      </p:sp>
      <p:sp>
        <p:nvSpPr>
          <p:cNvPr id="3" name="Content Placeholder 2"/>
          <p:cNvSpPr>
            <a:spLocks noGrp="1"/>
          </p:cNvSpPr>
          <p:nvPr>
            <p:ph idx="1"/>
          </p:nvPr>
        </p:nvSpPr>
        <p:spPr/>
        <p:txBody>
          <a:bodyPr/>
          <a:lstStyle/>
          <a:p>
            <a:pPr lvl="0" indent="0" marL="0">
              <a:spcBef>
                <a:spcPts val="3000"/>
              </a:spcBef>
              <a:buNone/>
            </a:pPr>
            <a:r>
              <a:rPr b="1"/>
              <a:t>Technical Product Manager Academy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How This Works</a:t>
            </a:r>
          </a:p>
        </p:txBody>
      </p:sp>
      <p:sp>
        <p:nvSpPr>
          <p:cNvPr id="3" name="Content Placeholder 2"/>
          <p:cNvSpPr>
            <a:spLocks noGrp="1"/>
          </p:cNvSpPr>
          <p:nvPr>
            <p:ph idx="1"/>
          </p:nvPr>
        </p:nvSpPr>
        <p:spPr/>
        <p:txBody>
          <a:bodyPr/>
          <a:lstStyle/>
          <a:p>
            <a:pPr lvl="0" indent="0" marL="0">
              <a:buNone/>
            </a:pPr>
            <a:r>
              <a:rPr/>
              <a:t>12 questions across the week — technical PRDs, acceptance criteria, non-functional requirements, PRD assembly, and structured review.  Commit to an answer before the reveal. Retrieval is the point.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a:t>
            </a:r>
          </a:p>
        </p:txBody>
      </p:sp>
      <p:sp>
        <p:nvSpPr>
          <p:cNvPr id="3" name="Content Placeholder 2"/>
          <p:cNvSpPr>
            <a:spLocks noGrp="1"/>
          </p:cNvSpPr>
          <p:nvPr>
            <p:ph idx="1"/>
          </p:nvPr>
        </p:nvSpPr>
        <p:spPr/>
        <p:txBody>
          <a:bodyPr/>
          <a:lstStyle/>
          <a:p>
            <a:pPr lvl="0" indent="0" marL="0">
              <a:buNone/>
            </a:pPr>
            <a:r>
              <a:rPr/>
              <a:t>What is the “TPM contract” — the test that distinguishes a Technical PRD from a generic PM PRD?</a:t>
            </a:r>
          </a:p>
          <a:p>
            <a:pPr lvl="0" indent="-342900" marL="342900">
              <a:buAutoNum type="alphaUcParenR"/>
            </a:pPr>
            <a:r>
              <a:rPr/>
              <a:t>A PRD the executive sponsor approves without edits</a:t>
            </a:r>
          </a:p>
          <a:p>
            <a:pPr lvl="0" indent="-342900" marL="342900">
              <a:buAutoNum type="alphaUcParenR"/>
            </a:pPr>
            <a:r>
              <a:rPr/>
              <a:t>A PRD an engineering lead would accept as scoping input without a clarifying call</a:t>
            </a:r>
          </a:p>
          <a:p>
            <a:pPr lvl="0" indent="-342900" marL="342900">
              <a:buAutoNum type="alphaUcParenR"/>
            </a:pPr>
            <a:r>
              <a:rPr/>
              <a:t>A PRD that fits on a single page</a:t>
            </a:r>
          </a:p>
          <a:p>
            <a:pPr lvl="0" indent="-342900" marL="342900">
              <a:buAutoNum type="alphaUcParenR"/>
            </a:pPr>
            <a:r>
              <a:rPr/>
              <a:t>A PRD marketing can turn into launch copy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 — B</a:t>
            </a:r>
          </a:p>
        </p:txBody>
      </p:sp>
      <p:sp>
        <p:nvSpPr>
          <p:cNvPr id="3" name="Content Placeholder 2"/>
          <p:cNvSpPr>
            <a:spLocks noGrp="1"/>
          </p:cNvSpPr>
          <p:nvPr>
            <p:ph idx="1"/>
          </p:nvPr>
        </p:nvSpPr>
        <p:spPr/>
        <p:txBody>
          <a:bodyPr/>
          <a:lstStyle/>
          <a:p>
            <a:pPr lvl="0" indent="0" marL="0">
              <a:buNone/>
            </a:pPr>
            <a:r>
              <a:rPr/>
              <a:t>An engineering lead would accept it as scoping input without a clarifying call.</a:t>
            </a:r>
          </a:p>
          <a:p>
            <a:pPr lvl="0" indent="0" marL="0">
              <a:buNone/>
            </a:pPr>
            <a:r>
              <a:rPr/>
              <a:t>The single best evaluation criterion — and the bar Friday’s review uses.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2 — True / False</a:t>
            </a:r>
          </a:p>
        </p:txBody>
      </p:sp>
      <p:sp>
        <p:nvSpPr>
          <p:cNvPr id="3" name="Content Placeholder 2"/>
          <p:cNvSpPr>
            <a:spLocks noGrp="1"/>
          </p:cNvSpPr>
          <p:nvPr>
            <p:ph idx="1"/>
          </p:nvPr>
        </p:nvSpPr>
        <p:spPr/>
        <p:txBody>
          <a:bodyPr/>
          <a:lstStyle/>
          <a:p>
            <a:pPr lvl="0" indent="0" marL="0">
              <a:buNone/>
            </a:pPr>
            <a:r>
              <a:rPr/>
              <a:t>Week 3 encourages using AI to draft the PRD faster, so triads can spend more of their time on review.</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2 — False</a:t>
            </a:r>
          </a:p>
        </p:txBody>
      </p:sp>
      <p:sp>
        <p:nvSpPr>
          <p:cNvPr id="3" name="Content Placeholder 2"/>
          <p:cNvSpPr>
            <a:spLocks noGrp="1"/>
          </p:cNvSpPr>
          <p:nvPr>
            <p:ph idx="1"/>
          </p:nvPr>
        </p:nvSpPr>
        <p:spPr/>
        <p:txBody>
          <a:bodyPr/>
          <a:lstStyle/>
          <a:p>
            <a:pPr lvl="0" indent="0" marL="0">
              <a:buNone/>
            </a:pPr>
            <a:r>
              <a:rPr/>
              <a:t>Week 3 is deliberately non-AI.</a:t>
            </a:r>
          </a:p>
          <a:p>
            <a:pPr lvl="0" indent="0" marL="0">
              <a:buNone/>
            </a:pPr>
            <a:r>
              <a:rPr/>
              <a:t>AI fills vagueness with confident, generic prose — and vagueness is the bug we’re eliminating.</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3</a:t>
            </a:r>
          </a:p>
        </p:txBody>
      </p:sp>
      <p:sp>
        <p:nvSpPr>
          <p:cNvPr id="3" name="Content Placeholder 2"/>
          <p:cNvSpPr>
            <a:spLocks noGrp="1"/>
          </p:cNvSpPr>
          <p:nvPr>
            <p:ph idx="1"/>
          </p:nvPr>
        </p:nvSpPr>
        <p:spPr/>
        <p:txBody>
          <a:bodyPr/>
          <a:lstStyle/>
          <a:p>
            <a:pPr lvl="0" indent="0" marL="0">
              <a:buNone/>
            </a:pPr>
            <a:r>
              <a:rPr/>
              <a:t>Which of these belongs in the §5 Solution Sketch, rather than being cut as over-specification?</a:t>
            </a:r>
          </a:p>
          <a:p>
            <a:pPr lvl="0" indent="-342900" marL="342900">
              <a:buAutoNum type="alphaUcParenR"/>
            </a:pPr>
            <a:r>
              <a:rPr/>
              <a:t>Database schema decisions</a:t>
            </a:r>
          </a:p>
          <a:p>
            <a:pPr lvl="0" indent="-342900" marL="342900">
              <a:buAutoNum type="alphaUcParenR"/>
            </a:pPr>
            <a:r>
              <a:rPr/>
              <a:t>Specific API contracts</a:t>
            </a:r>
          </a:p>
          <a:p>
            <a:pPr lvl="0" indent="-342900" marL="342900">
              <a:buAutoNum type="alphaUcParenR"/>
            </a:pPr>
            <a:r>
              <a:rPr/>
              <a:t>The user-visible flow (4–8 steps)</a:t>
            </a:r>
          </a:p>
          <a:p>
            <a:pPr lvl="0" indent="-342900" marL="342900">
              <a:buAutoNum type="alphaUcParenR"/>
            </a:pPr>
            <a:r>
              <a:rPr/>
              <a:t>Class names and library picks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3 — C</a:t>
            </a:r>
          </a:p>
        </p:txBody>
      </p:sp>
      <p:sp>
        <p:nvSpPr>
          <p:cNvPr id="3" name="Content Placeholder 2"/>
          <p:cNvSpPr>
            <a:spLocks noGrp="1"/>
          </p:cNvSpPr>
          <p:nvPr>
            <p:ph idx="1"/>
          </p:nvPr>
        </p:nvSpPr>
        <p:spPr/>
        <p:txBody>
          <a:bodyPr/>
          <a:lstStyle/>
          <a:p>
            <a:pPr lvl="0" indent="0" marL="0">
              <a:buNone/>
            </a:pPr>
            <a:r>
              <a:rPr/>
              <a:t>The user-visible flow (4–8 steps).</a:t>
            </a:r>
          </a:p>
          <a:p>
            <a:pPr lvl="0" indent="0" marL="0">
              <a:buNone/>
            </a:pPr>
            <a:r>
              <a:rPr/>
              <a:t>Schema, API contracts, and class names are engineering judgment — leave room for it.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4</a:t>
            </a:r>
          </a:p>
        </p:txBody>
      </p:sp>
      <p:sp>
        <p:nvSpPr>
          <p:cNvPr id="3" name="Content Placeholder 2"/>
          <p:cNvSpPr>
            <a:spLocks noGrp="1"/>
          </p:cNvSpPr>
          <p:nvPr>
            <p:ph idx="1"/>
          </p:nvPr>
        </p:nvSpPr>
        <p:spPr/>
        <p:txBody>
          <a:bodyPr/>
          <a:lstStyle/>
          <a:p>
            <a:pPr lvl="0" indent="0" marL="0">
              <a:buNone/>
            </a:pPr>
            <a:r>
              <a:rPr/>
              <a:t>An acceptance criterion reads: “Then dispatchers reconcile faster.” Which of the five AC failure modes is this?</a:t>
            </a:r>
          </a:p>
          <a:p>
            <a:pPr lvl="0" indent="-342900" marL="342900">
              <a:buAutoNum type="alphaUcParenR"/>
            </a:pPr>
            <a:r>
              <a:rPr/>
              <a:t>Vague</a:t>
            </a:r>
          </a:p>
          <a:p>
            <a:pPr lvl="0" indent="-342900" marL="342900">
              <a:buAutoNum type="alphaUcParenR"/>
            </a:pPr>
            <a:r>
              <a:rPr/>
              <a:t>Untestable</a:t>
            </a:r>
          </a:p>
          <a:p>
            <a:pPr lvl="0" indent="-342900" marL="342900">
              <a:buAutoNum type="alphaUcParenR"/>
            </a:pPr>
            <a:r>
              <a:rPr/>
              <a:t>Restating the goal</a:t>
            </a:r>
          </a:p>
          <a:p>
            <a:pPr lvl="0" indent="-342900" marL="342900">
              <a:buAutoNum type="alphaUcParenR"/>
            </a:pPr>
            <a:r>
              <a:rPr/>
              <a:t>AND-soup</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4 — C</a:t>
            </a:r>
          </a:p>
        </p:txBody>
      </p:sp>
      <p:sp>
        <p:nvSpPr>
          <p:cNvPr id="3" name="Content Placeholder 2"/>
          <p:cNvSpPr>
            <a:spLocks noGrp="1"/>
          </p:cNvSpPr>
          <p:nvPr>
            <p:ph idx="1"/>
          </p:nvPr>
        </p:nvSpPr>
        <p:spPr/>
        <p:txBody>
          <a:bodyPr/>
          <a:lstStyle/>
          <a:p>
            <a:pPr lvl="0" indent="0" marL="0">
              <a:buNone/>
            </a:pPr>
            <a:r>
              <a:rPr/>
              <a:t>Restating the goal.</a:t>
            </a:r>
          </a:p>
          <a:p>
            <a:pPr lvl="0" indent="0" marL="0">
              <a:buNone/>
            </a:pPr>
            <a:r>
              <a:rPr/>
              <a:t>It pins to a metric, not an in-system event. Fix by anchoring to an observable system state.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5 — True / False</a:t>
            </a:r>
          </a:p>
        </p:txBody>
      </p:sp>
      <p:sp>
        <p:nvSpPr>
          <p:cNvPr id="3" name="Content Placeholder 2"/>
          <p:cNvSpPr>
            <a:spLocks noGrp="1"/>
          </p:cNvSpPr>
          <p:nvPr>
            <p:ph idx="1"/>
          </p:nvPr>
        </p:nvSpPr>
        <p:spPr/>
        <p:txBody>
          <a:bodyPr/>
          <a:lstStyle/>
          <a:p>
            <a:pPr lvl="0" indent="0" marL="0">
              <a:buNone/>
            </a:pPr>
            <a:r>
              <a:rPr/>
              <a:t>Weird-path AC coverage — network drops, races, timeouts, boundary values — is described as the TPM differentiator that PMs and pure engineers each tend to miss.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5 — True</a:t>
            </a:r>
          </a:p>
        </p:txBody>
      </p:sp>
      <p:sp>
        <p:nvSpPr>
          <p:cNvPr id="3" name="Content Placeholder 2"/>
          <p:cNvSpPr>
            <a:spLocks noGrp="1"/>
          </p:cNvSpPr>
          <p:nvPr>
            <p:ph idx="1"/>
          </p:nvPr>
        </p:nvSpPr>
        <p:spPr/>
        <p:txBody>
          <a:bodyPr/>
          <a:lstStyle/>
          <a:p>
            <a:pPr lvl="0" indent="0" marL="0">
              <a:buNone/>
            </a:pPr>
            <a:r>
              <a:rPr/>
              <a:t>Weird-path coverage is the TPM differentiator.</a:t>
            </a:r>
          </a:p>
          <a:p>
            <a:pPr lvl="0" indent="0" marL="0">
              <a:buNone/>
            </a:pPr>
            <a:r>
              <a:rPr/>
              <a:t>PMs who don’t think technically miss it; engineers who don’t think about users miss it differently.</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6</a:t>
            </a:r>
          </a:p>
        </p:txBody>
      </p:sp>
      <p:sp>
        <p:nvSpPr>
          <p:cNvPr id="3" name="Content Placeholder 2"/>
          <p:cNvSpPr>
            <a:spLocks noGrp="1"/>
          </p:cNvSpPr>
          <p:nvPr>
            <p:ph idx="1"/>
          </p:nvPr>
        </p:nvSpPr>
        <p:spPr/>
        <p:txBody>
          <a:bodyPr/>
          <a:lstStyle/>
          <a:p>
            <a:pPr lvl="0" indent="0" marL="0">
              <a:buNone/>
            </a:pPr>
            <a:r>
              <a:rPr/>
              <a:t>In the Requirement / Defense / Verification NFR form, which field is singled out as the one that separates a real TPM NFR from boilerplate?</a:t>
            </a:r>
          </a:p>
          <a:p>
            <a:pPr lvl="0" indent="-342900" marL="342900">
              <a:buAutoNum type="alphaUcParenR"/>
            </a:pPr>
            <a:r>
              <a:rPr/>
              <a:t>Requirement</a:t>
            </a:r>
          </a:p>
          <a:p>
            <a:pPr lvl="0" indent="-342900" marL="342900">
              <a:buAutoNum type="alphaUcParenR"/>
            </a:pPr>
            <a:r>
              <a:rPr/>
              <a:t>Defense</a:t>
            </a:r>
          </a:p>
          <a:p>
            <a:pPr lvl="0" indent="-342900" marL="342900">
              <a:buAutoNum type="alphaUcParenR"/>
            </a:pPr>
            <a:r>
              <a:rPr/>
              <a:t>Verification</a:t>
            </a:r>
          </a:p>
          <a:p>
            <a:pPr lvl="0" indent="-342900" marL="342900">
              <a:buAutoNum type="alphaUcParenR"/>
            </a:pPr>
            <a:r>
              <a:rPr/>
              <a:t>Category</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6 — B</a:t>
            </a:r>
          </a:p>
        </p:txBody>
      </p:sp>
      <p:sp>
        <p:nvSpPr>
          <p:cNvPr id="3" name="Content Placeholder 2"/>
          <p:cNvSpPr>
            <a:spLocks noGrp="1"/>
          </p:cNvSpPr>
          <p:nvPr>
            <p:ph idx="1"/>
          </p:nvPr>
        </p:nvSpPr>
        <p:spPr/>
        <p:txBody>
          <a:bodyPr/>
          <a:lstStyle/>
          <a:p>
            <a:pPr lvl="0" indent="0" marL="0">
              <a:buNone/>
            </a:pPr>
            <a:r>
              <a:rPr/>
              <a:t>Defense.</a:t>
            </a:r>
          </a:p>
          <a:p>
            <a:pPr lvl="0" indent="0" marL="0">
              <a:buNone/>
            </a:pPr>
            <a:r>
              <a:rPr/>
              <a:t>“p95 &lt; 400ms because dispatchers tap this 40 times per shift” beats “should be fast.”</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7</a:t>
            </a:r>
          </a:p>
        </p:txBody>
      </p:sp>
      <p:sp>
        <p:nvSpPr>
          <p:cNvPr id="3" name="Content Placeholder 2"/>
          <p:cNvSpPr>
            <a:spLocks noGrp="1"/>
          </p:cNvSpPr>
          <p:nvPr>
            <p:ph idx="1"/>
          </p:nvPr>
        </p:nvSpPr>
        <p:spPr/>
        <p:txBody>
          <a:bodyPr/>
          <a:lstStyle/>
          <a:p>
            <a:pPr lvl="0" indent="0" marL="0">
              <a:buNone/>
            </a:pPr>
            <a:r>
              <a:rPr/>
              <a:t>How should a performance NFR express its latency target?</a:t>
            </a:r>
          </a:p>
          <a:p>
            <a:pPr lvl="0" indent="-342900" marL="342900">
              <a:buAutoNum type="alphaUcParenR"/>
            </a:pPr>
            <a:r>
              <a:rPr/>
              <a:t>The average (mean) response time</a:t>
            </a:r>
          </a:p>
          <a:p>
            <a:pPr lvl="0" indent="-342900" marL="342900">
              <a:buAutoNum type="alphaUcParenR"/>
            </a:pPr>
            <a:r>
              <a:rPr/>
              <a:t>A p95 target on a representative device and connection</a:t>
            </a:r>
          </a:p>
          <a:p>
            <a:pPr lvl="0" indent="-342900" marL="342900">
              <a:buAutoNum type="alphaUcParenR"/>
            </a:pPr>
            <a:r>
              <a:rPr/>
              <a:t>A best-case time under ideal conditions</a:t>
            </a:r>
          </a:p>
          <a:p>
            <a:pPr lvl="0" indent="-342900" marL="342900">
              <a:buAutoNum type="alphaUcParenR"/>
            </a:pPr>
            <a:r>
              <a:rPr/>
              <a:t>“Fast enough that users don’t complain”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7 — B</a:t>
            </a:r>
          </a:p>
        </p:txBody>
      </p:sp>
      <p:sp>
        <p:nvSpPr>
          <p:cNvPr id="3" name="Content Placeholder 2"/>
          <p:cNvSpPr>
            <a:spLocks noGrp="1"/>
          </p:cNvSpPr>
          <p:nvPr>
            <p:ph idx="1"/>
          </p:nvPr>
        </p:nvSpPr>
        <p:spPr/>
        <p:txBody>
          <a:bodyPr/>
          <a:lstStyle/>
          <a:p>
            <a:pPr lvl="0" indent="0" marL="0">
              <a:buNone/>
            </a:pPr>
            <a:r>
              <a:rPr/>
              <a:t>A p95 target on a representative device/connection.</a:t>
            </a:r>
          </a:p>
          <a:p>
            <a:pPr lvl="0" indent="0" marL="0">
              <a:buNone/>
            </a:pPr>
            <a:r>
              <a:rPr/>
              <a:t>Averages lie: a bimodal 200ms / 5s split averages to 2.6s but describes no real user’s experience.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8 — True / False</a:t>
            </a:r>
          </a:p>
        </p:txBody>
      </p:sp>
      <p:sp>
        <p:nvSpPr>
          <p:cNvPr id="3" name="Content Placeholder 2"/>
          <p:cNvSpPr>
            <a:spLocks noGrp="1"/>
          </p:cNvSpPr>
          <p:nvPr>
            <p:ph idx="1"/>
          </p:nvPr>
        </p:nvSpPr>
        <p:spPr/>
        <p:txBody>
          <a:bodyPr/>
          <a:lstStyle/>
          <a:p>
            <a:pPr lvl="0" indent="0" marL="0">
              <a:buNone/>
            </a:pPr>
            <a:r>
              <a:rPr/>
              <a:t>A mature NFR section includes a “Known Trade-offs” subsection that names the tensions — and their resolution or open status — rather than pretending everything is achievable at once.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8 — True</a:t>
            </a:r>
          </a:p>
        </p:txBody>
      </p:sp>
      <p:sp>
        <p:nvSpPr>
          <p:cNvPr id="3" name="Content Placeholder 2"/>
          <p:cNvSpPr>
            <a:spLocks noGrp="1"/>
          </p:cNvSpPr>
          <p:nvPr>
            <p:ph idx="1"/>
          </p:nvPr>
        </p:nvSpPr>
        <p:spPr/>
        <p:txBody>
          <a:bodyPr/>
          <a:lstStyle/>
          <a:p>
            <a:pPr lvl="0" indent="0" marL="0">
              <a:buNone/>
            </a:pPr>
            <a:r>
              <a:rPr/>
              <a:t>The “Known Trade-offs” subsection is the senior-author signal.</a:t>
            </a:r>
          </a:p>
          <a:p>
            <a:pPr lvl="0" indent="0" marL="0">
              <a:buNone/>
            </a:pPr>
            <a:r>
              <a:rPr/>
              <a:t>“We accept this” is strong. “We’ll change it if X happens” is stronger.</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9</a:t>
            </a:r>
          </a:p>
        </p:txBody>
      </p:sp>
      <p:sp>
        <p:nvSpPr>
          <p:cNvPr id="3" name="Content Placeholder 2"/>
          <p:cNvSpPr>
            <a:spLocks noGrp="1"/>
          </p:cNvSpPr>
          <p:nvPr>
            <p:ph idx="1"/>
          </p:nvPr>
        </p:nvSpPr>
        <p:spPr/>
        <p:txBody>
          <a:bodyPr/>
          <a:lstStyle/>
          <a:p>
            <a:pPr lvl="0" indent="0" marL="0">
              <a:buNone/>
            </a:pPr>
            <a:r>
              <a:rPr/>
              <a:t>In §10 Dependencies, what makes a dependency “owned”?</a:t>
            </a:r>
          </a:p>
          <a:p>
            <a:pPr lvl="0" indent="-342900" marL="342900">
              <a:buAutoNum type="alphaUcParenR"/>
            </a:pPr>
            <a:r>
              <a:rPr/>
              <a:t>It’s assigned to the responsible team</a:t>
            </a:r>
          </a:p>
          <a:p>
            <a:pPr lvl="0" indent="-342900" marL="342900">
              <a:buAutoNum type="alphaUcParenR"/>
            </a:pPr>
            <a:r>
              <a:rPr/>
              <a:t>It’s assigned to a named person</a:t>
            </a:r>
          </a:p>
          <a:p>
            <a:pPr lvl="0" indent="-342900" marL="342900">
              <a:buAutoNum type="alphaUcParenR"/>
            </a:pPr>
            <a:r>
              <a:rPr/>
              <a:t>Its status is marked “Confirmed”</a:t>
            </a:r>
          </a:p>
          <a:p>
            <a:pPr lvl="0" indent="-342900" marL="342900">
              <a:buAutoNum type="alphaUcParenR"/>
            </a:pPr>
            <a:r>
              <a:rPr/>
              <a:t>It has a “by when” date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9 — B</a:t>
            </a:r>
          </a:p>
        </p:txBody>
      </p:sp>
      <p:sp>
        <p:nvSpPr>
          <p:cNvPr id="3" name="Content Placeholder 2"/>
          <p:cNvSpPr>
            <a:spLocks noGrp="1"/>
          </p:cNvSpPr>
          <p:nvPr>
            <p:ph idx="1"/>
          </p:nvPr>
        </p:nvSpPr>
        <p:spPr/>
        <p:txBody>
          <a:bodyPr/>
          <a:lstStyle/>
          <a:p>
            <a:pPr lvl="0" indent="0" marL="0">
              <a:buNone/>
            </a:pPr>
            <a:r>
              <a:rPr/>
              <a:t>A named person.</a:t>
            </a:r>
          </a:p>
          <a:p>
            <a:pPr lvl="0" indent="0" marL="0">
              <a:buNone/>
            </a:pPr>
            <a:r>
              <a:rPr/>
              <a:t>“The auth team” is unowned; “Lin from auth” is owned. “TBD” as owner is the dependency that ships late.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10 — True / False</a:t>
            </a:r>
          </a:p>
        </p:txBody>
      </p:sp>
      <p:sp>
        <p:nvSpPr>
          <p:cNvPr id="3" name="Content Placeholder 2"/>
          <p:cNvSpPr>
            <a:spLocks noGrp="1"/>
          </p:cNvSpPr>
          <p:nvPr>
            <p:ph idx="1"/>
          </p:nvPr>
        </p:nvSpPr>
        <p:spPr/>
        <p:txBody>
          <a:bodyPr/>
          <a:lstStyle/>
          <a:p>
            <a:pPr lvl="0" indent="0" marL="0">
              <a:buNone/>
            </a:pPr>
            <a:r>
              <a:rPr/>
              <a:t>In §9, listing “no risks” is acceptable as long as the feature is genuinely low-risk.</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10 — False</a:t>
            </a:r>
          </a:p>
        </p:txBody>
      </p:sp>
      <p:sp>
        <p:nvSpPr>
          <p:cNvPr id="3" name="Content Placeholder 2"/>
          <p:cNvSpPr>
            <a:spLocks noGrp="1"/>
          </p:cNvSpPr>
          <p:nvPr>
            <p:ph idx="1"/>
          </p:nvPr>
        </p:nvSpPr>
        <p:spPr/>
        <p:txBody>
          <a:bodyPr/>
          <a:lstStyle/>
          <a:p>
            <a:pPr lvl="0" indent="0" marL="0">
              <a:buNone/>
            </a:pPr>
            <a:r>
              <a:rPr/>
              <a:t>“No risks” is a hard fail.</a:t>
            </a:r>
          </a:p>
          <a:p>
            <a:pPr lvl="0" indent="0" marL="0">
              <a:buNone/>
            </a:pPr>
            <a:r>
              <a:rPr/>
              <a:t>It’s the tell of a PRD written to avoid scrutiny. Each risk gets likelihood, impact, and a mitigation.</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11</a:t>
            </a:r>
          </a:p>
        </p:txBody>
      </p:sp>
      <p:sp>
        <p:nvSpPr>
          <p:cNvPr id="3" name="Content Placeholder 2"/>
          <p:cNvSpPr>
            <a:spLocks noGrp="1"/>
          </p:cNvSpPr>
          <p:nvPr>
            <p:ph idx="1"/>
          </p:nvPr>
        </p:nvSpPr>
        <p:spPr/>
        <p:txBody>
          <a:bodyPr/>
          <a:lstStyle/>
          <a:p>
            <a:pPr lvl="0" indent="0" marL="0">
              <a:buNone/>
            </a:pPr>
            <a:r>
              <a:rPr/>
              <a:t>On the Friday review rubric, which dimension carries the highest weight?</a:t>
            </a:r>
          </a:p>
          <a:p>
            <a:pPr lvl="0" indent="-342900" marL="342900">
              <a:buAutoNum type="alphaUcParenR"/>
            </a:pPr>
            <a:r>
              <a:rPr/>
              <a:t>Problem clarity (20%)</a:t>
            </a:r>
          </a:p>
          <a:p>
            <a:pPr lvl="0" indent="-342900" marL="342900">
              <a:buAutoNum type="alphaUcParenR"/>
            </a:pPr>
            <a:r>
              <a:rPr/>
              <a:t>AC testability (25%)</a:t>
            </a:r>
          </a:p>
          <a:p>
            <a:pPr lvl="0" indent="-342900" marL="342900">
              <a:buAutoNum type="alphaUcParenR"/>
            </a:pPr>
            <a:r>
              <a:rPr/>
              <a:t>NFR completeness (20%)</a:t>
            </a:r>
          </a:p>
          <a:p>
            <a:pPr lvl="0" indent="-342900" marL="342900">
              <a:buAutoNum type="alphaUcParenR"/>
            </a:pPr>
            <a:r>
              <a:rPr/>
              <a:t>Strategy linkage (15%)</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11 — B</a:t>
            </a:r>
          </a:p>
        </p:txBody>
      </p:sp>
      <p:sp>
        <p:nvSpPr>
          <p:cNvPr id="3" name="Content Placeholder 2"/>
          <p:cNvSpPr>
            <a:spLocks noGrp="1"/>
          </p:cNvSpPr>
          <p:nvPr>
            <p:ph idx="1"/>
          </p:nvPr>
        </p:nvSpPr>
        <p:spPr/>
        <p:txBody>
          <a:bodyPr/>
          <a:lstStyle/>
          <a:p>
            <a:pPr lvl="0" indent="0" marL="0">
              <a:buNone/>
            </a:pPr>
            <a:r>
              <a:rPr/>
              <a:t>AC testability — 25%, the highest weight.</a:t>
            </a:r>
          </a:p>
          <a:p>
            <a:pPr lvl="0" indent="0" marL="0">
              <a:buNone/>
            </a:pPr>
            <a:r>
              <a:rPr/>
              <a:t>Score ≥3.0 ships as-is; 2.0–2.9 ships with named gaps; &lt;2.0 triggers facilitator intervention.</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12</a:t>
            </a:r>
          </a:p>
        </p:txBody>
      </p:sp>
      <p:sp>
        <p:nvSpPr>
          <p:cNvPr id="3" name="Content Placeholder 2"/>
          <p:cNvSpPr>
            <a:spLocks noGrp="1"/>
          </p:cNvSpPr>
          <p:nvPr>
            <p:ph idx="1"/>
          </p:nvPr>
        </p:nvSpPr>
        <p:spPr/>
        <p:txBody>
          <a:bodyPr/>
          <a:lstStyle/>
          <a:p>
            <a:pPr lvl="0" indent="0" marL="0">
              <a:buNone/>
            </a:pPr>
            <a:r>
              <a:rPr/>
              <a:t>Which reviewer rule is enforced during AC cross-review and again on Friday?</a:t>
            </a:r>
          </a:p>
          <a:p>
            <a:pPr lvl="0" indent="-342900" marL="342900">
              <a:buAutoNum type="alphaUcParenR"/>
            </a:pPr>
            <a:r>
              <a:rPr/>
              <a:t>Always give three specific strengths before any criticism</a:t>
            </a:r>
          </a:p>
          <a:p>
            <a:pPr lvl="0" indent="-342900" marL="342900">
              <a:buAutoNum type="alphaUcParenR"/>
            </a:pPr>
            <a:r>
              <a:rPr/>
              <a:t>If you say “this could be more specific,” you also write the specific version</a:t>
            </a:r>
          </a:p>
          <a:p>
            <a:pPr lvl="0" indent="-342900" marL="342900">
              <a:buAutoNum type="alphaUcParenR"/>
            </a:pPr>
            <a:r>
              <a:rPr/>
              <a:t>Never score below 2.0 without facilitator sign-off</a:t>
            </a:r>
          </a:p>
          <a:p>
            <a:pPr lvl="0" indent="-342900" marL="342900">
              <a:buAutoNum type="alphaUcParenR"/>
            </a:pPr>
            <a:r>
              <a:rPr/>
              <a:t>Reviewers must not coordinate with each other</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12 — B</a:t>
            </a:r>
          </a:p>
        </p:txBody>
      </p:sp>
      <p:sp>
        <p:nvSpPr>
          <p:cNvPr id="3" name="Content Placeholder 2"/>
          <p:cNvSpPr>
            <a:spLocks noGrp="1"/>
          </p:cNvSpPr>
          <p:nvPr>
            <p:ph idx="1"/>
          </p:nvPr>
        </p:nvSpPr>
        <p:spPr/>
        <p:txBody>
          <a:bodyPr/>
          <a:lstStyle/>
          <a:p>
            <a:pPr lvl="0" indent="0" marL="0">
              <a:buNone/>
            </a:pPr>
            <a:r>
              <a:rPr/>
              <a:t>“If you say it could be more specific, you write the specific version.”</a:t>
            </a:r>
          </a:p>
          <a:p>
            <a:pPr lvl="0" indent="0" marL="0">
              <a:buNone/>
            </a:pPr>
            <a:r>
              <a:rPr/>
              <a:t>The rule that eliminates lazy review feedback. Enforce it.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That’s Week 3</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Score yourself — but the real check is whether your PRD would survive a hostile engineer on Monday.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2026-07-01T16:57:01Z</dcterms:created>
  <dcterms:modified xsi:type="dcterms:W3CDTF">2026-07-01T16:57:01Z</dcterms:modified>
</cp:coreProperties>
</file>

<file path=docProps/custom.xml><?xml version="1.0" encoding="utf-8"?>
<Properties xmlns="http://schemas.openxmlformats.org/officeDocument/2006/custom-properties" xmlns:vt="http://schemas.openxmlformats.org/officeDocument/2006/docPropsVTypes"/>
</file>