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notesMaster" Target="notesMasters/notesMaster1.xml" /><Relationship Id="rId28" Type="http://schemas.openxmlformats.org/officeDocument/2006/relationships/viewProps" Target="viewProps.xml" /><Relationship Id="rId2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0" Type="http://schemas.openxmlformats.org/officeDocument/2006/relationships/tableStyles" Target="tableStyles.xml" /><Relationship Id="rId29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23.xml.rels><?xml version="1.0" encoding="UTF-8"?>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Mid-week. AC done yesterday. Today is NFRs — the requirements that decide whether the feature survives contact with reality. Still non-AI.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By 16:00, every triad has §7 complete. PRD is one day from full assembly.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Arc: calibrate → Perf+Obs → Sec+A11y+Comp → review with trade-offs.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Most NFR sections fail by being either generic (“the system shall be performant”) or untestable. Block 1 calibrates the shape before triads write anything.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Defense field is the single most-skipped part of NFRs in the wild. Force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“No defense” and “boilerplate” are the most common; both result from copying templates without thinking.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A11y and Compliance are the most-skipped. Plant the discipline of “no category empty.”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Triads will under-detect “no defense” — it sounds clean if the number is specific. Surface this with your own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Performance and observability are paired because one is meaningless without the other. Push triads toward p95 targets and named events, not averages and vague “monitoring.”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Note p95, not average. Average lies — if 50% of users hit 200ms and 50% hit 5s, the average is 2.6s but the experience is bimodal.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where Week-2’s Tier Sheet pays off. Triads who skipped that work struggle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a triad’s perf target is “average,” push to p95. Average is the most common rookie failure.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These categories often get skipped or hand-waved. Today triads draft first versions — specific enough that security, a11y, and compliance reviewers can react.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Frame this honestly — TPMs don’t need to be security architects. They need to draft the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a triad omits A11y, redirect to Week 2 Day 3’s A11y Floor work. The 8 checks become the requirement.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Compliance is the most-skipped category. Force at least one NFR.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“The system shall be secure” gets a hard no. Push for specifics.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Senior engineers expect NFR sections to surface trade-offs, not pretend everything is achievable simultaneously. Block 4 forces that maturity before Friday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“Known Trade-offs” subsection is the senior-author signal. Triads who include it score higher Friday.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“We accept this” is a strong, mature stance. “We will if X happens” is even stronger.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Wrap share: each triad reads aloud one explicit trade-off they made.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22</a:t>
            </a:fld>
            <a:endParaRPr lang="en-US"/>
          </a:p>
        </p:txBody>
      </p:sp>
    </p:spTree>
  </p:cSld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Round-robin close: each person says one trade-off they made explicit they wouldn’t have surfaced before this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23</a:t>
            </a:fld>
            <a:endParaRPr lang="en-US"/>
          </a:p>
        </p:txBody>
      </p:sp>
    </p:spTree>
  </p:cSld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push-back test sharpens self-assessment. Tomorrow assembles §§8–11 and integrates the full PRD for Friday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24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🔧 Non-Functional Requirements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Week 3 • Day 3 • Requirements Engineering &amp; Mini-Capstone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TPM Academy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Day 3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Write NFRs in Requirement / Defense / Verification form — specific, defended, testable</a:t>
            </a:r>
          </a:p>
          <a:p>
            <a:pPr lvl="0" indent="0" marL="0">
              <a:buNone/>
            </a:pPr>
            <a:r>
              <a:rPr/>
              <a:t>Cover all five categories: Performance, Security, Accessibility, Observability, Compliance</a:t>
            </a:r>
          </a:p>
          <a:p>
            <a:pPr lvl="0" indent="0" marL="0">
              <a:buNone/>
            </a:pPr>
            <a:r>
              <a:rPr/>
              <a:t>Tie observability NFRs to the Tier Sheet operational signals from Week 2</a:t>
            </a:r>
          </a:p>
          <a:p>
            <a:pPr lvl="0" indent="0" marL="0">
              <a:buNone/>
            </a:pPr>
            <a:r>
              <a:rPr/>
              <a:t>Surface NFR trade-offs explicitly — mature PRDs name the tensions</a:t>
            </a:r>
          </a:p>
          <a:p>
            <a:pPr lvl="0" indent="0" marL="0">
              <a:buNone/>
            </a:pPr>
            <a:r>
              <a:rPr/>
              <a:t>Deliver §7 with 6–10 NFRs + a Known Trade-offs subsection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🕑 Today’s Shape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Clock</a:t>
            </a:r>
          </a:p>
          <a:p>
            <a:pPr lvl="0" indent="0" marL="0">
              <a:buNone/>
            </a:pPr>
            <a:r>
              <a:rPr/>
              <a:t>Block</a:t>
            </a:r>
          </a:p>
          <a:p>
            <a:pPr lvl="0" indent="0" marL="0">
              <a:buNone/>
            </a:pPr>
            <a:r>
              <a:rPr/>
              <a:t>Outcome</a:t>
            </a:r>
          </a:p>
          <a:p>
            <a:pPr lvl="0" indent="0" marL="0">
              <a:buNone/>
            </a:pPr>
            <a:r>
              <a:rPr/>
              <a:t>09:00 – 09:15</a:t>
            </a:r>
          </a:p>
          <a:p>
            <a:pPr lvl="0" indent="0" marL="0">
              <a:buNone/>
            </a:pPr>
            <a:r>
              <a:rPr/>
              <a:t>Opening</a:t>
            </a:r>
          </a:p>
          <a:p>
            <a:pPr lvl="0" indent="0" marL="0">
              <a:buNone/>
            </a:pPr>
            <a:r>
              <a:rPr/>
              <a:t>Recap §6; restate non-AI; print NFR template</a:t>
            </a:r>
          </a:p>
          <a:p>
            <a:pPr lvl="0" indent="0" marL="0">
              <a:buNone/>
            </a:pPr>
            <a:r>
              <a:rPr/>
              <a:t>09:15 – 10:30</a:t>
            </a:r>
          </a:p>
          <a:p>
            <a:pPr lvl="0" indent="0" marL="0">
              <a:buNone/>
            </a:pPr>
            <a:r>
              <a:rPr/>
              <a:t>Block 1 + Activity 1</a:t>
            </a:r>
          </a:p>
          <a:p>
            <a:pPr lvl="0" indent="0" marL="0">
              <a:buNone/>
            </a:pPr>
            <a:r>
              <a:rPr/>
              <a:t>NFR Triage</a:t>
            </a:r>
          </a:p>
          <a:p>
            <a:pPr lvl="0" indent="0" marL="0">
              <a:buNone/>
            </a:pPr>
            <a:r>
              <a:rPr/>
              <a:t>10:45 – 12:00</a:t>
            </a:r>
          </a:p>
          <a:p>
            <a:pPr lvl="0" indent="0" marL="0">
              <a:buNone/>
            </a:pPr>
            <a:r>
              <a:rPr/>
              <a:t>Block 2 + Activity 2</a:t>
            </a:r>
          </a:p>
          <a:p>
            <a:pPr lvl="0" indent="0" marL="0">
              <a:buNone/>
            </a:pPr>
            <a:r>
              <a:rPr/>
              <a:t>Performance + Observability</a:t>
            </a:r>
          </a:p>
          <a:p>
            <a:pPr lvl="0" indent="0" marL="0">
              <a:buNone/>
            </a:pPr>
            <a:r>
              <a:rPr/>
              <a:t>13:00 – 14:15</a:t>
            </a:r>
          </a:p>
          <a:p>
            <a:pPr lvl="0" indent="0" marL="0">
              <a:buNone/>
            </a:pPr>
            <a:r>
              <a:rPr/>
              <a:t>Block 3 + Activity 3</a:t>
            </a:r>
          </a:p>
          <a:p>
            <a:pPr lvl="0" indent="0" marL="0">
              <a:buNone/>
            </a:pPr>
            <a:r>
              <a:rPr/>
              <a:t>Security + A11y + Compliance</a:t>
            </a:r>
          </a:p>
          <a:p>
            <a:pPr lvl="0" indent="0" marL="0">
              <a:buNone/>
            </a:pPr>
            <a:r>
              <a:rPr/>
              <a:t>14:30 – 16:00</a:t>
            </a:r>
          </a:p>
          <a:p>
            <a:pPr lvl="0" indent="0" marL="0">
              <a:buNone/>
            </a:pPr>
            <a:r>
              <a:rPr/>
              <a:t>Block 4 + Activity 4 + Wrap</a:t>
            </a:r>
          </a:p>
          <a:p>
            <a:pPr lvl="0" indent="0" marL="0">
              <a:buNone/>
            </a:pPr>
            <a:r>
              <a:rPr/>
              <a:t>NFR Cross-Review + Trade-offs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1 — What an NFR 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Why most NFR sections fail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📚 The NFR Shape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 NFR is a constraint the system must hold under specified conditions, with a measurable target, a defended rationale, and a verification method.</a:t>
            </a:r>
          </a:p>
          <a:p>
            <a:pPr lvl="0" indent="0" marL="0">
              <a:buNone/>
            </a:pPr>
            <a:r>
              <a:rPr/>
              <a:t>Defense is the section that distinguishes TPM from boilerplate. “p95 &lt; 400ms because dispatchers tap this 40 times per shift” beats “should be fast.”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⚠️ The 5 NFR Failure Modes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Failure</a:t>
            </a:r>
          </a:p>
          <a:p>
            <a:pPr lvl="0" indent="0" marL="0">
              <a:buNone/>
            </a:pPr>
            <a:r>
              <a:rPr/>
              <a:t>Example</a:t>
            </a:r>
          </a:p>
          <a:p>
            <a:pPr lvl="0" indent="0" marL="0">
              <a:buNone/>
            </a:pPr>
            <a:r>
              <a:rPr/>
              <a:t>Boilerplate</a:t>
            </a:r>
          </a:p>
          <a:p>
            <a:pPr lvl="0" indent="0" marL="0">
              <a:buNone/>
            </a:pPr>
            <a:r>
              <a:rPr/>
              <a:t>“Performance must be acceptable”</a:t>
            </a:r>
          </a:p>
          <a:p>
            <a:pPr lvl="0" indent="0" marL="0">
              <a:buNone/>
            </a:pPr>
            <a:r>
              <a:rPr/>
              <a:t>Unmeasurable</a:t>
            </a:r>
          </a:p>
          <a:p>
            <a:pPr lvl="0" indent="0" marL="0">
              <a:buNone/>
            </a:pPr>
            <a:r>
              <a:rPr/>
              <a:t>“The system shall be highly available”</a:t>
            </a:r>
          </a:p>
          <a:p>
            <a:pPr lvl="0" indent="0" marL="0">
              <a:buNone/>
            </a:pPr>
            <a:r>
              <a:rPr/>
              <a:t>No defense</a:t>
            </a:r>
          </a:p>
          <a:p>
            <a:pPr lvl="0" indent="0" marL="0">
              <a:buNone/>
            </a:pPr>
            <a:r>
              <a:rPr/>
              <a:t>“p95 latency &lt; 100ms” (with no rationale)</a:t>
            </a:r>
          </a:p>
          <a:p>
            <a:pPr lvl="0" indent="0" marL="0">
              <a:buNone/>
            </a:pPr>
            <a:r>
              <a:rPr/>
              <a:t>No verification</a:t>
            </a:r>
          </a:p>
          <a:p>
            <a:pPr lvl="0" indent="0" marL="0">
              <a:buNone/>
            </a:pPr>
            <a:r>
              <a:rPr/>
              <a:t>“The system shall be secure” (how would we know?)</a:t>
            </a:r>
          </a:p>
          <a:p>
            <a:pPr lvl="0" indent="0" marL="0">
              <a:buNone/>
            </a:pPr>
            <a:r>
              <a:rPr/>
              <a:t>Wrong category</a:t>
            </a:r>
          </a:p>
          <a:p>
            <a:pPr lvl="0" indent="0" marL="0">
              <a:buNone/>
            </a:pPr>
            <a:r>
              <a:rPr/>
              <a:t>A “Performance” NFR that’s actually a feature requirement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📚 The Five Categories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Performance</a:t>
            </a:r>
          </a:p>
          <a:p>
            <a:pPr lvl="0" indent="0" marL="0">
              <a:buNone/>
            </a:pPr>
            <a:r>
              <a:rPr/>
              <a:t>Latency (p50 / p95 / p99)</a:t>
            </a:r>
          </a:p>
          <a:p>
            <a:pPr lvl="0" indent="0" marL="0">
              <a:buNone/>
            </a:pPr>
            <a:r>
              <a:rPr/>
              <a:t>Throughput</a:t>
            </a:r>
          </a:p>
          <a:p>
            <a:pPr lvl="0" indent="0" marL="0">
              <a:buNone/>
            </a:pPr>
            <a:r>
              <a:rPr/>
              <a:t>Resource caps</a:t>
            </a:r>
          </a:p>
          <a:p>
            <a:pPr lvl="0" indent="0" marL="0">
              <a:buNone/>
            </a:pPr>
            <a:r>
              <a:rPr/>
              <a:t>Cold-start</a:t>
            </a:r>
          </a:p>
          <a:p>
            <a:pPr lvl="0" indent="0" marL="0">
              <a:buNone/>
            </a:pPr>
            <a:r>
              <a:rPr/>
              <a:t>Security</a:t>
            </a:r>
          </a:p>
          <a:p>
            <a:pPr lvl="0" indent="0" marL="0">
              <a:buNone/>
            </a:pPr>
            <a:r>
              <a:rPr/>
              <a:t>AuthN / AuthZ</a:t>
            </a:r>
          </a:p>
          <a:p>
            <a:pPr lvl="0" indent="0" marL="0">
              <a:buNone/>
            </a:pPr>
            <a:r>
              <a:rPr/>
              <a:t>Data classification</a:t>
            </a:r>
          </a:p>
          <a:p>
            <a:pPr lvl="0" indent="0" marL="0">
              <a:buNone/>
            </a:pPr>
            <a:r>
              <a:rPr/>
              <a:t>Encryption</a:t>
            </a:r>
          </a:p>
          <a:p>
            <a:pPr lvl="0" indent="0" marL="0">
              <a:buNone/>
            </a:pPr>
            <a:r>
              <a:rPr/>
              <a:t>Audit logging</a:t>
            </a:r>
          </a:p>
          <a:p>
            <a:pPr lvl="0" indent="0" marL="0">
              <a:buNone/>
            </a:pPr>
            <a:r>
              <a:rPr/>
              <a:t>Accessibility</a:t>
            </a:r>
          </a:p>
          <a:p>
            <a:pPr lvl="0" indent="0" marL="0">
              <a:buNone/>
            </a:pPr>
            <a:r>
              <a:rPr/>
              <a:t>WCAG 2.1 AA</a:t>
            </a:r>
          </a:p>
          <a:p>
            <a:pPr lvl="0" indent="0" marL="0">
              <a:buNone/>
            </a:pPr>
            <a:r>
              <a:rPr/>
              <a:t>Keyboard reachability</a:t>
            </a:r>
          </a:p>
          <a:p>
            <a:pPr lvl="0" indent="0" marL="0">
              <a:buNone/>
            </a:pPr>
            <a:r>
              <a:rPr/>
              <a:t>Screen reader</a:t>
            </a:r>
          </a:p>
          <a:p>
            <a:pPr lvl="0" indent="0" marL="0">
              <a:buNone/>
            </a:pPr>
            <a:r>
              <a:rPr/>
              <a:t>Reduced motion</a:t>
            </a:r>
          </a:p>
          <a:p>
            <a:pPr lvl="0" indent="0" marL="0">
              <a:buNone/>
            </a:pPr>
            <a:r>
              <a:rPr/>
              <a:t>Observability</a:t>
            </a:r>
          </a:p>
          <a:p>
            <a:pPr lvl="0" indent="0" marL="0">
              <a:buNone/>
            </a:pPr>
            <a:r>
              <a:rPr/>
              <a:t>Logs (structured)</a:t>
            </a:r>
          </a:p>
          <a:p>
            <a:pPr lvl="0" indent="0" marL="0">
              <a:buNone/>
            </a:pPr>
            <a:r>
              <a:rPr/>
              <a:t>Metrics (Tier Sheet!)</a:t>
            </a:r>
          </a:p>
          <a:p>
            <a:pPr lvl="0" indent="0" marL="0">
              <a:buNone/>
            </a:pPr>
            <a:r>
              <a:rPr/>
              <a:t>Traces</a:t>
            </a:r>
          </a:p>
          <a:p>
            <a:pPr lvl="0" indent="0" marL="0">
              <a:buNone/>
            </a:pPr>
            <a:r>
              <a:rPr/>
              <a:t>Alerts</a:t>
            </a:r>
          </a:p>
          <a:p>
            <a:pPr lvl="0" indent="0" marL="0">
              <a:buNone/>
            </a:pPr>
            <a:r>
              <a:rPr/>
              <a:t>Compliance</a:t>
            </a:r>
          </a:p>
          <a:p>
            <a:pPr lvl="0" indent="0" marL="0">
              <a:buNone/>
            </a:pPr>
            <a:r>
              <a:rPr/>
              <a:t>Data residency</a:t>
            </a:r>
          </a:p>
          <a:p>
            <a:pPr lvl="0" indent="0" marL="0">
              <a:buNone/>
            </a:pPr>
            <a:r>
              <a:rPr/>
              <a:t>Retention windows</a:t>
            </a:r>
          </a:p>
          <a:p>
            <a:pPr lvl="0" indent="0" marL="0">
              <a:buNone/>
            </a:pPr>
            <a:r>
              <a:rPr/>
              <a:t>Industry-specific</a:t>
            </a:r>
          </a:p>
          <a:p>
            <a:pPr lvl="0" indent="0" marL="0">
              <a:buNone/>
            </a:pPr>
            <a:r>
              <a:rPr/>
              <a:t>Audit trails</a:t>
            </a:r>
          </a:p>
          <a:p>
            <a:pPr lvl="0" indent="0" marL="0">
              <a:buNone/>
            </a:pPr>
            <a:r>
              <a:rPr/>
              <a:t>(Coverage)</a:t>
            </a:r>
          </a:p>
          <a:p>
            <a:pPr lvl="0" indent="0" marL="0">
              <a:buNone/>
            </a:pPr>
            <a:r>
              <a:rPr/>
              <a:t>Each gets ≥ 1 NFR</a:t>
            </a:r>
          </a:p>
          <a:p>
            <a:pPr lvl="0" indent="0" marL="0">
              <a:buNone/>
            </a:pPr>
            <a:r>
              <a:rPr/>
              <a:t>6–10 total</a:t>
            </a:r>
          </a:p>
          <a:p>
            <a:pPr lvl="0" indent="0" marL="0">
              <a:buNone/>
            </a:pPr>
            <a:r>
              <a:rPr/>
              <a:t>No category empty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1 — NFR Triage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35 minutes</a:t>
            </a:r>
          </a:p>
          <a:p>
            <a:pPr lvl="0" indent="0" marL="0">
              <a:buNone/>
            </a:pPr>
            <a:r>
              <a:rPr/>
              <a:t>10 NFR examples. Identify the failure mode(s) for each. Rewrite the 5 worst.</a:t>
            </a:r>
          </a:p>
          <a:p>
            <a:pPr lvl="0" indent="0" marL="0">
              <a:buNone/>
            </a:pPr>
            <a:r>
              <a:rPr/>
              <a:t>15 min: triage all 10</a:t>
            </a:r>
          </a:p>
          <a:p>
            <a:pPr lvl="0" indent="0" marL="0">
              <a:buNone/>
            </a:pPr>
            <a:r>
              <a:rPr/>
              <a:t>15 min: rewrite the 5 worst</a:t>
            </a:r>
          </a:p>
          <a:p>
            <a:pPr lvl="0" indent="0" marL="0">
              <a:buNone/>
            </a:pPr>
            <a:r>
              <a:rPr/>
              <a:t>5 min: identify the hardest one to defend even after rewriting</a:t>
            </a:r>
          </a:p>
          <a:p>
            <a:pPr lvl="0" indent="0" marL="0">
              <a:buNone/>
            </a:pPr>
            <a:r>
              <a:rPr/>
              <a:t>⏱ 15 triage · 15 rewrite · 5 reflect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2 — Performance + Observability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“What should we expect” + “How would we know”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⚡ Worked Performance NFR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🔎 Worked Observability NFR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cross-check: every Tier Sheet operational signal needs an observability NFR enabling it. If you can’t measure it, you can’t move it.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2 — Perf + Obs NFRs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40 minutes</a:t>
            </a:r>
          </a:p>
          <a:p>
            <a:pPr lvl="0" indent="0" marL="0">
              <a:buNone/>
            </a:pPr>
            <a:r>
              <a:rPr/>
              <a:t>Each member proposes 1 Performance NFR; triad picks 2–3. Same drill for Observability.</a:t>
            </a:r>
          </a:p>
          <a:p>
            <a:pPr lvl="0" indent="0" marL="0">
              <a:buNone/>
            </a:pPr>
            <a:r>
              <a:rPr/>
              <a:t>15 min: 2–3 Performance NFRs with defenses</a:t>
            </a:r>
          </a:p>
          <a:p>
            <a:pPr lvl="0" indent="0" marL="0">
              <a:buNone/>
            </a:pPr>
            <a:r>
              <a:rPr/>
              <a:t>15 min: 2–3 Observability NFRs (reference Tier Sheet)</a:t>
            </a:r>
          </a:p>
          <a:p>
            <a:pPr lvl="0" indent="0" marL="0">
              <a:buNone/>
            </a:pPr>
            <a:r>
              <a:rPr/>
              <a:t>10 min: cross-check perf ↔ obs coverage</a:t>
            </a:r>
          </a:p>
          <a:p>
            <a:pPr lvl="0" indent="0" marL="0">
              <a:buNone/>
            </a:pPr>
            <a:r>
              <a:rPr/>
              <a:t>⏱ 15 + 15 + 10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3 — Security + A11y + 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“draft the first version” categories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🔒 Security NFRs — the standard 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AuthN: How do we know who the user is?</a:t>
            </a:r>
          </a:p>
          <a:p>
            <a:pPr lvl="0" indent="0" marL="0">
              <a:buNone/>
            </a:pPr>
            <a:r>
              <a:rPr/>
              <a:t>AuthZ: What can this user do? (Explicit not-allowed list)</a:t>
            </a:r>
          </a:p>
          <a:p>
            <a:pPr lvl="0" indent="0" marL="0">
              <a:buNone/>
            </a:pPr>
            <a:r>
              <a:rPr/>
              <a:t>Data classification: PII / PCI / internal / public — what touches what?</a:t>
            </a:r>
          </a:p>
          <a:p>
            <a:pPr lvl="0" indent="0" marL="0">
              <a:buNone/>
            </a:pPr>
            <a:r>
              <a:rPr/>
              <a:t>Encryption: In transit (TLS 1.2+); at rest (managed keys?)</a:t>
            </a:r>
          </a:p>
          <a:p>
            <a:pPr lvl="0" indent="0" marL="0">
              <a:buNone/>
            </a:pPr>
            <a:r>
              <a:rPr/>
              <a:t>Audit: What user actions are logged? Where? Retained how long?</a:t>
            </a:r>
          </a:p>
          <a:p>
            <a:pPr lvl="0" indent="0" marL="0">
              <a:buNone/>
            </a:pPr>
            <a:r>
              <a:rPr/>
              <a:t>The TPM job: not to be the security expert. To draft the first version so the security team has a starting point.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♿️ Accessibility NFRs (pull from Week 2 Day 3)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📝 Compliance NFRs — FieldPulse-flavored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you have no compliance NFR, ask: “If a regulator audited this feature, what would they ask?” That answer is your NFR.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3 — Sec + A11y + Comp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40 minutes</a:t>
            </a:r>
          </a:p>
          <a:p>
            <a:pPr lvl="0" indent="0" marL="0">
              <a:buNone/>
            </a:pPr>
            <a:r>
              <a:rPr/>
              <a:t>3–5 Security NFRs (5-question set). 1–2 A11y NFRs (Week 2 Day 3). 1–2 Compliance NFRs.</a:t>
            </a:r>
          </a:p>
          <a:p>
            <a:pPr lvl="0" indent="0" marL="0">
              <a:buNone/>
            </a:pPr>
            <a:r>
              <a:rPr/>
              <a:t>15 min: Security (3–5 NFRs)</a:t>
            </a:r>
          </a:p>
          <a:p>
            <a:pPr lvl="0" indent="0" marL="0">
              <a:buNone/>
            </a:pPr>
            <a:r>
              <a:rPr/>
              <a:t>10 min: Accessibility (1–2 NFRs)</a:t>
            </a:r>
          </a:p>
          <a:p>
            <a:pPr lvl="0" indent="0" marL="0">
              <a:buNone/>
            </a:pPr>
            <a:r>
              <a:rPr/>
              <a:t>10 min: Compliance (1–2 NFRs)</a:t>
            </a:r>
          </a:p>
          <a:p>
            <a:pPr lvl="0" indent="0" marL="0">
              <a:buNone/>
            </a:pPr>
            <a:r>
              <a:rPr/>
              <a:t>5 min: defenses are real, not boilerplate</a:t>
            </a:r>
          </a:p>
          <a:p>
            <a:pPr lvl="0" indent="0" marL="0">
              <a:buNone/>
            </a:pPr>
            <a:r>
              <a:rPr/>
              <a:t>⏱ 15 + 10 + 10 + 5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4 — Trade-Offs &amp; Cross-Review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Mature NFR sections name the tensions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⚔️ Four Classic NFR Trade-offs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Trade-off</a:t>
            </a:r>
          </a:p>
          <a:p>
            <a:pPr lvl="0" indent="0" marL="0">
              <a:buNone/>
            </a:pPr>
            <a:r>
              <a:rPr/>
              <a:t>The tension</a:t>
            </a:r>
          </a:p>
          <a:p>
            <a:pPr lvl="0" indent="0" marL="0">
              <a:buNone/>
            </a:pPr>
            <a:r>
              <a:rPr/>
              <a:t>Performance vs Observability</a:t>
            </a:r>
          </a:p>
          <a:p>
            <a:pPr lvl="0" indent="0" marL="0">
              <a:buNone/>
            </a:pPr>
            <a:r>
              <a:rPr/>
              <a:t>Heavy logging slows the hot path; light logging blinds you</a:t>
            </a:r>
          </a:p>
          <a:p>
            <a:pPr lvl="0" indent="0" marL="0">
              <a:buNone/>
            </a:pPr>
            <a:r>
              <a:rPr/>
              <a:t>Security vs Time-to-first-value</a:t>
            </a:r>
          </a:p>
          <a:p>
            <a:pPr lvl="0" indent="0" marL="0">
              <a:buNone/>
            </a:pPr>
            <a:r>
              <a:rPr/>
              <a:t>Strict authZ blocks the new-user happy path</a:t>
            </a:r>
          </a:p>
          <a:p>
            <a:pPr lvl="0" indent="0" marL="0">
              <a:buNone/>
            </a:pPr>
            <a:r>
              <a:rPr/>
              <a:t>Compliance vs Latency</a:t>
            </a:r>
          </a:p>
          <a:p>
            <a:pPr lvl="0" indent="0" marL="0">
              <a:buNone/>
            </a:pPr>
            <a:r>
              <a:rPr/>
              <a:t>EU data residency adds cross-region hops</a:t>
            </a:r>
          </a:p>
          <a:p>
            <a:pPr lvl="0" indent="0" marL="0">
              <a:buNone/>
            </a:pPr>
            <a:r>
              <a:rPr/>
              <a:t>Accessibility vs Visual Polish</a:t>
            </a:r>
          </a:p>
          <a:p>
            <a:pPr lvl="0" indent="0" marL="0">
              <a:buNone/>
            </a:pPr>
            <a:r>
              <a:rPr/>
              <a:t>Some animations conflict with reduced-motion / screen-reader</a:t>
            </a:r>
          </a:p>
          <a:p>
            <a:pPr lvl="0" indent="0" marL="0">
              <a:buNone/>
            </a:pPr>
            <a:r>
              <a:rPr/>
              <a:t>Mature sections: name the trade-off, name the resolution (or note the open tension).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📝 Worked Known-Trade-offs Subsection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4 — NFR Cross-Review + Trade-offs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 pairs • 45 minutes • Wrap</a:t>
            </a:r>
          </a:p>
          <a:p>
            <a:pPr lvl="0" indent="0" marL="0">
              <a:buNone/>
            </a:pPr>
            <a:r>
              <a:rPr/>
              <a:t>Cross-review the NFR section (same pairing as Day 2). Surface trade-offs. Add the Known Trade-offs subsection.</a:t>
            </a:r>
          </a:p>
          <a:p>
            <a:pPr lvl="0" indent="0" marL="0">
              <a:buNone/>
            </a:pPr>
            <a:r>
              <a:rPr/>
              <a:t>10 min: read NFR section, check defenses + verifications</a:t>
            </a:r>
          </a:p>
          <a:p>
            <a:pPr lvl="0" indent="0" marL="0">
              <a:buNone/>
            </a:pPr>
            <a:r>
              <a:rPr/>
              <a:t>10 min: reviewer surfaces trade-offs</a:t>
            </a:r>
          </a:p>
          <a:p>
            <a:pPr lvl="0" indent="0" marL="0">
              <a:buNone/>
            </a:pPr>
            <a:r>
              <a:rPr/>
              <a:t>10 min: author triad responds</a:t>
            </a:r>
          </a:p>
          <a:p>
            <a:pPr lvl="0" indent="0" marL="0">
              <a:buNone/>
            </a:pPr>
            <a:r>
              <a:rPr/>
              <a:t>15 min: revise + add Known Trade-offs subsection</a:t>
            </a:r>
          </a:p>
          <a:p>
            <a:pPr lvl="0" indent="0" marL="0">
              <a:buNone/>
            </a:pPr>
            <a:r>
              <a:rPr/>
              <a:t>⏱ 10 + 10 + 10 + 15 · 15-min wrap-share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🎉 Day 3 Wrap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we built</a:t>
            </a:r>
          </a:p>
          <a:p>
            <a:pPr lvl="0" indent="0" marL="0">
              <a:buNone/>
            </a:pPr>
            <a:r>
              <a:rPr/>
              <a:t>NFR Triage discipline (5 failure modes)</a:t>
            </a:r>
          </a:p>
          <a:p>
            <a:pPr lvl="0" indent="0" marL="0">
              <a:buNone/>
            </a:pPr>
            <a:r>
              <a:rPr/>
              <a:t>Coverage across 5 categories</a:t>
            </a:r>
          </a:p>
          <a:p>
            <a:pPr lvl="0" indent="0" marL="0">
              <a:buNone/>
            </a:pPr>
            <a:r>
              <a:rPr/>
              <a:t>Tier-Sheet-linked observability</a:t>
            </a:r>
          </a:p>
          <a:p>
            <a:pPr lvl="0" indent="0" marL="0">
              <a:buNone/>
            </a:pPr>
            <a:r>
              <a:rPr/>
              <a:t>Known Trade-offs subsection</a:t>
            </a:r>
          </a:p>
          <a:p>
            <a:pPr lvl="0" indent="0" marL="0">
              <a:buNone/>
            </a:pPr>
            <a:r>
              <a:rPr/>
              <a:t>What opens tomorrow</a:t>
            </a:r>
          </a:p>
          <a:p>
            <a:pPr lvl="0" indent="0" marL="0">
              <a:buNone/>
            </a:pPr>
            <a:r>
              <a:rPr/>
              <a:t>Mini-capstone PRD assembly</a:t>
            </a:r>
          </a:p>
          <a:p>
            <a:pPr lvl="0" indent="0" marL="0">
              <a:buNone/>
            </a:pPr>
            <a:r>
              <a:rPr/>
              <a:t>Add §8 Metrics, §9 Risks, §10 Deps, §11 Out-of-scope</a:t>
            </a:r>
          </a:p>
          <a:p>
            <a:pPr lvl="0" indent="0" marL="0">
              <a:buNone/>
            </a:pPr>
            <a:r>
              <a:rPr/>
              <a:t>Final pass + integration check</a:t>
            </a:r>
          </a:p>
          <a:p>
            <a:pPr lvl="0" indent="0" marL="0">
              <a:buNone/>
            </a:pPr>
            <a:r>
              <a:rPr/>
              <a:t>Still non-AI</a:t>
            </a:r>
          </a:p>
          <a:p>
            <a:pPr lvl="0" indent="0" marL="0">
              <a:buNone/>
            </a:pPr>
            <a:r>
              <a:rPr/>
              <a:t>Bring to Day 4: §§1–7 complete. Tomorrow you ship.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💬 Questions &amp;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Which of your NFRs would a senior engineer push back on hardest?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2026-05-15T23:21:41Z</dcterms:created>
  <dcterms:modified xsi:type="dcterms:W3CDTF">2026-05-15T23:21:41Z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