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 weeks of muscle. 5 days of capstone. Today is 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participant leaves with capstone deliverable + reflection list + Pattern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Tight cadence. Hold the time strictly during 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to: The Friday Rubric. Score on the rubric, not against other triads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Cohort + instructors score. Whole-number scores; no half-points.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“I don’t know” answered well is better than a hand-wave.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to: The Presentations. 15 minutes + 5 Q&amp;A per triad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timer is broken, that’s a presentation craft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Honest scoring beats “everyone gets a B.”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to: Cohort Retrospective. 30 minutes; 3 rounds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Instructor models the round-robin first. Specificity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to: Course Closure. 45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final round-robin is the closure ritual. Instructors model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artifacts are reusable. The cohort is permanent.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muscle gets named. Each is a thing they can name in their next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on an honest, summative tone. The work was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“One sentence: what did the academy give you?”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🏆 Final Presentations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8 • Day 5 • Course 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triad presents their capstone (15 + 5 Q&amp;A)</a:t>
            </a:r>
          </a:p>
          <a:p>
            <a:pPr lvl="0" indent="0" marL="0">
              <a:buNone/>
            </a:pPr>
            <a:r>
              <a:rPr/>
              <a:t>Cohort + instructors score on the rubric</a:t>
            </a:r>
          </a:p>
          <a:p>
            <a:pPr lvl="0" indent="0" marL="0">
              <a:buNone/>
            </a:pPr>
            <a:r>
              <a:rPr/>
              <a:t>Cohort retrospective: surprises / keeping / retiring</a:t>
            </a:r>
          </a:p>
          <a:p>
            <a:pPr lvl="0" indent="0" marL="0">
              <a:buNone/>
            </a:pPr>
            <a:r>
              <a:rPr/>
              <a:t>Post-assessments (Product Management + Data Literacy)</a:t>
            </a:r>
          </a:p>
          <a:p>
            <a:pPr lvl="0" indent="0" marL="0">
              <a:buNone/>
            </a:pPr>
            <a:r>
              <a:rPr/>
              <a:t>Course closure: certificates, final round-robin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Cadence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09:00 – 09:30</a:t>
            </a:r>
          </a:p>
          <a:p>
            <a:pPr lvl="0" indent="0" marL="0">
              <a:buNone/>
            </a:pPr>
            <a:r>
              <a:rPr/>
              <a:t>Opening; presentation order; rubric review</a:t>
            </a:r>
          </a:p>
          <a:p>
            <a:pPr lvl="0" indent="0" marL="0">
              <a:buNone/>
            </a:pPr>
            <a:r>
              <a:rPr/>
              <a:t>09:30 – 10:50</a:t>
            </a:r>
          </a:p>
          <a:p>
            <a:pPr lvl="0" indent="0" marL="0">
              <a:buNone/>
            </a:pPr>
            <a:r>
              <a:rPr/>
              <a:t>Triads 1 + 2 present</a:t>
            </a:r>
          </a:p>
          <a:p>
            <a:pPr lvl="0" indent="0" marL="0">
              <a:buNone/>
            </a:pPr>
            <a:r>
              <a:rPr/>
              <a:t>10:50 – 11:05</a:t>
            </a:r>
          </a:p>
          <a:p>
            <a:pPr lvl="0" indent="0" marL="0">
              <a:buNone/>
            </a:pPr>
            <a:r>
              <a:rPr/>
              <a:t>Break</a:t>
            </a:r>
          </a:p>
          <a:p>
            <a:pPr lvl="0" indent="0" marL="0">
              <a:buNone/>
            </a:pPr>
            <a:r>
              <a:rPr/>
              <a:t>11:05 – 12:25</a:t>
            </a:r>
          </a:p>
          <a:p>
            <a:pPr lvl="0" indent="0" marL="0">
              <a:buNone/>
            </a:pPr>
            <a:r>
              <a:rPr/>
              <a:t>Triads 3 + 4 present</a:t>
            </a:r>
          </a:p>
          <a:p>
            <a:pPr lvl="0" indent="0" marL="0">
              <a:buNone/>
            </a:pPr>
            <a:r>
              <a:rPr/>
              <a:t>12:25 – 13:25</a:t>
            </a:r>
          </a:p>
          <a:p>
            <a:pPr lvl="0" indent="0" marL="0">
              <a:buNone/>
            </a:pPr>
            <a:r>
              <a:rPr/>
              <a:t>Lunch</a:t>
            </a:r>
          </a:p>
          <a:p>
            <a:pPr lvl="0" indent="0" marL="0">
              <a:buNone/>
            </a:pPr>
            <a:r>
              <a:rPr/>
              <a:t>13:25 – 14:45</a:t>
            </a:r>
          </a:p>
          <a:p>
            <a:pPr lvl="0" indent="0" marL="0">
              <a:buNone/>
            </a:pPr>
            <a:r>
              <a:rPr/>
              <a:t>Triads 5 + 6 present</a:t>
            </a:r>
          </a:p>
          <a:p>
            <a:pPr lvl="0" indent="0" marL="0">
              <a:buNone/>
            </a:pPr>
            <a:r>
              <a:rPr/>
              <a:t>14:45 – 15:15</a:t>
            </a:r>
          </a:p>
          <a:p>
            <a:pPr lvl="0" indent="0" marL="0">
              <a:buNone/>
            </a:pPr>
            <a:r>
              <a:rPr/>
              <a:t>Cohort retrospective</a:t>
            </a:r>
          </a:p>
          <a:p>
            <a:pPr lvl="0" indent="0" marL="0">
              <a:buNone/>
            </a:pPr>
            <a:r>
              <a:rPr/>
              <a:t>15:15 – 16:00</a:t>
            </a:r>
          </a:p>
          <a:p>
            <a:pPr lvl="0" indent="0" marL="0">
              <a:buNone/>
            </a:pPr>
            <a:r>
              <a:rPr/>
              <a:t>Course closure: post-assessments, certificates, wrap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Friday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Score on the rubric, not against other triads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Friday Presentation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Customer + problem clarity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Integrated artifact set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AI Spec quality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Trade-off honesty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Outcome thinking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Delivery readiness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Presentation craft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Score 0–4 per dimension. Final = (peer mean + instructor) / 2.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🗣️ Q&amp;A Discipline (for presenters)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asked</a:t>
            </a:r>
          </a:p>
          <a:p>
            <a:pPr lvl="0" indent="0" marL="0">
              <a:buNone/>
            </a:pPr>
            <a:r>
              <a:rPr/>
              <a:t>Do this</a:t>
            </a:r>
          </a:p>
          <a:p>
            <a:pPr lvl="0" indent="0" marL="0">
              <a:buNone/>
            </a:pPr>
            <a:r>
              <a:rPr/>
              <a:t>Specific Q you can answer</a:t>
            </a:r>
          </a:p>
          <a:p>
            <a:pPr lvl="0" indent="0" marL="0">
              <a:buNone/>
            </a:pPr>
            <a:r>
              <a:rPr/>
              <a:t>Crisp answer &lt; 90 sec</a:t>
            </a:r>
          </a:p>
          <a:p>
            <a:pPr lvl="0" indent="0" marL="0">
              <a:buNone/>
            </a:pPr>
            <a:r>
              <a:rPr/>
              <a:t>Specific Q you can’t answer</a:t>
            </a:r>
          </a:p>
          <a:p>
            <a:pPr lvl="0" indent="0" marL="0">
              <a:buNone/>
            </a:pPr>
            <a:r>
              <a:rPr/>
              <a:t>“Honestly, I don’t know — here’s what we’d do to find out”</a:t>
            </a:r>
          </a:p>
          <a:p>
            <a:pPr lvl="0" indent="0" marL="0">
              <a:buNone/>
            </a:pPr>
            <a:r>
              <a:rPr/>
              <a:t>Challenge to a decision</a:t>
            </a:r>
          </a:p>
          <a:p>
            <a:pPr lvl="0" indent="0" marL="0">
              <a:buNone/>
            </a:pPr>
            <a:r>
              <a:rPr/>
              <a:t>Restate decision + trade-off + revisit trigger</a:t>
            </a:r>
          </a:p>
          <a:p>
            <a:pPr lvl="0" indent="0" marL="0">
              <a:buNone/>
            </a:pPr>
            <a:r>
              <a:rPr/>
              <a:t>Out-of-scope Q</a:t>
            </a:r>
          </a:p>
          <a:p>
            <a:pPr lvl="0" indent="0" marL="0">
              <a:buNone/>
            </a:pPr>
            <a:r>
              <a:rPr/>
              <a:t>Acknowledge; reference Section 11 / “explicitly NOT”</a:t>
            </a:r>
          </a:p>
          <a:p>
            <a:pPr lvl="0" indent="0" marL="0">
              <a:buNone/>
            </a:pPr>
            <a:r>
              <a:rPr/>
              <a:t>Hostile Q</a:t>
            </a:r>
          </a:p>
          <a:p>
            <a:pPr lvl="0" indent="0" marL="0">
              <a:buNone/>
            </a:pPr>
            <a:r>
              <a:rPr/>
              <a:t>Curiosity. “What concern would that address?”</a:t>
            </a:r>
          </a:p>
          <a:p>
            <a:pPr lvl="0" indent="0" marL="0">
              <a:buNone/>
            </a:pPr>
            <a:r>
              <a:rPr/>
              <a:t>Curiosity, not defensiveness. Triads who handle Q&amp;A with curiosity score high on presentation craft.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15 minutes + 5 Q&amp;A per triad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🎤 Presentation Slot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 minutes presentation (timer enforced)</a:t>
            </a:r>
          </a:p>
          <a:p>
            <a:pPr lvl="0" indent="0" marL="0">
              <a:buNone/>
            </a:pPr>
            <a:r>
              <a:rPr/>
              <a:t>5 minutes Q&amp;A (instructors lead)</a:t>
            </a:r>
          </a:p>
          <a:p>
            <a:pPr lvl="0" indent="0" marL="0">
              <a:buNone/>
            </a:pPr>
            <a:r>
              <a:rPr/>
              <a:t>All 3 triad voices speak. Time-managed. Customer + problem grounds the rest.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Cohort Scoring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Score during the presentation, not after</a:t>
            </a:r>
          </a:p>
          <a:p>
            <a:pPr lvl="0" indent="0" marL="0">
              <a:buNone/>
            </a:pPr>
            <a:r>
              <a:rPr/>
              <a:t>Specific notes per dimension</a:t>
            </a:r>
          </a:p>
          <a:p>
            <a:pPr lvl="0" indent="0" marL="0">
              <a:buNone/>
            </a:pPr>
            <a:r>
              <a:rPr/>
              <a:t>Whole-number scores; no half-points</a:t>
            </a:r>
          </a:p>
          <a:p>
            <a:pPr lvl="0" indent="0" marL="0">
              <a:buNone/>
            </a:pPr>
            <a:r>
              <a:rPr/>
              <a:t>Score against the rubric, not against other triads</a:t>
            </a:r>
          </a:p>
          <a:p>
            <a:pPr lvl="0" indent="0" marL="0">
              <a:buNone/>
            </a:pPr>
            <a:r>
              <a:rPr/>
              <a:t>Don’t grade on a curve. If two triads score 3.5, both are 3.5.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Cohort Retrospective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30 minutes; 3 rounds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3 Retrospective Rounds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surprised you? One thing each — content, process, yourself</a:t>
            </a:r>
          </a:p>
          <a:p>
            <a:pPr lvl="0" indent="0" marL="0">
              <a:buNone/>
            </a:pPr>
            <a:r>
              <a:rPr/>
              <a:t>What muscles are you keeping? 2 muscles each</a:t>
            </a:r>
          </a:p>
          <a:p>
            <a:pPr lvl="0" indent="0" marL="0">
              <a:buNone/>
            </a:pPr>
            <a:r>
              <a:rPr/>
              <a:t>What habit are you retiring? 1 habit each</a:t>
            </a:r>
          </a:p>
          <a:p>
            <a:pPr lvl="0" indent="0" marL="0">
              <a:buNone/>
            </a:pPr>
            <a:r>
              <a:rPr/>
              <a:t>Three artifact lists for the cohort to take with them.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45 minutes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Closure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Post-assessments (15 min): PM + Data Literacy — same instruments as pre-assessments</a:t>
            </a:r>
          </a:p>
          <a:p>
            <a:pPr lvl="0" indent="0" marL="0">
              <a:buNone/>
            </a:pPr>
            <a:r>
              <a:rPr/>
              <a:t>Certificate distribution (5 min)</a:t>
            </a:r>
          </a:p>
          <a:p>
            <a:pPr lvl="0" indent="0" marL="0">
              <a:buNone/>
            </a:pPr>
            <a:r>
              <a:rPr/>
              <a:t>Closing words from instructors (10 min)</a:t>
            </a:r>
          </a:p>
          <a:p>
            <a:pPr lvl="0" indent="0" marL="0">
              <a:buNone/>
            </a:pPr>
            <a:r>
              <a:rPr/>
              <a:t>Final round-robin (15 min): one sentence each on what the academy gave them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Materials You Take With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Artifact templates — Product Requirements Document (PRD), Technical Concept Document (TCD), Technical Modeling Document (TMD), Stakeholder Engagement Plan (SEP), Delivery Plan (DP), AI Spec — for use in your next role</a:t>
            </a:r>
          </a:p>
          <a:p>
            <a:pPr lvl="0" indent="0" marL="0">
              <a:buNone/>
            </a:pPr>
            <a:r>
              <a:rPr/>
              <a:t>Techniques — acceptance criteria (AC), non-functional requirements (NFRs), Service Level Objectives (SLOs), Azure DevOps (ADO), value stream mapping (VSM)</a:t>
            </a:r>
          </a:p>
          <a:p>
            <a:pPr lvl="0" indent="0" marL="0">
              <a:buNone/>
            </a:pPr>
            <a:r>
              <a:rPr/>
              <a:t>Pattern Library — cumulative across Weeks 2–8</a:t>
            </a:r>
          </a:p>
          <a:p>
            <a:pPr lvl="0" indent="0" marL="0">
              <a:buNone/>
            </a:pPr>
            <a:r>
              <a:rPr/>
              <a:t>“Next 90 days” reading list — 3–5 books / podcasts / talks</a:t>
            </a:r>
          </a:p>
          <a:p>
            <a:pPr lvl="0" indent="0" marL="0">
              <a:buNone/>
            </a:pPr>
            <a:r>
              <a:rPr/>
              <a:t>Cohort connections for ongoing support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💪 The 5 Muscles of the Academy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Customer-centric</a:t>
            </a:r>
          </a:p>
          <a:p>
            <a:pPr lvl="0" indent="0" marL="0">
              <a:buNone/>
            </a:pPr>
            <a:r>
              <a:rPr/>
              <a:t>(Wk 1) Personas, pain points, problem framing</a:t>
            </a:r>
          </a:p>
          <a:p>
            <a:pPr lvl="0" indent="0" marL="0">
              <a:buNone/>
            </a:pPr>
            <a:r>
              <a:rPr/>
              <a:t>Strategic + measurable</a:t>
            </a:r>
          </a:p>
          <a:p>
            <a:pPr lvl="0" indent="0" marL="0">
              <a:buNone/>
            </a:pPr>
            <a:r>
              <a:rPr/>
              <a:t>(Wk 2) NS, Tier Sheet, journey, design principles</a:t>
            </a:r>
          </a:p>
          <a:p>
            <a:pPr lvl="0" indent="0" marL="0">
              <a:buNone/>
            </a:pPr>
            <a:r>
              <a:rPr/>
              <a:t>Engineering-readable</a:t>
            </a:r>
          </a:p>
          <a:p>
            <a:pPr lvl="0" indent="0" marL="0">
              <a:buNone/>
            </a:pPr>
            <a:r>
              <a:rPr/>
              <a:t>(Wk 3 + 8) PRDs, AC, NFRs, AI Spec</a:t>
            </a:r>
          </a:p>
          <a:p>
            <a:pPr lvl="0" indent="0" marL="0">
              <a:buNone/>
            </a:pPr>
            <a:r>
              <a:rPr/>
              <a:t>Architecturally aware</a:t>
            </a:r>
          </a:p>
          <a:p>
            <a:pPr lvl="0" indent="0" marL="0">
              <a:buNone/>
            </a:pPr>
            <a:r>
              <a:rPr/>
              <a:t>(Wk 4 + 5) TCD, TMD, trade-offs, SLOs, sequences</a:t>
            </a:r>
          </a:p>
          <a:p>
            <a:pPr lvl="0" indent="0" marL="0">
              <a:buNone/>
            </a:pPr>
            <a:r>
              <a:rPr/>
              <a:t>Stakeholder-fluent</a:t>
            </a:r>
          </a:p>
          <a:p>
            <a:pPr lvl="0" indent="0" marL="0">
              <a:buNone/>
            </a:pPr>
            <a:r>
              <a:rPr/>
              <a:t>(Wk 6) Mapping, engagement, negotiation</a:t>
            </a:r>
          </a:p>
          <a:p>
            <a:pPr lvl="0" indent="0" marL="0">
              <a:buNone/>
            </a:pPr>
            <a:r>
              <a:rPr/>
              <a:t>Delivery-disciplined</a:t>
            </a:r>
          </a:p>
          <a:p>
            <a:pPr lvl="0" indent="0" marL="0">
              <a:buNone/>
            </a:pPr>
            <a:r>
              <a:rPr/>
              <a:t>(Wk 7) ADO, outcome tracking, VSM, bottlenecks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🏆 Congratulations, TPM Academy Cohort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shipped 5 sibling artifacts + an AI Spec + a capstone.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 the muscles. Use the templates. Keep the discipline.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Final Round-Robin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sentence: what did the academy give you?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2026-07-22T12:59:46Z</dcterms:created>
  <dcterms:modified xsi:type="dcterms:W3CDTF">2026-07-22T12:59:46Z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