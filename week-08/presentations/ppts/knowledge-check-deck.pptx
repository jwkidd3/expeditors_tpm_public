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notesMaster" Target="notesMasters/notesMaster1.xml" /><Relationship Id="rId33" Type="http://schemas.openxmlformats.org/officeDocument/2006/relationships/viewProps" Target="viewProps.xml" /><Relationship Id="rId32" Type="http://schemas.openxmlformats.org/officeDocument/2006/relationships/presProps" Target="presProps.xml" /><Relationship Id="rId1" Type="http://schemas.openxmlformats.org/officeDocument/2006/relationships/slideMaster" Target="slideMasters/slideMaster1.xml" /><Relationship Id="rId35" Type="http://schemas.openxmlformats.org/officeDocument/2006/relationships/tableStyles" Target="tableStyles.xml" /><Relationship Id="rId3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this as a live review game to close the final week. Read the question, let triads commit to an answer out loud or on paper, then advance to the answer slide. The goal is retention through retrieval — make them commit before revealing.</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Emphasize commitment before reveal. The retrieval effort is what moves knowledge into long-term memory — passively recognizing the right answer does far less.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trap answers are the parallel/mega-prompt options — they feel faster. Triads who run all 5 in parallel break the validation chain.</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Reinforce: the sequence is iterative on purpose. The chain is the discipline, not the prompt count.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This is the whole philosophy of the pattern disguised as a T/F.</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Hammer the line. Every section still traces to a human decision and a source artifact.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trap is “faster = looser.” Compression is a discipline, not a shortcut.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Don’t soften compression. Cut cosmetic; keep load-bearing. Same discipline, less space.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Watch for anyone drawn to a happy-path-only answer — that’s the exact failure mode to push back on.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a triad shipped only happy paths, this is the reminder. The discipline survives compression.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load-bearing specifics an AI will smooth away if you let it. That’s the whole risk.</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Tie back: paraphrasing a revisit trigger or an invariant quietly changes the engineering contract.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“Looks fine” is the tell. The reviewer’s job is to find the weak claim, not to bless the document.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a reviewer says “looks fine” without walking the references, push. That’s the muscle.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distinction: single-document quality vs. cross-document coherence. This check is about coherence.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Force walking the references. Coherence bugs hide between documents, not inside them.</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The honest answer normalizes finding gaps — that’s the point of the day.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a triad finishes in under 25 minutes with zero fails, they didn’t walk the references. Push.</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“See the TCD” is the tempting answer — it feels done. The section number is what proves it was verified.</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vague cross-reference is a coherence smell. Specificity is the proof of verification.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Several dimensions sit at 15%. Only one is heavier — the week’s signature artifact.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why validation discipline pays off Friday. The AI Spec is where the points are.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word “curve” is the tell. Scoring is absolute, against the rubric.</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Honest scoring beats “everyone gets a B.” Don’t grade on a curve.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Last one. The best-guess answer is the trap — a confident hand-wave costs more than an honest “I don’t know.”</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Connect it to the whole week: honesty about gaps is the senior signal, from Day-1 discovery to Friday Q&amp;A.</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by asking each triad which single question they got wrong and why. Then pivot to the course closure — this is the last knowledge check of the academy.</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Week 8 Knowledge Check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Spec Development &amp; Capstone</a:t>
            </a:r>
          </a:p>
        </p:txBody>
      </p:sp>
      <p:sp>
        <p:nvSpPr>
          <p:cNvPr id="3" name="Content Placeholder 2"/>
          <p:cNvSpPr>
            <a:spLocks noGrp="1"/>
          </p:cNvSpPr>
          <p:nvPr>
            <p:ph idx="1"/>
          </p:nvPr>
        </p:nvSpPr>
        <p:spPr/>
        <p:txBody>
          <a:bodyPr/>
          <a:lstStyle/>
          <a:p>
            <a:pPr lvl="0" indent="0" marL="0">
              <a:spcBef>
                <a:spcPts val="3000"/>
              </a:spcBef>
              <a:buNone/>
            </a:pPr>
            <a:r>
              <a:rPr b="1"/>
              <a:t>Technical Product Manager Academy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How This Works</a:t>
            </a:r>
          </a:p>
        </p:txBody>
      </p:sp>
      <p:sp>
        <p:nvSpPr>
          <p:cNvPr id="3" name="Content Placeholder 2"/>
          <p:cNvSpPr>
            <a:spLocks noGrp="1"/>
          </p:cNvSpPr>
          <p:nvPr>
            <p:ph idx="1"/>
          </p:nvPr>
        </p:nvSpPr>
        <p:spPr/>
        <p:txBody>
          <a:bodyPr/>
          <a:lstStyle/>
          <a:p>
            <a:pPr lvl="0" indent="0" marL="0">
              <a:buNone/>
            </a:pPr>
            <a:r>
              <a:rPr/>
              <a:t>12 questions across the week — AI Spec pattern, compressed discovery + PRD, compressed architecture, validation + finalization, and Friday’s presentations.  Commit to an answer before the reveal. Retrieval is the point.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a:t>
            </a:r>
          </a:p>
        </p:txBody>
      </p:sp>
      <p:sp>
        <p:nvSpPr>
          <p:cNvPr id="3" name="Content Placeholder 2"/>
          <p:cNvSpPr>
            <a:spLocks noGrp="1"/>
          </p:cNvSpPr>
          <p:nvPr>
            <p:ph idx="1"/>
          </p:nvPr>
        </p:nvSpPr>
        <p:spPr/>
        <p:txBody>
          <a:bodyPr/>
          <a:lstStyle/>
          <a:p>
            <a:pPr lvl="0" indent="0" marL="0">
              <a:buNone/>
            </a:pPr>
            <a:r>
              <a:rPr/>
              <a:t>In the AI Spec Development pattern, how is the 5-prompt sequence run?</a:t>
            </a:r>
          </a:p>
          <a:p>
            <a:pPr lvl="0" indent="-342900" marL="342900">
              <a:buAutoNum type="alphaUcParenR"/>
            </a:pPr>
            <a:r>
              <a:rPr/>
              <a:t>All 5 prompts in parallel, then validate once at the end</a:t>
            </a:r>
          </a:p>
          <a:p>
            <a:pPr lvl="0" indent="-342900" marL="342900">
              <a:buAutoNum type="alphaUcParenR"/>
            </a:pPr>
            <a:r>
              <a:rPr/>
              <a:t>Each prompt validated before the next runs — a validation chain</a:t>
            </a:r>
          </a:p>
          <a:p>
            <a:pPr lvl="0" indent="-342900" marL="342900">
              <a:buAutoNum type="alphaUcParenR"/>
            </a:pPr>
            <a:r>
              <a:rPr/>
              <a:t>As one mega-prompt with every input at once</a:t>
            </a:r>
          </a:p>
          <a:p>
            <a:pPr lvl="0" indent="-342900" marL="342900">
              <a:buAutoNum type="alphaUcParenR"/>
            </a:pPr>
            <a:r>
              <a:rPr/>
              <a:t>Prompts 1–4 draft; prompt 5 validates all four together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 — B</a:t>
            </a:r>
          </a:p>
        </p:txBody>
      </p:sp>
      <p:sp>
        <p:nvSpPr>
          <p:cNvPr id="3" name="Content Placeholder 2"/>
          <p:cNvSpPr>
            <a:spLocks noGrp="1"/>
          </p:cNvSpPr>
          <p:nvPr>
            <p:ph idx="1"/>
          </p:nvPr>
        </p:nvSpPr>
        <p:spPr/>
        <p:txBody>
          <a:bodyPr/>
          <a:lstStyle/>
          <a:p>
            <a:pPr lvl="0" indent="0" marL="0">
              <a:buNone/>
            </a:pPr>
            <a:r>
              <a:rPr/>
              <a:t>Each prompt validates before the next runs.</a:t>
            </a:r>
          </a:p>
          <a:p>
            <a:pPr lvl="0" indent="0" marL="0">
              <a:buNone/>
            </a:pPr>
            <a:r>
              <a:rPr/>
              <a:t>The validation chain is what keeps the AI Spec honest. Running all five in parallel — or as one mega-prompt — breaks it.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2 — True / False</a:t>
            </a:r>
          </a:p>
        </p:txBody>
      </p:sp>
      <p:sp>
        <p:nvSpPr>
          <p:cNvPr id="3" name="Content Placeholder 2"/>
          <p:cNvSpPr>
            <a:spLocks noGrp="1"/>
          </p:cNvSpPr>
          <p:nvPr>
            <p:ph idx="1"/>
          </p:nvPr>
        </p:nvSpPr>
        <p:spPr/>
        <p:txBody>
          <a:bodyPr/>
          <a:lstStyle/>
          <a:p>
            <a:pPr lvl="0" indent="0" marL="0">
              <a:buNone/>
            </a:pPr>
            <a:r>
              <a:rPr/>
              <a:t>Senior TPMs use AI Spec Development to draft the spec, not to do the thinking — judgment shapes every section and the AI accelerates the typing.</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2 — True</a:t>
            </a:r>
          </a:p>
        </p:txBody>
      </p:sp>
      <p:sp>
        <p:nvSpPr>
          <p:cNvPr id="3" name="Content Placeholder 2"/>
          <p:cNvSpPr>
            <a:spLocks noGrp="1"/>
          </p:cNvSpPr>
          <p:nvPr>
            <p:ph idx="1"/>
          </p:nvPr>
        </p:nvSpPr>
        <p:spPr/>
        <p:txBody>
          <a:bodyPr/>
          <a:lstStyle/>
          <a:p>
            <a:pPr lvl="0" indent="0" marL="0">
              <a:buNone/>
            </a:pPr>
            <a:r>
              <a:rPr/>
              <a:t>“Use this to draft, not to think.”</a:t>
            </a:r>
          </a:p>
          <a:p>
            <a:pPr lvl="0" indent="0" marL="0">
              <a:buNone/>
            </a:pPr>
            <a:r>
              <a:rPr/>
              <a:t>Judgment shapes every section; AI accelerates the typing. AI Spec without validation is fiction.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3</a:t>
            </a:r>
          </a:p>
        </p:txBody>
      </p:sp>
      <p:sp>
        <p:nvSpPr>
          <p:cNvPr id="3" name="Content Placeholder 2"/>
          <p:cNvSpPr>
            <a:spLocks noGrp="1"/>
          </p:cNvSpPr>
          <p:nvPr>
            <p:ph idx="1"/>
          </p:nvPr>
        </p:nvSpPr>
        <p:spPr/>
        <p:txBody>
          <a:bodyPr/>
          <a:lstStyle/>
          <a:p>
            <a:pPr lvl="0" indent="0" marL="0">
              <a:buNone/>
            </a:pPr>
            <a:r>
              <a:rPr/>
              <a:t>In the capstone, what does “compressed” work mean?</a:t>
            </a:r>
          </a:p>
          <a:p>
            <a:pPr lvl="0" indent="-342900" marL="342900">
              <a:buAutoNum type="alphaUcParenR"/>
            </a:pPr>
            <a:r>
              <a:rPr/>
              <a:t>Lower-quality work produced faster</a:t>
            </a:r>
          </a:p>
          <a:p>
            <a:pPr lvl="0" indent="-342900" marL="342900">
              <a:buAutoNum type="alphaUcParenR"/>
            </a:pPr>
            <a:r>
              <a:rPr/>
              <a:t>Selective — keep what’s load-bearing, cut what’s cosmetic</a:t>
            </a:r>
          </a:p>
          <a:p>
            <a:pPr lvl="0" indent="-342900" marL="342900">
              <a:buAutoNum type="alphaUcParenR"/>
            </a:pPr>
            <a:r>
              <a:rPr/>
              <a:t>Only the happy paths, skipping edge cases</a:t>
            </a:r>
          </a:p>
          <a:p>
            <a:pPr lvl="0" indent="-342900" marL="342900">
              <a:buAutoNum type="alphaUcParenR"/>
            </a:pPr>
            <a:r>
              <a:rPr/>
              <a:t>AI-generated drafts with lighter validation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3 — B</a:t>
            </a:r>
          </a:p>
        </p:txBody>
      </p:sp>
      <p:sp>
        <p:nvSpPr>
          <p:cNvPr id="3" name="Content Placeholder 2"/>
          <p:cNvSpPr>
            <a:spLocks noGrp="1"/>
          </p:cNvSpPr>
          <p:nvPr>
            <p:ph idx="1"/>
          </p:nvPr>
        </p:nvSpPr>
        <p:spPr/>
        <p:txBody>
          <a:bodyPr/>
          <a:lstStyle/>
          <a:p>
            <a:pPr lvl="0" indent="0" marL="0">
              <a:buNone/>
            </a:pPr>
            <a:r>
              <a:rPr/>
              <a:t>Selective: keep what’s load-bearing, cut what’s cosmetic.</a:t>
            </a:r>
          </a:p>
          <a:p>
            <a:pPr lvl="0" indent="0" marL="0">
              <a:buNone/>
            </a:pPr>
            <a:r>
              <a:rPr/>
              <a:t>Compressed work is not lower-quality work. Every word earns its place.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4</a:t>
            </a:r>
          </a:p>
        </p:txBody>
      </p:sp>
      <p:sp>
        <p:nvSpPr>
          <p:cNvPr id="3" name="Content Placeholder 2"/>
          <p:cNvSpPr>
            <a:spLocks noGrp="1"/>
          </p:cNvSpPr>
          <p:nvPr>
            <p:ph idx="1"/>
          </p:nvPr>
        </p:nvSpPr>
        <p:spPr/>
        <p:txBody>
          <a:bodyPr/>
          <a:lstStyle/>
          <a:p>
            <a:pPr lvl="0" indent="0" marL="0">
              <a:buNone/>
            </a:pPr>
            <a:r>
              <a:rPr/>
              <a:t>In the compressed PRD-light, what’s the acceptance-criteria coverage target?</a:t>
            </a:r>
          </a:p>
          <a:p>
            <a:pPr lvl="0" indent="-342900" marL="342900">
              <a:buAutoNum type="alphaUcParenR"/>
            </a:pPr>
            <a:r>
              <a:rPr/>
              <a:t>6 happy / 0 sad / 0 weird</a:t>
            </a:r>
          </a:p>
          <a:p>
            <a:pPr lvl="0" indent="-342900" marL="342900">
              <a:buAutoNum type="alphaUcParenR"/>
            </a:pPr>
            <a:r>
              <a:rPr/>
              <a:t>3 happy / 2 sad / 1 weird</a:t>
            </a:r>
          </a:p>
          <a:p>
            <a:pPr lvl="0" indent="-342900" marL="342900">
              <a:buAutoNum type="alphaUcParenR"/>
            </a:pPr>
            <a:r>
              <a:rPr/>
              <a:t>2 happy / 2 sad / 2 weird</a:t>
            </a:r>
          </a:p>
          <a:p>
            <a:pPr lvl="0" indent="-342900" marL="342900">
              <a:buAutoNum type="alphaUcParenR"/>
            </a:pPr>
            <a:r>
              <a:rPr/>
              <a:t>5 happy / 1 sad / 0 weird</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4 — B</a:t>
            </a:r>
          </a:p>
        </p:txBody>
      </p:sp>
      <p:sp>
        <p:nvSpPr>
          <p:cNvPr id="3" name="Content Placeholder 2"/>
          <p:cNvSpPr>
            <a:spLocks noGrp="1"/>
          </p:cNvSpPr>
          <p:nvPr>
            <p:ph idx="1"/>
          </p:nvPr>
        </p:nvSpPr>
        <p:spPr/>
        <p:txBody>
          <a:bodyPr/>
          <a:lstStyle/>
          <a:p>
            <a:pPr lvl="0" indent="0" marL="0">
              <a:buNone/>
            </a:pPr>
            <a:r>
              <a:rPr/>
              <a:t>3 happy / 2 sad / 1 weird.</a:t>
            </a:r>
          </a:p>
          <a:p>
            <a:pPr lvl="0" indent="0" marL="0">
              <a:buNone/>
            </a:pPr>
            <a:r>
              <a:rPr/>
              <a:t>Compressed means fewer ACs, not weaker ones — still Given/When/Then, same 5-failure-mode discipline.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5</a:t>
            </a:r>
          </a:p>
        </p:txBody>
      </p:sp>
      <p:sp>
        <p:nvSpPr>
          <p:cNvPr id="3" name="Content Placeholder 2"/>
          <p:cNvSpPr>
            <a:spLocks noGrp="1"/>
          </p:cNvSpPr>
          <p:nvPr>
            <p:ph idx="1"/>
          </p:nvPr>
        </p:nvSpPr>
        <p:spPr/>
        <p:txBody>
          <a:bodyPr/>
          <a:lstStyle/>
          <a:p>
            <a:pPr lvl="0" indent="0" marL="0">
              <a:buNone/>
            </a:pPr>
            <a:r>
              <a:rPr/>
              <a:t>Running the AI Spec sequence under time pressure, which content must be preserved verbatim rather than paraphrased by the AI?</a:t>
            </a:r>
          </a:p>
          <a:p>
            <a:pPr lvl="0" indent="-342900" marL="342900">
              <a:buAutoNum type="alphaUcParenR"/>
            </a:pPr>
            <a:r>
              <a:rPr/>
              <a:t>The engineering-ready summary paragraphs</a:t>
            </a:r>
          </a:p>
          <a:p>
            <a:pPr lvl="0" indent="-342900" marL="342900">
              <a:buAutoNum type="alphaUcParenR"/>
            </a:pPr>
            <a:r>
              <a:rPr/>
              <a:t>Trade-off costs, revisit triggers, named invariants, customer quotes</a:t>
            </a:r>
          </a:p>
          <a:p>
            <a:pPr lvl="0" indent="-342900" marL="342900">
              <a:buAutoNum type="alphaUcParenR"/>
            </a:pPr>
            <a:r>
              <a:rPr/>
              <a:t>The headline and section titles</a:t>
            </a:r>
          </a:p>
          <a:p>
            <a:pPr lvl="0" indent="-342900" marL="342900">
              <a:buAutoNum type="alphaUcParenR"/>
            </a:pPr>
            <a:r>
              <a:rPr/>
              <a:t>The provenance log entries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5 — B</a:t>
            </a:r>
          </a:p>
        </p:txBody>
      </p:sp>
      <p:sp>
        <p:nvSpPr>
          <p:cNvPr id="3" name="Content Placeholder 2"/>
          <p:cNvSpPr>
            <a:spLocks noGrp="1"/>
          </p:cNvSpPr>
          <p:nvPr>
            <p:ph idx="1"/>
          </p:nvPr>
        </p:nvSpPr>
        <p:spPr/>
        <p:txBody>
          <a:bodyPr/>
          <a:lstStyle/>
          <a:p>
            <a:pPr lvl="0" indent="0" marL="0">
              <a:buNone/>
            </a:pPr>
            <a:r>
              <a:rPr/>
              <a:t>Trade-off costs, revisit triggers, named invariants, and customer quotes.</a:t>
            </a:r>
          </a:p>
          <a:p>
            <a:pPr lvl="0" indent="0" marL="0">
              <a:buNone/>
            </a:pPr>
            <a:r>
              <a:rPr/>
              <a:t>Everything else can be synthesized — but hallucinated claims get cut. Time pressure tempts skipping validation; hold the line.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6 — True / False</a:t>
            </a:r>
          </a:p>
        </p:txBody>
      </p:sp>
      <p:sp>
        <p:nvSpPr>
          <p:cNvPr id="3" name="Content Placeholder 2"/>
          <p:cNvSpPr>
            <a:spLocks noGrp="1"/>
          </p:cNvSpPr>
          <p:nvPr>
            <p:ph idx="1"/>
          </p:nvPr>
        </p:nvSpPr>
        <p:spPr/>
        <p:txBody>
          <a:bodyPr/>
          <a:lstStyle/>
          <a:p>
            <a:pPr lvl="0" indent="0" marL="0">
              <a:buNone/>
            </a:pPr>
            <a:r>
              <a:rPr/>
              <a:t>In the Day-3 cross-triad spot-check, a reviewer triad that reads the AI Spec and reports “looks fine” without checking claims against the source has done its job correctly.</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6 — False</a:t>
            </a:r>
          </a:p>
        </p:txBody>
      </p:sp>
      <p:sp>
        <p:nvSpPr>
          <p:cNvPr id="3" name="Content Placeholder 2"/>
          <p:cNvSpPr>
            <a:spLocks noGrp="1"/>
          </p:cNvSpPr>
          <p:nvPr>
            <p:ph idx="1"/>
          </p:nvPr>
        </p:nvSpPr>
        <p:spPr/>
        <p:txBody>
          <a:bodyPr/>
          <a:lstStyle/>
          <a:p>
            <a:pPr lvl="0" indent="0" marL="0">
              <a:buNone/>
            </a:pPr>
            <a:r>
              <a:rPr/>
              <a:t>Watch for rubber-stamping.</a:t>
            </a:r>
          </a:p>
          <a:p>
            <a:pPr lvl="0" indent="0" marL="0">
              <a:buNone/>
            </a:pPr>
            <a:r>
              <a:rPr/>
              <a:t>The reviewer should find at least one weak claim — checked against the source. “Looks fine” without checking is the failure.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7</a:t>
            </a:r>
          </a:p>
        </p:txBody>
      </p:sp>
      <p:sp>
        <p:nvSpPr>
          <p:cNvPr id="3" name="Content Placeholder 2"/>
          <p:cNvSpPr>
            <a:spLocks noGrp="1"/>
          </p:cNvSpPr>
          <p:nvPr>
            <p:ph idx="1"/>
          </p:nvPr>
        </p:nvSpPr>
        <p:spPr/>
        <p:txBody>
          <a:bodyPr/>
          <a:lstStyle/>
          <a:p>
            <a:pPr lvl="0" indent="0" marL="0">
              <a:buNone/>
            </a:pPr>
            <a:r>
              <a:rPr/>
              <a:t>The Day-4 7-point technical-logic validation exists mainly to check what?</a:t>
            </a:r>
          </a:p>
          <a:p>
            <a:pPr lvl="0" indent="-342900" marL="342900">
              <a:buAutoNum type="alphaUcParenR"/>
            </a:pPr>
            <a:r>
              <a:rPr/>
              <a:t>That each artifact is well-written on its own</a:t>
            </a:r>
          </a:p>
          <a:p>
            <a:pPr lvl="0" indent="-342900" marL="342900">
              <a:buAutoNum type="alphaUcParenR"/>
            </a:pPr>
            <a:r>
              <a:rPr/>
              <a:t>Whether the artifacts fit together as one coherent set</a:t>
            </a:r>
          </a:p>
          <a:p>
            <a:pPr lvl="0" indent="-342900" marL="342900">
              <a:buAutoNum type="alphaUcParenR"/>
            </a:pPr>
            <a:r>
              <a:rPr/>
              <a:t>That the AI Spec matches the deck word-for-word</a:t>
            </a:r>
          </a:p>
          <a:p>
            <a:pPr lvl="0" indent="-342900" marL="342900">
              <a:buAutoNum type="alphaUcParenR"/>
            </a:pPr>
            <a:r>
              <a:rPr/>
              <a:t>That grammar and formatting are consistent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7 — B</a:t>
            </a:r>
          </a:p>
        </p:txBody>
      </p:sp>
      <p:sp>
        <p:nvSpPr>
          <p:cNvPr id="3" name="Content Placeholder 2"/>
          <p:cNvSpPr>
            <a:spLocks noGrp="1"/>
          </p:cNvSpPr>
          <p:nvPr>
            <p:ph idx="1"/>
          </p:nvPr>
        </p:nvSpPr>
        <p:spPr/>
        <p:txBody>
          <a:bodyPr/>
          <a:lstStyle/>
          <a:p>
            <a:pPr lvl="0" indent="0" marL="0">
              <a:buNone/>
            </a:pPr>
            <a:r>
              <a:rPr/>
              <a:t>Whether the artifacts fit together.</a:t>
            </a:r>
          </a:p>
          <a:p>
            <a:pPr lvl="0" indent="0" marL="0">
              <a:buNone/>
            </a:pPr>
            <a:r>
              <a:rPr/>
              <a:t>Each artifact may be fine alone — the 7 checks ask if they cohere (e.g., the SLO budget fits the sequence diagram; the data model supports the API).</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8 — True / False</a:t>
            </a:r>
          </a:p>
        </p:txBody>
      </p:sp>
      <p:sp>
        <p:nvSpPr>
          <p:cNvPr id="3" name="Content Placeholder 2"/>
          <p:cNvSpPr>
            <a:spLocks noGrp="1"/>
          </p:cNvSpPr>
          <p:nvPr>
            <p:ph idx="1"/>
          </p:nvPr>
        </p:nvSpPr>
        <p:spPr/>
        <p:txBody>
          <a:bodyPr/>
          <a:lstStyle/>
          <a:p>
            <a:pPr lvl="0" indent="0" marL="0">
              <a:buNone/>
            </a:pPr>
            <a:r>
              <a:rPr/>
              <a:t>Most triads pass all 7 technical-logic checks on the first pass.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8 — False</a:t>
            </a:r>
          </a:p>
        </p:txBody>
      </p:sp>
      <p:sp>
        <p:nvSpPr>
          <p:cNvPr id="3" name="Content Placeholder 2"/>
          <p:cNvSpPr>
            <a:spLocks noGrp="1"/>
          </p:cNvSpPr>
          <p:nvPr>
            <p:ph idx="1"/>
          </p:nvPr>
        </p:nvSpPr>
        <p:spPr/>
        <p:txBody>
          <a:bodyPr/>
          <a:lstStyle/>
          <a:p>
            <a:pPr lvl="0" indent="0" marL="0">
              <a:buNone/>
            </a:pPr>
            <a:r>
              <a:rPr/>
              <a:t>Most triads fail 2–3 checks on the first pass.</a:t>
            </a:r>
          </a:p>
          <a:p>
            <a:pPr lvl="0" indent="0" marL="0">
              <a:buNone/>
            </a:pPr>
            <a:r>
              <a:rPr/>
              <a:t>That’s expected — that’s exactly why the finalization day exists.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9</a:t>
            </a:r>
          </a:p>
        </p:txBody>
      </p:sp>
      <p:sp>
        <p:nvSpPr>
          <p:cNvPr id="3" name="Content Placeholder 2"/>
          <p:cNvSpPr>
            <a:spLocks noGrp="1"/>
          </p:cNvSpPr>
          <p:nvPr>
            <p:ph idx="1"/>
          </p:nvPr>
        </p:nvSpPr>
        <p:spPr/>
        <p:txBody>
          <a:bodyPr/>
          <a:lstStyle/>
          <a:p>
            <a:pPr lvl="0" indent="0" marL="0">
              <a:buNone/>
            </a:pPr>
            <a:r>
              <a:rPr/>
              <a:t>In the cross-artifact integration pass, a good cross-reference must be:</a:t>
            </a:r>
          </a:p>
          <a:p>
            <a:pPr lvl="0" indent="-342900" marL="342900">
              <a:buAutoNum type="alphaUcParenR"/>
            </a:pPr>
            <a:r>
              <a:rPr/>
              <a:t>Short and informal — “see the TCD” is enough</a:t>
            </a:r>
          </a:p>
          <a:p>
            <a:pPr lvl="0" indent="-342900" marL="342900">
              <a:buAutoNum type="alphaUcParenR"/>
            </a:pPr>
            <a:r>
              <a:rPr/>
              <a:t>Specific (cite the §), verified, and add value</a:t>
            </a:r>
          </a:p>
          <a:p>
            <a:pPr lvl="0" indent="-342900" marL="342900">
              <a:buAutoNum type="alphaUcParenR"/>
            </a:pPr>
            <a:r>
              <a:rPr/>
              <a:t>Placed only in the AI Spec, not the other documents</a:t>
            </a:r>
          </a:p>
          <a:p>
            <a:pPr lvl="0" indent="-342900" marL="342900">
              <a:buAutoNum type="alphaUcParenR"/>
            </a:pPr>
            <a:r>
              <a:rPr/>
              <a:t>Generated by AI to guarantee consistency</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9 — B</a:t>
            </a:r>
          </a:p>
        </p:txBody>
      </p:sp>
      <p:sp>
        <p:nvSpPr>
          <p:cNvPr id="3" name="Content Placeholder 2"/>
          <p:cNvSpPr>
            <a:spLocks noGrp="1"/>
          </p:cNvSpPr>
          <p:nvPr>
            <p:ph idx="1"/>
          </p:nvPr>
        </p:nvSpPr>
        <p:spPr/>
        <p:txBody>
          <a:bodyPr/>
          <a:lstStyle/>
          <a:p>
            <a:pPr lvl="0" indent="0" marL="0">
              <a:buNone/>
            </a:pPr>
            <a:r>
              <a:rPr/>
              <a:t>Specific, verified, and adds value.</a:t>
            </a:r>
          </a:p>
          <a:p>
            <a:pPr lvl="0" indent="0" marL="0">
              <a:buNone/>
            </a:pPr>
            <a:r>
              <a:rPr/>
              <a:t>“See the TCD” without a section number is a sign the writer never actually verified it. Cite the §.</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10</a:t>
            </a:r>
          </a:p>
        </p:txBody>
      </p:sp>
      <p:sp>
        <p:nvSpPr>
          <p:cNvPr id="3" name="Content Placeholder 2"/>
          <p:cNvSpPr>
            <a:spLocks noGrp="1"/>
          </p:cNvSpPr>
          <p:nvPr>
            <p:ph idx="1"/>
          </p:nvPr>
        </p:nvSpPr>
        <p:spPr/>
        <p:txBody>
          <a:bodyPr/>
          <a:lstStyle/>
          <a:p>
            <a:pPr lvl="0" indent="0" marL="0">
              <a:buNone/>
            </a:pPr>
            <a:r>
              <a:rPr/>
              <a:t>On the Friday presentation rubric, which dimension carries the single highest weight?</a:t>
            </a:r>
          </a:p>
          <a:p>
            <a:pPr lvl="0" indent="-342900" marL="342900">
              <a:buAutoNum type="alphaUcParenR"/>
            </a:pPr>
            <a:r>
              <a:rPr/>
              <a:t>Customer + problem clarity (15%)</a:t>
            </a:r>
          </a:p>
          <a:p>
            <a:pPr lvl="0" indent="-342900" marL="342900">
              <a:buAutoNum type="alphaUcParenR"/>
            </a:pPr>
            <a:r>
              <a:rPr/>
              <a:t>AI Spec quality (20%)</a:t>
            </a:r>
          </a:p>
          <a:p>
            <a:pPr lvl="0" indent="-342900" marL="342900">
              <a:buAutoNum type="alphaUcParenR"/>
            </a:pPr>
            <a:r>
              <a:rPr/>
              <a:t>Trade-off honesty (15%)</a:t>
            </a:r>
          </a:p>
          <a:p>
            <a:pPr lvl="0" indent="-342900" marL="342900">
              <a:buAutoNum type="alphaUcParenR"/>
            </a:pPr>
            <a:r>
              <a:rPr/>
              <a:t>Presentation craft (15%)</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10 — B</a:t>
            </a:r>
          </a:p>
        </p:txBody>
      </p:sp>
      <p:sp>
        <p:nvSpPr>
          <p:cNvPr id="3" name="Content Placeholder 2"/>
          <p:cNvSpPr>
            <a:spLocks noGrp="1"/>
          </p:cNvSpPr>
          <p:nvPr>
            <p:ph idx="1"/>
          </p:nvPr>
        </p:nvSpPr>
        <p:spPr/>
        <p:txBody>
          <a:bodyPr/>
          <a:lstStyle/>
          <a:p>
            <a:pPr lvl="0" indent="0" marL="0">
              <a:buNone/>
            </a:pPr>
            <a:r>
              <a:rPr/>
              <a:t>AI Spec quality — 20%.</a:t>
            </a:r>
          </a:p>
          <a:p>
            <a:pPr lvl="0" indent="0" marL="0">
              <a:buNone/>
            </a:pPr>
            <a:r>
              <a:rPr/>
              <a:t>The highest-weighted dimension. The week’s signature artifact carries the most weight; the rest cluster at 10–15%.</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11 — True / False</a:t>
            </a:r>
          </a:p>
        </p:txBody>
      </p:sp>
      <p:sp>
        <p:nvSpPr>
          <p:cNvPr id="3" name="Content Placeholder 2"/>
          <p:cNvSpPr>
            <a:spLocks noGrp="1"/>
          </p:cNvSpPr>
          <p:nvPr>
            <p:ph idx="1"/>
          </p:nvPr>
        </p:nvSpPr>
        <p:spPr/>
        <p:txBody>
          <a:bodyPr/>
          <a:lstStyle/>
          <a:p>
            <a:pPr lvl="0" indent="0" marL="0">
              <a:buNone/>
            </a:pPr>
            <a:r>
              <a:rPr/>
              <a:t>Triads are scored on a curve — ranked against one another so the scores spread out.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11 — False</a:t>
            </a:r>
          </a:p>
        </p:txBody>
      </p:sp>
      <p:sp>
        <p:nvSpPr>
          <p:cNvPr id="3" name="Content Placeholder 2"/>
          <p:cNvSpPr>
            <a:spLocks noGrp="1"/>
          </p:cNvSpPr>
          <p:nvPr>
            <p:ph idx="1"/>
          </p:nvPr>
        </p:nvSpPr>
        <p:spPr/>
        <p:txBody>
          <a:bodyPr/>
          <a:lstStyle/>
          <a:p>
            <a:pPr lvl="0" indent="0" marL="0">
              <a:buNone/>
            </a:pPr>
            <a:r>
              <a:rPr/>
              <a:t>Score against the rubric, not against other triads.</a:t>
            </a:r>
          </a:p>
          <a:p>
            <a:pPr lvl="0" indent="0" marL="0">
              <a:buNone/>
            </a:pPr>
            <a:r>
              <a:rPr/>
              <a:t>Whole-number scores, no curve: if two triads earn 3.5, both are 3.5.</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12</a:t>
            </a:r>
          </a:p>
        </p:txBody>
      </p:sp>
      <p:sp>
        <p:nvSpPr>
          <p:cNvPr id="3" name="Content Placeholder 2"/>
          <p:cNvSpPr>
            <a:spLocks noGrp="1"/>
          </p:cNvSpPr>
          <p:nvPr>
            <p:ph idx="1"/>
          </p:nvPr>
        </p:nvSpPr>
        <p:spPr/>
        <p:txBody>
          <a:bodyPr/>
          <a:lstStyle/>
          <a:p>
            <a:pPr lvl="0" indent="0" marL="0">
              <a:buNone/>
            </a:pPr>
            <a:r>
              <a:rPr/>
              <a:t>During Q&amp;A, when asked a specific question you cannot answer, the disciplined response is:</a:t>
            </a:r>
          </a:p>
          <a:p>
            <a:pPr lvl="0" indent="-342900" marL="342900">
              <a:buAutoNum type="alphaUcParenR"/>
            </a:pPr>
            <a:r>
              <a:rPr/>
              <a:t>Give a confident best guess so you don’t look unprepared</a:t>
            </a:r>
          </a:p>
          <a:p>
            <a:pPr lvl="0" indent="-342900" marL="342900">
              <a:buAutoNum type="alphaUcParenR"/>
            </a:pPr>
            <a:r>
              <a:rPr/>
              <a:t>“Honestly, I don’t know — here’s what we’d do to find out”</a:t>
            </a:r>
          </a:p>
          <a:p>
            <a:pPr lvl="0" indent="-342900" marL="342900">
              <a:buAutoNum type="alphaUcParenR"/>
            </a:pPr>
            <a:r>
              <a:rPr/>
              <a:t>Immediately defer the question to the instructor</a:t>
            </a:r>
          </a:p>
          <a:p>
            <a:pPr lvl="0" indent="-342900" marL="342900">
              <a:buAutoNum type="alphaUcParenR"/>
            </a:pPr>
            <a:r>
              <a:rPr/>
              <a:t>Restate your customer + problem to fill the time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12 — B</a:t>
            </a:r>
          </a:p>
        </p:txBody>
      </p:sp>
      <p:sp>
        <p:nvSpPr>
          <p:cNvPr id="3" name="Content Placeholder 2"/>
          <p:cNvSpPr>
            <a:spLocks noGrp="1"/>
          </p:cNvSpPr>
          <p:nvPr>
            <p:ph idx="1"/>
          </p:nvPr>
        </p:nvSpPr>
        <p:spPr/>
        <p:txBody>
          <a:bodyPr/>
          <a:lstStyle/>
          <a:p>
            <a:pPr lvl="0" indent="0" marL="0">
              <a:buNone/>
            </a:pPr>
            <a:r>
              <a:rPr/>
              <a:t>“Honestly, I don’t know — here’s what we’d do to find out.”</a:t>
            </a:r>
          </a:p>
          <a:p>
            <a:pPr lvl="0" indent="0" marL="0">
              <a:buNone/>
            </a:pPr>
            <a:r>
              <a:rPr/>
              <a:t>Curiosity, not defensiveness. A well-handled “I don’t know” beats a hand-wave — and triads who handle Q&amp;A this way score high on presentation craft.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That’s Week 8 — and the Academy</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Score yourself — but the real check is whether you can use these in your next role. Take the muscles. Keep the discipline.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2026-07-01T16:57:08Z</dcterms:created>
  <dcterms:modified xsi:type="dcterms:W3CDTF">2026-07-01T16:57:08Z</dcterms:modified>
</cp:coreProperties>
</file>

<file path=docProps/custom.xml><?xml version="1.0" encoding="utf-8"?>
<Properties xmlns="http://schemas.openxmlformats.org/officeDocument/2006/custom-properties" xmlns:vt="http://schemas.openxmlformats.org/officeDocument/2006/docPropsVTypes"/>
</file>