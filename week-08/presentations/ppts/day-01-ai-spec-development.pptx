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8. Capstone week. Today: install the new AI Spec Development pattern + confirm your real-world capstone subject.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the AI Spec pattern installed + a confirmed capstone subject + a discovery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confirm subject → learn template → rehearse → plan discovery.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5 questions; refine or commit.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soften this. Better to refine subject Day 1 than ship a thin capstone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needs to switch to a backup, that’s success. Better than thin capstone.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what it is, what it isn’t, what’s in the template.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soften the discipline. AI Spec without validation is fiction.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AI Spec is longer than the source artifacts, it’s a copy, not a synthesis.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Map each section to a specific input. Awareness of “what’s missing if input thin” is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each prompt has a job + validation step.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try to run all 5 in parallel break the validation chain.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the line on validation. It’s the muscle.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 is mandatory. If a triad skips it, redirect.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what you need to gather before tomorrow.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Honesty about gaps is the senior signal. Pretending you have data you don’t is the rookie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future capstones.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capstone subject in one sentence, struggle section, AI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thing they need to gather tonight.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input does your capstone need that you don’t yet have?”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 Spec Development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1 • AI Spec Development &amp; 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the final week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Internalize the AI Spec Development pattern — a 5-prompt sequence with validation</a:t>
            </a:r>
          </a:p>
          <a:p>
            <a:pPr lvl="0" indent="0" marL="0">
              <a:buNone/>
            </a:pPr>
            <a:r>
              <a:rPr/>
              <a:t>Walk through the AI Spec template (8 sections) and map each to inputs from prior weeks</a:t>
            </a:r>
          </a:p>
          <a:p>
            <a:pPr lvl="0" indent="0" marL="0">
              <a:buNone/>
            </a:pPr>
            <a:r>
              <a:rPr/>
              <a:t>Practice the sequence on FieldPulse where inputs are validated</a:t>
            </a:r>
          </a:p>
          <a:p>
            <a:pPr lvl="0" indent="0" marL="0">
              <a:buNone/>
            </a:pPr>
            <a:r>
              <a:rPr/>
              <a:t>Confirm the capstone subject through the 5-question fit test</a:t>
            </a:r>
          </a:p>
          <a:p>
            <a:pPr lvl="0" indent="0" marL="0">
              <a:buNone/>
            </a:pPr>
            <a:r>
              <a:rPr/>
              <a:t>Plan the discovery work needed before tomorrow’s compressed PRD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the 5-artifact set + capstone candidates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Capstone subject confirmation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Walk through AI Spec template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Run 5-prompt sequence on FieldPulse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Capstone discovery plan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Capstone Subject Confirmation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5 questions; refine or commit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5 Capstone-Fit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 we have a real customer? (interviews / observation / data)</a:t>
            </a:r>
          </a:p>
          <a:p>
            <a:pPr lvl="0" indent="0" marL="0">
              <a:buNone/>
            </a:pPr>
            <a:r>
              <a:rPr/>
              <a:t>Is the scope substantive enough?</a:t>
            </a:r>
          </a:p>
          <a:p>
            <a:pPr lvl="0" indent="0" marL="0">
              <a:buNone/>
            </a:pPr>
            <a:r>
              <a:rPr/>
              <a:t>Is it different enough from FieldPulse to test transferability?</a:t>
            </a:r>
          </a:p>
          <a:p>
            <a:pPr lvl="0" indent="0" marL="0">
              <a:buNone/>
            </a:pPr>
            <a:r>
              <a:rPr/>
              <a:t>Can we discuss it publicly?</a:t>
            </a:r>
          </a:p>
          <a:p>
            <a:pPr lvl="0" indent="0" marL="0">
              <a:buNone/>
            </a:pPr>
            <a:r>
              <a:rPr/>
              <a:t>Can we ship the artifact set in 4 days?</a:t>
            </a:r>
          </a:p>
          <a:p>
            <a:pPr lvl="0" indent="0" marL="0">
              <a:buNone/>
            </a:pPr>
            <a:r>
              <a:rPr/>
              <a:t>If 1+ is “no”: refine or pick a backup. A subject that fails this test produces a thin capstone.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Subject Confirmation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re-read declared candidate</a:t>
            </a:r>
          </a:p>
          <a:p>
            <a:pPr lvl="0" indent="0" marL="0">
              <a:buNone/>
            </a:pPr>
            <a:r>
              <a:rPr/>
              <a:t>15 min: 5-question fit test</a:t>
            </a:r>
          </a:p>
          <a:p>
            <a:pPr lvl="0" indent="0" marL="0">
              <a:buNone/>
            </a:pPr>
            <a:r>
              <a:rPr/>
              <a:t>10 min: adjust or commit</a:t>
            </a:r>
          </a:p>
          <a:p>
            <a:pPr lvl="0" indent="0" marL="0">
              <a:buNone/>
            </a:pPr>
            <a:r>
              <a:rPr/>
              <a:t>5 min: list inputs needed</a:t>
            </a:r>
          </a:p>
          <a:p>
            <a:pPr lvl="0" indent="0" marL="0">
              <a:buNone/>
            </a:pPr>
            <a:r>
              <a:rPr/>
              <a:t>⏱ 5 + 15 + 10 + 5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AI Spec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it is, what it isn’t, what’s in the template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✅❌ AI Spec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</a:t>
            </a:r>
          </a:p>
          <a:p>
            <a:pPr lvl="0" indent="0" marL="0">
              <a:buNone/>
            </a:pPr>
            <a:r>
              <a:rPr/>
              <a:t>Is not</a:t>
            </a:r>
          </a:p>
          <a:p>
            <a:pPr lvl="0" indent="0" marL="0">
              <a:buNone/>
            </a:pPr>
            <a:r>
              <a:rPr/>
              <a:t>Structured sequence of validated prompts</a:t>
            </a:r>
          </a:p>
          <a:p>
            <a:pPr lvl="0" indent="0" marL="0">
              <a:buNone/>
            </a:pPr>
            <a:r>
              <a:rPr/>
              <a:t>“Just paste everything and summarize”</a:t>
            </a:r>
          </a:p>
          <a:p>
            <a:pPr lvl="0" indent="0" marL="0">
              <a:buNone/>
            </a:pPr>
            <a:r>
              <a:rPr/>
              <a:t>Anchored on PRD/TCD/TMD/SEP/DP outputs</a:t>
            </a:r>
          </a:p>
          <a:p>
            <a:pPr lvl="0" indent="0" marL="0">
              <a:buNone/>
            </a:pPr>
            <a:r>
              <a:rPr/>
              <a:t>Replacing the artifact set</a:t>
            </a:r>
          </a:p>
          <a:p>
            <a:pPr lvl="0" indent="0" marL="0">
              <a:buNone/>
            </a:pPr>
            <a:r>
              <a:rPr/>
              <a:t>Disciplined: every output validated</a:t>
            </a:r>
          </a:p>
          <a:p>
            <a:pPr lvl="0" indent="0" marL="0">
              <a:buNone/>
            </a:pPr>
            <a:r>
              <a:rPr/>
              <a:t>Trust the AI’s output</a:t>
            </a:r>
          </a:p>
          <a:p>
            <a:pPr lvl="0" indent="0" marL="0">
              <a:buNone/>
            </a:pPr>
            <a:r>
              <a:rPr/>
              <a:t>Iterative: 4–6 prompts in sequence</a:t>
            </a:r>
          </a:p>
          <a:p>
            <a:pPr lvl="0" indent="0" marL="0">
              <a:buNone/>
            </a:pPr>
            <a:r>
              <a:rPr/>
              <a:t>One mega-prompt</a:t>
            </a:r>
          </a:p>
          <a:p>
            <a:pPr lvl="0" indent="0" marL="0">
              <a:buNone/>
            </a:pPr>
            <a:r>
              <a:rPr/>
              <a:t>Engineering-ready output</a:t>
            </a:r>
          </a:p>
          <a:p>
            <a:pPr lvl="0" indent="0" marL="0">
              <a:buNone/>
            </a:pPr>
            <a:r>
              <a:rPr/>
              <a:t>A pretty draft for stakeholders</a:t>
            </a:r>
          </a:p>
          <a:p>
            <a:pPr lvl="0" indent="0" marL="0">
              <a:buNone/>
            </a:pPr>
            <a:r>
              <a:rPr/>
              <a:t>Always paired with provenance log</a:t>
            </a:r>
          </a:p>
          <a:p>
            <a:pPr lvl="0" indent="0" marL="0">
              <a:buNone/>
            </a:pPr>
            <a:r>
              <a:rPr/>
              <a:t>Untracked AI use</a:t>
            </a:r>
          </a:p>
          <a:p>
            <a:pPr lvl="0" indent="0" marL="0">
              <a:buNone/>
            </a:pPr>
            <a:r>
              <a:rPr/>
              <a:t>Senior TPMs use this to draft, not to think. Judgment shapes every section; AI accelerates the typing.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AI Spec Template (8 sections)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Headline — one sentence</a:t>
            </a:r>
          </a:p>
          <a:p>
            <a:pPr lvl="0" indent="0" marL="0">
              <a:buNone/>
            </a:pPr>
            <a:r>
              <a:rPr/>
              <a:t>Engineering-ready summary — 3–5 paragraphs</a:t>
            </a:r>
          </a:p>
          <a:p>
            <a:pPr lvl="0" indent="0" marL="0">
              <a:buNone/>
            </a:pPr>
            <a:r>
              <a:rPr/>
              <a:t>Data + API contract</a:t>
            </a:r>
          </a:p>
          <a:p>
            <a:pPr lvl="0" indent="0" marL="0">
              <a:buNone/>
            </a:pPr>
            <a:r>
              <a:rPr/>
              <a:t>Sequence + failure handling</a:t>
            </a:r>
          </a:p>
          <a:p>
            <a:pPr lvl="0" indent="0" marL="0">
              <a:buNone/>
            </a:pPr>
            <a:r>
              <a:rPr/>
              <a:t>Constraints (perf / sec / compliance / a11y)</a:t>
            </a:r>
          </a:p>
          <a:p>
            <a:pPr lvl="0" indent="0" marL="0">
              <a:buNone/>
            </a:pPr>
            <a:r>
              <a:rPr/>
              <a:t>Decisions made (and not made)</a:t>
            </a:r>
          </a:p>
          <a:p>
            <a:pPr lvl="0" indent="0" marL="0">
              <a:buNone/>
            </a:pPr>
            <a:r>
              <a:rPr/>
              <a:t>Stakeholders + sign-off</a:t>
            </a:r>
          </a:p>
          <a:p>
            <a:pPr lvl="0" indent="0" marL="0">
              <a:buNone/>
            </a:pPr>
            <a:r>
              <a:rPr/>
              <a:t>Provenance log</a:t>
            </a:r>
          </a:p>
          <a:p>
            <a:pPr lvl="0" indent="0" marL="0">
              <a:buNone/>
            </a:pPr>
            <a:r>
              <a:rPr/>
              <a:t>Shorter than the sum of its inputs. The synthesis with citations to the deeper artifacts.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Walk the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read template</a:t>
            </a:r>
          </a:p>
          <a:p>
            <a:pPr lvl="0" indent="0" marL="0">
              <a:buNone/>
            </a:pPr>
            <a:r>
              <a:rPr/>
              <a:t>30 min: walk each section, map to input artifacts</a:t>
            </a:r>
          </a:p>
          <a:p>
            <a:pPr lvl="0" indent="0" marL="0">
              <a:buNone/>
            </a:pPr>
            <a:r>
              <a:rPr/>
              <a:t>5 min: identify “section we’ll struggle with” + counter-measure</a:t>
            </a:r>
          </a:p>
          <a:p>
            <a:pPr lvl="0" indent="0" marL="0">
              <a:buNone/>
            </a:pPr>
            <a:r>
              <a:rPr/>
              <a:t>⏱ 5 + 30 + 5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5-Prompt Sequence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Each prompt has a job + validation step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The Sequence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Prompt job</a:t>
            </a:r>
          </a:p>
          <a:p>
            <a:pPr lvl="0" indent="0" marL="0">
              <a:buNone/>
            </a:pPr>
            <a:r>
              <a:rPr/>
              <a:t>Inputs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Headline + summary</a:t>
            </a:r>
          </a:p>
          <a:p>
            <a:pPr lvl="0" indent="0" marL="0">
              <a:buNone/>
            </a:pPr>
            <a:r>
              <a:rPr/>
              <a:t>PRD §§1–5, TCD §1, TMD §3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Data + API synthesis</a:t>
            </a:r>
          </a:p>
          <a:p>
            <a:pPr lvl="0" indent="0" marL="0">
              <a:buNone/>
            </a:pPr>
            <a:r>
              <a:rPr/>
              <a:t>TMD §1 + TMD §3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Sequence + failure</a:t>
            </a:r>
          </a:p>
          <a:p>
            <a:pPr lvl="0" indent="0" marL="0">
              <a:buNone/>
            </a:pPr>
            <a:r>
              <a:rPr/>
              <a:t>TMD §4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TCD §3 + TCD §4 + PRD §7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Decisions + stakeholders</a:t>
            </a:r>
          </a:p>
          <a:p>
            <a:pPr lvl="0" indent="0" marL="0">
              <a:buNone/>
            </a:pPr>
            <a:r>
              <a:rPr/>
              <a:t>TCD §5 + TCD §6 + SEP §1</a:t>
            </a:r>
          </a:p>
          <a:p>
            <a:pPr lvl="0" indent="0" marL="0">
              <a:buNone/>
            </a:pPr>
            <a:r>
              <a:rPr/>
              <a:t>Each prompt validates before the next runs. The validation chain is what keeps the AI Spec honest.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Validation Discipline (cumulative from Wk 5 D5)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Cross-checked all citations — best</a:t>
            </a:r>
          </a:p>
          <a:p>
            <a:pPr lvl="0" indent="0" marL="0">
              <a:buNone/>
            </a:pPr>
            <a:r>
              <a:rPr/>
              <a:t>Spot-checked — rougher</a:t>
            </a:r>
          </a:p>
          <a:p>
            <a:pPr lvl="0" indent="0" marL="0">
              <a:buNone/>
            </a:pPr>
            <a:r>
              <a:rPr/>
              <a:t>Adopted with rationale — correctness self-evident</a:t>
            </a:r>
          </a:p>
          <a:p>
            <a:pPr lvl="0" indent="0" marL="0">
              <a:buNone/>
            </a:pPr>
            <a:r>
              <a:rPr/>
              <a:t>Pending — track to closure</a:t>
            </a:r>
          </a:p>
          <a:p>
            <a:pPr lvl="0" indent="0" marL="0">
              <a:buNone/>
            </a:pPr>
            <a:r>
              <a:rPr/>
              <a:t>Rejected — cut</a:t>
            </a:r>
          </a:p>
          <a:p>
            <a:pPr lvl="0" indent="0" marL="0">
              <a:buNone/>
            </a:pPr>
            <a:r>
              <a:rPr/>
              <a:t>Skip the validation step and you ship hallucinated specs. Catastrophic in real engineering.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Run on FieldPulse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30 min: run 5 prompts in sequence; validate each output</a:t>
            </a:r>
          </a:p>
          <a:p>
            <a:pPr lvl="0" indent="0" marL="0">
              <a:buNone/>
            </a:pPr>
            <a:r>
              <a:rPr/>
              <a:t>10 min: assemble the AI Spec + provenance log</a:t>
            </a:r>
          </a:p>
          <a:p>
            <a:pPr lvl="0" indent="0" marL="0">
              <a:buNone/>
            </a:pPr>
            <a:r>
              <a:rPr/>
              <a:t>⏱ 30 + 10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Capstone Discovery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you need to gather before tomorrow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4 Discovery Categories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Customer signal — interviews, support data, public reviews</a:t>
            </a:r>
          </a:p>
          <a:p>
            <a:pPr lvl="0" indent="0" marL="0">
              <a:buNone/>
            </a:pPr>
            <a:r>
              <a:rPr/>
              <a:t>Strategic context — why this matters, what’s been tried</a:t>
            </a:r>
          </a:p>
          <a:p>
            <a:pPr lvl="0" indent="0" marL="0">
              <a:buNone/>
            </a:pPr>
            <a:r>
              <a:rPr/>
              <a:t>System inputs — existing docs, codebase access, related artifacts</a:t>
            </a:r>
          </a:p>
          <a:p>
            <a:pPr lvl="0" indent="0" marL="0">
              <a:buNone/>
            </a:pPr>
            <a:r>
              <a:rPr/>
              <a:t>Stakeholder signal — who has opinions; what are they</a:t>
            </a:r>
          </a:p>
          <a:p>
            <a:pPr lvl="0" indent="0" marL="0">
              <a:buNone/>
            </a:pPr>
            <a:r>
              <a:rPr/>
              <a:t>“We don’t have this and can’t get it” — document honestly. Mark for AI-augmented hypothesis tomorrow with extra validation.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Capstone Plan AI Check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Discovery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list inputs needed (4 categories)</a:t>
            </a:r>
          </a:p>
          <a:p>
            <a:pPr lvl="0" indent="0" marL="0">
              <a:buNone/>
            </a:pPr>
            <a:r>
              <a:rPr/>
              <a:t>10 min: distribute work across triad</a:t>
            </a:r>
          </a:p>
          <a:p>
            <a:pPr lvl="0" indent="0" marL="0">
              <a:buNone/>
            </a:pPr>
            <a:r>
              <a:rPr/>
              <a:t>5 min: deadline for inputs gathered</a:t>
            </a:r>
          </a:p>
          <a:p>
            <a:pPr lvl="0" indent="0" marL="0">
              <a:buNone/>
            </a:pPr>
            <a:r>
              <a:rPr/>
              <a:t>10 min: identify “we don’t have this” honestly</a:t>
            </a:r>
          </a:p>
          <a:p>
            <a:pPr lvl="0" indent="0" marL="0">
              <a:buNone/>
            </a:pPr>
            <a:r>
              <a:rPr/>
              <a:t>10 min: AI risk-check + adjustments</a:t>
            </a:r>
          </a:p>
          <a:p>
            <a:pPr lvl="0" indent="0" marL="0">
              <a:buNone/>
            </a:pPr>
            <a:r>
              <a:rPr/>
              <a:t>⏱ 10 + 10 + 5 + 10 + 10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AI Spec template (8 sections)</a:t>
            </a:r>
          </a:p>
          <a:p>
            <a:pPr lvl="0" indent="0" marL="0">
              <a:buNone/>
            </a:pPr>
            <a:r>
              <a:rPr/>
              <a:t>5-prompt sequence with validation</a:t>
            </a:r>
          </a:p>
          <a:p>
            <a:pPr lvl="0" indent="0" marL="0">
              <a:buNone/>
            </a:pPr>
            <a:r>
              <a:rPr/>
              <a:t>FieldPulse practice run</a:t>
            </a:r>
          </a:p>
          <a:p>
            <a:pPr lvl="0" indent="0" marL="0">
              <a:buNone/>
            </a:pPr>
            <a:r>
              <a:rPr/>
              <a:t>Confirmed capstone subject</a:t>
            </a:r>
          </a:p>
          <a:p>
            <a:pPr lvl="0" indent="0" marL="0">
              <a:buNone/>
            </a:pPr>
            <a:r>
              <a:rPr/>
              <a:t>Discovery plan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Capstone discovery + compressed PRD</a:t>
            </a:r>
          </a:p>
          <a:p>
            <a:pPr lvl="0" indent="0" marL="0">
              <a:buNone/>
            </a:pPr>
            <a:r>
              <a:rPr/>
              <a:t>Customer interviews / signal</a:t>
            </a:r>
          </a:p>
          <a:p>
            <a:pPr lvl="0" indent="0" marL="0">
              <a:buNone/>
            </a:pPr>
            <a:r>
              <a:rPr/>
              <a:t>PRD-light (sections 1–7)</a:t>
            </a:r>
          </a:p>
          <a:p>
            <a:pPr lvl="0" indent="0" marL="0">
              <a:buNone/>
            </a:pPr>
            <a:r>
              <a:rPr/>
              <a:t>Bring to Day 2: All discovery inputs gathered. Tomorrow we draft the capstone PRD.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input does your capstone need that you don’t yet have?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2026-07-01T17:22:44Z</dcterms:created>
  <dcterms:modified xsi:type="dcterms:W3CDTF">2026-07-01T17:22:44Z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