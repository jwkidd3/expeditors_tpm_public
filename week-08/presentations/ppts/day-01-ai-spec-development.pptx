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8. Capstone week. Today: install the new AI Spec Development pattern + confirm your capstone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the AI Spec pattern installed + a confirmed capstone subject + a discovery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confirm subject → learn template → rehearse → plan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questions; refine or commit.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Better to refine subject Day 1 than ship a thin capstone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needs to switch to a backup, that’s success. Better than thin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it is, what it isn’t, what’s in the template.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the discipline. AI Spec without validation is fiction.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is longer than the source artifacts, it’s a copy, not a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 each section to a specific input. Awareness of “what’s missing if input thin”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prompt has a job + validation step.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run all 5 in parallel break the validation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line on validation. It’s the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is mandatory. If a triad skips it, redirect.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you need to gather before tomorrow.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Honesty about gaps is the senior signal. Pretending you have data you don’t is the rookie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capstone subject in one sentence, struggle section, AI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need to gather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input does your capstone need that you don’t yet have?”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Spec Development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1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the final week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Internalize the AI Spec Development pattern — a 5-prompt sequence with validation</a:t>
            </a:r>
          </a:p>
          <a:p>
            <a:pPr lvl="0" indent="0" marL="0">
              <a:buNone/>
            </a:pPr>
            <a:r>
              <a:rPr/>
              <a:t>Walk through the AI Spec template (8 sections) and map each to inputs from prior weeks</a:t>
            </a:r>
          </a:p>
          <a:p>
            <a:pPr lvl="0" indent="0" marL="0">
              <a:buNone/>
            </a:pPr>
            <a:r>
              <a:rPr/>
              <a:t>Practice the sequence on FieldPulse where inputs are validated</a:t>
            </a:r>
          </a:p>
          <a:p>
            <a:pPr lvl="0" indent="0" marL="0">
              <a:buNone/>
            </a:pPr>
            <a:r>
              <a:rPr/>
              <a:t>Confirm the capstone subject through the 5-question fit test</a:t>
            </a:r>
          </a:p>
          <a:p>
            <a:pPr lvl="0" indent="0" marL="0">
              <a:buNone/>
            </a:pPr>
            <a:r>
              <a:rPr/>
              <a:t>Plan the discovery work needed before tomorrow’s compressed Product Requirements Document (PRD)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5-artifact set + capstone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Capstone subject confirmation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Walk through AI Spec template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Run 5-prompt sequence on FieldPulse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Capstone discovery plan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Capstone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questions; refine or commit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5 Capstone-Fit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we have a real customer? (interviews / observation / data)</a:t>
            </a:r>
          </a:p>
          <a:p>
            <a:pPr lvl="0" indent="0" marL="0">
              <a:buNone/>
            </a:pPr>
            <a:r>
              <a:rPr/>
              <a:t>Is the scope substantive enough?</a:t>
            </a:r>
          </a:p>
          <a:p>
            <a:pPr lvl="0" indent="0" marL="0">
              <a:buNone/>
            </a:pPr>
            <a:r>
              <a:rPr/>
              <a:t>Can you state the core problem in one sentence an engineer could scope from?</a:t>
            </a:r>
          </a:p>
          <a:p>
            <a:pPr lvl="0" indent="0" marL="0">
              <a:buNone/>
            </a:pPr>
            <a:r>
              <a:rPr/>
              <a:t>Can we discuss it publicly?</a:t>
            </a:r>
          </a:p>
          <a:p>
            <a:pPr lvl="0" indent="0" marL="0">
              <a:buNone/>
            </a:pPr>
            <a:r>
              <a:rPr/>
              <a:t>Can we ship the artifact set in 4 days?</a:t>
            </a:r>
          </a:p>
          <a:p>
            <a:pPr lvl="0" indent="0" marL="0">
              <a:buNone/>
            </a:pPr>
            <a:r>
              <a:rPr/>
              <a:t>If 1+ is “no”: refine or pick a backup. A subject that fails this test produces a thin capstone.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declared candidate</a:t>
            </a:r>
          </a:p>
          <a:p>
            <a:pPr lvl="0" indent="0" marL="0">
              <a:buNone/>
            </a:pPr>
            <a:r>
              <a:rPr/>
              <a:t>15 min: 5-question fit test</a:t>
            </a:r>
          </a:p>
          <a:p>
            <a:pPr lvl="0" indent="0" marL="0">
              <a:buNone/>
            </a:pPr>
            <a:r>
              <a:rPr/>
              <a:t>10 min: adjust or commit</a:t>
            </a:r>
          </a:p>
          <a:p>
            <a:pPr lvl="0" indent="0" marL="0">
              <a:buNone/>
            </a:pPr>
            <a:r>
              <a:rPr/>
              <a:t>5 min: list inputs needed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AI Spec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it is, what it isn’t, what’s in the template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Spec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Structured sequence of validated prompts</a:t>
            </a:r>
          </a:p>
          <a:p>
            <a:pPr lvl="0" indent="0" marL="0">
              <a:buNone/>
            </a:pPr>
            <a:r>
              <a:rPr/>
              <a:t>“Just paste everything and summarize”</a:t>
            </a:r>
          </a:p>
          <a:p>
            <a:pPr lvl="0" indent="0" marL="0">
              <a:buNone/>
            </a:pPr>
            <a:r>
              <a:rPr/>
              <a:t>Anchored on PRD/TCD/TMD/SEP/DP outputs</a:t>
            </a:r>
          </a:p>
          <a:p>
            <a:pPr lvl="0" indent="0" marL="0">
              <a:buNone/>
            </a:pPr>
            <a:r>
              <a:rPr/>
              <a:t>Replacing the artifact set</a:t>
            </a:r>
          </a:p>
          <a:p>
            <a:pPr lvl="0" indent="0" marL="0">
              <a:buNone/>
            </a:pPr>
            <a:r>
              <a:rPr/>
              <a:t>Disciplined: every output validated</a:t>
            </a:r>
          </a:p>
          <a:p>
            <a:pPr lvl="0" indent="0" marL="0">
              <a:buNone/>
            </a:pPr>
            <a:r>
              <a:rPr/>
              <a:t>Trust the AI’s output</a:t>
            </a:r>
          </a:p>
          <a:p>
            <a:pPr lvl="0" indent="0" marL="0">
              <a:buNone/>
            </a:pPr>
            <a:r>
              <a:rPr/>
              <a:t>Iterative: 4–6 prompts in sequence</a:t>
            </a:r>
          </a:p>
          <a:p>
            <a:pPr lvl="0" indent="0" marL="0">
              <a:buNone/>
            </a:pPr>
            <a:r>
              <a:rPr/>
              <a:t>One mega-prompt</a:t>
            </a:r>
          </a:p>
          <a:p>
            <a:pPr lvl="0" indent="0" marL="0">
              <a:buNone/>
            </a:pPr>
            <a:r>
              <a:rPr/>
              <a:t>Engineering-ready output</a:t>
            </a:r>
          </a:p>
          <a:p>
            <a:pPr lvl="0" indent="0" marL="0">
              <a:buNone/>
            </a:pPr>
            <a:r>
              <a:rPr/>
              <a:t>A pretty draft for stakeholders</a:t>
            </a:r>
          </a:p>
          <a:p>
            <a:pPr lvl="0" indent="0" marL="0">
              <a:buNone/>
            </a:pPr>
            <a:r>
              <a:rPr/>
              <a:t>Always paired with provenance log</a:t>
            </a:r>
          </a:p>
          <a:p>
            <a:pPr lvl="0" indent="0" marL="0">
              <a:buNone/>
            </a:pPr>
            <a:r>
              <a:rPr/>
              <a:t>Untracked AI use</a:t>
            </a:r>
          </a:p>
          <a:p>
            <a:pPr lvl="0" indent="0" marL="0">
              <a:buNone/>
            </a:pPr>
            <a:r>
              <a:rPr/>
              <a:t>Senior TPMs use this to draft, not to think. Judgment shapes every section; AI accelerates the typing. Its inputs: the Technical Concept Document (TCD), Technical Modeling Document (TMD), Stakeholder Engagement Plan (SEP), and Delivery Plan (DP).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AI Spec Template (8 sections)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Headline — one sentence</a:t>
            </a:r>
          </a:p>
          <a:p>
            <a:pPr lvl="0" indent="0" marL="0">
              <a:buNone/>
            </a:pPr>
            <a:r>
              <a:rPr/>
              <a:t>Engineering-ready summary — 3–5 paragraphs</a:t>
            </a:r>
          </a:p>
          <a:p>
            <a:pPr lvl="0" indent="0" marL="0">
              <a:buNone/>
            </a:pPr>
            <a:r>
              <a:rPr/>
              <a:t>Data + API contract</a:t>
            </a:r>
          </a:p>
          <a:p>
            <a:pPr lvl="0" indent="0" marL="0">
              <a:buNone/>
            </a:pPr>
            <a:r>
              <a:rPr/>
              <a:t>Sequence + failure handling</a:t>
            </a:r>
          </a:p>
          <a:p>
            <a:pPr lvl="0" indent="0" marL="0">
              <a:buNone/>
            </a:pPr>
            <a:r>
              <a:rPr/>
              <a:t>Constraints (perf / sec / compliance / a11y)</a:t>
            </a:r>
          </a:p>
          <a:p>
            <a:pPr lvl="0" indent="0" marL="0">
              <a:buNone/>
            </a:pPr>
            <a:r>
              <a:rPr/>
              <a:t>Decisions made (and not made)</a:t>
            </a:r>
          </a:p>
          <a:p>
            <a:pPr lvl="0" indent="0" marL="0">
              <a:buNone/>
            </a:pPr>
            <a:r>
              <a:rPr/>
              <a:t>Stakeholders + sign-off</a:t>
            </a:r>
          </a:p>
          <a:p>
            <a:pPr lvl="0" indent="0" marL="0">
              <a:buNone/>
            </a:pPr>
            <a:r>
              <a:rPr/>
              <a:t>Provenance log</a:t>
            </a:r>
          </a:p>
          <a:p>
            <a:pPr lvl="0" indent="0" marL="0">
              <a:buNone/>
            </a:pPr>
            <a:r>
              <a:rPr/>
              <a:t>Shorter than the sum of its inputs. The synthesis with citations to the deeper artifacts.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Walk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read template</a:t>
            </a:r>
          </a:p>
          <a:p>
            <a:pPr lvl="0" indent="0" marL="0">
              <a:buNone/>
            </a:pPr>
            <a:r>
              <a:rPr/>
              <a:t>30 min: walk each section, map to input artifacts</a:t>
            </a:r>
          </a:p>
          <a:p>
            <a:pPr lvl="0" indent="0" marL="0">
              <a:buNone/>
            </a:pPr>
            <a:r>
              <a:rPr/>
              <a:t>5 min: identify “section we’ll struggle with” + counter-measure</a:t>
            </a:r>
          </a:p>
          <a:p>
            <a:pPr lvl="0" indent="0" marL="0">
              <a:buNone/>
            </a:pPr>
            <a:r>
              <a:rPr/>
              <a:t>⏱ 5 + 30 + 5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5-Prompt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prompt has a job + validation step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Prompt 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 Sections 1–5, TCD Section 1, TMD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 Section 1 + TMD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 Section 3 + TCD Section 4 + PRD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 Section 5 + TCD Section 6 + SEP Section 1</a:t>
            </a:r>
          </a:p>
          <a:p>
            <a:pPr lvl="0" indent="0" marL="0">
              <a:buNone/>
            </a:pPr>
            <a:r>
              <a:rPr/>
              <a:t>Each prompt validates before the next runs. The validation chain is what keeps the AI Spec honest.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(cumulative from Wk 5 D5)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best</a:t>
            </a:r>
          </a:p>
          <a:p>
            <a:pPr lvl="0" indent="0" marL="0">
              <a:buNone/>
            </a:pPr>
            <a:r>
              <a:rPr/>
              <a:t>Spot-checked — rougher</a:t>
            </a:r>
          </a:p>
          <a:p>
            <a:pPr lvl="0" indent="0" marL="0">
              <a:buNone/>
            </a:pPr>
            <a:r>
              <a:rPr/>
              <a:t>Adopted with rationale — correctness self-evident</a:t>
            </a:r>
          </a:p>
          <a:p>
            <a:pPr lvl="0" indent="0" marL="0">
              <a:buNone/>
            </a:pPr>
            <a:r>
              <a:rPr/>
              <a:t>Pending — track to closure</a:t>
            </a:r>
          </a:p>
          <a:p>
            <a:pPr lvl="0" indent="0" marL="0">
              <a:buNone/>
            </a:pPr>
            <a:r>
              <a:rPr/>
              <a:t>Rejected — cut</a:t>
            </a:r>
          </a:p>
          <a:p>
            <a:pPr lvl="0" indent="0" marL="0">
              <a:buNone/>
            </a:pPr>
            <a:r>
              <a:rPr/>
              <a:t>Skip the validation step and you ship hallucinated specs. Catastrophic in real engineering.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Run on FieldPulse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30 min: run 5 prompts in sequence; validate each output</a:t>
            </a:r>
          </a:p>
          <a:p>
            <a:pPr lvl="0" indent="0" marL="0">
              <a:buNone/>
            </a:pPr>
            <a:r>
              <a:rPr/>
              <a:t>10 min: assemble the AI Spec + provenance log</a:t>
            </a:r>
          </a:p>
          <a:p>
            <a:pPr lvl="0" indent="0" marL="0">
              <a:buNone/>
            </a:pPr>
            <a:r>
              <a:rPr/>
              <a:t>⏱ 30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Capstone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need to gather before tomorrow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4 Discovery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signal — interviews, support data, public reviews</a:t>
            </a:r>
          </a:p>
          <a:p>
            <a:pPr lvl="0" indent="0" marL="0">
              <a:buNone/>
            </a:pPr>
            <a:r>
              <a:rPr/>
              <a:t>Strategic context — why this matters, what’s been tried</a:t>
            </a:r>
          </a:p>
          <a:p>
            <a:pPr lvl="0" indent="0" marL="0">
              <a:buNone/>
            </a:pPr>
            <a:r>
              <a:rPr/>
              <a:t>System inputs — existing docs, codebase access, related artifacts</a:t>
            </a:r>
          </a:p>
          <a:p>
            <a:pPr lvl="0" indent="0" marL="0">
              <a:buNone/>
            </a:pPr>
            <a:r>
              <a:rPr/>
              <a:t>Stakeholder signal — who has opinions; what are they</a:t>
            </a:r>
          </a:p>
          <a:p>
            <a:pPr lvl="0" indent="0" marL="0">
              <a:buNone/>
            </a:pPr>
            <a:r>
              <a:rPr/>
              <a:t>“We don’t have this and can’t get it” — document honestly. Mark for AI-augmented hypothesis tomorrow with extra validation.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Capstone Plan AI Check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list inputs needed (4 categories)</a:t>
            </a:r>
          </a:p>
          <a:p>
            <a:pPr lvl="0" indent="0" marL="0">
              <a:buNone/>
            </a:pPr>
            <a:r>
              <a:rPr/>
              <a:t>10 min: distribute work across triad</a:t>
            </a:r>
          </a:p>
          <a:p>
            <a:pPr lvl="0" indent="0" marL="0">
              <a:buNone/>
            </a:pPr>
            <a:r>
              <a:rPr/>
              <a:t>5 min: deadline for inputs gathered</a:t>
            </a:r>
          </a:p>
          <a:p>
            <a:pPr lvl="0" indent="0" marL="0">
              <a:buNone/>
            </a:pPr>
            <a:r>
              <a:rPr/>
              <a:t>10 min: identify “we don’t have this” honestly</a:t>
            </a:r>
          </a:p>
          <a:p>
            <a:pPr lvl="0" indent="0" marL="0">
              <a:buNone/>
            </a:pPr>
            <a:r>
              <a:rPr/>
              <a:t>10 min: AI risk-check + adjustments</a:t>
            </a:r>
          </a:p>
          <a:p>
            <a:pPr lvl="0" indent="0" marL="0">
              <a:buNone/>
            </a:pPr>
            <a:r>
              <a:rPr/>
              <a:t>⏱ 10 + 10 + 5 + 10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AI Spec template (8 sections)</a:t>
            </a:r>
          </a:p>
          <a:p>
            <a:pPr lvl="0" indent="0" marL="0">
              <a:buNone/>
            </a:pPr>
            <a:r>
              <a:rPr/>
              <a:t>5-prompt sequence with validation</a:t>
            </a:r>
          </a:p>
          <a:p>
            <a:pPr lvl="0" indent="0" marL="0">
              <a:buNone/>
            </a:pPr>
            <a:r>
              <a:rPr/>
              <a:t>FieldPulse practice run</a:t>
            </a:r>
          </a:p>
          <a:p>
            <a:pPr lvl="0" indent="0" marL="0">
              <a:buNone/>
            </a:pPr>
            <a:r>
              <a:rPr/>
              <a:t>Confirmed capstone subject</a:t>
            </a:r>
          </a:p>
          <a:p>
            <a:pPr lvl="0" indent="0" marL="0">
              <a:buNone/>
            </a:pPr>
            <a:r>
              <a:rPr/>
              <a:t>Discovery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discovery + compressed PRD</a:t>
            </a:r>
          </a:p>
          <a:p>
            <a:pPr lvl="0" indent="0" marL="0">
              <a:buNone/>
            </a:pPr>
            <a:r>
              <a:rPr/>
              <a:t>Customer interviews / signal</a:t>
            </a:r>
          </a:p>
          <a:p>
            <a:pPr lvl="0" indent="0" marL="0">
              <a:buNone/>
            </a:pPr>
            <a:r>
              <a:rPr/>
              <a:t>PRD-light (sections 1–7)</a:t>
            </a:r>
          </a:p>
          <a:p>
            <a:pPr lvl="0" indent="0" marL="0">
              <a:buNone/>
            </a:pPr>
            <a:r>
              <a:rPr/>
              <a:t>Bring to Day 2: All discovery inputs gathered. Tomorrow we draft the capstone PRD.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input does your capstone need that you don’t yet have?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2026-07-20T12:37:07Z</dcterms:created>
  <dcterms:modified xsi:type="dcterms:W3CDTF">2026-07-20T12:37:07Z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