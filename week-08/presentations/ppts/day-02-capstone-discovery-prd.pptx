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Week-1 + Week-3 muscles compressed into one day. Discovery + 2-page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2-page PRD-light + Day-3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Heavy day. Every block produces a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week-1 muscles in 35 minutes.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soften compression.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fields. The customer quote is the load-bearing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the customer quote. If no real quote, mark as “to validate.”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context, problem, goals/non-goals, scope.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“What I cut” note is informative — what was AI willing to throw away?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are outcomes, not features. Same Wk-3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solution sketch, ac, nfrs.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ships only happy paths, push back hard. The discipline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defenses. Boilerplate NFRs are caught even in compressed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“Engineer’s first 3 questions” test for Section 5 still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catch the issues; set up tomorrow’s architecture.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Reusable for future compressed PRDs.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who skip Day-3 planning lose tomorrow morning to start-up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persona JTBD, AC proudest, NFR worried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thing they’re nervous about for the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“What was hardest about compressing your PRD work today?”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🔍 Capstone Discovery + PRD-Light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8 • Day 2 • AI Spec Development &amp;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compressed customer discovery in 35 minutes</a:t>
            </a:r>
          </a:p>
          <a:p>
            <a:pPr lvl="0" indent="0" marL="0">
              <a:buNone/>
            </a:pPr>
            <a:r>
              <a:rPr/>
              <a:t>Name the persona / Jobs To Be Done (JTBD) / pain points for Holocron</a:t>
            </a:r>
          </a:p>
          <a:p>
            <a:pPr lvl="0" indent="0" marL="0">
              <a:buNone/>
            </a:pPr>
            <a:r>
              <a:rPr/>
              <a:t>Draft the compressed Product Requirements Document (PRD-light) Sections 1–7 — 2 pages, full discipline</a:t>
            </a:r>
          </a:p>
          <a:p>
            <a:pPr lvl="0" indent="0" marL="0">
              <a:buNone/>
            </a:pPr>
            <a:r>
              <a:rPr/>
              <a:t>Apply the compression discipline: cut what’s cosmetic; keep what’s load-bearing</a:t>
            </a:r>
          </a:p>
          <a:p>
            <a:pPr lvl="0" indent="0" marL="0">
              <a:buNone/>
            </a:pPr>
            <a:r>
              <a:rPr/>
              <a:t>Validate with AI; plan tomorrow’s compressed architecture work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Inputs gathered overnight; pin discovery summary plan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Compressed customer discovery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PRD-light Sections 1–4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PRD-light Sections 5–7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AI validation + Day-3 setup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Compressed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Week-1 muscles in 35 minutes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✂️ The Compression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Compressed work is not lower-quality work. It’s selective: keep what’s load-bearing, cut what’s cosmetic.</a:t>
            </a:r>
          </a:p>
          <a:p>
            <a:pPr lvl="0" indent="0" marL="0">
              <a:buNone/>
            </a:pPr>
            <a:r>
              <a:rPr/>
              <a:t>Section 1 Context (½ page)</a:t>
            </a:r>
          </a:p>
          <a:p>
            <a:pPr lvl="0" indent="0" marL="0">
              <a:buNone/>
            </a:pPr>
            <a:r>
              <a:rPr/>
              <a:t>Section 2 Problem (½ page)</a:t>
            </a:r>
          </a:p>
          <a:p>
            <a:pPr lvl="0" indent="0" marL="0">
              <a:buNone/>
            </a:pPr>
            <a:r>
              <a:rPr/>
              <a:t>Section 3 Goals + non-goals (½ page)</a:t>
            </a:r>
          </a:p>
          <a:p>
            <a:pPr lvl="0" indent="0" marL="0">
              <a:buNone/>
            </a:pPr>
            <a:r>
              <a:rPr/>
              <a:t>Section 4 Scope (in/out table)</a:t>
            </a:r>
          </a:p>
          <a:p>
            <a:pPr lvl="0" indent="0" marL="0">
              <a:buNone/>
            </a:pPr>
            <a:r>
              <a:rPr/>
              <a:t>Section 5 Solution sketch (½ page)</a:t>
            </a:r>
          </a:p>
          <a:p>
            <a:pPr lvl="0" indent="0" marL="0">
              <a:buNone/>
            </a:pPr>
            <a:r>
              <a:rPr/>
              <a:t>Section 6 Top 6–8 acceptance criteria (ACs)</a:t>
            </a:r>
          </a:p>
          <a:p>
            <a:pPr lvl="0" indent="0" marL="0">
              <a:buNone/>
            </a:pPr>
            <a:r>
              <a:rPr/>
              <a:t>Section 7 Top 5 non-functional requirements (NFRs), one per category</a:t>
            </a:r>
          </a:p>
          <a:p>
            <a:pPr lvl="0" indent="0" marL="0">
              <a:buNone/>
            </a:pPr>
            <a:r>
              <a:rPr/>
              <a:t>2 pages total. Every word earns its place.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Compressed Persona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**Persona:** &lt;role + segment&gt;
**Job-to-be-done:** &lt;verb-based, in their language&gt;
**Why it's hard today:** &lt;specific friction; quote a real customer
if possible&gt;</a:t>
            </a:r>
          </a:p>
          <a:p>
            <a:pPr lvl="0" indent="0" marL="0">
              <a:buNone/>
            </a:pPr>
            <a:r>
              <a:rPr/>
              <a:t>Worked example: “Persona: New B2B finance ops associate at a 200-person company. JTBD: Close the books each month without staying late on Friday. Why hard: ‘I spend Thursday night chasing 4 different teams for missing accruals — by the time they respond, I’ve forgotten what I asked.’”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Compressed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10 min: synthesize gathered inputs</a:t>
            </a:r>
          </a:p>
          <a:p>
            <a:pPr lvl="0" indent="0" marL="0">
              <a:buNone/>
            </a:pPr>
            <a:r>
              <a:rPr/>
              <a:t>10 min: name persona / JTBD / why hard</a:t>
            </a:r>
          </a:p>
          <a:p>
            <a:pPr lvl="0" indent="0" marL="0">
              <a:buNone/>
            </a:pPr>
            <a:r>
              <a:rPr/>
              <a:t>10 min: top 3 pains scored on severity / frequency / addressability</a:t>
            </a:r>
          </a:p>
          <a:p>
            <a:pPr lvl="0" indent="0" marL="0">
              <a:buNone/>
            </a:pPr>
            <a:r>
              <a:rPr/>
              <a:t>5 min: sanity check — does this sound like a real customer?</a:t>
            </a:r>
          </a:p>
          <a:p>
            <a:pPr lvl="0" indent="0" marL="0">
              <a:buNone/>
            </a:pPr>
            <a:r>
              <a:rPr/>
              <a:t>⏱ 10 + 10 + 10 + 5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PRD-Light Sections 1–4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Context, Problem, Goals/Non-goals, Scope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 Assistance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 members solo-draft first. Pick the strongest. Then apply AI to tighten.</a:t>
            </a:r>
          </a:p>
          <a:p>
            <a:pPr lvl="0" indent="0">
              <a:buNone/>
            </a:pPr>
            <a:r>
              <a:rPr>
                <a:latin typeface="Courier"/>
              </a:rPr>
              <a:t>Role: Editor for a TPM's PRD context section.
Context: &lt;triad's draft Section 1 + discovery summary&gt;
Task: Tighten this section to ½ page max. Preserve the
customer quote. Preserve the strategic anchor. Cut anything
that sounds like marketing language.
Constraints:
- Do not invent customer signal
- Flag any claim that needs source backing
Format: Tightened Section 1 + a "what I cut" note.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PRD-Light Sections 1–4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Section 1 + Section 2 (solo drafts → triad picks → AI tightens)</a:t>
            </a:r>
          </a:p>
          <a:p>
            <a:pPr lvl="0" indent="0" marL="0">
              <a:buNone/>
            </a:pPr>
            <a:r>
              <a:rPr/>
              <a:t>15 min: Section 3 goals + non-goals</a:t>
            </a:r>
          </a:p>
          <a:p>
            <a:pPr lvl="0" indent="0" marL="0">
              <a:buNone/>
            </a:pPr>
            <a:r>
              <a:rPr/>
              <a:t>10 min: Section 4 scope (in/out table)</a:t>
            </a:r>
          </a:p>
          <a:p>
            <a:pPr lvl="0" indent="0" marL="0">
              <a:buNone/>
            </a:pPr>
            <a:r>
              <a:rPr/>
              <a:t>⏱ 15 + 15 + 10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PRD-Light Sections 5–7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Solution sketch, AC, NFRs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AC Coverage (Compressed)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</a:t>
            </a:r>
          </a:p>
          <a:p>
            <a:pPr lvl="0" indent="0" marL="0">
              <a:buNone/>
            </a:pPr>
            <a:r>
              <a:rPr/>
              <a:t>Count</a:t>
            </a:r>
          </a:p>
          <a:p>
            <a:pPr lvl="0" indent="0" marL="0">
              <a:buNone/>
            </a:pPr>
            <a:r>
              <a:rPr/>
              <a:t>Happy</a:t>
            </a:r>
          </a:p>
          <a:p>
            <a:pPr lvl="0" indent="0" marL="0">
              <a:buNone/>
            </a:pPr>
            <a:r>
              <a:rPr/>
              <a:t>3</a:t>
            </a:r>
          </a:p>
          <a:p>
            <a:pPr lvl="0" indent="0" marL="0">
              <a:buNone/>
            </a:pPr>
            <a:r>
              <a:rPr/>
              <a:t>Sad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 indent="0" marL="0">
              <a:buNone/>
            </a:pPr>
            <a:r>
              <a:rPr/>
              <a:t>Weird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Compressed = fewer ACs, not weaker ACs. Use Given/When/Then. Same 5-failure-mode discipline.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NFR Coverage (Compressed)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 Performance NFR (latency target with defense)</a:t>
            </a:r>
          </a:p>
          <a:p>
            <a:pPr lvl="0" indent="0" marL="0">
              <a:buNone/>
            </a:pPr>
            <a:r>
              <a:rPr/>
              <a:t>1 Security NFR (auth/authz)</a:t>
            </a:r>
          </a:p>
          <a:p>
            <a:pPr lvl="0" indent="0" marL="0">
              <a:buNone/>
            </a:pPr>
            <a:r>
              <a:rPr/>
              <a:t>1 Accessibility NFR (Web Content Accessibility Guidelines, WCAG floor)</a:t>
            </a:r>
          </a:p>
          <a:p>
            <a:pPr lvl="0" indent="0" marL="0">
              <a:buNone/>
            </a:pPr>
            <a:r>
              <a:rPr/>
              <a:t>1 Observability NFR (the leading indicator)</a:t>
            </a:r>
          </a:p>
          <a:p>
            <a:pPr lvl="0" indent="0" marL="0">
              <a:buNone/>
            </a:pPr>
            <a:r>
              <a:rPr/>
              <a:t>1 Compliance NFR (the regime that applies)</a:t>
            </a:r>
          </a:p>
          <a:p>
            <a:pPr lvl="0" indent="0" marL="0">
              <a:buNone/>
            </a:pPr>
            <a:r>
              <a:rPr/>
              <a:t>Each uses the requirement / defense / verification template. Defense is non-optional.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PRD-Light Sections 5–7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10 min: Section 5 solution sketch (no implementation)</a:t>
            </a:r>
          </a:p>
          <a:p>
            <a:pPr lvl="0" indent="0" marL="0">
              <a:buNone/>
            </a:pPr>
            <a:r>
              <a:rPr/>
              <a:t>15 min: Section 6 ACs (3 happy / 2 sad / 1 weird)</a:t>
            </a:r>
          </a:p>
          <a:p>
            <a:pPr lvl="0" indent="0" marL="0">
              <a:buNone/>
            </a:pPr>
            <a:r>
              <a:rPr/>
              <a:t>15 min: Section 7 NFRs (5 categories, one each)</a:t>
            </a:r>
          </a:p>
          <a:p>
            <a:pPr lvl="0" indent="0" marL="0">
              <a:buNone/>
            </a:pPr>
            <a:r>
              <a:rPr/>
              <a:t>⏱ 10 + 15 + 15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AI Validation + Day-3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Catch the issues; set up tomorrow’s architecture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PRD-Light Validation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Role: Senior PM reviewing a compressed PRD.
Context: &lt;paste PRD-light Sections 1–7&gt;
Task: Identify 5 issues:
1. A claim that lacks evidence
2. A goal that's actually an output
3. A non-goal that's missing
4. An AC that's untestable or vague
5. An NFR that's boilerplate
Constraints:
- Be specific
- Suggest a concrete fix
Format: 5 numbered findings.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Day-3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ahead before leaving today:</a:t>
            </a:r>
          </a:p>
          <a:p>
            <a:pPr lvl="0" indent="0" marL="0">
              <a:buNone/>
            </a:pPr>
            <a:r>
              <a:rPr/>
              <a:t>3 architectural questions a senior architect would ask reading PRD-light</a:t>
            </a:r>
          </a:p>
          <a:p>
            <a:pPr lvl="0" indent="0" marL="0">
              <a:buNone/>
            </a:pPr>
            <a:r>
              <a:rPr/>
              <a:t>Integration map sketch — systems / data / APIs in scope</a:t>
            </a:r>
          </a:p>
          <a:p>
            <a:pPr lvl="0" indent="0" marL="0">
              <a:buNone/>
            </a:pPr>
            <a:r>
              <a:rPr/>
              <a:t>Critical path — what must ship by EOD tomorrow vs Thursday?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Validation + Day-3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15 min: AI validation pass (adopt / defer / reject)</a:t>
            </a:r>
          </a:p>
          <a:p>
            <a:pPr lvl="0" indent="0" marL="0">
              <a:buNone/>
            </a:pPr>
            <a:r>
              <a:rPr/>
              <a:t>10 min: update PRD-light + provenance log</a:t>
            </a:r>
          </a:p>
          <a:p>
            <a:pPr lvl="0" indent="0" marL="0">
              <a:buNone/>
            </a:pPr>
            <a:r>
              <a:rPr/>
              <a:t>20 min: Day-3 plan (3 architecture questions, integration sketch, critical path)</a:t>
            </a:r>
          </a:p>
          <a:p>
            <a:pPr lvl="0" indent="0" marL="0">
              <a:buNone/>
            </a:pPr>
            <a:r>
              <a:rPr/>
              <a:t>⏱ 15 + 10 + 20 · 15-min wrap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Discovery summary (1 page)</a:t>
            </a:r>
          </a:p>
          <a:p>
            <a:pPr lvl="0" indent="0" marL="0">
              <a:buNone/>
            </a:pPr>
            <a:r>
              <a:rPr/>
              <a:t>PRD-light Sections 1–7 (2 pages)</a:t>
            </a:r>
          </a:p>
          <a:p>
            <a:pPr lvl="0" indent="0" marL="0">
              <a:buNone/>
            </a:pPr>
            <a:r>
              <a:rPr/>
              <a:t>AI validation pass</a:t>
            </a:r>
          </a:p>
          <a:p>
            <a:pPr lvl="0" indent="0" marL="0">
              <a:buNone/>
            </a:pPr>
            <a:r>
              <a:rPr/>
              <a:t>Day-3 plan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Capstone architecture + AI Spec drafted</a:t>
            </a:r>
          </a:p>
          <a:p>
            <a:pPr lvl="0" indent="0" marL="0">
              <a:buNone/>
            </a:pPr>
            <a:r>
              <a:rPr/>
              <a:t>Technical Concept Document (TCD-light) + Technical Modeling Document (TMD-light)</a:t>
            </a:r>
          </a:p>
          <a:p>
            <a:pPr lvl="0" indent="0" marL="0">
              <a:buNone/>
            </a:pPr>
            <a:r>
              <a:rPr/>
              <a:t>5-prompt sequence on the capstone</a:t>
            </a:r>
          </a:p>
          <a:p>
            <a:pPr lvl="0" indent="0" marL="0">
              <a:buNone/>
            </a:pPr>
            <a:r>
              <a:rPr/>
              <a:t>Bring to Day 3: PRD-light + Day-3 plan. Tomorrow we go architectural.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was hardest about compressing your PRD work today?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2026-08-04T16:59:54Z</dcterms:created>
  <dcterms:modified xsi:type="dcterms:W3CDTF">2026-08-04T16:59:54Z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