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23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notesMaster" Target="notesMasters/notesMaster1.xml" /><Relationship Id="rId25" Type="http://schemas.openxmlformats.org/officeDocument/2006/relationships/viewProps" Target="viewProps.xml" /><Relationship Id="rId2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7" Type="http://schemas.openxmlformats.org/officeDocument/2006/relationships/tableStyles" Target="tableStyles.xml" /><Relationship Id="rId26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18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19.xml" /><Relationship Id="rId1" Type="http://schemas.openxmlformats.org/officeDocument/2006/relationships/notesMaster" Target="../notesMasters/notesMaster1.xml" /></Relationships>
</file>

<file path=ppt/notesSlides/_rels/notesSlide19.xml.rels><?xml version="1.0" encoding="UTF-8"?><Relationships xmlns="http://schemas.openxmlformats.org/package/2006/relationships"><Relationship Id="rId2" Type="http://schemas.openxmlformats.org/officeDocument/2006/relationships/slide" Target="../slides/slide20.xml" /><Relationship Id="rId1" Type="http://schemas.openxmlformats.org/officeDocument/2006/relationships/notesMaster" Target="../notesMasters/notesMaster1.xml" /></Relationships>
</file>

<file path=ppt/notesSlides/_rels/notesSlide20.xml.rels><?xml version="1.0" encoding="UTF-8"?><Relationships xmlns="http://schemas.openxmlformats.org/package/2006/relationships"><Relationship Id="rId2" Type="http://schemas.openxmlformats.org/officeDocument/2006/relationships/slide" Target="../slides/slide21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Today: Week-1 + Week-3 muscles compressed into one day. Discovery + 2-page PRD.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By 16:00, every triad has 2-page PRD-light + Day-3 plan.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Heavy day. Every block produces a section.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Frame the block: week-1 muscles in 35 minutes. Set context briefly, then move into the teaching content.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Don’t soften compression. Cut.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Three fields. The customer quote is the load-bearing element.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Force the customer quote. If no real quote, mark as “to validate.”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Frame the block: context, problem, goals/non-goals, scope. Set context briefly, then move into the teaching content.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“What I cut” note is informative — what was AI willing to throw away?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Goals are outcomes, not features. Same Wk-3 discipline.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Frame the block: solution sketch, ac, nfrs. Set context briefly, then move into the teaching content.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a triad ships only happy paths, push back hard. The discipline matters.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Force defenses. Boilerplate NFRs are caught even in compressed form.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“Engineer’s first 3 questions” test for §5 still applies.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Frame the block: catch the issues; set up tomorrow’s architecture. Set context briefly, then move into the teaching content.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Add to Pattern Library. Reusable for future compressed PRDs.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Triads who skip Day-3 planning lose tomorrow morning to start-up cost.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18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Wrap-share: persona JTBD, AC proudest, NFR worried about.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19</a:t>
            </a:fld>
            <a:endParaRPr lang="en-US"/>
          </a:p>
        </p:txBody>
      </p:sp>
    </p:spTree>
  </p:cSld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Round-robin close: each person says one thing they’re nervous about for the capstone.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20</a:t>
            </a:fld>
            <a:endParaRPr lang="en-US"/>
          </a:p>
        </p:txBody>
      </p:sp>
    </p:spTree>
  </p:cSld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Open the floor. Use the prompt — “What was hardest about compressing your PRD work today?” — to invite one short reflection per voice. Keep it tight; this is closure, not new content.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21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9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0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🔍 Capstone Discovery + PRD-Light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Week 8 • Day 2 • AI Spec Development &amp; Capstone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TPM Academy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Day 2 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Run compressed customer discovery in 35 minutes</a:t>
            </a:r>
          </a:p>
          <a:p>
            <a:pPr lvl="0" indent="0" marL="0">
              <a:buNone/>
            </a:pPr>
            <a:r>
              <a:rPr/>
              <a:t>Name the persona / JTBD / pain points for the capstone subject</a:t>
            </a:r>
          </a:p>
          <a:p>
            <a:pPr lvl="0" indent="0" marL="0">
              <a:buNone/>
            </a:pPr>
            <a:r>
              <a:rPr/>
              <a:t>Draft PRD-light §§1–7 — 2 pages, full discipline</a:t>
            </a:r>
          </a:p>
          <a:p>
            <a:pPr lvl="0" indent="0" marL="0">
              <a:buNone/>
            </a:pPr>
            <a:r>
              <a:rPr/>
              <a:t>Apply the compression discipline: cut what’s cosmetic; keep what’s load-bearing</a:t>
            </a:r>
          </a:p>
          <a:p>
            <a:pPr lvl="0" indent="0" marL="0">
              <a:buNone/>
            </a:pPr>
            <a:r>
              <a:rPr/>
              <a:t>Validate with AI; plan tomorrow’s compressed architecture work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🕑 Today’s Shape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Clock</a:t>
            </a:r>
          </a:p>
          <a:p>
            <a:pPr lvl="0" indent="0" marL="0">
              <a:buNone/>
            </a:pPr>
            <a:r>
              <a:rPr/>
              <a:t>Block</a:t>
            </a:r>
          </a:p>
          <a:p>
            <a:pPr lvl="0" indent="0" marL="0">
              <a:buNone/>
            </a:pPr>
            <a:r>
              <a:rPr/>
              <a:t>Outcome</a:t>
            </a:r>
          </a:p>
          <a:p>
            <a:pPr lvl="0" indent="0" marL="0">
              <a:buNone/>
            </a:pPr>
            <a:r>
              <a:rPr/>
              <a:t>09:00 – 09:15</a:t>
            </a:r>
          </a:p>
          <a:p>
            <a:pPr lvl="0" indent="0" marL="0">
              <a:buNone/>
            </a:pPr>
            <a:r>
              <a:rPr/>
              <a:t>Opening</a:t>
            </a:r>
          </a:p>
          <a:p>
            <a:pPr lvl="0" indent="0" marL="0">
              <a:buNone/>
            </a:pPr>
            <a:r>
              <a:rPr/>
              <a:t>Inputs gathered overnight; pin discovery summary plan</a:t>
            </a:r>
          </a:p>
          <a:p>
            <a:pPr lvl="0" indent="0" marL="0">
              <a:buNone/>
            </a:pPr>
            <a:r>
              <a:rPr/>
              <a:t>09:15 – 10:30</a:t>
            </a:r>
          </a:p>
          <a:p>
            <a:pPr lvl="0" indent="0" marL="0">
              <a:buNone/>
            </a:pPr>
            <a:r>
              <a:rPr/>
              <a:t>Block 1 + Activity 1</a:t>
            </a:r>
          </a:p>
          <a:p>
            <a:pPr lvl="0" indent="0" marL="0">
              <a:buNone/>
            </a:pPr>
            <a:r>
              <a:rPr/>
              <a:t>Compressed customer discovery</a:t>
            </a:r>
          </a:p>
          <a:p>
            <a:pPr lvl="0" indent="0" marL="0">
              <a:buNone/>
            </a:pPr>
            <a:r>
              <a:rPr/>
              <a:t>10:45 – 12:00</a:t>
            </a:r>
          </a:p>
          <a:p>
            <a:pPr lvl="0" indent="0" marL="0">
              <a:buNone/>
            </a:pPr>
            <a:r>
              <a:rPr/>
              <a:t>Block 2 + Activity 2</a:t>
            </a:r>
          </a:p>
          <a:p>
            <a:pPr lvl="0" indent="0" marL="0">
              <a:buNone/>
            </a:pPr>
            <a:r>
              <a:rPr/>
              <a:t>PRD-light §§1–4</a:t>
            </a:r>
          </a:p>
          <a:p>
            <a:pPr lvl="0" indent="0" marL="0">
              <a:buNone/>
            </a:pPr>
            <a:r>
              <a:rPr/>
              <a:t>13:00 – 14:15</a:t>
            </a:r>
          </a:p>
          <a:p>
            <a:pPr lvl="0" indent="0" marL="0">
              <a:buNone/>
            </a:pPr>
            <a:r>
              <a:rPr/>
              <a:t>Block 3 + Activity 3</a:t>
            </a:r>
          </a:p>
          <a:p>
            <a:pPr lvl="0" indent="0" marL="0">
              <a:buNone/>
            </a:pPr>
            <a:r>
              <a:rPr/>
              <a:t>PRD-light §§5–7</a:t>
            </a:r>
          </a:p>
          <a:p>
            <a:pPr lvl="0" indent="0" marL="0">
              <a:buNone/>
            </a:pPr>
            <a:r>
              <a:rPr/>
              <a:t>14:30 – 16:00</a:t>
            </a:r>
          </a:p>
          <a:p>
            <a:pPr lvl="0" indent="0" marL="0">
              <a:buNone/>
            </a:pPr>
            <a:r>
              <a:rPr/>
              <a:t>Block 4 + Activity 4 + Wrap</a:t>
            </a:r>
          </a:p>
          <a:p>
            <a:pPr lvl="0" indent="0" marL="0">
              <a:buNone/>
            </a:pPr>
            <a:r>
              <a:rPr/>
              <a:t>AI validation + Day-3 setup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1 — Compressed Discovery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Week-1 muscles in 35 minutes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✂️ The Compression Discipline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Compressed work is not lower-quality work. It’s selective: keep what’s load-bearing, cut what’s cosmetic.</a:t>
            </a:r>
          </a:p>
          <a:p>
            <a:pPr lvl="0" indent="0" marL="0">
              <a:buNone/>
            </a:pPr>
            <a:r>
              <a:rPr/>
              <a:t>§1 Context (½ page)</a:t>
            </a:r>
          </a:p>
          <a:p>
            <a:pPr lvl="0" indent="0" marL="0">
              <a:buNone/>
            </a:pPr>
            <a:r>
              <a:rPr/>
              <a:t>§2 Problem (½ page)</a:t>
            </a:r>
          </a:p>
          <a:p>
            <a:pPr lvl="0" indent="0" marL="0">
              <a:buNone/>
            </a:pPr>
            <a:r>
              <a:rPr/>
              <a:t>§3 Goals + non-goals (½ page)</a:t>
            </a:r>
          </a:p>
          <a:p>
            <a:pPr lvl="0" indent="0" marL="0">
              <a:buNone/>
            </a:pPr>
            <a:r>
              <a:rPr/>
              <a:t>§4 Scope (in/out table)</a:t>
            </a:r>
          </a:p>
          <a:p>
            <a:pPr lvl="0" indent="0" marL="0">
              <a:buNone/>
            </a:pPr>
            <a:r>
              <a:rPr/>
              <a:t>§5 Solution sketch (½ page)</a:t>
            </a:r>
          </a:p>
          <a:p>
            <a:pPr lvl="0" indent="0" marL="0">
              <a:buNone/>
            </a:pPr>
            <a:r>
              <a:rPr/>
              <a:t>§6 Top 6–8 ACs</a:t>
            </a:r>
          </a:p>
          <a:p>
            <a:pPr lvl="0" indent="0" marL="0">
              <a:buNone/>
            </a:pPr>
            <a:r>
              <a:rPr/>
              <a:t>§7 Top 5 NFRs (one per category)</a:t>
            </a:r>
          </a:p>
          <a:p>
            <a:pPr lvl="0" indent="0" marL="0">
              <a:buNone/>
            </a:pPr>
            <a:r>
              <a:rPr/>
              <a:t>2 pages total. Every word earns its place.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📚 Compressed Persona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Worked example: “Persona: New B2B finance ops associate at a 200-person company. JTBD: Close the books each month without staying late on Friday. Why hard: ‘I spend Thursday night chasing 4 different teams for missing accruals — by the time they respond, I’ve forgotten what I asked.’”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1 — Compressed Discovery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35 minutes</a:t>
            </a:r>
          </a:p>
          <a:p>
            <a:pPr lvl="0" indent="0" marL="0">
              <a:buNone/>
            </a:pPr>
            <a:r>
              <a:rPr/>
              <a:t>10 min: synthesize gathered inputs</a:t>
            </a:r>
          </a:p>
          <a:p>
            <a:pPr lvl="0" indent="0" marL="0">
              <a:buNone/>
            </a:pPr>
            <a:r>
              <a:rPr/>
              <a:t>10 min: name persona / JTBD / why hard</a:t>
            </a:r>
          </a:p>
          <a:p>
            <a:pPr lvl="0" indent="0" marL="0">
              <a:buNone/>
            </a:pPr>
            <a:r>
              <a:rPr/>
              <a:t>10 min: top 3 pains scored on severity / frequency / addressability</a:t>
            </a:r>
          </a:p>
          <a:p>
            <a:pPr lvl="0" indent="0" marL="0">
              <a:buNone/>
            </a:pPr>
            <a:r>
              <a:rPr/>
              <a:t>5 min: sanity check — does this sound like a real customer?</a:t>
            </a:r>
          </a:p>
          <a:p>
            <a:pPr lvl="0" indent="0" marL="0">
              <a:buNone/>
            </a:pPr>
            <a:r>
              <a:rPr/>
              <a:t>⏱ 10 + 10 + 10 + 5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2 — PRD-Light §§1–4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Context, Problem, Goals/Non-goals, Scope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🧿 AI Assistance Pattern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Triad members solo-draft first. Pick the strongest. Then apply AI to tighten.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2 — PRD-Light §§1–4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40 minutes</a:t>
            </a:r>
          </a:p>
          <a:p>
            <a:pPr lvl="0" indent="0" marL="0">
              <a:buNone/>
            </a:pPr>
            <a:r>
              <a:rPr/>
              <a:t>15 min: §1 + §2 (solo drafts → triad picks → AI tightens)</a:t>
            </a:r>
          </a:p>
          <a:p>
            <a:pPr lvl="0" indent="0" marL="0">
              <a:buNone/>
            </a:pPr>
            <a:r>
              <a:rPr/>
              <a:t>15 min: §3 goals + non-goals</a:t>
            </a:r>
          </a:p>
          <a:p>
            <a:pPr lvl="0" indent="0" marL="0">
              <a:buNone/>
            </a:pPr>
            <a:r>
              <a:rPr/>
              <a:t>10 min: §4 scope (in/out table)</a:t>
            </a:r>
          </a:p>
          <a:p>
            <a:pPr lvl="0" indent="0" marL="0">
              <a:buNone/>
            </a:pPr>
            <a:r>
              <a:rPr/>
              <a:t>⏱ 15 + 15 + 10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3 — PRD-Light §§5–7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Solution sketch, AC, NFRs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✅ AC Coverage (Compressed)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Path</a:t>
            </a:r>
          </a:p>
          <a:p>
            <a:pPr lvl="0" indent="0" marL="0">
              <a:buNone/>
            </a:pPr>
            <a:r>
              <a:rPr/>
              <a:t>Count</a:t>
            </a:r>
          </a:p>
          <a:p>
            <a:pPr lvl="0" indent="0" marL="0">
              <a:buNone/>
            </a:pPr>
            <a:r>
              <a:rPr/>
              <a:t>Happy</a:t>
            </a:r>
          </a:p>
          <a:p>
            <a:pPr lvl="0" indent="0" marL="0">
              <a:buNone/>
            </a:pPr>
            <a:r>
              <a:rPr/>
              <a:t>3</a:t>
            </a:r>
          </a:p>
          <a:p>
            <a:pPr lvl="0" indent="0" marL="0">
              <a:buNone/>
            </a:pPr>
            <a:r>
              <a:rPr/>
              <a:t>Sad</a:t>
            </a:r>
          </a:p>
          <a:p>
            <a:pPr lvl="0" indent="0" marL="0">
              <a:buNone/>
            </a:pPr>
            <a:r>
              <a:rPr/>
              <a:t>2</a:t>
            </a:r>
          </a:p>
          <a:p>
            <a:pPr lvl="0" indent="0" marL="0">
              <a:buNone/>
            </a:pPr>
            <a:r>
              <a:rPr/>
              <a:t>Weird</a:t>
            </a:r>
          </a:p>
          <a:p>
            <a:pPr lvl="0" indent="0" marL="0">
              <a:buNone/>
            </a:pPr>
            <a:r>
              <a:rPr/>
              <a:t>1</a:t>
            </a:r>
          </a:p>
          <a:p>
            <a:pPr lvl="0" indent="0" marL="0">
              <a:buNone/>
            </a:pPr>
            <a:r>
              <a:rPr/>
              <a:t>Compressed = fewer ACs, not weaker ACs. Use Given/When/Then. Same 5-failure-mode discipline.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📚 NFR Coverage (Compressed)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 Performance NFR (latency target with defense)</a:t>
            </a:r>
          </a:p>
          <a:p>
            <a:pPr lvl="0" indent="0" marL="0">
              <a:buNone/>
            </a:pPr>
            <a:r>
              <a:rPr/>
              <a:t>1 Security NFR (auth/authz)</a:t>
            </a:r>
          </a:p>
          <a:p>
            <a:pPr lvl="0" indent="0" marL="0">
              <a:buNone/>
            </a:pPr>
            <a:r>
              <a:rPr/>
              <a:t>1 Accessibility NFR (WCAG floor)</a:t>
            </a:r>
          </a:p>
          <a:p>
            <a:pPr lvl="0" indent="0" marL="0">
              <a:buNone/>
            </a:pPr>
            <a:r>
              <a:rPr/>
              <a:t>1 Observability NFR (the leading indicator)</a:t>
            </a:r>
          </a:p>
          <a:p>
            <a:pPr lvl="0" indent="0" marL="0">
              <a:buNone/>
            </a:pPr>
            <a:r>
              <a:rPr/>
              <a:t>1 Compliance NFR (the regime that applies)</a:t>
            </a:r>
          </a:p>
          <a:p>
            <a:pPr lvl="0" indent="0" marL="0">
              <a:buNone/>
            </a:pPr>
            <a:r>
              <a:rPr/>
              <a:t>Each uses the requirement / defense / verification template. Defense is non-optional.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3 — PRD-Light §§5–7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40 minutes</a:t>
            </a:r>
          </a:p>
          <a:p>
            <a:pPr lvl="0" indent="0" marL="0">
              <a:buNone/>
            </a:pPr>
            <a:r>
              <a:rPr/>
              <a:t>10 min: §5 solution sketch (no implementation)</a:t>
            </a:r>
          </a:p>
          <a:p>
            <a:pPr lvl="0" indent="0" marL="0">
              <a:buNone/>
            </a:pPr>
            <a:r>
              <a:rPr/>
              <a:t>15 min: §6 ACs (3 happy / 2 sad / 1 weird)</a:t>
            </a:r>
          </a:p>
          <a:p>
            <a:pPr lvl="0" indent="0" marL="0">
              <a:buNone/>
            </a:pPr>
            <a:r>
              <a:rPr/>
              <a:t>15 min: §7 NFRs (5 categories, one each)</a:t>
            </a:r>
          </a:p>
          <a:p>
            <a:pPr lvl="0" indent="0" marL="0">
              <a:buNone/>
            </a:pPr>
            <a:r>
              <a:rPr/>
              <a:t>⏱ 10 + 15 + 15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4 — AI Validation + Day-3 Plan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Catch the issues; set up tomorrow’s architecture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🧿 PRD-Light Validation Prompt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📚 Day-3 Setup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Plan ahead before leaving today:</a:t>
            </a:r>
          </a:p>
          <a:p>
            <a:pPr lvl="0" indent="0" marL="0">
              <a:buNone/>
            </a:pPr>
            <a:r>
              <a:rPr/>
              <a:t>3 architectural questions a senior architect would ask reading PRD-light</a:t>
            </a:r>
          </a:p>
          <a:p>
            <a:pPr lvl="0" indent="0" marL="0">
              <a:buNone/>
            </a:pPr>
            <a:r>
              <a:rPr/>
              <a:t>Integration map sketch — systems / data / APIs in scope</a:t>
            </a:r>
          </a:p>
          <a:p>
            <a:pPr lvl="0" indent="0" marL="0">
              <a:buNone/>
            </a:pPr>
            <a:r>
              <a:rPr/>
              <a:t>Critical path — what must ship by EOD tomorrow vs Thursday?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4 — Validation + Day-3 Plan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45 minutes • Wrap</a:t>
            </a:r>
          </a:p>
          <a:p>
            <a:pPr lvl="0" indent="0" marL="0">
              <a:buNone/>
            </a:pPr>
            <a:r>
              <a:rPr/>
              <a:t>15 min: AI validation pass (adopt / defer / reject)</a:t>
            </a:r>
          </a:p>
          <a:p>
            <a:pPr lvl="0" indent="0" marL="0">
              <a:buNone/>
            </a:pPr>
            <a:r>
              <a:rPr/>
              <a:t>10 min: update PRD-light + provenance log</a:t>
            </a:r>
          </a:p>
          <a:p>
            <a:pPr lvl="0" indent="0" marL="0">
              <a:buNone/>
            </a:pPr>
            <a:r>
              <a:rPr/>
              <a:t>20 min: Day-3 plan (3 architecture questions, integration sketch, critical path)</a:t>
            </a:r>
          </a:p>
          <a:p>
            <a:pPr lvl="0" indent="0" marL="0">
              <a:buNone/>
            </a:pPr>
            <a:r>
              <a:rPr/>
              <a:t>⏱ 15 + 10 + 20 · 15-min wrap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🎉 Day 2 Wrap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we built</a:t>
            </a:r>
          </a:p>
          <a:p>
            <a:pPr lvl="0" indent="0" marL="0">
              <a:buNone/>
            </a:pPr>
            <a:r>
              <a:rPr/>
              <a:t>Discovery summary (1 page)</a:t>
            </a:r>
          </a:p>
          <a:p>
            <a:pPr lvl="0" indent="0" marL="0">
              <a:buNone/>
            </a:pPr>
            <a:r>
              <a:rPr/>
              <a:t>PRD-light §§1–7 (2 pages)</a:t>
            </a:r>
          </a:p>
          <a:p>
            <a:pPr lvl="0" indent="0" marL="0">
              <a:buNone/>
            </a:pPr>
            <a:r>
              <a:rPr/>
              <a:t>AI validation pass</a:t>
            </a:r>
          </a:p>
          <a:p>
            <a:pPr lvl="0" indent="0" marL="0">
              <a:buNone/>
            </a:pPr>
            <a:r>
              <a:rPr/>
              <a:t>Day-3 plan</a:t>
            </a:r>
          </a:p>
          <a:p>
            <a:pPr lvl="0" indent="0" marL="0">
              <a:buNone/>
            </a:pPr>
            <a:r>
              <a:rPr/>
              <a:t>What opens tomorrow</a:t>
            </a:r>
          </a:p>
          <a:p>
            <a:pPr lvl="0" indent="0" marL="0">
              <a:buNone/>
            </a:pPr>
            <a:r>
              <a:rPr/>
              <a:t>Capstone architecture + AI Spec drafted</a:t>
            </a:r>
          </a:p>
          <a:p>
            <a:pPr lvl="0" indent="0" marL="0">
              <a:buNone/>
            </a:pPr>
            <a:r>
              <a:rPr/>
              <a:t>TCD-light + TMD-light</a:t>
            </a:r>
          </a:p>
          <a:p>
            <a:pPr lvl="0" indent="0" marL="0">
              <a:buNone/>
            </a:pPr>
            <a:r>
              <a:rPr/>
              <a:t>5-prompt sequence on the capstone</a:t>
            </a:r>
          </a:p>
          <a:p>
            <a:pPr lvl="0" indent="0" marL="0">
              <a:buNone/>
            </a:pPr>
            <a:r>
              <a:rPr/>
              <a:t>Bring to Day 3: PRD-light + Day-3 plan. Tomorrow we go architectural.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💬 Questions &amp; Reflection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 was hardest about compressing your PRD work today?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2026-07-16T20:05:31Z</dcterms:created>
  <dcterms:modified xsi:type="dcterms:W3CDTF">2026-07-16T20:05:31Z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