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ambitious day of the week. Weeks 4–5 compressed into one day, then AI Spec sequence applied.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quad has 4 documents: PRD-light, TCD-light, TMD-light, AI Spec 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Tightest schedule of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week 4 in 40 minutes.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Compressed but disciplined. Same template; less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at 1.5 pages. Force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week 5 in 40 minutes.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section has a discipline anchor from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the named invariant. Force the ROM cost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apply day-1’s pattern to the capstone.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as Day-1 rehearsal, capstone inputs this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 blasts through 5 prompts in 10 min, they skipped validation. Walk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prompt produces hallucinated content, re-run with tighter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catch what the author quad missed.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reviewer says “looks fine” without checking,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AI Spec section proudest, claim caught wrong, gap to address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section they’ll re-validate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“Where in your AI Spec do you suspect there’s a hallucination you didn’t catch?”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🏗️ Capstone Architecture + AI Spec v1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8 • Day 3 • AI Spec Development &amp;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Produce Technical Concept Document (TCD-light) in 40 minutes (Week-4 compressed)</a:t>
            </a:r>
          </a:p>
          <a:p>
            <a:pPr lvl="0" indent="0" marL="0">
              <a:buNone/>
            </a:pPr>
            <a:r>
              <a:rPr/>
              <a:t>Produce Technical Modeling Document (TMD-light) in 40 minutes (Week-5 compressed)</a:t>
            </a:r>
          </a:p>
          <a:p>
            <a:pPr lvl="0" indent="0" marL="0">
              <a:buNone/>
            </a:pPr>
            <a:r>
              <a:rPr/>
              <a:t>Run the 5-prompt AI Spec sequence on the capstone, drawing on Day-2’s Product Requirements Document (PRD-light)</a:t>
            </a:r>
          </a:p>
          <a:p>
            <a:pPr lvl="0" indent="0" marL="0">
              <a:buNone/>
            </a:pPr>
            <a:r>
              <a:rPr/>
              <a:t>Cross-quad spot-check the AI Spec against sources</a:t>
            </a:r>
          </a:p>
          <a:p>
            <a:pPr lvl="0" indent="0" marL="0">
              <a:buNone/>
            </a:pPr>
            <a:r>
              <a:rPr/>
              <a:t>Plan Day-4 validation work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PRD-light + Day-3 plan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TCD-light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TMD-light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5-prompt AI Spec sequence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Cross-quad spot-check + Day-4 setup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TCD-Light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4 in 45 minutes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TCD-Light (1.5 pages)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1. Architecture stance — 1 paragraph
(deploy / failure / scale)
## 2. Integration map — table (system / owner / sync-async /
R-W / failure handling)
## 3. Threat-model summary — 3 STRIDE threats + mitigations
## 4. SLOs — 1 latency / 1 availability / 1 rate-limit
(target + defense + verification)
## 5. Top 3 trade-offs — Option A/B/Choice/Cost/Revisit
## 6. Stakeholder sign-off — 3–5 stakeholders + status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TCD-Light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15 min: architecture stance (3-question frame)</a:t>
            </a:r>
          </a:p>
          <a:p>
            <a:pPr lvl="0" indent="0" marL="0">
              <a:buNone/>
            </a:pPr>
            <a:r>
              <a:rPr/>
              <a:t>10 min: integration map</a:t>
            </a:r>
          </a:p>
          <a:p>
            <a:pPr lvl="0" indent="0" marL="0">
              <a:buNone/>
            </a:pPr>
            <a:r>
              <a:rPr/>
              <a:t>10 min: the STRIDE model (Spoofing, Tampering, Repudiation, Information disclosure, Denial of service, Elevation of privilege) summary (3 threats)</a:t>
            </a:r>
          </a:p>
          <a:p>
            <a:pPr lvl="0" indent="0" marL="0">
              <a:buNone/>
            </a:pPr>
            <a:r>
              <a:rPr/>
              <a:t>5 min: 3 Service Level Objectives (SLOs)</a:t>
            </a:r>
          </a:p>
          <a:p>
            <a:pPr lvl="0" indent="0" marL="0">
              <a:buNone/>
            </a:pPr>
            <a:r>
              <a:rPr/>
              <a:t>5 min: top trade-offs</a:t>
            </a:r>
          </a:p>
          <a:p>
            <a:pPr lvl="0" indent="0" marL="0">
              <a:buNone/>
            </a:pPr>
            <a:r>
              <a:rPr/>
              <a:t>⏱ 15 + 10 + 10 + 5 + 5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TMD-Light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5 in 50 minutes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TMD-Light (1.5 pages)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1. Data model — 3–5 entities (PK + indexes + relationships)
+ 1 storage trade-off
## 2. Cloud topology — region / managed-vs-self / tenancy /
network / ROM cost
## 3. API contract — 3–5 endpoints (method + path + status +
idempotency)
## 4. Sequence — happy + 1 sad + 1 weird with named invariant
## 5. Performance baseline + monitoring — 3 baselines + 3 alerts
+ 1 leading indicator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TMD-Light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20 min: data model + 1 trade-off</a:t>
            </a:r>
          </a:p>
          <a:p>
            <a:pPr lvl="0" indent="0" marL="0">
              <a:buNone/>
            </a:pPr>
            <a:r>
              <a:rPr/>
              <a:t>10 min: cloud topology + rough order of magnitude (ROM) cost</a:t>
            </a:r>
          </a:p>
          <a:p>
            <a:pPr lvl="0" indent="0" marL="0">
              <a:buNone/>
            </a:pPr>
            <a:r>
              <a:rPr/>
              <a:t>10 min: API contract</a:t>
            </a:r>
          </a:p>
          <a:p>
            <a:pPr lvl="0" indent="0" marL="0">
              <a:buNone/>
            </a:pPr>
            <a:r>
              <a:rPr/>
              <a:t>5 min: sequence (happy + sad + weird with invariant)</a:t>
            </a:r>
          </a:p>
          <a:p>
            <a:pPr lvl="0" indent="0" marL="0">
              <a:buNone/>
            </a:pPr>
            <a:r>
              <a:rPr/>
              <a:t>5 min: baselines + alerts + leading indicator</a:t>
            </a:r>
          </a:p>
          <a:p>
            <a:pPr lvl="0" indent="0" marL="0">
              <a:buNone/>
            </a:pPr>
            <a:r>
              <a:rPr/>
              <a:t>⏱ 20 + 10 + 10 + 5 + 5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5-Prompt AI Spec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Apply Day-1’s pattern to the capstone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The 5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Job</a:t>
            </a:r>
          </a:p>
          <a:p>
            <a:pPr lvl="0" indent="0" marL="0">
              <a:buNone/>
            </a:pPr>
            <a:r>
              <a:rPr/>
              <a:t>Inputs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Headline + summary</a:t>
            </a:r>
          </a:p>
          <a:p>
            <a:pPr lvl="0" indent="0" marL="0">
              <a:buNone/>
            </a:pPr>
            <a:r>
              <a:rPr/>
              <a:t>PRD-light Sections 1–5, TCD-light Section 1, TMD-light Section 3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Data + API synthesis</a:t>
            </a:r>
          </a:p>
          <a:p>
            <a:pPr lvl="0" indent="0" marL="0">
              <a:buNone/>
            </a:pPr>
            <a:r>
              <a:rPr/>
              <a:t>TMD-light Section 1 + Section 3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Sequence + failure</a:t>
            </a:r>
          </a:p>
          <a:p>
            <a:pPr lvl="0" indent="0" marL="0">
              <a:buNone/>
            </a:pPr>
            <a:r>
              <a:rPr/>
              <a:t>TMD-light Section 4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Constraints</a:t>
            </a:r>
          </a:p>
          <a:p>
            <a:pPr lvl="0" indent="0" marL="0">
              <a:buNone/>
            </a:pPr>
            <a:r>
              <a:rPr/>
              <a:t>TCD-light Section 3 + Section 4 + PRD-light Section 7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Decisions + stakeholders</a:t>
            </a:r>
          </a:p>
          <a:p>
            <a:pPr lvl="0" indent="0" marL="0">
              <a:buNone/>
            </a:pPr>
            <a:r>
              <a:rPr/>
              <a:t>TCD-light Section 5 + Section 6</a:t>
            </a:r>
          </a:p>
          <a:p>
            <a:pPr lvl="0" indent="0" marL="0">
              <a:buNone/>
            </a:pPr>
            <a:r>
              <a:rPr/>
              <a:t>Validate between every prompt. The chain is what keeps the AI Spec honest.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Validation Discipline (under time pressure)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every output against the source</a:t>
            </a:r>
          </a:p>
          <a:p>
            <a:pPr lvl="0" indent="0" marL="0">
              <a:buNone/>
            </a:pPr>
            <a:r>
              <a:rPr/>
              <a:t>Mark: cross-checked / spot-checked / pending / rejected</a:t>
            </a:r>
          </a:p>
          <a:p>
            <a:pPr lvl="0" indent="0" marL="0">
              <a:buNone/>
            </a:pPr>
            <a:r>
              <a:rPr/>
              <a:t>Cut hallucinated claims</a:t>
            </a:r>
          </a:p>
          <a:p>
            <a:pPr lvl="0" indent="0" marL="0">
              <a:buNone/>
            </a:pPr>
            <a:r>
              <a:rPr/>
              <a:t>Preserve verbatim: trade-off costs, revisit triggers, named invariants, customer quotes</a:t>
            </a:r>
          </a:p>
          <a:p>
            <a:pPr lvl="0" indent="0" marL="0">
              <a:buNone/>
            </a:pPr>
            <a:r>
              <a:rPr/>
              <a:t>Time pressure tempts skipping validation. Hold the line. Catch this in the room.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AI Spec v1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10 min × 5 prompts = 50 min total</a:t>
            </a:r>
          </a:p>
          <a:p>
            <a:pPr lvl="0" indent="0" marL="0">
              <a:buNone/>
            </a:pPr>
            <a:r>
              <a:rPr/>
              <a:t>Per prompt: paste inputs → capture output → validate → mark</a:t>
            </a:r>
          </a:p>
          <a:p>
            <a:pPr lvl="0" indent="0" marL="0">
              <a:buNone/>
            </a:pPr>
            <a:r>
              <a:rPr/>
              <a:t>⏱ 10 × 5 prompts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Cross-Quad Spot-Check + Day-4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Catch what the author quad missed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Cross-Quad Validation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Pair quads</a:t>
            </a:r>
          </a:p>
          <a:p>
            <a:pPr lvl="0" indent="0" marL="0">
              <a:buNone/>
            </a:pPr>
            <a:r>
              <a:rPr/>
              <a:t>Reviewer quad receives source artifacts + AI Spec v1</a:t>
            </a:r>
          </a:p>
          <a:p>
            <a:pPr lvl="0" indent="0" marL="0">
              <a:buNone/>
            </a:pPr>
            <a:r>
              <a:rPr/>
              <a:t>20 min validation: 5–10 specific claims from AI Spec checked against source</a:t>
            </a:r>
          </a:p>
          <a:p>
            <a:pPr lvl="0" indent="0" marL="0">
              <a:buNone/>
            </a:pPr>
            <a:r>
              <a:rPr/>
              <a:t>Mark: wrong / partly right / right</a:t>
            </a:r>
          </a:p>
          <a:p>
            <a:pPr lvl="0" indent="0" marL="0">
              <a:buNone/>
            </a:pPr>
            <a:r>
              <a:rPr/>
              <a:t>Author quad listens; revises</a:t>
            </a:r>
          </a:p>
          <a:p>
            <a:pPr lvl="0" indent="0" marL="0">
              <a:buNone/>
            </a:pPr>
            <a:r>
              <a:rPr/>
              <a:t>Watch for rubber-stamping. The reviewer should find at least 1 weak claim.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Cross-Quad + Day-4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 pairs • 55 minutes • Wrap</a:t>
            </a:r>
          </a:p>
          <a:p>
            <a:pPr lvl="0" indent="0" marL="0">
              <a:buNone/>
            </a:pPr>
            <a:r>
              <a:rPr/>
              <a:t>5 min: pair set-up</a:t>
            </a:r>
          </a:p>
          <a:p>
            <a:pPr lvl="0" indent="0" marL="0">
              <a:buNone/>
            </a:pPr>
            <a:r>
              <a:rPr/>
              <a:t>30 min: validation pass on 5–10 specific claims</a:t>
            </a:r>
          </a:p>
          <a:p>
            <a:pPr lvl="0" indent="0" marL="0">
              <a:buNone/>
            </a:pPr>
            <a:r>
              <a:rPr/>
              <a:t>5 min: author listens</a:t>
            </a:r>
          </a:p>
          <a:p>
            <a:pPr lvl="0" indent="0" marL="0">
              <a:buNone/>
            </a:pPr>
            <a:r>
              <a:rPr/>
              <a:t>15 min: author revises</a:t>
            </a:r>
          </a:p>
          <a:p>
            <a:pPr lvl="0" indent="0" marL="0">
              <a:buNone/>
            </a:pPr>
            <a:r>
              <a:rPr/>
              <a:t>⏱ 5 + 30 + 5 + 15 · 15-min wrap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TCD-light (1.5 pages)</a:t>
            </a:r>
          </a:p>
          <a:p>
            <a:pPr lvl="0" indent="0" marL="0">
              <a:buNone/>
            </a:pPr>
            <a:r>
              <a:rPr/>
              <a:t>TMD-light (1.5 pages)</a:t>
            </a:r>
          </a:p>
          <a:p>
            <a:pPr lvl="0" indent="0" marL="0">
              <a:buNone/>
            </a:pPr>
            <a:r>
              <a:rPr/>
              <a:t>AI Spec v1 (assembled from 5 prompts)</a:t>
            </a:r>
          </a:p>
          <a:p>
            <a:pPr lvl="0" indent="0" marL="0">
              <a:buNone/>
            </a:pPr>
            <a:r>
              <a:rPr/>
              <a:t>Cross-quad validation findings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Technical logic validation + finalization</a:t>
            </a:r>
          </a:p>
          <a:p>
            <a:pPr lvl="0" indent="0" marL="0">
              <a:buNone/>
            </a:pPr>
            <a:r>
              <a:rPr/>
              <a:t>Catch inconsistencies across the artifact set</a:t>
            </a:r>
          </a:p>
          <a:p>
            <a:pPr lvl="0" indent="0" marL="0">
              <a:buNone/>
            </a:pPr>
            <a:r>
              <a:rPr/>
              <a:t>Polish for Friday</a:t>
            </a:r>
          </a:p>
          <a:p>
            <a:pPr lvl="0" indent="0" marL="0">
              <a:buNone/>
            </a:pPr>
            <a:r>
              <a:rPr/>
              <a:t>Rehearse the presentation</a:t>
            </a:r>
          </a:p>
          <a:p>
            <a:pPr lvl="0" indent="0" marL="0">
              <a:buNone/>
            </a:pPr>
            <a:r>
              <a:rPr/>
              <a:t>Bring to Day 4: All 4 documents + cross-quad findings. Tomorrow we make them ship-ready.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your AI Spec do you suspect there’s a hallucination you didn’t catch?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2026-08-23T18:36:54Z</dcterms:created>
  <dcterms:modified xsi:type="dcterms:W3CDTF">2026-08-23T18:36:54Z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