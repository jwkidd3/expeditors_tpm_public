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notesMaster" Target="notesMasters/notesMaster1.xml" /><Relationship Id="rId26" Type="http://schemas.openxmlformats.org/officeDocument/2006/relationships/viewProps" Target="viewProps.xml" /><Relationship Id="rId2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8" Type="http://schemas.openxmlformats.org/officeDocument/2006/relationships/tableStyles" Target="tableStyles.xml" /><Relationship Id="rId27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Friday. The TCD ships today, sibling to the PRD. Today produces §§5–6 + the integration pass.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By 16:00, the TCD is approved (or approved with gaps) and ready for Week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 mirrors Week 3’s Day 4 (assembly) and Day 5 (review). Compressed here into one day because the TCD is a sibling artifact, not a primary deliverable.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Trade-offs hide everywhere — in the stance, the diagram, the SLOs. Triads have to surface 8+ candidates before they can cull to the strongest five.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Force this pattern. “We chose X because X is better” is not a trade-off.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category check is a quick filter for whether the triad surfaced real tensions.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brainstorm yields fewer than 8, push: “what alternative did you reject?” for each section.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trade-off template forces tension, choice, and consequence in three lines each. Watch for choices that align suspiciously with the writer’s preference rather than the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trade-off without a concrete accepted cost is half-finished.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Note how this links §3 (audit), §4 (latency SLO), and §5 (the trade-off) — internal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Watch for trade-offs aligned suspiciously with personal preference. Reasoning should come from the system, not the writer.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Real names, real next steps. Aim for 6+ entries — most architectural features touch that many stakeholders even if triads under-count at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“TBD” is not allowed. If a triad doesn’t know who, ask “who would be angry if you shipped without telling them?”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Triads who claim everything is “Approved” haven’t done the work. Push 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Aim for 6+ entries. Most architectural features touch this many stakeholders.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Integration catches drift between sections written across the week. Pair-review beats self-review for spotting coherence gaps; sign-off locks the TCD for Monday handoff.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Same discipline as Week 3 Day 4. Run it solo, then cross-review.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Reviewer scores 0–4 per dimension. Same convention as Week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Wrap-share: each triad shares one of their five trade-offs aloud, including the revisit trigger.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triad names the trade-off they expect a real architect to push hardest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architect-time test reveals which trade-offs are still soft. Week 5 picks up Monday with data modeling against this same TCD.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⚔️ Trade-Offs &amp; the TCD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4 • Day 5 • Technical Architecture &amp; Constraints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 — TCD ships today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5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Identify and write the top 5 trade-offs — Option A vs B, choice, cost, revisit trigger</a:t>
            </a:r>
          </a:p>
          <a:p>
            <a:pPr lvl="0" indent="0" marL="0">
              <a:buNone/>
            </a:pPr>
            <a:r>
              <a:rPr/>
              <a:t>Cover at least 3 categories: coupling vs independence, consistency vs availability, latency vs durability, speed vs robustness, generality vs simplicity</a:t>
            </a:r>
          </a:p>
          <a:p>
            <a:pPr lvl="0" indent="0" marL="0">
              <a:buNone/>
            </a:pPr>
            <a:r>
              <a:rPr/>
              <a:t>Build the stakeholder sign-off matrix with real names</a:t>
            </a:r>
          </a:p>
          <a:p>
            <a:pPr lvl="0" indent="0" marL="0">
              <a:buNone/>
            </a:pPr>
            <a:r>
              <a:rPr/>
              <a:t>Run an integration pass across §§1–6</a:t>
            </a:r>
          </a:p>
          <a:p>
            <a:pPr lvl="0" indent="0" marL="0">
              <a:buNone/>
            </a:pPr>
            <a:r>
              <a:rPr/>
              <a:t>Cross-review with another triad and ship the TCD as a sibling to the PRD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TCD §§1–4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Surface the trade-offs (8–10 candidates)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Write the top 5 trade-offs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Stakeholder sign-off matrix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Activity 4 + Wrap</a:t>
            </a:r>
          </a:p>
          <a:p>
            <a:pPr lvl="0" indent="0" marL="0">
              <a:buNone/>
            </a:pPr>
            <a:r>
              <a:rPr/>
              <a:t>Integration + cross-review + sign-off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Surface the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Mature architecture documents name the tensions explicitly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Mature vs Immature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❌ Immature</a:t>
            </a:r>
          </a:p>
          <a:p>
            <a:pPr lvl="0" indent="0" marL="0">
              <a:buNone/>
            </a:pPr>
            <a:r>
              <a:rPr/>
              <a:t>“We considered microservices but chose monolith.”</a:t>
            </a:r>
          </a:p>
          <a:p>
            <a:pPr lvl="0" indent="0" marL="0">
              <a:buNone/>
            </a:pPr>
            <a:r>
              <a:rPr/>
              <a:t>Description, not trade-off.</a:t>
            </a:r>
          </a:p>
          <a:p>
            <a:pPr lvl="0" indent="0" marL="0">
              <a:buNone/>
            </a:pPr>
            <a:r>
              <a:rPr/>
              <a:t>✅ Mature</a:t>
            </a:r>
          </a:p>
          <a:p>
            <a:pPr lvl="0" indent="0" marL="0">
              <a:buNone/>
            </a:pPr>
            <a:r>
              <a:rPr/>
              <a:t>“Option A: modular monolith. Option B: extract reconcile into a service. We chose A. Accepted cost: future extraction needs coordinated refactor. Revisit if traffic exceeds 5× rest-of-app or a second team contributes.”</a:t>
            </a:r>
          </a:p>
          <a:p>
            <a:pPr lvl="0" indent="0" marL="0">
              <a:buNone/>
            </a:pPr>
            <a:r>
              <a:rPr/>
              <a:t>The pattern: Option A vs Option B → choice → accepted cost → revisit trigger.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📚 Five Categories of Architectural Trade-Off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Category</a:t>
            </a:r>
          </a:p>
          <a:p>
            <a:pPr lvl="0" indent="0" marL="0">
              <a:buNone/>
            </a:pPr>
            <a:r>
              <a:rPr/>
              <a:t>Example tension</a:t>
            </a:r>
          </a:p>
          <a:p>
            <a:pPr lvl="0" indent="0" marL="0">
              <a:buNone/>
            </a:pPr>
            <a:r>
              <a:rPr/>
              <a:t>Coupling vs independence</a:t>
            </a:r>
          </a:p>
          <a:p>
            <a:pPr lvl="0" indent="0" marL="0">
              <a:buNone/>
            </a:pPr>
            <a:r>
              <a:rPr/>
              <a:t>Module in monolith vs new service</a:t>
            </a:r>
          </a:p>
          <a:p>
            <a:pPr lvl="0" indent="0" marL="0">
              <a:buNone/>
            </a:pPr>
            <a:r>
              <a:rPr/>
              <a:t>Consistency vs availability</a:t>
            </a:r>
          </a:p>
          <a:p>
            <a:pPr lvl="0" indent="0" marL="0">
              <a:buNone/>
            </a:pPr>
            <a:r>
              <a:rPr/>
              <a:t>Strong-consistency reads vs replica reads</a:t>
            </a:r>
          </a:p>
          <a:p>
            <a:pPr lvl="0" indent="0" marL="0">
              <a:buNone/>
            </a:pPr>
            <a:r>
              <a:rPr/>
              <a:t>Latency vs durability</a:t>
            </a:r>
          </a:p>
          <a:p>
            <a:pPr lvl="0" indent="0" marL="0">
              <a:buNone/>
            </a:pPr>
            <a:r>
              <a:rPr/>
              <a:t>Sync write vs async with retry</a:t>
            </a:r>
          </a:p>
          <a:p>
            <a:pPr lvl="0" indent="0" marL="0">
              <a:buNone/>
            </a:pPr>
            <a:r>
              <a:rPr/>
              <a:t>Speed vs robustness</a:t>
            </a:r>
          </a:p>
          <a:p>
            <a:pPr lvl="0" indent="0" marL="0">
              <a:buNone/>
            </a:pPr>
            <a:r>
              <a:rPr/>
              <a:t>Ship happy path now, harden later</a:t>
            </a:r>
          </a:p>
          <a:p>
            <a:pPr lvl="0" indent="0" marL="0">
              <a:buNone/>
            </a:pPr>
            <a:r>
              <a:rPr/>
              <a:t>Generality vs simplicity</a:t>
            </a:r>
          </a:p>
          <a:p>
            <a:pPr lvl="0" indent="0" marL="0">
              <a:buNone/>
            </a:pPr>
            <a:r>
              <a:rPr/>
              <a:t>Build the generic capability or just this case</a:t>
            </a:r>
          </a:p>
          <a:p>
            <a:pPr lvl="0" indent="0" marL="0">
              <a:buNone/>
            </a:pPr>
            <a:r>
              <a:rPr/>
              <a:t>Aim: top-5 trade-offs span at least 3 categories. All in one category usually missed real tensions.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Surface Trade-Offs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Brainstorm 8–10 candidates from §§1–4. Categorize. Cull to 5 finalists. Rough out structure.</a:t>
            </a:r>
          </a:p>
          <a:p>
            <a:pPr lvl="0" indent="0" marL="0">
              <a:buNone/>
            </a:pPr>
            <a:r>
              <a:rPr/>
              <a:t>15 min: brainstorm 8–10</a:t>
            </a:r>
          </a:p>
          <a:p>
            <a:pPr lvl="0" indent="0" marL="0">
              <a:buNone/>
            </a:pPr>
            <a:r>
              <a:rPr/>
              <a:t>5 min: categorize</a:t>
            </a:r>
          </a:p>
          <a:p>
            <a:pPr lvl="0" indent="0" marL="0">
              <a:buNone/>
            </a:pPr>
            <a:r>
              <a:rPr/>
              <a:t>10 min: cull to 5</a:t>
            </a:r>
          </a:p>
          <a:p>
            <a:pPr lvl="0" indent="0" marL="0">
              <a:buNone/>
            </a:pPr>
            <a:r>
              <a:rPr/>
              <a:t>5 min: rough Option A / B / Choice / Cost / Trigger</a:t>
            </a:r>
          </a:p>
          <a:p>
            <a:pPr lvl="0" indent="0" marL="0">
              <a:buNone/>
            </a:pPr>
            <a:r>
              <a:rPr/>
              <a:t>⏱ 15 + 5 + 10 + 5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Write the Top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Final TCD §5 prose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The Trade-Off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“Accepted cost: complexity” is vague. Force concreteness: maintenance burden, debugging difficulty, on-call exposure.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📝 Worked Trade-Off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Write the Top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solo drafts (each member writes 2)</a:t>
            </a:r>
          </a:p>
          <a:p>
            <a:pPr lvl="0" indent="0" marL="0">
              <a:buNone/>
            </a:pPr>
            <a:r>
              <a:rPr/>
              <a:t>15 min: pool + refine</a:t>
            </a:r>
          </a:p>
          <a:p>
            <a:pPr lvl="0" indent="0" marL="0">
              <a:buNone/>
            </a:pPr>
            <a:r>
              <a:rPr/>
              <a:t>10 min: consistency check — do trade-offs contradict each other?</a:t>
            </a:r>
          </a:p>
          <a:p>
            <a:pPr lvl="0" indent="0" marL="0">
              <a:buNone/>
            </a:pPr>
            <a:r>
              <a:rPr/>
              <a:t>⏱ 15 + 15 + 10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Stakeholder Sign-Off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 constraint without an owner is a constraint nobody implements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Sign-Off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#</a:t>
            </a:r>
          </a:p>
          <a:p>
            <a:pPr lvl="0" indent="0" marL="0">
              <a:buNone/>
            </a:pPr>
            <a:r>
              <a:rPr/>
              <a:t>Constraint (link)</a:t>
            </a:r>
          </a:p>
          <a:p>
            <a:pPr lvl="0" indent="0" marL="0">
              <a:buNone/>
            </a:pPr>
            <a:r>
              <a:rPr/>
              <a:t>Stakeholder</a:t>
            </a:r>
          </a:p>
          <a:p>
            <a:pPr lvl="0" indent="0" marL="0">
              <a:buNone/>
            </a:pPr>
            <a:r>
              <a:rPr/>
              <a:t>Status</a:t>
            </a:r>
          </a:p>
          <a:p>
            <a:pPr lvl="0" indent="0" marL="0">
              <a:buNone/>
            </a:pPr>
            <a:r>
              <a:rPr/>
              <a:t>Next step</a:t>
            </a:r>
          </a:p>
          <a:p>
            <a:pPr lvl="0" indent="0" marL="0">
              <a:buNone/>
            </a:pPr>
            <a:r>
              <a:rPr/>
              <a:t>1</a:t>
            </a:r>
          </a:p>
          <a:p>
            <a:pPr lvl="0" indent="0" marL="0">
              <a:buNone/>
            </a:pPr>
            <a:r>
              <a:rPr/>
              <a:t>§1 Architecture stance</a:t>
            </a:r>
          </a:p>
          <a:p>
            <a:pPr lvl="0" indent="0" marL="0">
              <a:buNone/>
            </a:pPr>
            <a:r>
              <a:rPr/>
              <a:t>Lin (Architect)</a:t>
            </a:r>
          </a:p>
          <a:p>
            <a:pPr lvl="0" indent="0" marL="0">
              <a:buNone/>
            </a:pPr>
            <a:r>
              <a:rPr/>
              <a:t>Proposed</a:t>
            </a:r>
          </a:p>
          <a:p>
            <a:pPr lvl="0" indent="0" marL="0">
              <a:buNone/>
            </a:pPr>
            <a:r>
              <a:rPr/>
              <a:t>30-min walkthrough</a:t>
            </a:r>
          </a:p>
          <a:p>
            <a:pPr lvl="0" indent="0" marL="0">
              <a:buNone/>
            </a:pPr>
            <a:r>
              <a:rPr/>
              <a:t>2</a:t>
            </a:r>
          </a:p>
          <a:p>
            <a:pPr lvl="0" indent="0" marL="0">
              <a:buNone/>
            </a:pPr>
            <a:r>
              <a:rPr/>
              <a:t>§3 Threat model</a:t>
            </a:r>
          </a:p>
          <a:p>
            <a:pPr lvl="0" indent="0" marL="0">
              <a:buNone/>
            </a:pPr>
            <a:r>
              <a:rPr/>
              <a:t>Pat (Security lead)</a:t>
            </a:r>
          </a:p>
          <a:p>
            <a:pPr lvl="0" indent="0" marL="0">
              <a:buNone/>
            </a:pPr>
            <a:r>
              <a:rPr/>
              <a:t>Proposed</a:t>
            </a:r>
          </a:p>
          <a:p>
            <a:pPr lvl="0" indent="0" marL="0">
              <a:buNone/>
            </a:pPr>
            <a:r>
              <a:rPr/>
              <a:t>Send brief + 30-min walk</a:t>
            </a:r>
          </a:p>
          <a:p>
            <a:pPr lvl="0" indent="0" marL="0">
              <a:buNone/>
            </a:pPr>
            <a:r>
              <a:rPr/>
              <a:t>3</a:t>
            </a:r>
          </a:p>
          <a:p>
            <a:pPr lvl="0" indent="0" marL="0">
              <a:buNone/>
            </a:pPr>
            <a:r>
              <a:rPr/>
              <a:t>§3 SOC 2 retention</a:t>
            </a:r>
          </a:p>
          <a:p>
            <a:pPr lvl="0" indent="0" marL="0">
              <a:buNone/>
            </a:pPr>
            <a:r>
              <a:rPr/>
              <a:t>Sam (Compliance)</a:t>
            </a:r>
          </a:p>
          <a:p>
            <a:pPr lvl="0" indent="0" marL="0">
              <a:buNone/>
            </a:pPr>
            <a:r>
              <a:rPr/>
              <a:t>Proposed</a:t>
            </a:r>
          </a:p>
          <a:p>
            <a:pPr lvl="0" indent="0" marL="0">
              <a:buNone/>
            </a:pPr>
            <a:r>
              <a:rPr/>
              <a:t>Email + 15-min sync</a:t>
            </a:r>
          </a:p>
          <a:p>
            <a:pPr lvl="0" indent="0" marL="0">
              <a:buNone/>
            </a:pPr>
            <a:r>
              <a:rPr/>
              <a:t>4</a:t>
            </a:r>
          </a:p>
          <a:p>
            <a:pPr lvl="0" indent="0" marL="0">
              <a:buNone/>
            </a:pPr>
            <a:r>
              <a:rPr/>
              <a:t>§4 Latency SLO</a:t>
            </a:r>
          </a:p>
          <a:p>
            <a:pPr lvl="0" indent="0" marL="0">
              <a:buNone/>
            </a:pPr>
            <a:r>
              <a:rPr/>
              <a:t>Kim (Eng lead)</a:t>
            </a:r>
          </a:p>
          <a:p>
            <a:pPr lvl="0" indent="0" marL="0">
              <a:buNone/>
            </a:pPr>
            <a:r>
              <a:rPr/>
              <a:t>Discussed</a:t>
            </a:r>
          </a:p>
          <a:p>
            <a:pPr lvl="0" indent="0" marL="0">
              <a:buNone/>
            </a:pPr>
            <a:r>
              <a:rPr/>
              <a:t>Confirm sprint review</a:t>
            </a:r>
          </a:p>
          <a:p>
            <a:pPr lvl="0" indent="0" marL="0">
              <a:buNone/>
            </a:pPr>
            <a:r>
              <a:rPr/>
              <a:t>5</a:t>
            </a:r>
          </a:p>
          <a:p>
            <a:pPr lvl="0" indent="0" marL="0">
              <a:buNone/>
            </a:pPr>
            <a:r>
              <a:rPr/>
              <a:t>§4 Rate-limit policy</a:t>
            </a:r>
          </a:p>
          <a:p>
            <a:pPr lvl="0" indent="0" marL="0">
              <a:buNone/>
            </a:pPr>
            <a:r>
              <a:rPr/>
              <a:t>Jamie (Platform)</a:t>
            </a:r>
          </a:p>
          <a:p>
            <a:pPr lvl="0" indent="0" marL="0">
              <a:buNone/>
            </a:pPr>
            <a:r>
              <a:rPr/>
              <a:t>Proposed</a:t>
            </a:r>
          </a:p>
          <a:p>
            <a:pPr lvl="0" indent="0" marL="0">
              <a:buNone/>
            </a:pPr>
            <a:r>
              <a:rPr/>
              <a:t>Slack + review</a:t>
            </a:r>
          </a:p>
          <a:p>
            <a:pPr lvl="0" indent="0" marL="0">
              <a:buNone/>
            </a:pPr>
            <a:r>
              <a:rPr/>
              <a:t>6</a:t>
            </a:r>
          </a:p>
          <a:p>
            <a:pPr lvl="0" indent="0" marL="0">
              <a:buNone/>
            </a:pPr>
            <a:r>
              <a:rPr/>
              <a:t>§5 Trade-off 1</a:t>
            </a:r>
          </a:p>
          <a:p>
            <a:pPr lvl="0" indent="0" marL="0">
              <a:buNone/>
            </a:pPr>
            <a:r>
              <a:rPr/>
              <a:t>Lin (Architect)</a:t>
            </a:r>
          </a:p>
          <a:p>
            <a:pPr lvl="0" indent="0" marL="0">
              <a:buNone/>
            </a:pPr>
            <a:r>
              <a:rPr/>
              <a:t>Proposed</a:t>
            </a:r>
          </a:p>
          <a:p>
            <a:pPr lvl="0" indent="0" marL="0">
              <a:buNone/>
            </a:pPr>
            <a:r>
              <a:rPr/>
              <a:t>Same as #1</a:t>
            </a:r>
          </a:p>
          <a:p>
            <a:pPr lvl="0" indent="0" marL="0">
              <a:buNone/>
            </a:pPr>
            <a:r>
              <a:rPr/>
              <a:t>7</a:t>
            </a:r>
          </a:p>
          <a:p>
            <a:pPr lvl="0" indent="0" marL="0">
              <a:buNone/>
            </a:pPr>
            <a:r>
              <a:rPr/>
              <a:t>SSO scope addition</a:t>
            </a:r>
          </a:p>
          <a:p>
            <a:pPr lvl="0" indent="0" marL="0">
              <a:buNone/>
            </a:pPr>
            <a:r>
              <a:rPr/>
              <a:t>Casey (Identity)</a:t>
            </a:r>
          </a:p>
          <a:p>
            <a:pPr lvl="0" indent="0" marL="0">
              <a:buNone/>
            </a:pPr>
            <a:r>
              <a:rPr/>
              <a:t>Confirmed</a:t>
            </a:r>
          </a:p>
          <a:p>
            <a:pPr lvl="0" indent="0" marL="0">
              <a:buNone/>
            </a:pPr>
            <a:r>
              <a:rPr/>
              <a:t>None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Status Values (be honest)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Status</a:t>
            </a:r>
          </a:p>
          <a:p>
            <a:pPr lvl="0" indent="0" marL="0">
              <a:buNone/>
            </a:pPr>
            <a:r>
              <a:rPr/>
              <a:t>Meaning</a:t>
            </a:r>
          </a:p>
          <a:p>
            <a:pPr lvl="0" indent="0" marL="0">
              <a:buNone/>
            </a:pPr>
            <a:r>
              <a:rPr/>
              <a:t>Proposed</a:t>
            </a:r>
          </a:p>
          <a:p>
            <a:pPr lvl="0" indent="0" marL="0">
              <a:buNone/>
            </a:pPr>
            <a:r>
              <a:rPr/>
              <a:t>TPM has drafted; stakeholder hasn’t reacted</a:t>
            </a:r>
          </a:p>
          <a:p>
            <a:pPr lvl="0" indent="0" marL="0">
              <a:buNone/>
            </a:pPr>
            <a:r>
              <a:rPr/>
              <a:t>Discussed</a:t>
            </a:r>
          </a:p>
          <a:p>
            <a:pPr lvl="0" indent="0" marL="0">
              <a:buNone/>
            </a:pPr>
            <a:r>
              <a:rPr/>
              <a:t>Conversation happened; no formal sign-off</a:t>
            </a:r>
          </a:p>
          <a:p>
            <a:pPr lvl="0" indent="0" marL="0">
              <a:buNone/>
            </a:pPr>
            <a:r>
              <a:rPr/>
              <a:t>Approved</a:t>
            </a:r>
          </a:p>
          <a:p>
            <a:pPr lvl="0" indent="0" marL="0">
              <a:buNone/>
            </a:pPr>
            <a:r>
              <a:rPr/>
              <a:t>Stakeholder said yes (capture how)</a:t>
            </a:r>
          </a:p>
          <a:p>
            <a:pPr lvl="0" indent="0" marL="0">
              <a:buNone/>
            </a:pPr>
            <a:r>
              <a:rPr/>
              <a:t>Blocked</a:t>
            </a:r>
          </a:p>
          <a:p>
            <a:pPr lvl="0" indent="0" marL="0">
              <a:buNone/>
            </a:pPr>
            <a:r>
              <a:rPr/>
              <a:t>Pushback; needs different proposal</a:t>
            </a:r>
          </a:p>
          <a:p>
            <a:pPr lvl="0" indent="0" marL="0">
              <a:buNone/>
            </a:pPr>
            <a:r>
              <a:rPr/>
              <a:t>Most entries should be Proposed today. That’s honest. The matrix is the action list for Week 6.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Sign-Off Matrix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15 min: list every constraint needing sign-off</a:t>
            </a:r>
          </a:p>
          <a:p>
            <a:pPr lvl="0" indent="0" marL="0">
              <a:buNone/>
            </a:pPr>
            <a:r>
              <a:rPr/>
              <a:t>10 min: assign a real person per row</a:t>
            </a:r>
          </a:p>
          <a:p>
            <a:pPr lvl="0" indent="0" marL="0">
              <a:buNone/>
            </a:pPr>
            <a:r>
              <a:rPr/>
              <a:t>10 min: set the “next step” for each</a:t>
            </a:r>
          </a:p>
          <a:p>
            <a:pPr lvl="0" indent="0" marL="0">
              <a:buNone/>
            </a:pPr>
            <a:r>
              <a:rPr/>
              <a:t>5 min: status sanity check (most should be Proposed)</a:t>
            </a:r>
          </a:p>
          <a:p>
            <a:pPr lvl="0" indent="0" marL="0">
              <a:buNone/>
            </a:pPr>
            <a:r>
              <a:rPr/>
              <a:t>⏱ 15 + 10 + 10 + 5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Integration + Cross-Review +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Read top to bottom; pair-review; ship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The Integration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Check</a:t>
            </a:r>
          </a:p>
          <a:p>
            <a:pPr lvl="0" indent="0" marL="0">
              <a:buNone/>
            </a:pPr>
            <a:r>
              <a:rPr/>
              <a:t>Pass criterion</a:t>
            </a:r>
          </a:p>
          <a:p>
            <a:pPr lvl="0" indent="0" marL="0">
              <a:buNone/>
            </a:pPr>
            <a:r>
              <a:rPr/>
              <a:t>§1 stance ↔ §2 diagrams</a:t>
            </a:r>
          </a:p>
          <a:p>
            <a:pPr lvl="0" indent="0" marL="0">
              <a:buNone/>
            </a:pPr>
            <a:r>
              <a:rPr/>
              <a:t>Stance shows as expected container layout</a:t>
            </a:r>
          </a:p>
          <a:p>
            <a:pPr lvl="0" indent="0" marL="0">
              <a:buNone/>
            </a:pPr>
            <a:r>
              <a:rPr/>
              <a:t>§2 integrations ↔ §3 threats</a:t>
            </a:r>
          </a:p>
          <a:p>
            <a:pPr lvl="0" indent="0" marL="0">
              <a:buNone/>
            </a:pPr>
            <a:r>
              <a:rPr/>
              <a:t>Every boundary covered or explicitly out-of-scope</a:t>
            </a:r>
          </a:p>
          <a:p>
            <a:pPr lvl="0" indent="0" marL="0">
              <a:buNone/>
            </a:pPr>
            <a:r>
              <a:rPr/>
              <a:t>§3 NFRs ↔ §4 SLOs</a:t>
            </a:r>
          </a:p>
          <a:p>
            <a:pPr lvl="0" indent="0" marL="0">
              <a:buNone/>
            </a:pPr>
            <a:r>
              <a:rPr/>
              <a:t>Conflicts surface as §5 trade-offs</a:t>
            </a:r>
          </a:p>
          <a:p>
            <a:pPr lvl="0" indent="0" marL="0">
              <a:buNone/>
            </a:pPr>
            <a:r>
              <a:rPr/>
              <a:t>§4 SLOs ↔ §5 trade-offs</a:t>
            </a:r>
          </a:p>
          <a:p>
            <a:pPr lvl="0" indent="0" marL="0">
              <a:buNone/>
            </a:pPr>
            <a:r>
              <a:rPr/>
              <a:t>Latency cost appears in §5 if accepted</a:t>
            </a:r>
          </a:p>
          <a:p>
            <a:pPr lvl="0" indent="0" marL="0">
              <a:buNone/>
            </a:pPr>
            <a:r>
              <a:rPr/>
              <a:t>§§1–5 ↔ §6 stakeholders</a:t>
            </a:r>
          </a:p>
          <a:p>
            <a:pPr lvl="0" indent="0" marL="0">
              <a:buNone/>
            </a:pPr>
            <a:r>
              <a:rPr/>
              <a:t>Every load-bearing decision has an owner</a:t>
            </a:r>
          </a:p>
          <a:p>
            <a:pPr lvl="0" indent="0" marL="0">
              <a:buNone/>
            </a:pPr>
            <a:r>
              <a:rPr/>
              <a:t>No fortune-cookie prose</a:t>
            </a:r>
          </a:p>
          <a:p>
            <a:pPr lvl="0" indent="0" marL="0">
              <a:buNone/>
            </a:pPr>
            <a:r>
              <a:rPr/>
              <a:t>Specific to this feature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🔎 Cross-Review Focus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 each trade-off really a trade-off, or just a description?</a:t>
            </a:r>
          </a:p>
          <a:p>
            <a:pPr lvl="0" indent="0" marL="0">
              <a:buNone/>
            </a:pPr>
            <a:r>
              <a:rPr/>
              <a:t>Does the stakeholder matrix have obvious gaps?</a:t>
            </a:r>
          </a:p>
          <a:p>
            <a:pPr lvl="0" indent="0" marL="0">
              <a:buNone/>
            </a:pPr>
            <a:r>
              <a:rPr/>
              <a:t>Are SLOs and trade-offs internally consistent?</a:t>
            </a:r>
          </a:p>
          <a:p>
            <a:pPr lvl="0" indent="0" marL="0">
              <a:buNone/>
            </a:pPr>
            <a:r>
              <a:rPr/>
              <a:t>Reviewer rubric (for scoring):</a:t>
            </a:r>
          </a:p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Weight</a:t>
            </a:r>
          </a:p>
          <a:p>
            <a:pPr lvl="0" indent="0" marL="0">
              <a:buNone/>
            </a:pPr>
            <a:r>
              <a:rPr/>
              <a:t>Stance defensibility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Threat-model rigor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Component clarity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SLO realism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Trade-off honesty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Stakeholder map</a:t>
            </a:r>
          </a:p>
          <a:p>
            <a:pPr lvl="0" indent="0" marL="0">
              <a:buNone/>
            </a:pPr>
            <a:r>
              <a:rPr/>
              <a:t>10%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Integration + Cross-Review + Sign-Off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45 minutes • Wrap</a:t>
            </a:r>
          </a:p>
          <a:p>
            <a:pPr lvl="0" indent="0" marL="0">
              <a:buNone/>
            </a:pPr>
            <a:r>
              <a:rPr/>
              <a:t>10 min: integration pass (solo + pool)</a:t>
            </a:r>
          </a:p>
          <a:p>
            <a:pPr lvl="0" indent="0" marL="0">
              <a:buNone/>
            </a:pPr>
            <a:r>
              <a:rPr/>
              <a:t>20 min: cross-review with another triad (rubric)</a:t>
            </a:r>
          </a:p>
          <a:p>
            <a:pPr lvl="0" indent="0" marL="0">
              <a:buNone/>
            </a:pPr>
            <a:r>
              <a:rPr/>
              <a:t>15 min: adopt / defer / reject + revise + internal sign-off</a:t>
            </a:r>
          </a:p>
          <a:p>
            <a:pPr lvl="0" indent="0" marL="0">
              <a:buNone/>
            </a:pPr>
            <a:r>
              <a:rPr/>
              <a:t>⏱ 10 + 20 + 15 · 15-min wrap-share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Week 4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shipped this week</a:t>
            </a:r>
          </a:p>
          <a:p>
            <a:pPr lvl="0" indent="0" marL="0">
              <a:buNone/>
            </a:pPr>
            <a:r>
              <a:rPr/>
              <a:t>Architecture stance with revisit trigger</a:t>
            </a:r>
          </a:p>
          <a:p>
            <a:pPr lvl="0" indent="0" marL="0">
              <a:buNone/>
            </a:pPr>
            <a:r>
              <a:rPr/>
              <a:t>Integration map + C4 diagrams</a:t>
            </a:r>
          </a:p>
          <a:p>
            <a:pPr lvl="0" indent="0" marL="0">
              <a:buNone/>
            </a:pPr>
            <a:r>
              <a:rPr/>
              <a:t>STRIDE threat model + revised security NFRs</a:t>
            </a:r>
          </a:p>
          <a:p>
            <a:pPr lvl="0" indent="0" marL="0">
              <a:buNone/>
            </a:pPr>
            <a:r>
              <a:rPr/>
              <a:t>Three SLOs + latency budget + rate limits</a:t>
            </a:r>
          </a:p>
          <a:p>
            <a:pPr lvl="0" indent="0" marL="0">
              <a:buNone/>
            </a:pPr>
            <a:r>
              <a:rPr/>
              <a:t>Top 5 trade-offs</a:t>
            </a:r>
          </a:p>
          <a:p>
            <a:pPr lvl="0" indent="0" marL="0">
              <a:buNone/>
            </a:pPr>
            <a:r>
              <a:rPr/>
              <a:t>Stakeholder sign-off matrix</a:t>
            </a:r>
          </a:p>
          <a:p>
            <a:pPr lvl="0" indent="0" marL="0">
              <a:buNone/>
            </a:pPr>
            <a:r>
              <a:rPr/>
              <a:t>Integrated TCD — sibling to PRD</a:t>
            </a:r>
          </a:p>
          <a:p>
            <a:pPr lvl="0" indent="0" marL="0">
              <a:buNone/>
            </a:pPr>
            <a:r>
              <a:rPr/>
              <a:t>What opens Week 5</a:t>
            </a:r>
          </a:p>
          <a:p>
            <a:pPr lvl="0" indent="0" marL="0">
              <a:buNone/>
            </a:pPr>
            <a:r>
              <a:rPr/>
              <a:t>Technical Infrastructure &amp; Modeling</a:t>
            </a:r>
          </a:p>
          <a:p>
            <a:pPr lvl="0" indent="0" marL="0">
              <a:buNone/>
            </a:pPr>
            <a:r>
              <a:rPr/>
              <a:t>Databases &amp; data logic</a:t>
            </a:r>
          </a:p>
          <a:p>
            <a:pPr lvl="0" indent="0" marL="0">
              <a:buNone/>
            </a:pPr>
            <a:r>
              <a:rPr/>
              <a:t>Cloud architecture</a:t>
            </a:r>
          </a:p>
          <a:p>
            <a:pPr lvl="0" indent="0" marL="0">
              <a:buNone/>
            </a:pPr>
            <a:r>
              <a:rPr/>
              <a:t>REST &amp; SOAP APIs</a:t>
            </a:r>
          </a:p>
          <a:p>
            <a:pPr lvl="0" indent="0" marL="0">
              <a:buNone/>
            </a:pPr>
            <a:r>
              <a:rPr/>
              <a:t>Performance baselines &amp; monitoring</a:t>
            </a:r>
          </a:p>
          <a:p>
            <a:pPr lvl="0" indent="0" marL="0">
              <a:buNone/>
            </a:pPr>
            <a:r>
              <a:rPr/>
              <a:t>TCD becomes the spine</a:t>
            </a:r>
          </a:p>
          <a:p>
            <a:pPr lvl="0" indent="0" marL="0">
              <a:buNone/>
            </a:pPr>
            <a:r>
              <a:rPr/>
              <a:t>Bring to Monday: Your TCD + your PRD. The TCD’s component map drives Week 5’s data modeling; the SLOs drive performance baselines.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Which of your trade-offs would you change if a senior architect spent 30 minutes with you?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2026-05-15T23:22:08Z</dcterms:created>
  <dcterms:modified xsi:type="dcterms:W3CDTF">2026-05-15T23:22:08Z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