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TPM is not the security expert. The job is to drive the right conversation with security and produce a starting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produces TCD §3 — supersedes PRD §7’s first-draft security NFRs.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apply → rewrite NFRs →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STRIDE is the shared vocabulary security teams use. Walk all six letters before triads apply them — half-applied STRIDE is worse than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threat list has 0 R’s, push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arrow + box, the triad asks each letter. Most arrows have S+T+I; most boxes have T+R+I. Not exhaustive —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will miss Repudiation on the magic-link step. Surface that finding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now STRIDE their actual feature. Push past S and I — T and R are usually the most-missed and the highest-value threats to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specificity. Boilerplate mitigations don’t survive a security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pattern: a threat is one sentence, mitigation is concrete + tied to an NFR. The combination is the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at least 2 of 5 not S or I (the easy ones). T and R are usually the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converts threat findings into rewritten NFRs. Compliance frames (PII, audit, retention) often need first drafts here; coach without rescuing.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TPMs will encounter SOC 2 + a privacy regime. The third varies. Surface this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should keep their PRD §7 in place — but reference the TCD §3 as the authoritative version for the architecture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skipped Compliance NFRs in Week 3 will struggle here. Coach without rescuing.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security brief is the deliverable security partners actually want before a review. Triads draft the one-pager so the conversation starts at “your top three” rather than “what’s the feature.”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that says “we don’t know anything; please tell us” is unhelpful to the security team and signals a passive TPM.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this prompt to the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surprising threat, 1 NFR that changed materially, 1 question for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STRIDE letter they’ll never forget to apply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the STRIDE-only find anchors the framework’s value. Tomorrow turns the integration table and threats into component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🔒 System Security &amp; Compliance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2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the STRIDE threat-model to a feature’s data flow</a:t>
            </a:r>
          </a:p>
          <a:p>
            <a:pPr lvl="0" indent="0" marL="0">
              <a:buNone/>
            </a:pPr>
            <a:r>
              <a:rPr/>
              <a:t>Walk a data-flow diagram: arrows (in motion) + boxes (at rest)</a:t>
            </a:r>
          </a:p>
          <a:p>
            <a:pPr lvl="0" indent="0" marL="0">
              <a:buNone/>
            </a:pPr>
            <a:r>
              <a:rPr/>
              <a:t>Recognize the three compliance frames: SOC 2, privacy, industry-specific</a:t>
            </a:r>
          </a:p>
          <a:p>
            <a:pPr lvl="0" indent="0" marL="0">
              <a:buNone/>
            </a:pPr>
            <a:r>
              <a:rPr/>
              <a:t>Rewrite the Week-3 first-draft security NFRs at architecture level</a:t>
            </a:r>
          </a:p>
          <a:p>
            <a:pPr lvl="0" indent="0" marL="0">
              <a:buNone/>
            </a:pPr>
            <a:r>
              <a:rPr/>
              <a:t>Produce a security brief ready for a security-team conversation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§§1–2; print STRIDE card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STRIDE calibration on a public example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STRIDE pass on your PRD feature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Compliance frame + updated NFRs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Security brief + AI cross-check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Six letters, six categories of threat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Six Letters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Letter</a:t>
            </a:r>
          </a:p>
          <a:p>
            <a:pPr lvl="0" indent="0" marL="0">
              <a:buNone/>
            </a:pPr>
            <a:r>
              <a:rPr/>
              <a:t>Threat</a:t>
            </a:r>
          </a:p>
          <a:p>
            <a:pPr lvl="0" indent="0" marL="0">
              <a:buNone/>
            </a:pPr>
            <a:r>
              <a:rPr/>
              <a:t>Plain language</a:t>
            </a:r>
          </a:p>
          <a:p>
            <a:pPr lvl="0" indent="0" marL="0">
              <a:buNone/>
            </a:pPr>
            <a:r>
              <a:rPr/>
              <a:t>S</a:t>
            </a:r>
          </a:p>
          <a:p>
            <a:pPr lvl="0" indent="0" marL="0">
              <a:buNone/>
            </a:pPr>
            <a:r>
              <a:rPr/>
              <a:t>Spoofing</a:t>
            </a:r>
          </a:p>
          <a:p>
            <a:pPr lvl="0" indent="0" marL="0">
              <a:buNone/>
            </a:pPr>
            <a:r>
              <a:rPr/>
              <a:t>Pretending to be someone you aren’t</a:t>
            </a:r>
          </a:p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buNone/>
            </a:pPr>
            <a:r>
              <a:rPr/>
              <a:t>Tampering</a:t>
            </a:r>
          </a:p>
          <a:p>
            <a:pPr lvl="0" indent="0" marL="0">
              <a:buNone/>
            </a:pPr>
            <a:r>
              <a:rPr/>
              <a:t>Changing data without authorization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Repudiation</a:t>
            </a:r>
          </a:p>
          <a:p>
            <a:pPr lvl="0" indent="0" marL="0">
              <a:buNone/>
            </a:pPr>
            <a:r>
              <a:rPr/>
              <a:t>Denying you did something you did</a:t>
            </a:r>
          </a:p>
          <a:p>
            <a:pPr lvl="0" indent="0" marL="0">
              <a:buNone/>
            </a:pPr>
            <a:r>
              <a:rPr/>
              <a:t>I</a:t>
            </a:r>
          </a:p>
          <a:p>
            <a:pPr lvl="0" indent="0" marL="0">
              <a:buNone/>
            </a:pPr>
            <a:r>
              <a:rPr/>
              <a:t>Information disclosure</a:t>
            </a:r>
          </a:p>
          <a:p>
            <a:pPr lvl="0" indent="0" marL="0">
              <a:buNone/>
            </a:pPr>
            <a:r>
              <a:rPr/>
              <a:t>Exposing data to wrong party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Denial of service</a:t>
            </a:r>
          </a:p>
          <a:p>
            <a:pPr lvl="0" indent="0" marL="0">
              <a:buNone/>
            </a:pPr>
            <a:r>
              <a:rPr/>
              <a:t>Blocking legitimate use</a:t>
            </a:r>
          </a:p>
          <a:p>
            <a:pPr lvl="0" indent="0" marL="0">
              <a:buNone/>
            </a:pPr>
            <a:r>
              <a:rPr/>
              <a:t>E</a:t>
            </a:r>
          </a:p>
          <a:p>
            <a:pPr lvl="0" indent="0" marL="0">
              <a:buNone/>
            </a:pPr>
            <a:r>
              <a:rPr/>
              <a:t>Elevation of privilege</a:t>
            </a:r>
          </a:p>
          <a:p>
            <a:pPr lvl="0" indent="0" marL="0">
              <a:buNone/>
            </a:pPr>
            <a:r>
              <a:rPr/>
              <a:t>Doing more than your role allows</a:t>
            </a:r>
          </a:p>
          <a:p>
            <a:pPr lvl="0" indent="0" marL="0">
              <a:buNone/>
            </a:pPr>
            <a:r>
              <a:rPr/>
              <a:t>Most-missed letter: Repudiation. The least intuitive. Teams that build features without audit trails routinely miss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Data-Flow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threat model is a walk along the data flow. Where does data come from, where does it move to, where does it stop, who can read or change it at each step?</a:t>
            </a:r>
          </a:p>
          <a:p>
            <a:pPr lvl="0" indent="0" marL="0">
              <a:buNone/>
            </a:pPr>
            <a:r>
              <a:rPr/>
              <a:t>Threats live at arrows (data in motion)</a:t>
            </a:r>
          </a:p>
          <a:p>
            <a:pPr lvl="0" indent="0" marL="0">
              <a:buNone/>
            </a:pPr>
            <a:r>
              <a:rPr/>
              <a:t>Threats live at boxes (data at rest)</a:t>
            </a:r>
          </a:p>
          <a:p>
            <a:pPr lvl="0" indent="0" marL="0">
              <a:buNone/>
            </a:pPr>
            <a:r>
              <a:rPr/>
              <a:t>Each STRIDE letter applies to one or more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STRIDE on Password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Walk a password-reset flow. Apply STRIDE per step. Cull to top 5 threats.</a:t>
            </a:r>
          </a:p>
          <a:p>
            <a:pPr lvl="0" indent="0" marL="0">
              <a:buNone/>
            </a:pPr>
            <a:r>
              <a:rPr/>
              <a:t>5 min: sketch the flow</a:t>
            </a:r>
          </a:p>
          <a:p>
            <a:pPr lvl="0" indent="0" marL="0">
              <a:buNone/>
            </a:pPr>
            <a:r>
              <a:rPr/>
              <a:t>20 min: STRIDE walk (6 letters per step)</a:t>
            </a:r>
          </a:p>
          <a:p>
            <a:pPr lvl="0" indent="0" marL="0">
              <a:buNone/>
            </a:pPr>
            <a:r>
              <a:rPr/>
              <a:t>10 min: cull to top 5</a:t>
            </a:r>
          </a:p>
          <a:p>
            <a:pPr lvl="0" indent="0" marL="0">
              <a:buNone/>
            </a:pPr>
            <a:r>
              <a:rPr/>
              <a:t>⏱ 5 + 20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STRIDE Your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the calibrated walk to your PRD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Threat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“Use security best practices” is not a mitigation. “Validate JWT signature against IdP-published key, with 5-minute clock skew”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Threat (FieldPulse reconcile)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STRIDE Your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Re-draw the data flow from yesterday’s integration table + PRD §5. Run the STRIDE walk. Document top 5 threats.</a:t>
            </a:r>
          </a:p>
          <a:p>
            <a:pPr lvl="0" indent="0" marL="0">
              <a:buNone/>
            </a:pPr>
            <a:r>
              <a:rPr/>
              <a:t>10 min: re-draw data flow</a:t>
            </a:r>
          </a:p>
          <a:p>
            <a:pPr lvl="0" indent="0" marL="0">
              <a:buNone/>
            </a:pPr>
            <a:r>
              <a:rPr/>
              <a:t>20 min: STRIDE walk</a:t>
            </a:r>
          </a:p>
          <a:p>
            <a:pPr lvl="0" indent="0" marL="0">
              <a:buNone/>
            </a:pPr>
            <a:r>
              <a:rPr/>
              <a:t>10 min: top 5 threats with template</a:t>
            </a:r>
          </a:p>
          <a:p>
            <a:pPr lvl="0" indent="0" marL="0">
              <a:buNone/>
            </a:pPr>
            <a:r>
              <a:rPr/>
              <a:t>⏱ 10 + 20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Compliance +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frames; rewrite the first-draft NFRs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Three Compliance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 2 Type II</a:t>
            </a:r>
          </a:p>
          <a:p>
            <a:pPr lvl="0" indent="0" marL="0">
              <a:buNone/>
            </a:pPr>
            <a:r>
              <a:rPr/>
              <a:t>Operational controls (security, availability, confidentiality, processing integrity, privacy). Most B2B SaaS sales requirement.</a:t>
            </a:r>
          </a:p>
          <a:p>
            <a:pPr lvl="0" indent="0" marL="0">
              <a:buNone/>
            </a:pPr>
            <a:r>
              <a:rPr/>
              <a:t>Privacy regimes</a:t>
            </a:r>
          </a:p>
          <a:p>
            <a:pPr lvl="0" indent="0" marL="0">
              <a:buNone/>
            </a:pPr>
            <a:r>
              <a:rPr/>
              <a:t>GDPR, CCPA, US state privacy laws. Personal data handling, consent, deletion.</a:t>
            </a:r>
          </a:p>
          <a:p>
            <a:pPr lvl="0" indent="0" marL="0">
              <a:buNone/>
            </a:pPr>
            <a:r>
              <a:rPr/>
              <a:t>Industry-specific</a:t>
            </a:r>
          </a:p>
          <a:p>
            <a:pPr lvl="0" indent="0" marL="0">
              <a:buNone/>
            </a:pPr>
            <a:r>
              <a:rPr/>
              <a:t>HIPAA, PCI-DSS, FERPA, SOX, etc. Pulled in by data type or customer industry.</a:t>
            </a:r>
          </a:p>
          <a:p>
            <a:pPr lvl="0" indent="0" marL="0">
              <a:buNone/>
            </a:pPr>
            <a:r>
              <a:rPr/>
              <a:t>The TPM job: not to write the compliance program. Flag which frame applies; drive the conversation with the responsible team.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NFR (first draft)</a:t>
            </a:r>
          </a:p>
          <a:p>
            <a:pPr lvl="0" indent="0" marL="0">
              <a:buNone/>
            </a:pPr>
            <a:r>
              <a:rPr/>
              <a:t>Week 4 update</a:t>
            </a:r>
          </a:p>
          <a:p>
            <a:pPr lvl="0" indent="0" marL="0">
              <a:buNone/>
            </a:pPr>
            <a:r>
              <a:rPr/>
              <a:t>Why</a:t>
            </a:r>
          </a:p>
          <a:p>
            <a:pPr lvl="0" indent="0" marL="0">
              <a:buNone/>
            </a:pPr>
            <a:r>
              <a:rPr/>
              <a:t>“AuthN: SSO required”</a:t>
            </a:r>
          </a:p>
          <a:p>
            <a:pPr lvl="0" indent="0" marL="0">
              <a:buNone/>
            </a:pPr>
            <a:r>
              <a:rPr/>
              <a:t>SAML 2.0 +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Threat model surfaced privilege scope</a:t>
            </a:r>
          </a:p>
          <a:p>
            <a:pPr lvl="0" indent="0" marL="0">
              <a:buNone/>
            </a:pPr>
            <a:r>
              <a:rPr/>
              <a:t>“Audit logging”</a:t>
            </a:r>
          </a:p>
          <a:p>
            <a:pPr lvl="0" indent="0" marL="0">
              <a:buNone/>
            </a:pPr>
            <a:r>
              <a:rPr/>
              <a:t>Specific event list (S/T/R coverage)</a:t>
            </a:r>
          </a:p>
          <a:p>
            <a:pPr lvl="0" indent="0" marL="0">
              <a:buNone/>
            </a:pPr>
            <a:r>
              <a:rPr/>
              <a:t>SOC 2 + Repudiation threats</a:t>
            </a:r>
          </a:p>
          <a:p>
            <a:pPr lvl="0" indent="0" marL="0">
              <a:buNone/>
            </a:pPr>
            <a:r>
              <a:rPr/>
              <a:t>“Encryption”</a:t>
            </a:r>
          </a:p>
          <a:p>
            <a:pPr lvl="0" indent="0" marL="0">
              <a:buNone/>
            </a:pPr>
            <a:r>
              <a:rPr/>
              <a:t>TLS 1.2+ + at-rest managed keys + log redaction</a:t>
            </a:r>
          </a:p>
          <a:p>
            <a:pPr lvl="0" indent="0" marL="0">
              <a:buNone/>
            </a:pPr>
            <a:r>
              <a:rPr/>
              <a:t>Information Disclosure threats</a:t>
            </a:r>
          </a:p>
          <a:p>
            <a:pPr lvl="0" indent="0" marL="0">
              <a:buNone/>
            </a:pPr>
            <a:r>
              <a:rPr/>
              <a:t>(none)</a:t>
            </a:r>
          </a:p>
          <a:p>
            <a:pPr lvl="0" indent="0" marL="0">
              <a:buNone/>
            </a:pPr>
            <a:r>
              <a:rPr/>
              <a:t>Data residency: same region as Tickets</a:t>
            </a:r>
          </a:p>
          <a:p>
            <a:pPr lvl="0" indent="0" marL="0">
              <a:buNone/>
            </a:pPr>
            <a:r>
              <a:rPr/>
              <a:t>Latency + privacy regime</a:t>
            </a:r>
          </a:p>
          <a:p>
            <a:pPr lvl="0" indent="0" marL="0">
              <a:buNone/>
            </a:pPr>
            <a:r>
              <a:rPr/>
              <a:t>The TCD §3 doesn’t replace PRD §7. It deepens it. Both ship.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Compliance +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Identify which frames apply; list the specific controls each requires. Rewrite the security &amp; compliance NFRs.</a:t>
            </a:r>
          </a:p>
          <a:p>
            <a:pPr lvl="0" indent="0" marL="0">
              <a:buNone/>
            </a:pPr>
            <a:r>
              <a:rPr/>
              <a:t>10 min: compliance frame check (SOC 2 / privacy / industry)</a:t>
            </a:r>
          </a:p>
          <a:p>
            <a:pPr lvl="0" indent="0" marL="0">
              <a:buNone/>
            </a:pPr>
            <a:r>
              <a:rPr/>
              <a:t>15 min: list specific controls per frame</a:t>
            </a:r>
          </a:p>
          <a:p>
            <a:pPr lvl="0" indent="0" marL="0">
              <a:buNone/>
            </a:pPr>
            <a:r>
              <a:rPr/>
              <a:t>15 min: rewrite the NFRs (req / defense / verification)</a:t>
            </a:r>
          </a:p>
          <a:p>
            <a:pPr lvl="0" indent="0" marL="0">
              <a:buNone/>
            </a:pPr>
            <a:r>
              <a:rPr/>
              <a:t>⏱ 10 + 15 + 15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The Security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document you’d hand to security before the meeting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Security Brief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Short: security partner reads in 5 min</a:t>
            </a:r>
          </a:p>
          <a:p>
            <a:pPr lvl="0" indent="0" marL="0">
              <a:buNone/>
            </a:pPr>
            <a:r>
              <a:rPr/>
              <a:t>Specific: “open questions” are concrete asks</a:t>
            </a:r>
          </a:p>
          <a:p>
            <a:pPr lvl="0" indent="0" marL="0">
              <a:buNone/>
            </a:pPr>
            <a:r>
              <a:rPr/>
              <a:t>Confident: “decisions made” shows you didn’t outsource thinking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Cross-Check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Cross-validation rule: AI surfaces possibilities; you decide what’s real. Treat output as a list of leads to investigate, not findings to adopt.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Security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5 questions for security; 3 likely pushbacks; draft the 1-page brief; AI cross-check.</a:t>
            </a:r>
          </a:p>
          <a:p>
            <a:pPr lvl="0" indent="0" marL="0">
              <a:buNone/>
            </a:pPr>
            <a:r>
              <a:rPr/>
              <a:t>15 min: 5 questions for security</a:t>
            </a:r>
          </a:p>
          <a:p>
            <a:pPr lvl="0" indent="0" marL="0">
              <a:buNone/>
            </a:pPr>
            <a:r>
              <a:rPr/>
              <a:t>10 min: 3 predicted pushbacks + responses</a:t>
            </a:r>
          </a:p>
          <a:p>
            <a:pPr lvl="0" indent="0" marL="0">
              <a:buNone/>
            </a:pPr>
            <a:r>
              <a:rPr/>
              <a:t>15 min: draft the brief</a:t>
            </a:r>
          </a:p>
          <a:p>
            <a:pPr lvl="0" indent="0" marL="0">
              <a:buNone/>
            </a:pPr>
            <a:r>
              <a:rPr/>
              <a:t>5 min: AI cross-check + provenance note</a:t>
            </a:r>
          </a:p>
          <a:p>
            <a:pPr lvl="0" indent="0" marL="0">
              <a:buNone/>
            </a:pPr>
            <a:r>
              <a:rPr/>
              <a:t>⏱ 15 + 10 + 15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STRIDE walk through your feature’s data flow</a:t>
            </a:r>
          </a:p>
          <a:p>
            <a:pPr lvl="0" indent="0" marL="0">
              <a:buNone/>
            </a:pPr>
            <a:r>
              <a:rPr/>
              <a:t>Top-5 threats with mitigations + owners</a:t>
            </a:r>
          </a:p>
          <a:p>
            <a:pPr lvl="0" indent="0" marL="0">
              <a:buNone/>
            </a:pPr>
            <a:r>
              <a:rPr/>
              <a:t>Updated security &amp; compliance NFRs</a:t>
            </a:r>
          </a:p>
          <a:p>
            <a:pPr lvl="0" indent="0" marL="0">
              <a:buNone/>
            </a:pPr>
            <a:r>
              <a:rPr/>
              <a:t>1-page security brief</a:t>
            </a:r>
          </a:p>
          <a:p>
            <a:pPr lvl="0" indent="0" marL="0">
              <a:buNone/>
            </a:pPr>
            <a:r>
              <a:rPr/>
              <a:t>TCD §3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Mapping high-level system components</a:t>
            </a:r>
          </a:p>
          <a:p>
            <a:pPr lvl="0" indent="0" marL="0">
              <a:buNone/>
            </a:pPr>
            <a:r>
              <a:rPr/>
              <a:t>C4 model (Context + Container)</a:t>
            </a:r>
          </a:p>
          <a:p>
            <a:pPr lvl="0" indent="0" marL="0">
              <a:buNone/>
            </a:pPr>
            <a:r>
              <a:rPr/>
              <a:t>Convert your integration table into a diagram</a:t>
            </a:r>
          </a:p>
          <a:p>
            <a:pPr lvl="0" indent="0" marL="0">
              <a:buNone/>
            </a:pPr>
            <a:r>
              <a:rPr/>
              <a:t>Bring to Day 3: Your TCD §§1–3 + the integration table from Day 1. Tomorrow we draw.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threat you found that wouldn’t have shown up without STRIDE?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2026-05-15T23:21:57Z</dcterms:created>
  <dcterms:modified xsi:type="dcterms:W3CDTF">2026-05-15T23:21:57Z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