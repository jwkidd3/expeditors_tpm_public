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notesMaster" Target="notesMasters/notesMaster1.xml" /><Relationship Id="rId25" Type="http://schemas.openxmlformats.org/officeDocument/2006/relationships/viewProps" Target="viewProps.xml" /><Relationship Id="rId2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7" Type="http://schemas.openxmlformats.org/officeDocument/2006/relationships/tableStyles" Target="tableStyles.xml" /><Relationship Id="rId26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Today’s job: replace hand-waving with a shared visual vocabulary. C4 Context + Container, with a legend.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diagrams ship today: Context + Container. Component and Code levels are engineering scope, not TPM scope.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Hand-drawn is fine, even encouraged on first pass. Clarity beats prettiness.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TPMs live in C4 Levels 1 and 2 — anything deeper is engineer territory. Make this scope-line explicit before triads draw.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Triads who try to draw Component-level diagrams over-step. Coach back to Container.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“Indirect roles” is the differentiator — Ops VP often appears even though they don’t tap the feature.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facilitating, walk around and check that legends are present. Most rookie mistake.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triad’s diagram is “User → System → Database”, they’ve drawn a Container poorly. Coach 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container diagram is where sync-vs-async matters most. Push that distinction — it’s the single most useful piece of information on the page.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Architecture stance from Day 1 becomes visible here. A modular monolith is one big container; microservices are many.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 the dashed arrow for async to Kafka. Sync vs async is the most-skipped distinction.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Push the sync vs async distinction. It’s the single most useful information on the diagram.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pretty diagram tells you nothing. The three lenses force engagement — failure scenarios, trust boundaries, and evolvability seams expose what the picture left 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evolvability question previews Week-7 conversations about delivery cadence.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reviewer just nods, push: “tell me a failure scenario and walk it.” Force engagement.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AI gives triads a stand-in architect read. Keep prompts structured — Role / Context / Constraints / Format — and log provenance for anything that lands in the TCD.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Both prompts go in the Pattern Library. Both are reusable for future features.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each triad names 1 thing the diagram made explicit, 1 it revealed wrong, 1 it couldn’t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names one arrow on their diagram they’d most want a real architect’s read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Diagrams should reveal — not just illustrate. Tomorrow extends the picture with latency, availability, and rate-limit numbers.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🗻 Mapping System Components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4 • Day 3 • Technical Architecture &amp; Constraints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3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C4 Context to show people, the system, and external neighbors</a:t>
            </a:r>
          </a:p>
          <a:p>
            <a:pPr lvl="0" indent="0" marL="0">
              <a:buNone/>
            </a:pPr>
            <a:r>
              <a:rPr/>
              <a:t>Use C4 Container to show deployable units and how they talk</a:t>
            </a:r>
          </a:p>
          <a:p>
            <a:pPr lvl="0" indent="0" marL="0">
              <a:buNone/>
            </a:pPr>
            <a:r>
              <a:rPr/>
              <a:t>Always include a legend — non-architect-readable</a:t>
            </a:r>
          </a:p>
          <a:p>
            <a:pPr lvl="0" indent="0" marL="0">
              <a:buNone/>
            </a:pPr>
            <a:r>
              <a:rPr/>
              <a:t>Mark trust boundaries on the Container diagram</a:t>
            </a:r>
          </a:p>
          <a:p>
            <a:pPr lvl="0" indent="0" marL="0">
              <a:buNone/>
            </a:pPr>
            <a:r>
              <a:rPr/>
              <a:t>Stress-test the diagrams with another triad and with AI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Recap §§1–3; whiteboards / paper out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Context diagram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Container diagram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Stress-test the diagram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AI critique + final polish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The C4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Why Context + Container is TPM scope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The Four C4 Levels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Level</a:t>
            </a:r>
          </a:p>
          <a:p>
            <a:pPr lvl="0" indent="0" marL="0">
              <a:buNone/>
            </a:pPr>
            <a:r>
              <a:rPr/>
              <a:t>What it shows</a:t>
            </a:r>
          </a:p>
          <a:p>
            <a:pPr lvl="0" indent="0" marL="0">
              <a:buNone/>
            </a:pPr>
            <a:r>
              <a:rPr/>
              <a:t>Audience</a:t>
            </a:r>
          </a:p>
          <a:p>
            <a:pPr lvl="0" indent="0" marL="0">
              <a:buNone/>
            </a:pPr>
            <a:r>
              <a:rPr/>
              <a:t>Draw it?</a:t>
            </a:r>
          </a:p>
          <a:p>
            <a:pPr lvl="0" indent="0" marL="0">
              <a:buNone/>
            </a:pPr>
            <a:r>
              <a:rPr/>
              <a:t>Context</a:t>
            </a:r>
          </a:p>
          <a:p>
            <a:pPr lvl="0" indent="0" marL="0">
              <a:buNone/>
            </a:pPr>
            <a:r>
              <a:rPr/>
              <a:t>System + users + neighbors</a:t>
            </a:r>
          </a:p>
          <a:p>
            <a:pPr lvl="0" indent="0" marL="0">
              <a:buNone/>
            </a:pPr>
            <a:r>
              <a:rPr/>
              <a:t>Everyone</a:t>
            </a:r>
          </a:p>
          <a:p>
            <a:pPr lvl="0" indent="0" marL="0">
              <a:buNone/>
            </a:pPr>
            <a:r>
              <a:rPr/>
              <a:t>✅ Today</a:t>
            </a:r>
          </a:p>
          <a:p>
            <a:pPr lvl="0" indent="0" marL="0">
              <a:buNone/>
            </a:pPr>
            <a:r>
              <a:rPr/>
              <a:t>Container</a:t>
            </a:r>
          </a:p>
          <a:p>
            <a:pPr lvl="0" indent="0" marL="0">
              <a:buNone/>
            </a:pPr>
            <a:r>
              <a:rPr/>
              <a:t>Deployable units inside the system</a:t>
            </a:r>
          </a:p>
          <a:p>
            <a:pPr lvl="0" indent="0" marL="0">
              <a:buNone/>
            </a:pPr>
            <a:r>
              <a:rPr/>
              <a:t>TPMs, architects, devs</a:t>
            </a:r>
          </a:p>
          <a:p>
            <a:pPr lvl="0" indent="0" marL="0">
              <a:buNone/>
            </a:pPr>
            <a:r>
              <a:rPr/>
              <a:t>✅ Today</a:t>
            </a:r>
          </a:p>
          <a:p>
            <a:pPr lvl="0" indent="0" marL="0">
              <a:buNone/>
            </a:pPr>
            <a:r>
              <a:rPr/>
              <a:t>Component</a:t>
            </a:r>
          </a:p>
          <a:p>
            <a:pPr lvl="0" indent="0" marL="0">
              <a:buNone/>
            </a:pPr>
            <a:r>
              <a:rPr/>
              <a:t>Code-level building blocks</a:t>
            </a:r>
          </a:p>
          <a:p>
            <a:pPr lvl="0" indent="0" marL="0">
              <a:buNone/>
            </a:pPr>
            <a:r>
              <a:rPr/>
              <a:t>Engineers</a:t>
            </a:r>
          </a:p>
          <a:p>
            <a:pPr lvl="0" indent="0" marL="0">
              <a:buNone/>
            </a:pPr>
            <a:r>
              <a:rPr/>
              <a:t>❌</a:t>
            </a:r>
          </a:p>
          <a:p>
            <a:pPr lvl="0" indent="0" marL="0">
              <a:buNone/>
            </a:pPr>
            <a:r>
              <a:rPr/>
              <a:t>Code</a:t>
            </a:r>
          </a:p>
          <a:p>
            <a:pPr lvl="0" indent="0" marL="0">
              <a:buNone/>
            </a:pPr>
            <a:r>
              <a:rPr/>
              <a:t>Class-level detail</a:t>
            </a:r>
          </a:p>
          <a:p>
            <a:pPr lvl="0" indent="0" marL="0">
              <a:buNone/>
            </a:pPr>
            <a:r>
              <a:rPr/>
              <a:t>Engineers</a:t>
            </a:r>
          </a:p>
          <a:p>
            <a:pPr lvl="0" indent="0" marL="0">
              <a:buNone/>
            </a:pPr>
            <a:r>
              <a:rPr/>
              <a:t>❌</a:t>
            </a:r>
          </a:p>
          <a:p>
            <a:pPr lvl="0" indent="0" marL="0">
              <a:buNone/>
            </a:pPr>
            <a:r>
              <a:rPr/>
              <a:t>Discipline: stay above Component. The architect / engineer owns those layers.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🌐 Context Diagram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Answers: who interacts with this system, and what other systems does it talk to?</a:t>
            </a:r>
          </a:p>
          <a:p>
            <a:pPr lvl="0" indent="0" marL="0">
              <a:buNone/>
            </a:pPr>
            <a:r>
              <a:rPr/>
              <a:t>People: direct users + indirect roles (Ops VP, compliance, customer success)</a:t>
            </a:r>
          </a:p>
          <a:p>
            <a:pPr lvl="0" indent="0" marL="0">
              <a:buNone/>
            </a:pPr>
            <a:r>
              <a:rPr/>
              <a:t>The system in scope — one big box (we explode it next)</a:t>
            </a:r>
          </a:p>
          <a:p>
            <a:pPr lvl="0" indent="0" marL="0">
              <a:buNone/>
            </a:pPr>
            <a:r>
              <a:rPr/>
              <a:t>External systems — pull from your integration table</a:t>
            </a:r>
          </a:p>
          <a:p>
            <a:pPr lvl="0" indent="0" marL="0">
              <a:buNone/>
            </a:pPr>
            <a:r>
              <a:rPr/>
              <a:t>Arrows with verb-based labels (“submits reconcile”, not just “POST”)</a:t>
            </a:r>
          </a:p>
          <a:p>
            <a:pPr lvl="0" indent="0" marL="0">
              <a:buNone/>
            </a:pPr>
            <a:r>
              <a:rPr/>
              <a:t>NOT in Context: database choices, internal services, framework choices. Cap at 12 boxes.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📋 The Legend (Don’t Skip)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diagram without a legend is a Rorschach test. Force the legend.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Context Diagram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List people; list externals; draw it; legend; 60-second test with another triad.</a:t>
            </a:r>
          </a:p>
          <a:p>
            <a:pPr lvl="0" indent="0" marL="0">
              <a:buNone/>
            </a:pPr>
            <a:r>
              <a:rPr/>
              <a:t>5 min: list people (incl. indirect)</a:t>
            </a:r>
          </a:p>
          <a:p>
            <a:pPr lvl="0" indent="0" marL="0">
              <a:buNone/>
            </a:pPr>
            <a:r>
              <a:rPr/>
              <a:t>5 min: list externals (pull from integration table)</a:t>
            </a:r>
          </a:p>
          <a:p>
            <a:pPr lvl="0" indent="0" marL="0">
              <a:buNone/>
            </a:pPr>
            <a:r>
              <a:rPr/>
              <a:t>15 min: draw on whiteboard / paper</a:t>
            </a:r>
          </a:p>
          <a:p>
            <a:pPr lvl="0" indent="0" marL="0">
              <a:buNone/>
            </a:pPr>
            <a:r>
              <a:rPr/>
              <a:t>5 min: add the legend</a:t>
            </a:r>
          </a:p>
          <a:p>
            <a:pPr lvl="0" indent="0" marL="0">
              <a:buNone/>
            </a:pPr>
            <a:r>
              <a:rPr/>
              <a:t>5 min: 60-sec walk-through with another triad</a:t>
            </a:r>
          </a:p>
          <a:p>
            <a:pPr lvl="0" indent="0" marL="0">
              <a:buNone/>
            </a:pPr>
            <a:r>
              <a:rPr/>
              <a:t>⏱ 5 + 5 + 15 + 5 + 5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Container Diagram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Inside the system: what deploys, how they talk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📥 What’s a “Container” in C4?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container is anything you would update independently: a web app, a mobile app, a service, a database, a queue, a CDN, an event bus.</a:t>
            </a:r>
          </a:p>
          <a:p>
            <a:pPr lvl="0" indent="0" marL="0">
              <a:buNone/>
            </a:pPr>
            <a:r>
              <a:rPr/>
              <a:t>Mobile app (iOS + Android = two containers)</a:t>
            </a:r>
          </a:p>
          <a:p>
            <a:pPr lvl="0" indent="0" marL="0">
              <a:buNone/>
            </a:pPr>
            <a:r>
              <a:rPr/>
              <a:t>Backend monolith (one container, even if internally modular)</a:t>
            </a:r>
          </a:p>
          <a:p>
            <a:pPr lvl="0" indent="0" marL="0">
              <a:buNone/>
            </a:pPr>
            <a:r>
              <a:rPr/>
              <a:t>Each datastore is its own container</a:t>
            </a:r>
          </a:p>
          <a:p>
            <a:pPr lvl="0" indent="0" marL="0">
              <a:buNone/>
            </a:pPr>
            <a:r>
              <a:rPr/>
              <a:t>Each queue / event bus is its own container</a:t>
            </a:r>
          </a:p>
          <a:p>
            <a:pPr lvl="0" indent="0" marL="0">
              <a:buNone/>
            </a:pPr>
            <a:r>
              <a:rPr/>
              <a:t>Modular monolith stance: draw modules inside the monolith container as labeled sub-boxes. Don’t promote them.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Container Diagram (FieldPulse)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Container Diagram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List containers; draw the diagram; annotate modules inside the monolith container; 90-second test.</a:t>
            </a:r>
          </a:p>
          <a:p>
            <a:pPr lvl="0" indent="0" marL="0">
              <a:buNone/>
            </a:pPr>
            <a:r>
              <a:rPr/>
              <a:t>10 min: list containers + tech (rough) + owners</a:t>
            </a:r>
          </a:p>
          <a:p>
            <a:pPr lvl="0" indent="0" marL="0">
              <a:buNone/>
            </a:pPr>
            <a:r>
              <a:rPr/>
              <a:t>15 min: draw containers + protocol-labeled arrows</a:t>
            </a:r>
          </a:p>
          <a:p>
            <a:pPr lvl="0" indent="0" marL="0">
              <a:buNone/>
            </a:pPr>
            <a:r>
              <a:rPr/>
              <a:t>10 min: annotate modular split inside containers</a:t>
            </a:r>
          </a:p>
          <a:p>
            <a:pPr lvl="0" indent="0" marL="0">
              <a:buNone/>
            </a:pPr>
            <a:r>
              <a:rPr/>
              <a:t>5 min: 90-sec walk-through</a:t>
            </a:r>
          </a:p>
          <a:p>
            <a:pPr lvl="0" indent="0" marL="0">
              <a:buNone/>
            </a:pPr>
            <a:r>
              <a:rPr/>
              <a:t>⏱ 10 + 15 + 10 + 5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Stress-Test the Diagram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 lenses: failure, trust, evolvability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🔎 The Three Lenses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Lens</a:t>
            </a:r>
          </a:p>
          <a:p>
            <a:pPr lvl="0" indent="0" marL="0">
              <a:buNone/>
            </a:pPr>
            <a:r>
              <a:rPr/>
              <a:t>Question</a:t>
            </a:r>
          </a:p>
          <a:p>
            <a:pPr lvl="0" indent="0" marL="0">
              <a:buNone/>
            </a:pPr>
            <a:r>
              <a:rPr/>
              <a:t>Failure</a:t>
            </a:r>
          </a:p>
          <a:p>
            <a:pPr lvl="0" indent="0" marL="0">
              <a:buNone/>
            </a:pPr>
            <a:r>
              <a:rPr/>
              <a:t>Trace a failure: “What happens when the audit topic is full?” Walk the diagram.</a:t>
            </a:r>
          </a:p>
          <a:p>
            <a:pPr lvl="0" indent="0" marL="0">
              <a:buNone/>
            </a:pPr>
            <a:r>
              <a:rPr/>
              <a:t>Trust boundary</a:t>
            </a:r>
          </a:p>
          <a:p>
            <a:pPr lvl="0" indent="0" marL="0">
              <a:buNone/>
            </a:pPr>
            <a:r>
              <a:rPr/>
              <a:t>Where does data cross from our control to someone else’s? Mark with a thick line.</a:t>
            </a:r>
          </a:p>
          <a:p>
            <a:pPr lvl="0" indent="0" marL="0">
              <a:buNone/>
            </a:pPr>
            <a:r>
              <a:rPr/>
              <a:t>Evolvability</a:t>
            </a:r>
          </a:p>
          <a:p>
            <a:pPr lvl="0" indent="0" marL="0">
              <a:buNone/>
            </a:pPr>
            <a:r>
              <a:rPr/>
              <a:t>If the architecture stance changes (modular monolith → microservice), which arrows change?</a:t>
            </a:r>
          </a:p>
          <a:p>
            <a:pPr lvl="0" indent="0" marL="0">
              <a:buNone/>
            </a:pPr>
            <a:r>
              <a:rPr/>
              <a:t>Trust boundary: the most-missed annotation. It’s where compliance and security risks concentrate.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Stress-Test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 pairs • 40 minutes</a:t>
            </a:r>
          </a:p>
          <a:p>
            <a:pPr lvl="0" indent="0" marL="0">
              <a:buNone/>
            </a:pPr>
            <a:r>
              <a:rPr/>
              <a:t>Swap diagrams. Failure trace. Trust boundary mark-up. Evolvability question.</a:t>
            </a:r>
          </a:p>
          <a:p>
            <a:pPr lvl="0" indent="0" marL="0">
              <a:buNone/>
            </a:pPr>
            <a:r>
              <a:rPr/>
              <a:t>5 min: swap + read</a:t>
            </a:r>
          </a:p>
          <a:p>
            <a:pPr lvl="0" indent="0" marL="0">
              <a:buNone/>
            </a:pPr>
            <a:r>
              <a:rPr/>
              <a:t>10 min: failure trace (one scenario aloud)</a:t>
            </a:r>
          </a:p>
          <a:p>
            <a:pPr lvl="0" indent="0" marL="0">
              <a:buNone/>
            </a:pPr>
            <a:r>
              <a:rPr/>
              <a:t>10 min: trust boundary mark-up</a:t>
            </a:r>
          </a:p>
          <a:p>
            <a:pPr lvl="0" indent="0" marL="0">
              <a:buNone/>
            </a:pPr>
            <a:r>
              <a:rPr/>
              <a:t>10 min: evolvability question</a:t>
            </a:r>
          </a:p>
          <a:p>
            <a:pPr lvl="0" indent="0" marL="0">
              <a:buNone/>
            </a:pPr>
            <a:r>
              <a:rPr/>
              <a:t>5 min: authors annotate diagram with findings</a:t>
            </a:r>
          </a:p>
          <a:p>
            <a:pPr lvl="0" indent="0" marL="0">
              <a:buNone/>
            </a:pPr>
            <a:r>
              <a:rPr/>
              <a:t>⏱ 5 + 10 + 10 + 10 + 5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AI Critique + Final Polish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Architect’s eye + stakeholder’s eye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🧿 Today’s Two Prompts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A. Architect critique</a:t>
            </a:r>
          </a:p>
          <a:p>
            <a:pPr lvl="0" indent="0" marL="0">
              <a:buNone/>
            </a:pPr>
            <a:r>
              <a:rPr/>
              <a:t>“What’s wrong with this diagram or the stance it implies?” 3 issues, each with scenario.</a:t>
            </a:r>
          </a:p>
          <a:p>
            <a:pPr lvl="0" indent="0" marL="0">
              <a:buNone/>
            </a:pPr>
            <a:r>
              <a:rPr/>
              <a:t>B. Stakeholder Q’s</a:t>
            </a:r>
          </a:p>
          <a:p>
            <a:pPr lvl="0" indent="0" marL="0">
              <a:buNone/>
            </a:pPr>
            <a:r>
              <a:rPr/>
              <a:t>“Operations VP — what 5 questions would you ask after seeing this?” Non-engineer questions.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AI Critique + Polish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 • Wrap</a:t>
            </a:r>
          </a:p>
          <a:p>
            <a:pPr lvl="0" indent="0" marL="0">
              <a:buNone/>
            </a:pPr>
            <a:r>
              <a:rPr/>
              <a:t>Run both prompts. Decide what to address. Polish diagrams. Provenance note.</a:t>
            </a:r>
          </a:p>
          <a:p>
            <a:pPr lvl="0" indent="0" marL="0">
              <a:buNone/>
            </a:pPr>
            <a:r>
              <a:rPr/>
              <a:t>10 min: Prompt A → 3 issues</a:t>
            </a:r>
          </a:p>
          <a:p>
            <a:pPr lvl="0" indent="0" marL="0">
              <a:buNone/>
            </a:pPr>
            <a:r>
              <a:rPr/>
              <a:t>10 min: adopt / defer / reject</a:t>
            </a:r>
          </a:p>
          <a:p>
            <a:pPr lvl="0" indent="0" marL="0">
              <a:buNone/>
            </a:pPr>
            <a:r>
              <a:rPr/>
              <a:t>10 min: Prompt B → stakeholder questions</a:t>
            </a:r>
          </a:p>
          <a:p>
            <a:pPr lvl="0" indent="0" marL="0">
              <a:buNone/>
            </a:pPr>
            <a:r>
              <a:rPr/>
              <a:t>10 min: final polish (legend, trust boundary, key arrows)</a:t>
            </a:r>
          </a:p>
          <a:p>
            <a:pPr lvl="0" indent="0" marL="0">
              <a:buNone/>
            </a:pPr>
            <a:r>
              <a:rPr/>
              <a:t>5 min: provenance note</a:t>
            </a:r>
          </a:p>
          <a:p>
            <a:pPr lvl="0" indent="0" marL="0">
              <a:buNone/>
            </a:pPr>
            <a:r>
              <a:rPr/>
              <a:t>⏱ 10 + 10 + 10 + 10 + 5 · 15-min wrap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3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C4 Context diagram</a:t>
            </a:r>
          </a:p>
          <a:p>
            <a:pPr lvl="0" indent="0" marL="0">
              <a:buNone/>
            </a:pPr>
            <a:r>
              <a:rPr/>
              <a:t>C4 Container diagram</a:t>
            </a:r>
          </a:p>
          <a:p>
            <a:pPr lvl="0" indent="0" marL="0">
              <a:buNone/>
            </a:pPr>
            <a:r>
              <a:rPr/>
              <a:t>Trust-boundary annotation</a:t>
            </a:r>
          </a:p>
          <a:p>
            <a:pPr lvl="0" indent="0" marL="0">
              <a:buNone/>
            </a:pPr>
            <a:r>
              <a:rPr/>
              <a:t>Stress-tested with peers + AI</a:t>
            </a:r>
          </a:p>
          <a:p>
            <a:pPr lvl="0" indent="0" marL="0">
              <a:buNone/>
            </a:pPr>
            <a:r>
              <a:rPr/>
              <a:t>TCD §2 diagram-backed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Latency, availability, rate limits</a:t>
            </a:r>
          </a:p>
          <a:p>
            <a:pPr lvl="0" indent="0" marL="0">
              <a:buNone/>
            </a:pPr>
            <a:r>
              <a:rPr/>
              <a:t>SLOs + error budgets</a:t>
            </a:r>
          </a:p>
          <a:p>
            <a:pPr lvl="0" indent="0" marL="0">
              <a:buNone/>
            </a:pPr>
            <a:r>
              <a:rPr/>
              <a:t>Latency budgets per hop</a:t>
            </a:r>
          </a:p>
          <a:p>
            <a:pPr lvl="0" indent="0" marL="0">
              <a:buNone/>
            </a:pPr>
            <a:r>
              <a:rPr/>
              <a:t>Rate limits as design tool</a:t>
            </a:r>
          </a:p>
          <a:p>
            <a:pPr lvl="0" indent="0" marL="0">
              <a:buNone/>
            </a:pPr>
            <a:r>
              <a:rPr/>
              <a:t>Bring to Day 4: Your two diagrams. The Container diagram is the input to latency-budgeting tomorrow.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does your diagram make obvious that words couldn’t?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2026-05-16T00:38:41Z</dcterms:created>
  <dcterms:modified xsi:type="dcterms:W3CDTF">2026-05-16T00:38:41Z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