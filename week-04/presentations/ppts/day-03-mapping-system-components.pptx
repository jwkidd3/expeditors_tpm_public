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notesMaster" Target="notesMasters/notesMaster1.xml" /><Relationship Id="rId25" Type="http://schemas.openxmlformats.org/officeDocument/2006/relationships/viewProps" Target="viewProps.xml" /><Relationship Id="rId2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7" Type="http://schemas.openxmlformats.org/officeDocument/2006/relationships/tableStyles" Target="tableStyles.xml" /><Relationship Id="rId26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Today’s job: replace hand-waving with a shared visual vocabulary. C4 Context + Container, with a legend.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Two diagrams ship today: Context + Container. Component and Code levels are engineering scope, not TPM scope.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Hand-drawn is fine, even encouraged on first pass. Clarity beats prettiness.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TPMs live in C4 Levels 1 and 2 — anything deeper is engineer territory. Make this scope-line explicit before quads draw.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Quads who try to draw Component-level diagrams over-step. Coach back to Container.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“Indirect roles” is the differentiator — Ops VP often appears even though they don’t tap the feature.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When facilitating, walk around and check that legends are present. Most rookie mistake.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If a quad’s diagram is “User → System → Database”, they’ve drawn a Container poorly. Coach 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container diagram is where sync-vs-async matters most. Push that distinction — it’s the single most useful piece of information on the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Architecture stance from Day 1 becomes visible here. A modular monolith is one big container; microservices are many.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Note the dashed arrow for async to Event Hubs. Sync vs async is the most-skipped distinction.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Push the sync vs async distinction. It’s the single most useful information on the diagram.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pretty diagram tells you nothing. The three lenses force engagement — failure scenarios, trust boundaries, and evolvability seams expose what the picture left 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evolvability question previews Week-7 conversations about delivery cadence.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If a reviewer just nods, push: “tell me a failure scenario and walk it.” Force engagement.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16</a:t>
            </a:fld>
            <a:endParaRPr lang="en-US"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AI gives quads a stand-in architect read. Keep prompts structured — Role / Context / Constraints / Format — and log provenance for anything that lands in the TCD.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17</a:t>
            </a:fld>
            <a:endParaRPr lang="en-US"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Both prompts go in the Pattern Library. Both are reusable for future features.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18</a:t>
            </a:fld>
            <a:endParaRPr lang="en-US"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Wrap-share: each quad names 1 thing the diagram made explicit, 1 it revealed wrong, 1 it couldn’t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Round-robin close: each person names one arrow on their diagram they’d most want a real architect’s read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20</a:t>
            </a:fld>
            <a:endParaRPr lang="en-US"/>
          </a:p>
        </p:txBody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Diagrams should reveal — not just illustrate. Tomorrow extends the picture with latency, availability, and rate-limit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21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4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5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6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7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8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9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0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🗻 Mapping System Components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Week 4 • Day 3 • Technical Architecture &amp; Constraints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TPM Academy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🎯 Day 3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 C4 Context to show people, the system, and external neighbors</a:t>
            </a:r>
          </a:p>
          <a:p>
            <a:pPr lvl="0" indent="0" marL="0">
              <a:buNone/>
            </a:pPr>
            <a:r>
              <a:rPr/>
              <a:t>Use C4 Container to show deployable units and how they talk</a:t>
            </a:r>
          </a:p>
          <a:p>
            <a:pPr lvl="0" indent="0" marL="0">
              <a:buNone/>
            </a:pPr>
            <a:r>
              <a:rPr/>
              <a:t>Always include a legend — non-architect-readable</a:t>
            </a:r>
          </a:p>
          <a:p>
            <a:pPr lvl="0" indent="0" marL="0">
              <a:buNone/>
            </a:pPr>
            <a:r>
              <a:rPr/>
              <a:t>Mark trust boundaries on the Container diagram</a:t>
            </a:r>
          </a:p>
          <a:p>
            <a:pPr lvl="0" indent="0" marL="0">
              <a:buNone/>
            </a:pPr>
            <a:r>
              <a:rPr/>
              <a:t>Stress-test the diagrams with another quad and with AI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🕑 Today’s Shape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Clock</a:t>
            </a:r>
          </a:p>
          <a:p>
            <a:pPr lvl="0" indent="0" marL="0">
              <a:buNone/>
            </a:pPr>
            <a:r>
              <a:rPr/>
              <a:t>Block</a:t>
            </a:r>
          </a:p>
          <a:p>
            <a:pPr lvl="0" indent="0" marL="0">
              <a:buNone/>
            </a:pPr>
            <a:r>
              <a:rPr/>
              <a:t>Outcome</a:t>
            </a:r>
          </a:p>
          <a:p>
            <a:pPr lvl="0" indent="0" marL="0">
              <a:buNone/>
            </a:pPr>
            <a:r>
              <a:rPr/>
              <a:t>09:00 – 09:15</a:t>
            </a:r>
          </a:p>
          <a:p>
            <a:pPr lvl="0" indent="0" marL="0">
              <a:buNone/>
            </a:pPr>
            <a:r>
              <a:rPr/>
              <a:t>Opening</a:t>
            </a:r>
          </a:p>
          <a:p>
            <a:pPr lvl="0" indent="0" marL="0">
              <a:buNone/>
            </a:pPr>
            <a:r>
              <a:rPr/>
              <a:t>Recap Sections 1–3; whiteboards / paper out</a:t>
            </a:r>
          </a:p>
          <a:p>
            <a:pPr lvl="0" indent="0" marL="0">
              <a:buNone/>
            </a:pPr>
            <a:r>
              <a:rPr/>
              <a:t>09:15 – 10:30</a:t>
            </a:r>
          </a:p>
          <a:p>
            <a:pPr lvl="0" indent="0" marL="0">
              <a:buNone/>
            </a:pPr>
            <a:r>
              <a:rPr/>
              <a:t>Block 1 + Activity 1</a:t>
            </a:r>
          </a:p>
          <a:p>
            <a:pPr lvl="0" indent="0" marL="0">
              <a:buNone/>
            </a:pPr>
            <a:r>
              <a:rPr/>
              <a:t>Context diagram</a:t>
            </a:r>
          </a:p>
          <a:p>
            <a:pPr lvl="0" indent="0" marL="0">
              <a:buNone/>
            </a:pPr>
            <a:r>
              <a:rPr/>
              <a:t>10:45 – 12:00</a:t>
            </a:r>
          </a:p>
          <a:p>
            <a:pPr lvl="0" indent="0" marL="0">
              <a:buNone/>
            </a:pPr>
            <a:r>
              <a:rPr/>
              <a:t>Block 2 + Activity 2</a:t>
            </a:r>
          </a:p>
          <a:p>
            <a:pPr lvl="0" indent="0" marL="0">
              <a:buNone/>
            </a:pPr>
            <a:r>
              <a:rPr/>
              <a:t>Container diagram</a:t>
            </a:r>
          </a:p>
          <a:p>
            <a:pPr lvl="0" indent="0" marL="0">
              <a:buNone/>
            </a:pPr>
            <a:r>
              <a:rPr/>
              <a:t>13:00 – 14:15</a:t>
            </a:r>
          </a:p>
          <a:p>
            <a:pPr lvl="0" indent="0" marL="0">
              <a:buNone/>
            </a:pPr>
            <a:r>
              <a:rPr/>
              <a:t>Block 3 + Activity 3</a:t>
            </a:r>
          </a:p>
          <a:p>
            <a:pPr lvl="0" indent="0" marL="0">
              <a:buNone/>
            </a:pPr>
            <a:r>
              <a:rPr/>
              <a:t>Stress-test the diagram</a:t>
            </a:r>
          </a:p>
          <a:p>
            <a:pPr lvl="0" indent="0" marL="0">
              <a:buNone/>
            </a:pPr>
            <a:r>
              <a:rPr/>
              <a:t>14:30 – 16:00</a:t>
            </a:r>
          </a:p>
          <a:p>
            <a:pPr lvl="0" indent="0" marL="0">
              <a:buNone/>
            </a:pPr>
            <a:r>
              <a:rPr/>
              <a:t>Block 4 + Activity 4 + Wrap</a:t>
            </a:r>
          </a:p>
          <a:p>
            <a:pPr lvl="0" indent="0" marL="0">
              <a:buNone/>
            </a:pPr>
            <a:r>
              <a:rPr/>
              <a:t>AI critique + final polish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1 — The C4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Why Context + Container is TPM scope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📚 The Four C4 Levels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Level</a:t>
            </a:r>
          </a:p>
          <a:p>
            <a:pPr lvl="0" indent="0" marL="0">
              <a:buNone/>
            </a:pPr>
            <a:r>
              <a:rPr/>
              <a:t>What it shows</a:t>
            </a:r>
          </a:p>
          <a:p>
            <a:pPr lvl="0" indent="0" marL="0">
              <a:buNone/>
            </a:pPr>
            <a:r>
              <a:rPr/>
              <a:t>Audience</a:t>
            </a:r>
          </a:p>
          <a:p>
            <a:pPr lvl="0" indent="0" marL="0">
              <a:buNone/>
            </a:pPr>
            <a:r>
              <a:rPr/>
              <a:t>Draw it?</a:t>
            </a:r>
          </a:p>
          <a:p>
            <a:pPr lvl="0" indent="0" marL="0">
              <a:buNone/>
            </a:pPr>
            <a:r>
              <a:rPr/>
              <a:t>Context</a:t>
            </a:r>
          </a:p>
          <a:p>
            <a:pPr lvl="0" indent="0" marL="0">
              <a:buNone/>
            </a:pPr>
            <a:r>
              <a:rPr/>
              <a:t>System + users + neighbors</a:t>
            </a:r>
          </a:p>
          <a:p>
            <a:pPr lvl="0" indent="0" marL="0">
              <a:buNone/>
            </a:pPr>
            <a:r>
              <a:rPr/>
              <a:t>Everyone</a:t>
            </a:r>
          </a:p>
          <a:p>
            <a:pPr lvl="0" indent="0" marL="0">
              <a:buNone/>
            </a:pPr>
            <a:r>
              <a:rPr/>
              <a:t>✅ Today</a:t>
            </a:r>
          </a:p>
          <a:p>
            <a:pPr lvl="0" indent="0" marL="0">
              <a:buNone/>
            </a:pPr>
            <a:r>
              <a:rPr/>
              <a:t>Container</a:t>
            </a:r>
          </a:p>
          <a:p>
            <a:pPr lvl="0" indent="0" marL="0">
              <a:buNone/>
            </a:pPr>
            <a:r>
              <a:rPr/>
              <a:t>Deployable units inside the system</a:t>
            </a:r>
          </a:p>
          <a:p>
            <a:pPr lvl="0" indent="0" marL="0">
              <a:buNone/>
            </a:pPr>
            <a:r>
              <a:rPr/>
              <a:t>TPMs, architects, devs</a:t>
            </a:r>
          </a:p>
          <a:p>
            <a:pPr lvl="0" indent="0" marL="0">
              <a:buNone/>
            </a:pPr>
            <a:r>
              <a:rPr/>
              <a:t>✅ Today</a:t>
            </a:r>
          </a:p>
          <a:p>
            <a:pPr lvl="0" indent="0" marL="0">
              <a:buNone/>
            </a:pPr>
            <a:r>
              <a:rPr/>
              <a:t>Component</a:t>
            </a:r>
          </a:p>
          <a:p>
            <a:pPr lvl="0" indent="0" marL="0">
              <a:buNone/>
            </a:pPr>
            <a:r>
              <a:rPr/>
              <a:t>Code-level building blocks</a:t>
            </a:r>
          </a:p>
          <a:p>
            <a:pPr lvl="0" indent="0" marL="0">
              <a:buNone/>
            </a:pPr>
            <a:r>
              <a:rPr/>
              <a:t>Engineers</a:t>
            </a:r>
          </a:p>
          <a:p>
            <a:pPr lvl="0" indent="0" marL="0">
              <a:buNone/>
            </a:pPr>
            <a:r>
              <a:rPr/>
              <a:t>❌</a:t>
            </a:r>
          </a:p>
          <a:p>
            <a:pPr lvl="0" indent="0" marL="0">
              <a:buNone/>
            </a:pPr>
            <a:r>
              <a:rPr/>
              <a:t>Code</a:t>
            </a:r>
          </a:p>
          <a:p>
            <a:pPr lvl="0" indent="0" marL="0">
              <a:buNone/>
            </a:pPr>
            <a:r>
              <a:rPr/>
              <a:t>Class-level detail</a:t>
            </a:r>
          </a:p>
          <a:p>
            <a:pPr lvl="0" indent="0" marL="0">
              <a:buNone/>
            </a:pPr>
            <a:r>
              <a:rPr/>
              <a:t>Engineers</a:t>
            </a:r>
          </a:p>
          <a:p>
            <a:pPr lvl="0" indent="0" marL="0">
              <a:buNone/>
            </a:pPr>
            <a:r>
              <a:rPr/>
              <a:t>❌</a:t>
            </a:r>
          </a:p>
          <a:p>
            <a:pPr lvl="0" indent="0" marL="0">
              <a:buNone/>
            </a:pPr>
            <a:r>
              <a:rPr/>
              <a:t>Discipline: stay above Component. The architect / engineer owns those layers.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🌐 Context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Answers: who interacts with this system, and what other systems does it talk to?</a:t>
            </a:r>
          </a:p>
          <a:p>
            <a:pPr lvl="0" indent="0" marL="0">
              <a:buNone/>
            </a:pPr>
            <a:r>
              <a:rPr/>
              <a:t>People: direct users + indirect roles (Ops VP, compliance, customer success)</a:t>
            </a:r>
          </a:p>
          <a:p>
            <a:pPr lvl="0" indent="0" marL="0">
              <a:buNone/>
            </a:pPr>
            <a:r>
              <a:rPr/>
              <a:t>The system in scope — one big box (we explode it next)</a:t>
            </a:r>
          </a:p>
          <a:p>
            <a:pPr lvl="0" indent="0" marL="0">
              <a:buNone/>
            </a:pPr>
            <a:r>
              <a:rPr/>
              <a:t>External systems — pull from your integration table</a:t>
            </a:r>
          </a:p>
          <a:p>
            <a:pPr lvl="0" indent="0" marL="0">
              <a:buNone/>
            </a:pPr>
            <a:r>
              <a:rPr/>
              <a:t>Arrows with verb-based labels (“submits reconcile”, not just “POST”)</a:t>
            </a:r>
          </a:p>
          <a:p>
            <a:pPr lvl="0" indent="0" marL="0">
              <a:buNone/>
            </a:pPr>
            <a:r>
              <a:rPr/>
              <a:t>NOT in Context: database choices, internal services, framework choices. Cap at 12 boxes.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📋 The Legend (Don’t Skip)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Legend
- ◻ Box with no fill   = system / module owned by us
- ◼ Box with fill      = external system (out of our control)
- 👤 Stick figure       = person (role)
- → Solid arrow        = synchronous call
- ⇢ Dashed arrow       = async / event
- (label on arrow)     = intent in plain English</a:t>
            </a:r>
          </a:p>
          <a:p>
            <a:pPr lvl="0" indent="0" marL="0">
              <a:buNone/>
            </a:pPr>
            <a:r>
              <a:rPr/>
              <a:t>A diagram without a legend is a Rorschach test. Force the legend.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1 — Context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Quads • 45 minutes</a:t>
            </a:r>
          </a:p>
          <a:p>
            <a:pPr lvl="0" indent="0" marL="0">
              <a:buNone/>
            </a:pPr>
            <a:r>
              <a:rPr/>
              <a:t>List people; list externals; draw it; legend; 60-second test with another quad.</a:t>
            </a:r>
          </a:p>
          <a:p>
            <a:pPr lvl="0" indent="0" marL="0">
              <a:buNone/>
            </a:pPr>
            <a:r>
              <a:rPr/>
              <a:t>5 min: list people (incl. indirect)</a:t>
            </a:r>
          </a:p>
          <a:p>
            <a:pPr lvl="0" indent="0" marL="0">
              <a:buNone/>
            </a:pPr>
            <a:r>
              <a:rPr/>
              <a:t>5 min: list externals (pull from integration table)</a:t>
            </a:r>
          </a:p>
          <a:p>
            <a:pPr lvl="0" indent="0" marL="0">
              <a:buNone/>
            </a:pPr>
            <a:r>
              <a:rPr/>
              <a:t>25 min: draw on whiteboard / paper</a:t>
            </a:r>
          </a:p>
          <a:p>
            <a:pPr lvl="0" indent="0" marL="0">
              <a:buNone/>
            </a:pPr>
            <a:r>
              <a:rPr/>
              <a:t>5 min: add the legend</a:t>
            </a:r>
          </a:p>
          <a:p>
            <a:pPr lvl="0" indent="0" marL="0">
              <a:buNone/>
            </a:pPr>
            <a:r>
              <a:rPr/>
              <a:t>5 min: 60-sec walk-through with another quad</a:t>
            </a:r>
          </a:p>
          <a:p>
            <a:pPr lvl="0" indent="0" marL="0">
              <a:buNone/>
            </a:pPr>
            <a:r>
              <a:rPr/>
              <a:t>⏱ 5 + 5 + 25 + 5 + 5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2 — Container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Inside the system: what deploys, how they talk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📥 What’s a “Container” in C4?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container is anything you would update independently: a web app, a mobile app, a service, a database, a queue, a CDN, an event bus.</a:t>
            </a:r>
          </a:p>
          <a:p>
            <a:pPr lvl="0" indent="0" marL="0">
              <a:buNone/>
            </a:pPr>
            <a:r>
              <a:rPr/>
              <a:t>Mobile app (iOS + Android = two containers)</a:t>
            </a:r>
          </a:p>
          <a:p>
            <a:pPr lvl="0" indent="0" marL="0">
              <a:buNone/>
            </a:pPr>
            <a:r>
              <a:rPr/>
              <a:t>Backend monolith (one container, even if internally modular)</a:t>
            </a:r>
          </a:p>
          <a:p>
            <a:pPr lvl="0" indent="0" marL="0">
              <a:buNone/>
            </a:pPr>
            <a:r>
              <a:rPr/>
              <a:t>Each datastore is its own container</a:t>
            </a:r>
          </a:p>
          <a:p>
            <a:pPr lvl="0" indent="0" marL="0">
              <a:buNone/>
            </a:pPr>
            <a:r>
              <a:rPr/>
              <a:t>Each queue / event bus is its own container</a:t>
            </a:r>
          </a:p>
          <a:p>
            <a:pPr lvl="0" indent="0" marL="0">
              <a:buNone/>
            </a:pPr>
            <a:r>
              <a:rPr/>
              <a:t>Modular monolith stance: draw modules inside the monolith container as labeled sub-boxes. Don’t promote them.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📝 Worked Container Diagram (FieldPulse)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[Mobile (Android)]──→  ╔══════════════════════════════╗
[Mobile (iOS)]    ──→  ║      Backend Monolith         ║
║                               ║
║  ┌──────────────────────┐     ║
║  │ Reconcile module     │     ║
║  │ (new — owned by us)  │     ║
║  └──────────────────────┘     ║
║  ┌──────────────────────┐     ║
║  │ Tickets module       │     ║
║  │ (Dispatch team)      │     ║
║  └──────────────────────┘     ║
║  ┌──────────────────────┐     ║
║  │ Auth module          │     ║
║  │ (Identity team)      │     ║
║  └──────────────────────┘     ║
╚════════════╤═══════════════════╝
↓ sync
[Postgres primary] → [Read replica]
⇢ async
[Event Hubs audit stream] ⇢ [Audit store]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2 — Container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Quads • 50 minutes</a:t>
            </a:r>
          </a:p>
          <a:p>
            <a:pPr lvl="0" indent="0" marL="0">
              <a:buNone/>
            </a:pPr>
            <a:r>
              <a:rPr/>
              <a:t>List containers; draw the diagram; annotate modules inside the monolith container; 90-second test.</a:t>
            </a:r>
          </a:p>
          <a:p>
            <a:pPr lvl="0" indent="0" marL="0">
              <a:buNone/>
            </a:pPr>
            <a:r>
              <a:rPr/>
              <a:t>10 min: list containers + tech (rough) + owners</a:t>
            </a:r>
          </a:p>
          <a:p>
            <a:pPr lvl="0" indent="0" marL="0">
              <a:buNone/>
            </a:pPr>
            <a:r>
              <a:rPr/>
              <a:t>25 min: draw containers + protocol-labeled arrows</a:t>
            </a:r>
          </a:p>
          <a:p>
            <a:pPr lvl="0" indent="0" marL="0">
              <a:buNone/>
            </a:pPr>
            <a:r>
              <a:rPr/>
              <a:t>10 min: annotate modular split inside containers</a:t>
            </a:r>
          </a:p>
          <a:p>
            <a:pPr lvl="0" indent="0" marL="0">
              <a:buNone/>
            </a:pPr>
            <a:r>
              <a:rPr/>
              <a:t>5 min: 90-sec walk-through</a:t>
            </a:r>
          </a:p>
          <a:p>
            <a:pPr lvl="0" indent="0" marL="0">
              <a:buNone/>
            </a:pPr>
            <a:r>
              <a:rPr/>
              <a:t>⏱ 10 + 25 + 10 + 5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3 — Stress-Test the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Three lenses: failure, trust, evolvability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🔎 The Three Lenses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Lens</a:t>
            </a:r>
          </a:p>
          <a:p>
            <a:pPr lvl="0" indent="0" marL="0">
              <a:buNone/>
            </a:pPr>
            <a:r>
              <a:rPr/>
              <a:t>Question</a:t>
            </a:r>
          </a:p>
          <a:p>
            <a:pPr lvl="0" indent="0" marL="0">
              <a:buNone/>
            </a:pPr>
            <a:r>
              <a:rPr/>
              <a:t>Failure</a:t>
            </a:r>
          </a:p>
          <a:p>
            <a:pPr lvl="0" indent="0" marL="0">
              <a:buNone/>
            </a:pPr>
            <a:r>
              <a:rPr/>
              <a:t>Trace a failure: “What happens when the audit stream is full?” Walk the diagram.</a:t>
            </a:r>
          </a:p>
          <a:p>
            <a:pPr lvl="0" indent="0" marL="0">
              <a:buNone/>
            </a:pPr>
            <a:r>
              <a:rPr/>
              <a:t>Trust boundary</a:t>
            </a:r>
          </a:p>
          <a:p>
            <a:pPr lvl="0" indent="0" marL="0">
              <a:buNone/>
            </a:pPr>
            <a:r>
              <a:rPr/>
              <a:t>Where does data cross from our control to someone else’s? Mark with a thick line.</a:t>
            </a:r>
          </a:p>
          <a:p>
            <a:pPr lvl="0" indent="0" marL="0">
              <a:buNone/>
            </a:pPr>
            <a:r>
              <a:rPr/>
              <a:t>Evolvability</a:t>
            </a:r>
          </a:p>
          <a:p>
            <a:pPr lvl="0" indent="0" marL="0">
              <a:buNone/>
            </a:pPr>
            <a:r>
              <a:rPr/>
              <a:t>If the architecture stance changes (modular monolith → microservice), which arrows change?</a:t>
            </a:r>
          </a:p>
          <a:p>
            <a:pPr lvl="0" indent="0" marL="0">
              <a:buNone/>
            </a:pPr>
            <a:r>
              <a:rPr/>
              <a:t>Trust boundary: the most-missed annotation. It’s where compliance and security risks concentrate.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3 — Stress-Test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Quad pairs • 50 minutes</a:t>
            </a:r>
          </a:p>
          <a:p>
            <a:pPr lvl="0" indent="0" marL="0">
              <a:buNone/>
            </a:pPr>
            <a:r>
              <a:rPr/>
              <a:t>Swap diagrams. Failure trace. Trust boundary mark-up. Evolvability question.</a:t>
            </a:r>
          </a:p>
          <a:p>
            <a:pPr lvl="0" indent="0" marL="0">
              <a:buNone/>
            </a:pPr>
            <a:r>
              <a:rPr/>
              <a:t>5 min: swap + read</a:t>
            </a:r>
          </a:p>
          <a:p>
            <a:pPr lvl="0" indent="0" marL="0">
              <a:buNone/>
            </a:pPr>
            <a:r>
              <a:rPr/>
              <a:t>20 min: failure trace (one scenario aloud)</a:t>
            </a:r>
          </a:p>
          <a:p>
            <a:pPr lvl="0" indent="0" marL="0">
              <a:buNone/>
            </a:pPr>
            <a:r>
              <a:rPr/>
              <a:t>10 min: trust boundary mark-up</a:t>
            </a:r>
          </a:p>
          <a:p>
            <a:pPr lvl="0" indent="0" marL="0">
              <a:buNone/>
            </a:pPr>
            <a:r>
              <a:rPr/>
              <a:t>10 min: evolvability question</a:t>
            </a:r>
          </a:p>
          <a:p>
            <a:pPr lvl="0" indent="0" marL="0">
              <a:buNone/>
            </a:pPr>
            <a:r>
              <a:rPr/>
              <a:t>5 min: authors annotate diagram with findings</a:t>
            </a:r>
          </a:p>
          <a:p>
            <a:pPr lvl="0" indent="0" marL="0">
              <a:buNone/>
            </a:pPr>
            <a:r>
              <a:rPr/>
              <a:t>⏱ 5 + 20 + 10 + 10 + 5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4 — AI Critique + Final Polish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Architect’s eye + stakeholder’s eye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🤖 Today’s Two Prompts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A. Architect critique</a:t>
            </a:r>
          </a:p>
          <a:p>
            <a:pPr lvl="0" indent="0" marL="0">
              <a:buNone/>
            </a:pPr>
            <a:r>
              <a:rPr/>
              <a:t>“What’s wrong with this diagram or the stance it implies?” 3 issues, each with scenario.</a:t>
            </a:r>
          </a:p>
          <a:p>
            <a:pPr lvl="0" indent="0" marL="0">
              <a:buNone/>
            </a:pPr>
            <a:r>
              <a:rPr/>
              <a:t>B. Stakeholder Q’s</a:t>
            </a:r>
          </a:p>
          <a:p>
            <a:pPr lvl="0" indent="0" marL="0">
              <a:buNone/>
            </a:pPr>
            <a:r>
              <a:rPr/>
              <a:t>“Operations VP — what 5 questions would you ask after seeing this?” Non-engineer questions.</a:t>
            </a:r>
          </a:p>
          <a:p>
            <a:pPr lvl="0" indent="0">
              <a:buNone/>
            </a:pPr>
            <a:r>
              <a:rPr>
                <a:latin typeface="Courier"/>
              </a:rPr>
              <a:t>Role: Principal architect reviewing a feature's C4 Container diagram.
Context: &lt;plain-text description: containers + tech + arrows + owners&gt;
Stance: &lt;copy from TCD Section 1&gt;
Task: Identify the top 3 issues. For each, name the specific scenario.
Constraints:
- Treat ownership and tech as given, not as targets
- Flag any unstated assumption
- Do not suggest generic 'modernization'
Format: Numbered list — Issue / Scenario / Suggested clarification.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4 — AI Critique + Polish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Quads • 55 minutes • Wrap</a:t>
            </a:r>
          </a:p>
          <a:p>
            <a:pPr lvl="0" indent="0" marL="0">
              <a:buNone/>
            </a:pPr>
            <a:r>
              <a:rPr/>
              <a:t>Run both prompts. Decide what to address. Polish diagrams. Provenance note.</a:t>
            </a:r>
          </a:p>
          <a:p>
            <a:pPr lvl="0" indent="0" marL="0">
              <a:buNone/>
            </a:pPr>
            <a:r>
              <a:rPr/>
              <a:t>20 min: Prompt A → 3 issues</a:t>
            </a:r>
          </a:p>
          <a:p>
            <a:pPr lvl="0" indent="0" marL="0">
              <a:buNone/>
            </a:pPr>
            <a:r>
              <a:rPr/>
              <a:t>10 min: adopt / defer / reject</a:t>
            </a:r>
          </a:p>
          <a:p>
            <a:pPr lvl="0" indent="0" marL="0">
              <a:buNone/>
            </a:pPr>
            <a:r>
              <a:rPr/>
              <a:t>10 min: Prompt B → stakeholder questions</a:t>
            </a:r>
          </a:p>
          <a:p>
            <a:pPr lvl="0" indent="0" marL="0">
              <a:buNone/>
            </a:pPr>
            <a:r>
              <a:rPr/>
              <a:t>10 min: final polish (legend, trust boundary, key arrows)</a:t>
            </a:r>
          </a:p>
          <a:p>
            <a:pPr lvl="0" indent="0" marL="0">
              <a:buNone/>
            </a:pPr>
            <a:r>
              <a:rPr/>
              <a:t>5 min: provenance note</a:t>
            </a:r>
          </a:p>
          <a:p>
            <a:pPr lvl="0" indent="0" marL="0">
              <a:buNone/>
            </a:pPr>
            <a:r>
              <a:rPr/>
              <a:t>⏱ 20 + 10 + 10 + 10 + 5 · 15-min wrap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🎉 Day 3 Wrap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we built</a:t>
            </a:r>
          </a:p>
          <a:p>
            <a:pPr lvl="0" indent="0" marL="0">
              <a:buNone/>
            </a:pPr>
            <a:r>
              <a:rPr/>
              <a:t>C4 Context diagram</a:t>
            </a:r>
          </a:p>
          <a:p>
            <a:pPr lvl="0" indent="0" marL="0">
              <a:buNone/>
            </a:pPr>
            <a:r>
              <a:rPr/>
              <a:t>C4 Container diagram</a:t>
            </a:r>
          </a:p>
          <a:p>
            <a:pPr lvl="0" indent="0" marL="0">
              <a:buNone/>
            </a:pPr>
            <a:r>
              <a:rPr/>
              <a:t>Trust-boundary annotation</a:t>
            </a:r>
          </a:p>
          <a:p>
            <a:pPr lvl="0" indent="0" marL="0">
              <a:buNone/>
            </a:pPr>
            <a:r>
              <a:rPr/>
              <a:t>Stress-tested with peers + AI</a:t>
            </a:r>
          </a:p>
          <a:p>
            <a:pPr lvl="0" indent="0" marL="0">
              <a:buNone/>
            </a:pPr>
            <a:r>
              <a:rPr/>
              <a:t>Technical Concept Document (TCD) Section 2 diagram-backed</a:t>
            </a:r>
          </a:p>
          <a:p>
            <a:pPr lvl="0" indent="0" marL="0">
              <a:buNone/>
            </a:pPr>
            <a:r>
              <a:rPr/>
              <a:t>What opens tomorrow</a:t>
            </a:r>
          </a:p>
          <a:p>
            <a:pPr lvl="0" indent="0" marL="0">
              <a:buNone/>
            </a:pPr>
            <a:r>
              <a:rPr/>
              <a:t>Latency, availability, rate limits</a:t>
            </a:r>
          </a:p>
          <a:p>
            <a:pPr lvl="0" indent="0" marL="0">
              <a:buNone/>
            </a:pPr>
            <a:r>
              <a:rPr/>
              <a:t>Service Level Objectives (SLOs) + error budgets</a:t>
            </a:r>
          </a:p>
          <a:p>
            <a:pPr lvl="0" indent="0" marL="0">
              <a:buNone/>
            </a:pPr>
            <a:r>
              <a:rPr/>
              <a:t>Latency budgets per hop</a:t>
            </a:r>
          </a:p>
          <a:p>
            <a:pPr lvl="0" indent="0" marL="0">
              <a:buNone/>
            </a:pPr>
            <a:r>
              <a:rPr/>
              <a:t>Rate limits as design tool</a:t>
            </a:r>
          </a:p>
          <a:p>
            <a:pPr lvl="0" indent="0" marL="0">
              <a:buNone/>
            </a:pPr>
            <a:r>
              <a:rPr/>
              <a:t>Bring to Day 4: Your two diagrams. The Container diagram is the input to latency-budgeting tomorrow.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💬 Questions &amp; Reflection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 does your diagram make obvious that words couldn’t?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2026-08-23T18:36:13Z</dcterms:created>
  <dcterms:modified xsi:type="dcterms:W3CDTF">2026-08-23T18:36:13Z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