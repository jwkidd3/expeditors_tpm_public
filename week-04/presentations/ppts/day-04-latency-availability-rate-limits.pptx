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SLOs are the contract between aspiration and operations. Today: set them realistically, walk the latency budget, design rate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TCD Section 4 drafted with all three SLOs.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set → walk the math → sanity-check.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SLI with SLO is the most common TPM blunder in this space. Spend the time to nail definitions before triads set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Correct this terminology error openly when you hear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“Average response time” is a smell. Force percentiles.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hit “no defense” and “aspirational” — both result from skipping the user-behavior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“average” trap is most under-detected. Force the percentile.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SLO must be defended with user-behavior evidence from Week 2. Numbers without defenses get rejected by reviewing engineers — push for the rationale.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error-budget consequence is what makes SLOs real. Without it, they’re just numbers in a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budget consequence — “we freeze feature merges” — that’s what makes it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for each SLO must reference Week-2 user-behavior. If it doesn’t,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hop-by-hop walk is where aspirational SLOs get caught. If a triad’s per-hop budget sums above the target, the SLO isn’t real — surface that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Replace with actual platform numbers if known. The exercise is the budgeting, not memorizing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“Tickets module dominates” finding is the kind of architecture conversation triads should bring to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SLOs are inadvertently aspirational. The walk surfaces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SLOs that don’t survive a peer reading. The AI sanity check catches numbers that look fine but aren’t grounded in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reviewer can’t answer “what real scenario does this rate limit protect against?” — surface it openly.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prompt is reusable for future SLO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SLO they’d defend hard, 1 they’re worried is aspirational, 1 error-budget consequence they’d accept.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error-budget consequence they’d commit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fold test is honest self-assessment of SLO defenses. Tomorrow names the trade-offs and assembles the TCD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⏱ Latency, Availability &amp; Rate Limits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4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Service Level Indicator (SLI) / Service Level Objective (SLO) / Service Level Agreement (SLA) / error budget</a:t>
            </a:r>
          </a:p>
          <a:p>
            <a:pPr lvl="0" indent="0" marL="0">
              <a:buNone/>
            </a:pPr>
            <a:r>
              <a:rPr/>
              <a:t>Set the three SLOs: latency, availability, throughput / rate limit</a:t>
            </a:r>
          </a:p>
          <a:p>
            <a:pPr lvl="0" indent="0" marL="0">
              <a:buNone/>
            </a:pPr>
            <a:r>
              <a:rPr/>
              <a:t>Walk the latency budget across your Container diagram — does the math fit?</a:t>
            </a:r>
          </a:p>
          <a:p>
            <a:pPr lvl="0" indent="0" marL="0">
              <a:buNone/>
            </a:pPr>
            <a:r>
              <a:rPr/>
              <a:t>Design a rate-limit policy with explicit failure-mode behavior</a:t>
            </a:r>
          </a:p>
          <a:p>
            <a:pPr lvl="0" indent="0" marL="0">
              <a:buNone/>
            </a:pPr>
            <a:r>
              <a:rPr/>
              <a:t>Name an error-budget consequence — the behavior change when we breach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Container diagram; recap SLI/SLO/SLA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SLO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Set your three SLOs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Latency-budget walk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 / SLO / SLA / Error budget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Get the Words Right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SLI</a:t>
            </a:r>
          </a:p>
          <a:p>
            <a:pPr lvl="0" indent="0" marL="0">
              <a:buNone/>
            </a:pPr>
            <a:r>
              <a:rPr/>
              <a:t>Measurement: latency, availability, error rate</a:t>
            </a:r>
          </a:p>
          <a:p>
            <a:pPr lvl="0" indent="0" marL="0">
              <a:buNone/>
            </a:pPr>
            <a:r>
              <a:rPr/>
              <a:t>Operators / engineers</a:t>
            </a:r>
          </a:p>
          <a:p>
            <a:pPr lvl="0" indent="0" marL="0">
              <a:buNone/>
            </a:pPr>
            <a:r>
              <a:rPr/>
              <a:t>SLO</a:t>
            </a:r>
          </a:p>
          <a:p>
            <a:pPr lvl="0" indent="0" marL="0">
              <a:buNone/>
            </a:pPr>
            <a:r>
              <a:rPr/>
              <a:t>Target for the SLI</a:t>
            </a:r>
          </a:p>
          <a:p>
            <a:pPr lvl="0" indent="0" marL="0">
              <a:buNone/>
            </a:pPr>
            <a:r>
              <a:rPr/>
              <a:t>TPMs, eng leads</a:t>
            </a:r>
          </a:p>
          <a:p>
            <a:pPr lvl="0" indent="0" marL="0">
              <a:buNone/>
            </a:pPr>
            <a:r>
              <a:rPr/>
              <a:t>SLA</a:t>
            </a:r>
          </a:p>
          <a:p>
            <a:pPr lvl="0" indent="0" marL="0">
              <a:buNone/>
            </a:pPr>
            <a:r>
              <a:rPr/>
              <a:t>Contractual commitment with consequences</a:t>
            </a:r>
          </a:p>
          <a:p>
            <a:pPr lvl="0" indent="0" marL="0">
              <a:buNone/>
            </a:pPr>
            <a:r>
              <a:rPr/>
              <a:t>Customer-facing</a:t>
            </a:r>
          </a:p>
          <a:p>
            <a:pPr lvl="0" indent="0" marL="0">
              <a:buNone/>
            </a:pPr>
            <a:r>
              <a:rPr/>
              <a:t>Error budget</a:t>
            </a:r>
          </a:p>
          <a:p>
            <a:pPr lvl="0" indent="0" marL="0">
              <a:buNone/>
            </a:pPr>
            <a:r>
              <a:rPr/>
              <a:t>(1 − SLO) over the window</a:t>
            </a:r>
          </a:p>
          <a:p>
            <a:pPr lvl="0" indent="0" marL="0">
              <a:buNone/>
            </a:pPr>
            <a:r>
              <a:rPr/>
              <a:t>Eng leads, TPMs</a:t>
            </a:r>
          </a:p>
          <a:p>
            <a:pPr lvl="0" indent="0" marL="0">
              <a:buNone/>
            </a:pPr>
            <a:r>
              <a:rPr/>
              <a:t>Common error: “We commit to 99.99%” written casually = SLA, not SLO. Use SLO for internal targets; SLA only when contractually intended.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Three SLOs Are Usually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</a:t>
            </a:r>
          </a:p>
          <a:p>
            <a:pPr lvl="0" indent="0" marL="0">
              <a:buNone/>
            </a:pPr>
            <a:r>
              <a:rPr/>
              <a:t>“p&lt;N&gt; ≤ &lt;X&gt;ms &lt;PCT&gt;% of the time over &lt;window&gt;” Anchor: when does the user give up?</a:t>
            </a:r>
          </a:p>
          <a:p>
            <a:pPr lvl="0" indent="0" marL="0">
              <a:buNone/>
            </a:pPr>
            <a:r>
              <a:rPr/>
              <a:t>Availability</a:t>
            </a:r>
          </a:p>
          <a:p>
            <a:pPr lvl="0" indent="0" marL="0">
              <a:buNone/>
            </a:pPr>
            <a:r>
              <a:rPr/>
              <a:t>“&lt;N&gt;% of requests succeed over &lt;window&gt;” Anchor: cost of a minute of downtime?</a:t>
            </a:r>
          </a:p>
          <a:p>
            <a:pPr lvl="0" indent="0" marL="0">
              <a:buNone/>
            </a:pPr>
            <a:r>
              <a:rPr/>
              <a:t>Throughput / rate limit</a:t>
            </a:r>
          </a:p>
          <a:p>
            <a:pPr lvl="0" indent="0" marL="0">
              <a:buNone/>
            </a:pPr>
            <a:r>
              <a:rPr/>
              <a:t>“system handles &lt;X&gt; rps per &lt;scope&gt;” Anchor: what abuse / accident are we protecting against?</a:t>
            </a:r>
          </a:p>
          <a:p>
            <a:pPr lvl="0" indent="0" marL="0">
              <a:buNone/>
            </a:pPr>
            <a:r>
              <a:rPr/>
              <a:t>Each must have: a percentile, a window, and a defense.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SLO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No window</a:t>
            </a:r>
          </a:p>
          <a:p>
            <a:pPr lvl="0" indent="0" marL="0">
              <a:buNone/>
            </a:pPr>
            <a:r>
              <a:rPr/>
              <a:t>“p95 &lt; 400ms” (over what?)</a:t>
            </a:r>
          </a:p>
          <a:p>
            <a:pPr lvl="0" indent="0" marL="0">
              <a:buNone/>
            </a:pPr>
            <a:r>
              <a:rPr/>
              <a:t>Average instead of percentile</a:t>
            </a:r>
          </a:p>
          <a:p>
            <a:pPr lvl="0" indent="0" marL="0">
              <a:buNone/>
            </a:pPr>
            <a:r>
              <a:rPr/>
              <a:t>“avg &lt; 500ms” (hides bimodal distributions)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“99.9%” (why this number?)</a:t>
            </a:r>
          </a:p>
          <a:p>
            <a:pPr lvl="0" indent="0" marL="0">
              <a:buNone/>
            </a:pPr>
            <a:r>
              <a:rPr/>
              <a:t>Aspirational</a:t>
            </a:r>
          </a:p>
          <a:p>
            <a:pPr lvl="0" indent="0" marL="0">
              <a:buNone/>
            </a:pPr>
            <a:r>
              <a:rPr/>
              <a:t>“99.99%” without multi-region active-active</a:t>
            </a:r>
          </a:p>
          <a:p>
            <a:pPr lvl="0" indent="0" marL="0">
              <a:buNone/>
            </a:pPr>
            <a:r>
              <a:rPr/>
              <a:t>User-mismatched</a:t>
            </a:r>
          </a:p>
          <a:p>
            <a:pPr lvl="0" indent="0" marL="0">
              <a:buNone/>
            </a:pPr>
            <a:r>
              <a:rPr/>
              <a:t>“p95 &lt; 5s” for a typing-feedback feature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SLO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SLO statements. Identify failures. Rewrite the 5 worst.</a:t>
            </a:r>
          </a:p>
          <a:p>
            <a:pPr lvl="0" indent="0" marL="0">
              <a:buNone/>
            </a:pPr>
            <a:r>
              <a:rPr/>
              <a:t>15 min: triage</a:t>
            </a:r>
          </a:p>
          <a:p>
            <a:pPr lvl="0" indent="0" marL="0">
              <a:buNone/>
            </a:pPr>
            <a:r>
              <a:rPr/>
              <a:t>15 min: rewrite (percentile + window + defense)</a:t>
            </a:r>
          </a:p>
          <a:p>
            <a:pPr lvl="0" indent="0" marL="0">
              <a:buNone/>
            </a:pPr>
            <a:r>
              <a:rPr/>
              <a:t>5 min: identify the most subtle failure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Latency / Availability / Rate limit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📎 Error Budget — the Decision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availability SLO is 99.9%, error budget is 0.1% — about 43 minutes of downtime per 30 days.</a:t>
            </a:r>
          </a:p>
          <a:p>
            <a:pPr lvl="0" indent="0" marL="0">
              <a:buNone/>
            </a:pPr>
            <a:r>
              <a:rPr/>
              <a:t>Inside the budget → ship features (more risk-tolerant)</a:t>
            </a:r>
          </a:p>
          <a:p>
            <a:pPr lvl="0" indent="0" marL="0">
              <a:buNone/>
            </a:pPr>
            <a:r>
              <a:rPr/>
              <a:t>Near or past the budget → prioritize reliability (more risk-averse)</a:t>
            </a:r>
          </a:p>
          <a:p>
            <a:pPr lvl="0" indent="0" marL="0">
              <a:buNone/>
            </a:pPr>
            <a:r>
              <a:rPr/>
              <a:t>Converts SLO from abstract to load-bearing: a team that respects its error budget is doing SRE, even if not labeled as such.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SLOs (FieldPulse reconcile)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SLO — Latency
**Measurement:** Reconcile modal open time, mobile client.
**Target:** p95 ≤ 1000ms, 99% over 30 days.
**Defense:** Dispatchers tap reconcile 30+ times/shift; &gt; 1s
crosses the "I'd rather use paper" threshold (Wk 1
interview Maria, Tier Sheet op-signal #2).
**Verification:** Synthetic transaction in Datadog.
### SLO — Availability
**Measurement:** Successful (non-5xx) reconcile submissions.
**Target:** 99.5% over 30 days.
**Error budget:** ~3.6 hrs/month.
**Defense:** Dispatch volume averages 200 reconciles/day; 30-min
outage during peak shift = ~50 affected dispatchers.
**Verification:** Pingdom + 5xx alerting.
**Budget consequence:** If 7-day rolling burns &gt;50% of budget,
we freeze new feature merges and prioritize reliability.
### Rate-limit policy
**Per-user:** 10 reconcile-submits/sec, burst 30.
**Per-tenant:** 100 reconcile-submits/sec.
**Failure mode:** HTTP 429 with Retry-After header; client
implements exponential backoff with jitter.
**Defense:** Protects against runaway script bug seen in the
2024 dispatcher-tool incident.
**Verification:** Load test before launch; rate-limit cap dashboard.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latency SLO (percentile + window + defense)</a:t>
            </a:r>
          </a:p>
          <a:p>
            <a:pPr lvl="0" indent="0" marL="0">
              <a:buNone/>
            </a:pPr>
            <a:r>
              <a:rPr/>
              <a:t>10 min: availability SLO + error-budget translation</a:t>
            </a:r>
          </a:p>
          <a:p>
            <a:pPr lvl="0" indent="0" marL="0">
              <a:buNone/>
            </a:pPr>
            <a:r>
              <a:rPr/>
              <a:t>15 min: rate-limit policy with failure-mode behavior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Latency 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the math fit your Container diagram?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Per-Hop Latency Reference (rough)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Hop type</a:t>
            </a:r>
          </a:p>
          <a:p>
            <a:pPr lvl="0" indent="0" marL="0">
              <a:buNone/>
            </a:pPr>
            <a:r>
              <a:rPr/>
              <a:t>Typical range</a:t>
            </a:r>
          </a:p>
          <a:p>
            <a:pPr lvl="0" indent="0" marL="0">
              <a:buNone/>
            </a:pPr>
            <a:r>
              <a:rPr/>
              <a:t>Network round-trip (LAN→Internet)</a:t>
            </a:r>
          </a:p>
          <a:p>
            <a:pPr lvl="0" indent="0" marL="0">
              <a:buNone/>
            </a:pPr>
            <a:r>
              <a:rPr/>
              <a:t>20–80ms</a:t>
            </a:r>
          </a:p>
          <a:p>
            <a:pPr lvl="0" indent="0" marL="0">
              <a:buNone/>
            </a:pPr>
            <a:r>
              <a:rPr/>
              <a:t>Database read (indexed)</a:t>
            </a:r>
          </a:p>
          <a:p>
            <a:pPr lvl="0" indent="0" marL="0">
              <a:buNone/>
            </a:pPr>
            <a:r>
              <a:rPr/>
              <a:t>5–30ms</a:t>
            </a:r>
          </a:p>
          <a:p>
            <a:pPr lvl="0" indent="0" marL="0">
              <a:buNone/>
            </a:pPr>
            <a:r>
              <a:rPr/>
              <a:t>Database write (single-row)</a:t>
            </a:r>
          </a:p>
          <a:p>
            <a:pPr lvl="0" indent="0" marL="0">
              <a:buNone/>
            </a:pPr>
            <a:r>
              <a:rPr/>
              <a:t>10–50ms</a:t>
            </a:r>
          </a:p>
          <a:p>
            <a:pPr lvl="0" indent="0" marL="0">
              <a:buNone/>
            </a:pPr>
            <a:r>
              <a:rPr/>
              <a:t>External API call (sync)</a:t>
            </a:r>
          </a:p>
          <a:p>
            <a:pPr lvl="0" indent="0" marL="0">
              <a:buNone/>
            </a:pPr>
            <a:r>
              <a:rPr/>
              <a:t>50–500ms (varies)</a:t>
            </a:r>
          </a:p>
          <a:p>
            <a:pPr lvl="0" indent="0" marL="0">
              <a:buNone/>
            </a:pPr>
            <a:r>
              <a:rPr/>
              <a:t>Async publish (Event Hubs/Service Bus local)</a:t>
            </a:r>
          </a:p>
          <a:p>
            <a:pPr lvl="0" indent="0" marL="0">
              <a:buNone/>
            </a:pPr>
            <a:r>
              <a:rPr/>
              <a:t>1–10ms</a:t>
            </a:r>
          </a:p>
          <a:p>
            <a:pPr lvl="0" indent="0" marL="0">
              <a:buNone/>
            </a:pPr>
            <a:r>
              <a:rPr/>
              <a:t>JWT validation</a:t>
            </a:r>
          </a:p>
          <a:p>
            <a:pPr lvl="0" indent="0" marL="0">
              <a:buNone/>
            </a:pPr>
            <a:r>
              <a:rPr/>
              <a:t>1–5ms</a:t>
            </a:r>
          </a:p>
          <a:p>
            <a:pPr lvl="0" indent="0" marL="0">
              <a:buNone/>
            </a:pPr>
            <a:r>
              <a:rPr/>
              <a:t>TLS handshake (cold)</a:t>
            </a:r>
          </a:p>
          <a:p>
            <a:pPr lvl="0" indent="0" marL="0">
              <a:buNone/>
            </a:pPr>
            <a:r>
              <a:rPr/>
              <a:t>50–200ms</a:t>
            </a:r>
          </a:p>
          <a:p>
            <a:pPr lvl="0" indent="0" marL="0">
              <a:buNone/>
            </a:pPr>
            <a:r>
              <a:rPr/>
              <a:t>These are starting points — even a Transport Layer Security (TLS) handshake varies by platform. Use real platform numbers if available.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Latency 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SLO target: p95 ≤ 1000ms
Path: Mobile → API GW → Reconcile → Postgres read
→ Tickets module
→ Postgres write
→ Audit publish
→ response back
Estimated:
Mobile→API GW round trip:    80ms
API GW → Reconcile:           20ms
Postgres read:                30ms
Tickets module call (sync):  100ms ← dominates
Postgres write:               40ms
Audit publish (async):        10ms
Reconcile → API GW response:  20ms
Response back:                80ms
─────
~380ms median
p95 likely ~700–900ms ✓
</a:t>
            </a:r>
          </a:p>
          <a:p>
            <a:pPr lvl="0" indent="0" marL="0">
              <a:buNone/>
            </a:pPr>
            <a:r>
              <a:rPr/>
              <a:t>If math doesn’t fit: tighter SLO / fewer hops / faster hops / wider percentile.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Latency-Budget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Annotate your Container diagram with per-hop latency. Sum the path. Decide what gives if it doesn’t fit.</a:t>
            </a:r>
          </a:p>
          <a:p>
            <a:pPr lvl="0" indent="0" marL="0">
              <a:buNone/>
            </a:pPr>
            <a:r>
              <a:rPr/>
              <a:t>15 min: annotate per-hop latency</a:t>
            </a:r>
          </a:p>
          <a:p>
            <a:pPr lvl="0" indent="0" marL="0">
              <a:buNone/>
            </a:pPr>
            <a:r>
              <a:rPr/>
              <a:t>10 min: sum the path</a:t>
            </a:r>
          </a:p>
          <a:p>
            <a:pPr lvl="0" indent="0" marL="0">
              <a:buNone/>
            </a:pPr>
            <a:r>
              <a:rPr/>
              <a:t>10 min: if doesn’t fit, decide what gives</a:t>
            </a:r>
          </a:p>
          <a:p>
            <a:pPr lvl="0" indent="0" marL="0">
              <a:buNone/>
            </a:pPr>
            <a:r>
              <a:rPr/>
              <a:t>5 min: flag question for engineering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questions; one prompt; honest revision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 target realistic given platform precedent?</a:t>
            </a:r>
          </a:p>
          <a:p>
            <a:pPr lvl="0" indent="0" marL="0">
              <a:buNone/>
            </a:pPr>
            <a:r>
              <a:rPr/>
              <a:t>Availability target realistic given the team’s on-call reality?</a:t>
            </a:r>
          </a:p>
          <a:p>
            <a:pPr lvl="0" indent="0" marL="0">
              <a:buNone/>
            </a:pPr>
            <a:r>
              <a:rPr/>
              <a:t>Rate-limit policy protects against a real abuse / accident scenario?</a:t>
            </a:r>
          </a:p>
          <a:p>
            <a:pPr lvl="0" indent="0" marL="0">
              <a:buNone/>
            </a:pPr>
            <a:r>
              <a:rPr/>
              <a:t>Author triad listens, captures, decides. Same Week-3 review discipline.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reliability engineer reviewing a feature's SLO sheet.
Context: &lt;paste SLO sheet + latency walk + rate-limit policy&gt;
Architecture stance: &lt;paste TCD Section 1&gt;
Task: Identify the top 3 reasons the SLOs as written might
not be sustainable.
Constraints:
- Use only the information provided; do not invent platform details
- Be specific: which SLO, which scenario, which condition
- Suggest a more realistic alternative for each
Format: Numbered list — Issue / Scenario / Suggested target.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(3 questions)</a:t>
            </a:r>
          </a:p>
          <a:p>
            <a:pPr lvl="0" indent="0" marL="0">
              <a:buNone/>
            </a:pPr>
            <a:r>
              <a:rPr/>
              <a:t>15 min: AI sanity-check + adopt/defer/reject</a:t>
            </a:r>
          </a:p>
          <a:p>
            <a:pPr lvl="0" indent="0" marL="0">
              <a:buNone/>
            </a:pPr>
            <a:r>
              <a:rPr/>
              <a:t>10 min: revise Section 4 + provenance note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SLI / SLO / SLA / error-budget vocabulary</a:t>
            </a:r>
          </a:p>
          <a:p>
            <a:pPr lvl="0" indent="0" marL="0">
              <a:buNone/>
            </a:pPr>
            <a:r>
              <a:rPr/>
              <a:t>Three SLOs (latency / availability / rate)</a:t>
            </a:r>
          </a:p>
          <a:p>
            <a:pPr lvl="0" indent="0" marL="0">
              <a:buNone/>
            </a:pPr>
            <a:r>
              <a:rPr/>
              <a:t>Latency-budget walk through Container diagram</a:t>
            </a:r>
          </a:p>
          <a:p>
            <a:pPr lvl="0" indent="0" marL="0">
              <a:buNone/>
            </a:pPr>
            <a:r>
              <a:rPr/>
              <a:t>Error-budget consequence stated</a:t>
            </a:r>
          </a:p>
          <a:p>
            <a:pPr lvl="0" indent="0" marL="0">
              <a:buNone/>
            </a:pPr>
            <a:r>
              <a:rPr/>
              <a:t>Technical Concept Document (TCD)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trade-offs &amp; constraints</a:t>
            </a:r>
          </a:p>
          <a:p>
            <a:pPr lvl="0" indent="0" marL="0">
              <a:buNone/>
            </a:pPr>
            <a:r>
              <a:rPr/>
              <a:t>Friday: assemble TCD Sections 5–6</a:t>
            </a:r>
          </a:p>
          <a:p>
            <a:pPr lvl="0" indent="0" marL="0">
              <a:buNone/>
            </a:pPr>
            <a:r>
              <a:rPr/>
              <a:t>Stakeholder + sign-off matrix</a:t>
            </a:r>
          </a:p>
          <a:p>
            <a:pPr lvl="0" indent="0" marL="0">
              <a:buNone/>
            </a:pPr>
            <a:r>
              <a:rPr/>
              <a:t>Cross-triad review of the full TCD</a:t>
            </a:r>
          </a:p>
          <a:p>
            <a:pPr lvl="0" indent="0" marL="0">
              <a:buNone/>
            </a:pPr>
            <a:r>
              <a:rPr/>
              <a:t>Bring to Day 5: Your TCD Sections 1–4. Tomorrow integrates everything into the final TCD.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SLOs would you fold under pressure from a stakeholder asking for “just a bit more”?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2026-08-04T16:59:17Z</dcterms:created>
  <dcterms:modified xsi:type="dcterms:W3CDTF">2026-08-04T16:59:17Z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