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TPM is not the security expert. The job is to drive the right conversation with security and produce a starting threat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produces TCD Section 3 — supersedes PRD Section 7’s first-draft security NFRs.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calibrate → apply → rewrite NFRs →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STRIDE is the shared vocabulary security teams use. Walk all six letters before quads apply them — half-applied STRIDE is worse than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quad’s threat list has 0 R’s, push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arrow + box, the quad asks each letter. Most arrows have S+T+I; most boxes have T+R+I. Not exhaustive — a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Quads will miss Repudiation on the magic-link step. Surface that finding publicly.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Quads now STRIDE their actual feature. Push past S and I — T and R are usually the most-missed and the highest-value threats to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specificity. Boilerplate mitigations don’t survive a security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pattern: a threat is one sentence, mitigation is concrete + tied to an NFR. The combination is the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for at least 2 of 5 not S or I (the easy ones). T and R are usually the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converts threat findings into rewritten NFRs. Compliance frames (PII, audit, retention) often need first drafts here; coach without rescuing.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TPMs will encounter SOC 2 + a privacy regime. The third varies. Surface this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Quads should keep their PRD Section 7 in place — but reference the TCD Section 3 as the authoritative version for the architecture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Quads who skipped Compliance NFRs in Week 3 will struggle here. Coach without rescuing.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security brief is the deliverable security partners actually want before a review. Quads draft the one-pager so the conversation starts at “your top three” rather than “what’s the feature.”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brief that says “we don’t know anything; please tell us” is unhelpful to the security team and signals a passive TPM.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this prompt to the Pattern Library after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quad names 1 surprising threat, 1 NFR that changed materially, 1 question for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a STRIDE letter they’ll never forget to apply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Naming the STRIDE-only find anchors the framework’s value. Tomorrow turns the integration table and threats into component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🔒 System Security &amp; Compliance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4 • Day 2 • Technical Architecture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Apply the STRIDE threat model (Spoofing, Tampering, Repudiation, Information disclosure, Denial of service, Elevation of privilege) to a feature’s data flow</a:t>
            </a:r>
          </a:p>
          <a:p>
            <a:pPr lvl="0" indent="0" marL="0">
              <a:buNone/>
            </a:pPr>
            <a:r>
              <a:rPr/>
              <a:t>Walk a data-flow diagram: arrows (in motion) + boxes (at rest)</a:t>
            </a:r>
          </a:p>
          <a:p>
            <a:pPr lvl="0" indent="0" marL="0">
              <a:buNone/>
            </a:pPr>
            <a:r>
              <a:rPr/>
              <a:t>Recognize the three compliance frames: SOC 2, privacy, industry-specific</a:t>
            </a:r>
          </a:p>
          <a:p>
            <a:pPr lvl="0" indent="0" marL="0">
              <a:buNone/>
            </a:pPr>
            <a:r>
              <a:rPr/>
              <a:t>Rewrite the Week-3 first-draft security non-functional requirements (NFRs) at architecture level</a:t>
            </a:r>
          </a:p>
          <a:p>
            <a:pPr lvl="0" indent="0" marL="0">
              <a:buNone/>
            </a:pPr>
            <a:r>
              <a:rPr/>
              <a:t>Produce a security brief ready for a security-team conversation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Recap Sections 1–2; print STRIDE card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STRIDE calibration on a public example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STRIDE pass on your PRD feature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Compliance frame + updated NFRs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Security brief + AI cross-check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STRIDE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Six letters, six categories of threat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Six Letters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Letter</a:t>
            </a:r>
          </a:p>
          <a:p>
            <a:pPr lvl="0" indent="0" marL="0">
              <a:buNone/>
            </a:pPr>
            <a:r>
              <a:rPr/>
              <a:t>Threat</a:t>
            </a:r>
          </a:p>
          <a:p>
            <a:pPr lvl="0" indent="0" marL="0">
              <a:buNone/>
            </a:pPr>
            <a:r>
              <a:rPr/>
              <a:t>Plain language</a:t>
            </a:r>
          </a:p>
          <a:p>
            <a:pPr lvl="0" indent="0" marL="0">
              <a:buNone/>
            </a:pPr>
            <a:r>
              <a:rPr/>
              <a:t>S</a:t>
            </a:r>
          </a:p>
          <a:p>
            <a:pPr lvl="0" indent="0" marL="0">
              <a:buNone/>
            </a:pPr>
            <a:r>
              <a:rPr/>
              <a:t>Spoofing</a:t>
            </a:r>
          </a:p>
          <a:p>
            <a:pPr lvl="0" indent="0" marL="0">
              <a:buNone/>
            </a:pPr>
            <a:r>
              <a:rPr/>
              <a:t>Pretending to be someone you aren’t</a:t>
            </a:r>
          </a:p>
          <a:p>
            <a:pPr lvl="0" indent="0" marL="0">
              <a:buNone/>
            </a:pPr>
            <a:r>
              <a:rPr/>
              <a:t>T</a:t>
            </a:r>
          </a:p>
          <a:p>
            <a:pPr lvl="0" indent="0" marL="0">
              <a:buNone/>
            </a:pPr>
            <a:r>
              <a:rPr/>
              <a:t>Tampering</a:t>
            </a:r>
          </a:p>
          <a:p>
            <a:pPr lvl="0" indent="0" marL="0">
              <a:buNone/>
            </a:pPr>
            <a:r>
              <a:rPr/>
              <a:t>Changing data without authorization</a:t>
            </a:r>
          </a:p>
          <a:p>
            <a:pPr lvl="0" indent="0" marL="0">
              <a:buNone/>
            </a:pPr>
            <a:r>
              <a:rPr/>
              <a:t>R</a:t>
            </a:r>
          </a:p>
          <a:p>
            <a:pPr lvl="0" indent="0" marL="0">
              <a:buNone/>
            </a:pPr>
            <a:r>
              <a:rPr/>
              <a:t>Repudiation</a:t>
            </a:r>
          </a:p>
          <a:p>
            <a:pPr lvl="0" indent="0" marL="0">
              <a:buNone/>
            </a:pPr>
            <a:r>
              <a:rPr/>
              <a:t>Denying you did something you did</a:t>
            </a:r>
          </a:p>
          <a:p>
            <a:pPr lvl="0" indent="0" marL="0">
              <a:buNone/>
            </a:pPr>
            <a:r>
              <a:rPr/>
              <a:t>I</a:t>
            </a:r>
          </a:p>
          <a:p>
            <a:pPr lvl="0" indent="0" marL="0">
              <a:buNone/>
            </a:pPr>
            <a:r>
              <a:rPr/>
              <a:t>Information disclosure</a:t>
            </a:r>
          </a:p>
          <a:p>
            <a:pPr lvl="0" indent="0" marL="0">
              <a:buNone/>
            </a:pPr>
            <a:r>
              <a:rPr/>
              <a:t>Exposing data to wrong party</a:t>
            </a:r>
          </a:p>
          <a:p>
            <a:pPr lvl="0" indent="0" marL="0">
              <a:buNone/>
            </a:pPr>
            <a:r>
              <a:rPr/>
              <a:t>D</a:t>
            </a:r>
          </a:p>
          <a:p>
            <a:pPr lvl="0" indent="0" marL="0">
              <a:buNone/>
            </a:pPr>
            <a:r>
              <a:rPr/>
              <a:t>Denial of service</a:t>
            </a:r>
          </a:p>
          <a:p>
            <a:pPr lvl="0" indent="0" marL="0">
              <a:buNone/>
            </a:pPr>
            <a:r>
              <a:rPr/>
              <a:t>Blocking legitimate use</a:t>
            </a:r>
          </a:p>
          <a:p>
            <a:pPr lvl="0" indent="0" marL="0">
              <a:buNone/>
            </a:pPr>
            <a:r>
              <a:rPr/>
              <a:t>E</a:t>
            </a:r>
          </a:p>
          <a:p>
            <a:pPr lvl="0" indent="0" marL="0">
              <a:buNone/>
            </a:pPr>
            <a:r>
              <a:rPr/>
              <a:t>Elevation of privilege</a:t>
            </a:r>
          </a:p>
          <a:p>
            <a:pPr lvl="0" indent="0" marL="0">
              <a:buNone/>
            </a:pPr>
            <a:r>
              <a:rPr/>
              <a:t>Doing more than your role allows</a:t>
            </a:r>
          </a:p>
          <a:p>
            <a:pPr lvl="0" indent="0" marL="0">
              <a:buNone/>
            </a:pPr>
            <a:r>
              <a:rPr/>
              <a:t>Most-missed letter: Repudiation. The least intuitive. Teams that build features without audit trails routinely miss it.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The Data-Flow Lens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threat model is a walk along the data flow. Where does data come from, where does it move to, where does it stop, who can read or change it at each step?</a:t>
            </a:r>
          </a:p>
          <a:p>
            <a:pPr lvl="0" indent="0">
              <a:buNone/>
            </a:pPr>
            <a:r>
              <a:rPr>
                <a:latin typeface="Courier"/>
              </a:rPr>
              <a:t>[User] →(auth)→ [Frontend] →(API)→ [Backend service]
↓
[Datastore]
↓
[Audit / events]
↓
[Downstream consumer]</a:t>
            </a:r>
          </a:p>
          <a:p>
            <a:pPr lvl="0" indent="0" marL="0">
              <a:buNone/>
            </a:pPr>
            <a:r>
              <a:rPr/>
              <a:t>Threats live at arrows (data in motion)</a:t>
            </a:r>
          </a:p>
          <a:p>
            <a:pPr lvl="0" indent="0" marL="0">
              <a:buNone/>
            </a:pPr>
            <a:r>
              <a:rPr/>
              <a:t>Threats live at boxes (data at rest)</a:t>
            </a:r>
          </a:p>
          <a:p>
            <a:pPr lvl="0" indent="0" marL="0">
              <a:buNone/>
            </a:pPr>
            <a:r>
              <a:rPr/>
              <a:t>Each STRIDE letter applies to one or more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STRIDE on Password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Walk a password-reset flow. Apply STRIDE per step. Cull to top 5 threats.</a:t>
            </a:r>
          </a:p>
          <a:p>
            <a:pPr lvl="0" indent="0" marL="0">
              <a:buNone/>
            </a:pPr>
            <a:r>
              <a:rPr/>
              <a:t>5 min: sketch the flow</a:t>
            </a:r>
          </a:p>
          <a:p>
            <a:pPr lvl="0" indent="0" marL="0">
              <a:buNone/>
            </a:pPr>
            <a:r>
              <a:rPr/>
              <a:t>30 min: STRIDE walk (6 letters per step)</a:t>
            </a:r>
          </a:p>
          <a:p>
            <a:pPr lvl="0" indent="0" marL="0">
              <a:buNone/>
            </a:pPr>
            <a:r>
              <a:rPr/>
              <a:t>10 min: cull to top 5</a:t>
            </a:r>
          </a:p>
          <a:p>
            <a:pPr lvl="0" indent="0" marL="0">
              <a:buNone/>
            </a:pPr>
            <a:r>
              <a:rPr/>
              <a:t>⏱ 5 + 30 + 10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STRIDE Your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Apply the calibrated walk to your PRD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Threat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### Threat — &lt;short name&gt;
**STRIDE letter:** S / T / R / I / D / E
**Where:** [box or arrow in your data flow]
**Scenario:** [one sentence]
**Likelihood:** L / M / H
**Impact:** L / M / H
**Mitigation:** [specific control; "TLS" is not a complete answer]
**Owner:** [security team, you, the architect]</a:t>
            </a:r>
          </a:p>
          <a:p>
            <a:pPr lvl="0" indent="0" marL="0">
              <a:buNone/>
            </a:pPr>
            <a:r>
              <a:rPr/>
              <a:t>“Use security best practices” — or a bare “Transport Layer Security (TLS)” — is not a mitigation. “Validate JWT signature against IdP-published key, with 5-minute clock skew”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Threat (FieldPulse reconcile)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### Threat — Repudiation of reconcile submission
**STRIDE letter:** R
**Where:** [Mobile app] →(submit)→ [Reconcile API]
**Scenario:** A dispatcher denies submitting a reconcile that
triggered an incorrect timecard charge.
**Likelihood:** L
**Impact:** H (wage-and-hour audit exposure)
**Mitigation:** Server-side audit event with: dispatcher_id, ticket_ids,
timestamp, signed JWT used, user-agent. 24-month retention.
Tied to NFR-Audit-Trail.
**Owner:** Security architect (validates retention; we own implementation).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STRIDE Your PRD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Re-draw the data flow from yesterday’s integration table + Product Requirements Document (PRD) Section 5. Run the STRIDE walk. Document top 5 threats.</a:t>
            </a:r>
          </a:p>
          <a:p>
            <a:pPr lvl="0" indent="0" marL="0">
              <a:buNone/>
            </a:pPr>
            <a:r>
              <a:rPr/>
              <a:t>10 min: re-draw data flow</a:t>
            </a:r>
          </a:p>
          <a:p>
            <a:pPr lvl="0" indent="0" marL="0">
              <a:buNone/>
            </a:pPr>
            <a:r>
              <a:rPr/>
              <a:t>30 min: STRIDE walk</a:t>
            </a:r>
          </a:p>
          <a:p>
            <a:pPr lvl="0" indent="0" marL="0">
              <a:buNone/>
            </a:pPr>
            <a:r>
              <a:rPr/>
              <a:t>10 min: top 5 threats with template</a:t>
            </a:r>
          </a:p>
          <a:p>
            <a:pPr lvl="0" indent="0" marL="0">
              <a:buNone/>
            </a:pPr>
            <a:r>
              <a:rPr/>
              <a:t>⏱ 10 + 30 + 10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Compliance + NFR Rewrite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frames; rewrite the first-draft NFRs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Three Compliance 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 2 Type II</a:t>
            </a:r>
          </a:p>
          <a:p>
            <a:pPr lvl="0" indent="0" marL="0">
              <a:buNone/>
            </a:pPr>
            <a:r>
              <a:rPr/>
              <a:t>Operational controls (security, availability, confidentiality, processing integrity, privacy). Most B2B SaaS sales requirement.</a:t>
            </a:r>
          </a:p>
          <a:p>
            <a:pPr lvl="0" indent="0" marL="0">
              <a:buNone/>
            </a:pPr>
            <a:r>
              <a:rPr/>
              <a:t>Privacy regimes</a:t>
            </a:r>
          </a:p>
          <a:p>
            <a:pPr lvl="0" indent="0" marL="0">
              <a:buNone/>
            </a:pPr>
            <a:r>
              <a:rPr/>
              <a:t>General Data Protection Regulation (GDPR), California Consumer Privacy Act (CCPA). PII handling, consent, deletion.</a:t>
            </a:r>
          </a:p>
          <a:p>
            <a:pPr lvl="0" indent="0" marL="0">
              <a:buNone/>
            </a:pPr>
            <a:r>
              <a:rPr/>
              <a:t>Industry-specific</a:t>
            </a:r>
          </a:p>
          <a:p>
            <a:pPr lvl="0" indent="0" marL="0">
              <a:buNone/>
            </a:pPr>
            <a:r>
              <a:rPr/>
              <a:t>HIPAA (health records), PCI-DSS (card data), FERPA (student records), SOX (financial reporting), etc. Pulled in by data type or customer industry.</a:t>
            </a:r>
          </a:p>
          <a:p>
            <a:pPr lvl="0" indent="0" marL="0">
              <a:buNone/>
            </a:pPr>
            <a:r>
              <a:rPr/>
              <a:t>The TPM job: not to write the compliance program. Flag which frame applies; drive the conversation with the responsible team.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NFR Rewrite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NFR (first draft)</a:t>
            </a:r>
          </a:p>
          <a:p>
            <a:pPr lvl="0" indent="0" marL="0">
              <a:buNone/>
            </a:pPr>
            <a:r>
              <a:rPr/>
              <a:t>Week 4 update</a:t>
            </a:r>
          </a:p>
          <a:p>
            <a:pPr lvl="0" indent="0" marL="0">
              <a:buNone/>
            </a:pPr>
            <a:r>
              <a:rPr/>
              <a:t>Why</a:t>
            </a:r>
          </a:p>
          <a:p>
            <a:pPr lvl="0" indent="0" marL="0">
              <a:buNone/>
            </a:pPr>
            <a:r>
              <a:rPr/>
              <a:t>“AuthN: SSO required”</a:t>
            </a:r>
          </a:p>
          <a:p>
            <a:pPr lvl="0" indent="0" marL="0">
              <a:buNone/>
            </a:pPr>
            <a:r>
              <a:rPr/>
              <a:t>SAML 2.0 + scope </a:t>
            </a:r>
            <a:r>
              <a:rPr>
                <a:latin typeface="Courier"/>
              </a:rPr>
              <a:t>reconcile.write</a:t>
            </a:r>
          </a:p>
          <a:p>
            <a:pPr lvl="0" indent="0" marL="0">
              <a:buNone/>
            </a:pPr>
            <a:r>
              <a:rPr/>
              <a:t>Threat model surfaced privilege scope</a:t>
            </a:r>
          </a:p>
          <a:p>
            <a:pPr lvl="0" indent="0" marL="0">
              <a:buNone/>
            </a:pPr>
            <a:r>
              <a:rPr/>
              <a:t>“Audit logging”</a:t>
            </a:r>
          </a:p>
          <a:p>
            <a:pPr lvl="0" indent="0" marL="0">
              <a:buNone/>
            </a:pPr>
            <a:r>
              <a:rPr/>
              <a:t>Specific event list (S/T/R coverage)</a:t>
            </a:r>
          </a:p>
          <a:p>
            <a:pPr lvl="0" indent="0" marL="0">
              <a:buNone/>
            </a:pPr>
            <a:r>
              <a:rPr/>
              <a:t>SOC 2 + Repudiation threats</a:t>
            </a:r>
          </a:p>
          <a:p>
            <a:pPr lvl="0" indent="0" marL="0">
              <a:buNone/>
            </a:pPr>
            <a:r>
              <a:rPr/>
              <a:t>“Encryption”</a:t>
            </a:r>
          </a:p>
          <a:p>
            <a:pPr lvl="0" indent="0" marL="0">
              <a:buNone/>
            </a:pPr>
            <a:r>
              <a:rPr/>
              <a:t>TLS 1.2+ + at-rest managed keys + log redaction</a:t>
            </a:r>
          </a:p>
          <a:p>
            <a:pPr lvl="0" indent="0" marL="0">
              <a:buNone/>
            </a:pPr>
            <a:r>
              <a:rPr/>
              <a:t>Information Disclosure threats</a:t>
            </a:r>
          </a:p>
          <a:p>
            <a:pPr lvl="0" indent="0" marL="0">
              <a:buNone/>
            </a:pPr>
            <a:r>
              <a:rPr/>
              <a:t>(none)</a:t>
            </a:r>
          </a:p>
          <a:p>
            <a:pPr lvl="0" indent="0" marL="0">
              <a:buNone/>
            </a:pPr>
            <a:r>
              <a:rPr/>
              <a:t>Data residency: same region as Tickets</a:t>
            </a:r>
          </a:p>
          <a:p>
            <a:pPr lvl="0" indent="0" marL="0">
              <a:buNone/>
            </a:pPr>
            <a:r>
              <a:rPr/>
              <a:t>Latency + privacy regime</a:t>
            </a:r>
          </a:p>
          <a:p>
            <a:pPr lvl="0" indent="0" marL="0">
              <a:buNone/>
            </a:pPr>
            <a:r>
              <a:rPr/>
              <a:t>The Technical Concept Document (TCD) Section 3 doesn’t replace PRD Section 7. It deepens it — e.g., a loose “single sign-on (SSO)” line becomes a concrete scope. Both ship.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Compliance + NFR Rewrite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Identify which frames apply; list the specific controls each requires. Rewrite the security &amp; compliance NFRs.</a:t>
            </a:r>
          </a:p>
          <a:p>
            <a:pPr lvl="0" indent="0" marL="0">
              <a:buNone/>
            </a:pPr>
            <a:r>
              <a:rPr/>
              <a:t>10 min: compliance frame check (SOC 2 / privacy / industry)</a:t>
            </a:r>
          </a:p>
          <a:p>
            <a:pPr lvl="0" indent="0" marL="0">
              <a:buNone/>
            </a:pPr>
            <a:r>
              <a:rPr/>
              <a:t>25 min: list specific controls per frame</a:t>
            </a:r>
          </a:p>
          <a:p>
            <a:pPr lvl="0" indent="0" marL="0">
              <a:buNone/>
            </a:pPr>
            <a:r>
              <a:rPr/>
              <a:t>15 min: rewrite the NFRs (req / defense / verification)</a:t>
            </a:r>
          </a:p>
          <a:p>
            <a:pPr lvl="0" indent="0" marL="0">
              <a:buNone/>
            </a:pPr>
            <a:r>
              <a:rPr/>
              <a:t>⏱ 10 + 25 + 15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The Security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document you’d hand to security before the meeting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Security Brief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Security brief — &lt;feature&gt;
## Summary (3 bullets)
## Data flow
(link to TCD Section 2)
## Top 5 threats (from STRIDE pass)
## Open questions for security team
## Decisions we've already made (and their justification)</a:t>
            </a:r>
          </a:p>
          <a:p>
            <a:pPr lvl="0" indent="0" marL="0">
              <a:buNone/>
            </a:pPr>
            <a:r>
              <a:rPr/>
              <a:t>Short: security partner reads in 5 min</a:t>
            </a:r>
          </a:p>
          <a:p>
            <a:pPr lvl="0" indent="0" marL="0">
              <a:buNone/>
            </a:pPr>
            <a:r>
              <a:rPr/>
              <a:t>Specific: “open questions” are concrete asks</a:t>
            </a:r>
          </a:p>
          <a:p>
            <a:pPr lvl="0" indent="0" marL="0">
              <a:buNone/>
            </a:pPr>
            <a:r>
              <a:rPr/>
              <a:t>Confident: “decisions made” shows you didn’t outsource thinking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AI Cross-Check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Role: Senior security architect.
Context: &lt;paste the security brief&gt;
Task: What's the strongest objection a senior security architect
would raise after reading this brief?
Constraints:
- Be specific to the data and integrations described
- Do not suggest generic best practices
- Flag any place rationale relies on un-stated assumptions
Format: Top 3 objections, each with a scenario.</a:t>
            </a:r>
          </a:p>
          <a:p>
            <a:pPr lvl="0" indent="0" marL="0">
              <a:buNone/>
            </a:pPr>
            <a:r>
              <a:rPr/>
              <a:t>Cross-validation rule: AI surfaces possibilities; you decide what’s real. Treat output as a list of leads to investigate, not findings to adopt.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Security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55 minutes • Wrap</a:t>
            </a:r>
          </a:p>
          <a:p>
            <a:pPr lvl="0" indent="0" marL="0">
              <a:buNone/>
            </a:pPr>
            <a:r>
              <a:rPr/>
              <a:t>5 questions for security; 3 likely pushbacks; draft the 1-page brief; AI cross-check.</a:t>
            </a:r>
          </a:p>
          <a:p>
            <a:pPr lvl="0" indent="0" marL="0">
              <a:buNone/>
            </a:pPr>
            <a:r>
              <a:rPr/>
              <a:t>25 min: 5 questions for security</a:t>
            </a:r>
          </a:p>
          <a:p>
            <a:pPr lvl="0" indent="0" marL="0">
              <a:buNone/>
            </a:pPr>
            <a:r>
              <a:rPr/>
              <a:t>10 min: 3 predicted pushbacks + responses</a:t>
            </a:r>
          </a:p>
          <a:p>
            <a:pPr lvl="0" indent="0" marL="0">
              <a:buNone/>
            </a:pPr>
            <a:r>
              <a:rPr/>
              <a:t>15 min: draft the brief</a:t>
            </a:r>
          </a:p>
          <a:p>
            <a:pPr lvl="0" indent="0" marL="0">
              <a:buNone/>
            </a:pPr>
            <a:r>
              <a:rPr/>
              <a:t>5 min: AI cross-check + provenance note</a:t>
            </a:r>
          </a:p>
          <a:p>
            <a:pPr lvl="0" indent="0" marL="0">
              <a:buNone/>
            </a:pPr>
            <a:r>
              <a:rPr/>
              <a:t>⏱ 25 + 10 + 15 + 5 · 15-min wrap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STRIDE walk through your feature’s data flow</a:t>
            </a:r>
          </a:p>
          <a:p>
            <a:pPr lvl="0" indent="0" marL="0">
              <a:buNone/>
            </a:pPr>
            <a:r>
              <a:rPr/>
              <a:t>Top-5 threats with mitigations + owners</a:t>
            </a:r>
          </a:p>
          <a:p>
            <a:pPr lvl="0" indent="0" marL="0">
              <a:buNone/>
            </a:pPr>
            <a:r>
              <a:rPr/>
              <a:t>Updated security &amp; compliance NFRs</a:t>
            </a:r>
          </a:p>
          <a:p>
            <a:pPr lvl="0" indent="0" marL="0">
              <a:buNone/>
            </a:pPr>
            <a:r>
              <a:rPr/>
              <a:t>1-page security brief</a:t>
            </a:r>
          </a:p>
          <a:p>
            <a:pPr lvl="0" indent="0" marL="0">
              <a:buNone/>
            </a:pPr>
            <a:r>
              <a:rPr/>
              <a:t>TCD Section 3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Mapping high-level system components</a:t>
            </a:r>
          </a:p>
          <a:p>
            <a:pPr lvl="0" indent="0" marL="0">
              <a:buNone/>
            </a:pPr>
            <a:r>
              <a:rPr/>
              <a:t>C4 model (Context + Container)</a:t>
            </a:r>
          </a:p>
          <a:p>
            <a:pPr lvl="0" indent="0" marL="0">
              <a:buNone/>
            </a:pPr>
            <a:r>
              <a:rPr/>
              <a:t>Convert your integration table into a diagram</a:t>
            </a:r>
          </a:p>
          <a:p>
            <a:pPr lvl="0" indent="0" marL="0">
              <a:buNone/>
            </a:pPr>
            <a:r>
              <a:rPr/>
              <a:t>Bring to Day 3: Your TCD Sections 1–3 + the integration table from Day 1. Tomorrow we draw.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the threat you found that wouldn’t have shown up without STRIDE?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2026-08-12T22:04:06Z</dcterms:created>
  <dcterms:modified xsi:type="dcterms:W3CDTF">2026-08-12T22:04:06Z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