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notesMaster" Target="notesMasters/notesMaster1.xml" /><Relationship Id="rId33" Type="http://schemas.openxmlformats.org/officeDocument/2006/relationships/viewProps" Target="viewProps.xml" /><Relationship Id="rId32" Type="http://schemas.openxmlformats.org/officeDocument/2006/relationships/presProps" Target="presProps.xml" /><Relationship Id="rId1" Type="http://schemas.openxmlformats.org/officeDocument/2006/relationships/slideMaster" Target="slideMasters/slideMaster1.xml" /><Relationship Id="rId35" Type="http://schemas.openxmlformats.org/officeDocument/2006/relationships/tableStyles" Target="tableStyles.xml" /><Relationship Id="rId3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this as a live review game to close the week. Read the question, let triads commit to an answer out loud or on paper, then advance to the answer slide. The goal is retention through retrieval — make them commit before revealing.</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Emphasize commitment before reveal. The retrieval effort is what moves knowledge into long-term memory — passively recognizing the right answer does far less.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Many real systems labeled “microservices” are actually this. The tell is coupled deploys — you pay the ops cost without gaining independence.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Draw the distinction from a modular monolith (one deploy, strict boundaries — often the right answer) and true microservices (independently deployable).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them vote. “Revisit if” is the senior-author signal — this T/F tests whether they know a real trigger from a placeholder.</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a triad’s “revisit if” is vague, force a metric or an organizational change. That specificity is what separates a stance from a wish.</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Spoofing and Information disclosure feel obvious. Repudiation is the one people forget because it maps to audit trails, not “attacks.”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Repudiation is why the audit event list ends up in the NFR rewrite. Tie it back to SOC 2 and the audit topic.</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passive framing is the tell. A good brief is short, specific, and confident — it shows the TPM did the thinking.</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security partner should read it in five minutes and see that you brought decisions, not a blank page.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discipline is “stay above Component.” Triads who reach for Component or Code are over-stepping into the engineer’s layer.</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Context = system + users + neighbors. Container = the deployable units inside. Below that is not TPM territory.</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People trace failures readily. The trust boundary — where data leaves our control — is the one they skip, and it’s exactly where risk lives.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Connect back to Day 2’s STRIDE data-flow lens: threats cluster exactly at these boundaries.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tests whether Day 1’s stance shows up correctly on Day 3’s diagram. Promoting modules to containers would misrepresent the architecture.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architecture stance from Day 1 becomes visible here — one big container vs many is the fastest read of the stance.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common slip is calling an internal SLO an “SLA.” Correct it openly — the word SLA implies a customer-facing commitment with teeth.</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SLO for internal targets; reserve SLA for when you actually mean a contract.</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them do the arithmetic: 0.1% of 30 days. The error budget is what makes an SLO load-bearing rather than decorative.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budget consequence — “freeze feature merges when we burn it” — is what turns a number in a doc into real SRE behavior.</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“Average” feels intuitive but it’s a smell. Let them wrestle with why the mean hides the users who are actually suffering.</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 average can look fine while the slow tail — the p95/p99 users — is exactly who churns. The percentile is the honest number.</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B, and D are descriptions. Only C names both options, the choice, the accepted cost, and the revisit trigger.</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Force this pattern in the top-5 write-up. The accepted cost plus the revisit trigger is the whole difference between mature and immature.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quick filter. Five trade-offs all in one category usually means the triad only saw one kind of tension.</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category check is a fast diagnostic — spread across categories signals the triad looked at the whole system, not just one seam.</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by asking each triad which single question they got wrong and why. The misses are where the TCD’s weakest section usually is too.</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Week 4 Knowledge Check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Technical Architecture &amp; Constraints</a:t>
            </a:r>
          </a:p>
        </p:txBody>
      </p:sp>
      <p:sp>
        <p:nvSpPr>
          <p:cNvPr id="3" name="Content Placeholder 2"/>
          <p:cNvSpPr>
            <a:spLocks noGrp="1"/>
          </p:cNvSpPr>
          <p:nvPr>
            <p:ph idx="1"/>
          </p:nvPr>
        </p:nvSpPr>
        <p:spPr/>
        <p:txBody>
          <a:bodyPr/>
          <a:lstStyle/>
          <a:p>
            <a:pPr lvl="0" indent="0" marL="0">
              <a:spcBef>
                <a:spcPts val="3000"/>
              </a:spcBef>
              <a:buNone/>
            </a:pPr>
            <a:r>
              <a:rPr b="1"/>
              <a:t>Technical Product Manager Academy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How This Works</a:t>
            </a:r>
          </a:p>
        </p:txBody>
      </p:sp>
      <p:sp>
        <p:nvSpPr>
          <p:cNvPr id="3" name="Content Placeholder 2"/>
          <p:cNvSpPr>
            <a:spLocks noGrp="1"/>
          </p:cNvSpPr>
          <p:nvPr>
            <p:ph idx="1"/>
          </p:nvPr>
        </p:nvSpPr>
        <p:spPr/>
        <p:txBody>
          <a:bodyPr/>
          <a:lstStyle/>
          <a:p>
            <a:pPr lvl="0" indent="0" marL="0">
              <a:buNone/>
            </a:pPr>
            <a:r>
              <a:rPr/>
              <a:t>12 questions across the week — architecture stance, STRIDE &amp; compliance, the C4 model, SLOs &amp; error budgets, and trade-offs.  Commit to an answer before the reveal. Retrieval is the point.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a:t>
            </a:r>
          </a:p>
        </p:txBody>
      </p:sp>
      <p:sp>
        <p:nvSpPr>
          <p:cNvPr id="3" name="Content Placeholder 2"/>
          <p:cNvSpPr>
            <a:spLocks noGrp="1"/>
          </p:cNvSpPr>
          <p:nvPr>
            <p:ph idx="1"/>
          </p:nvPr>
        </p:nvSpPr>
        <p:spPr/>
        <p:txBody>
          <a:bodyPr/>
          <a:lstStyle/>
          <a:p>
            <a:pPr lvl="0" indent="0" marL="0">
              <a:buNone/>
            </a:pPr>
            <a:r>
              <a:rPr/>
              <a:t>A multi-deploy system whose services must all be released together to work is best described as a:</a:t>
            </a:r>
          </a:p>
          <a:p>
            <a:pPr lvl="0" indent="-342900" marL="342900">
              <a:buAutoNum type="alphaUcParenR"/>
            </a:pPr>
            <a:r>
              <a:rPr/>
              <a:t>Modular monolith</a:t>
            </a:r>
          </a:p>
          <a:p>
            <a:pPr lvl="0" indent="-342900" marL="342900">
              <a:buAutoNum type="alphaUcParenR"/>
            </a:pPr>
            <a:r>
              <a:rPr/>
              <a:t>Service-oriented architecture (SOA)</a:t>
            </a:r>
          </a:p>
          <a:p>
            <a:pPr lvl="0" indent="-342900" marL="342900">
              <a:buAutoNum type="alphaUcParenR"/>
            </a:pPr>
            <a:r>
              <a:rPr/>
              <a:t>Distributed monolith</a:t>
            </a:r>
          </a:p>
          <a:p>
            <a:pPr lvl="0" indent="-342900" marL="342900">
              <a:buAutoNum type="alphaUcParenR"/>
            </a:pPr>
            <a:r>
              <a:rPr/>
              <a:t>Event-driven architecture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 — C</a:t>
            </a:r>
          </a:p>
        </p:txBody>
      </p:sp>
      <p:sp>
        <p:nvSpPr>
          <p:cNvPr id="3" name="Content Placeholder 2"/>
          <p:cNvSpPr>
            <a:spLocks noGrp="1"/>
          </p:cNvSpPr>
          <p:nvPr>
            <p:ph idx="1"/>
          </p:nvPr>
        </p:nvSpPr>
        <p:spPr/>
        <p:txBody>
          <a:bodyPr/>
          <a:lstStyle/>
          <a:p>
            <a:pPr lvl="0" indent="0" marL="0">
              <a:buNone/>
            </a:pPr>
            <a:r>
              <a:rPr/>
              <a:t>Distributed monolith.</a:t>
            </a:r>
          </a:p>
          <a:p>
            <a:pPr lvl="0" indent="0" marL="0">
              <a:buNone/>
            </a:pPr>
            <a:r>
              <a:rPr/>
              <a:t>The anti-pattern: many deploys that still must ship together. You pay the ops cost of separation and gain none of the independence.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2 — True / False</a:t>
            </a:r>
          </a:p>
        </p:txBody>
      </p:sp>
      <p:sp>
        <p:nvSpPr>
          <p:cNvPr id="3" name="Content Placeholder 2"/>
          <p:cNvSpPr>
            <a:spLocks noGrp="1"/>
          </p:cNvSpPr>
          <p:nvPr>
            <p:ph idx="1"/>
          </p:nvPr>
        </p:nvSpPr>
        <p:spPr/>
        <p:txBody>
          <a:bodyPr/>
          <a:lstStyle/>
          <a:p>
            <a:pPr lvl="0" indent="0" marL="0">
              <a:buNone/>
            </a:pPr>
            <a:r>
              <a:rPr/>
              <a:t>In the architecture stance template, writing “Revisit if: later / when needed” is an acceptable revisit trigger.</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2 — False</a:t>
            </a:r>
          </a:p>
        </p:txBody>
      </p:sp>
      <p:sp>
        <p:nvSpPr>
          <p:cNvPr id="3" name="Content Placeholder 2"/>
          <p:cNvSpPr>
            <a:spLocks noGrp="1"/>
          </p:cNvSpPr>
          <p:nvPr>
            <p:ph idx="1"/>
          </p:nvPr>
        </p:nvSpPr>
        <p:spPr/>
        <p:txBody>
          <a:bodyPr/>
          <a:lstStyle/>
          <a:p>
            <a:pPr lvl="0" indent="0" marL="0">
              <a:buNone/>
            </a:pPr>
            <a:r>
              <a:rPr/>
              <a:t>“Later” or “when needed” is not a trigger.</a:t>
            </a:r>
          </a:p>
          <a:p>
            <a:pPr lvl="0" indent="0" marL="0">
              <a:buNone/>
            </a:pPr>
            <a:r>
              <a:rPr/>
              <a:t>A real trigger is a concrete metric or org change — “if traffic grows 10x” or “if a second team starts contributing.”</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3</a:t>
            </a:r>
          </a:p>
        </p:txBody>
      </p:sp>
      <p:sp>
        <p:nvSpPr>
          <p:cNvPr id="3" name="Content Placeholder 2"/>
          <p:cNvSpPr>
            <a:spLocks noGrp="1"/>
          </p:cNvSpPr>
          <p:nvPr>
            <p:ph idx="1"/>
          </p:nvPr>
        </p:nvSpPr>
        <p:spPr/>
        <p:txBody>
          <a:bodyPr/>
          <a:lstStyle/>
          <a:p>
            <a:pPr lvl="0" indent="0" marL="0">
              <a:buNone/>
            </a:pPr>
            <a:r>
              <a:rPr/>
              <a:t>In a STRIDE pass, which letter is the most-missed — the least intuitive one that teams building without audit trails routinely skip?</a:t>
            </a:r>
          </a:p>
          <a:p>
            <a:pPr lvl="0" indent="-342900" marL="342900">
              <a:buAutoNum type="alphaUcParenR"/>
            </a:pPr>
            <a:r>
              <a:rPr/>
              <a:t>Spoofing</a:t>
            </a:r>
          </a:p>
          <a:p>
            <a:pPr lvl="0" indent="-342900" marL="342900">
              <a:buAutoNum type="alphaUcParenR"/>
            </a:pPr>
            <a:r>
              <a:rPr/>
              <a:t>Repudiation</a:t>
            </a:r>
          </a:p>
          <a:p>
            <a:pPr lvl="0" indent="-342900" marL="342900">
              <a:buAutoNum type="alphaUcParenR"/>
            </a:pPr>
            <a:r>
              <a:rPr/>
              <a:t>Information disclosure</a:t>
            </a:r>
          </a:p>
          <a:p>
            <a:pPr lvl="0" indent="-342900" marL="342900">
              <a:buAutoNum type="alphaUcParenR"/>
            </a:pPr>
            <a:r>
              <a:rPr/>
              <a:t>Elevation of privilege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3 — B</a:t>
            </a:r>
          </a:p>
        </p:txBody>
      </p:sp>
      <p:sp>
        <p:nvSpPr>
          <p:cNvPr id="3" name="Content Placeholder 2"/>
          <p:cNvSpPr>
            <a:spLocks noGrp="1"/>
          </p:cNvSpPr>
          <p:nvPr>
            <p:ph idx="1"/>
          </p:nvPr>
        </p:nvSpPr>
        <p:spPr/>
        <p:txBody>
          <a:bodyPr/>
          <a:lstStyle/>
          <a:p>
            <a:pPr lvl="0" indent="0" marL="0">
              <a:buNone/>
            </a:pPr>
            <a:r>
              <a:rPr/>
              <a:t>Repudiation. The least intuitive letter — denying you did something you did.</a:t>
            </a:r>
          </a:p>
          <a:p>
            <a:pPr lvl="0" indent="0" marL="0">
              <a:buNone/>
            </a:pPr>
            <a:r>
              <a:rPr/>
              <a:t>Teams that ship without audit trails miss it. A STRIDE list with zero R’s should be pushed on.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4 — True / False</a:t>
            </a:r>
          </a:p>
        </p:txBody>
      </p:sp>
      <p:sp>
        <p:nvSpPr>
          <p:cNvPr id="3" name="Content Placeholder 2"/>
          <p:cNvSpPr>
            <a:spLocks noGrp="1"/>
          </p:cNvSpPr>
          <p:nvPr>
            <p:ph idx="1"/>
          </p:nvPr>
        </p:nvSpPr>
        <p:spPr/>
        <p:txBody>
          <a:bodyPr/>
          <a:lstStyle/>
          <a:p>
            <a:pPr lvl="0" indent="0" marL="0">
              <a:buNone/>
            </a:pPr>
            <a:r>
              <a:rPr/>
              <a:t>A strong security brief opens by telling the security team “we don’t know anything yet, please tell us what to do.”</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4 — False</a:t>
            </a:r>
          </a:p>
        </p:txBody>
      </p:sp>
      <p:sp>
        <p:nvSpPr>
          <p:cNvPr id="3" name="Content Placeholder 2"/>
          <p:cNvSpPr>
            <a:spLocks noGrp="1"/>
          </p:cNvSpPr>
          <p:nvPr>
            <p:ph idx="1"/>
          </p:nvPr>
        </p:nvSpPr>
        <p:spPr/>
        <p:txBody>
          <a:bodyPr/>
          <a:lstStyle/>
          <a:p>
            <a:pPr lvl="0" indent="0" marL="0">
              <a:buNone/>
            </a:pPr>
            <a:r>
              <a:rPr/>
              <a:t>A passive “please tell us everything” brief signals an outsourced-thinking TPM.</a:t>
            </a:r>
          </a:p>
          <a:p>
            <a:pPr lvl="0" indent="0" marL="0">
              <a:buNone/>
            </a:pPr>
            <a:r>
              <a:rPr/>
              <a:t>Strong brief: short (5-min read), specific (“open questions” are concrete asks), and confident (“decisions we’ve made” with justification).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5</a:t>
            </a:r>
          </a:p>
        </p:txBody>
      </p:sp>
      <p:sp>
        <p:nvSpPr>
          <p:cNvPr id="3" name="Content Placeholder 2"/>
          <p:cNvSpPr>
            <a:spLocks noGrp="1"/>
          </p:cNvSpPr>
          <p:nvPr>
            <p:ph idx="1"/>
          </p:nvPr>
        </p:nvSpPr>
        <p:spPr/>
        <p:txBody>
          <a:bodyPr/>
          <a:lstStyle/>
          <a:p>
            <a:pPr lvl="0" indent="0" marL="0">
              <a:buNone/>
            </a:pPr>
            <a:r>
              <a:rPr/>
              <a:t>In the C4 model, which two levels are the TPM’s scope to draw?</a:t>
            </a:r>
          </a:p>
          <a:p>
            <a:pPr lvl="0" indent="-342900" marL="342900">
              <a:buAutoNum type="alphaUcParenR"/>
            </a:pPr>
            <a:r>
              <a:rPr/>
              <a:t>Context and Container</a:t>
            </a:r>
          </a:p>
          <a:p>
            <a:pPr lvl="0" indent="-342900" marL="342900">
              <a:buAutoNum type="alphaUcParenR"/>
            </a:pPr>
            <a:r>
              <a:rPr/>
              <a:t>Container and Component</a:t>
            </a:r>
          </a:p>
          <a:p>
            <a:pPr lvl="0" indent="-342900" marL="342900">
              <a:buAutoNum type="alphaUcParenR"/>
            </a:pPr>
            <a:r>
              <a:rPr/>
              <a:t>Component and Code</a:t>
            </a:r>
          </a:p>
          <a:p>
            <a:pPr lvl="0" indent="-342900" marL="342900">
              <a:buAutoNum type="alphaUcParenR"/>
            </a:pPr>
            <a:r>
              <a:rPr/>
              <a:t>Context and Component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5 — A</a:t>
            </a:r>
          </a:p>
        </p:txBody>
      </p:sp>
      <p:sp>
        <p:nvSpPr>
          <p:cNvPr id="3" name="Content Placeholder 2"/>
          <p:cNvSpPr>
            <a:spLocks noGrp="1"/>
          </p:cNvSpPr>
          <p:nvPr>
            <p:ph idx="1"/>
          </p:nvPr>
        </p:nvSpPr>
        <p:spPr/>
        <p:txBody>
          <a:bodyPr/>
          <a:lstStyle/>
          <a:p>
            <a:pPr lvl="0" indent="0" marL="0">
              <a:buNone/>
            </a:pPr>
            <a:r>
              <a:rPr/>
              <a:t>Context and Container.</a:t>
            </a:r>
          </a:p>
          <a:p>
            <a:pPr lvl="0" indent="0" marL="0">
              <a:buNone/>
            </a:pPr>
            <a:r>
              <a:rPr/>
              <a:t>Component and Code belong to the architect and engineers. Staying above Component keeps the TPM in the right altitude.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6</a:t>
            </a:r>
          </a:p>
        </p:txBody>
      </p:sp>
      <p:sp>
        <p:nvSpPr>
          <p:cNvPr id="3" name="Content Placeholder 2"/>
          <p:cNvSpPr>
            <a:spLocks noGrp="1"/>
          </p:cNvSpPr>
          <p:nvPr>
            <p:ph idx="1"/>
          </p:nvPr>
        </p:nvSpPr>
        <p:spPr/>
        <p:txBody>
          <a:bodyPr/>
          <a:lstStyle/>
          <a:p>
            <a:pPr lvl="0" indent="0" marL="0">
              <a:buNone/>
            </a:pPr>
            <a:r>
              <a:rPr/>
              <a:t>Stress-testing a Container diagram with the three lenses (failure, trust boundary, evolvability), which annotation is the most-missed — where compliance and security risk concentrates?</a:t>
            </a:r>
          </a:p>
          <a:p>
            <a:pPr lvl="0" indent="-342900" marL="342900">
              <a:buAutoNum type="alphaUcParenR"/>
            </a:pPr>
            <a:r>
              <a:rPr/>
              <a:t>The failure path</a:t>
            </a:r>
          </a:p>
          <a:p>
            <a:pPr lvl="0" indent="-342900" marL="342900">
              <a:buAutoNum type="alphaUcParenR"/>
            </a:pPr>
            <a:r>
              <a:rPr/>
              <a:t>The trust boundary</a:t>
            </a:r>
          </a:p>
          <a:p>
            <a:pPr lvl="0" indent="-342900" marL="342900">
              <a:buAutoNum type="alphaUcParenR"/>
            </a:pPr>
            <a:r>
              <a:rPr/>
              <a:t>The evolvability arrows</a:t>
            </a:r>
          </a:p>
          <a:p>
            <a:pPr lvl="0" indent="-342900" marL="342900">
              <a:buAutoNum type="alphaUcParenR"/>
            </a:pPr>
            <a:r>
              <a:rPr/>
              <a:t>The async/sync distinction</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6 — B</a:t>
            </a:r>
          </a:p>
        </p:txBody>
      </p:sp>
      <p:sp>
        <p:nvSpPr>
          <p:cNvPr id="3" name="Content Placeholder 2"/>
          <p:cNvSpPr>
            <a:spLocks noGrp="1"/>
          </p:cNvSpPr>
          <p:nvPr>
            <p:ph idx="1"/>
          </p:nvPr>
        </p:nvSpPr>
        <p:spPr/>
        <p:txBody>
          <a:bodyPr/>
          <a:lstStyle/>
          <a:p>
            <a:pPr lvl="0" indent="0" marL="0">
              <a:buNone/>
            </a:pPr>
            <a:r>
              <a:rPr/>
              <a:t>The trust boundary.</a:t>
            </a:r>
          </a:p>
          <a:p>
            <a:pPr lvl="0" indent="0" marL="0">
              <a:buNone/>
            </a:pPr>
            <a:r>
              <a:rPr/>
              <a:t>Where data crosses from our control to someone else’s — mark it with a thick line. It’s the most-missed annotation and where security and compliance risk concentrates.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7 — True / False</a:t>
            </a:r>
          </a:p>
        </p:txBody>
      </p:sp>
      <p:sp>
        <p:nvSpPr>
          <p:cNvPr id="3" name="Content Placeholder 2"/>
          <p:cNvSpPr>
            <a:spLocks noGrp="1"/>
          </p:cNvSpPr>
          <p:nvPr>
            <p:ph idx="1"/>
          </p:nvPr>
        </p:nvSpPr>
        <p:spPr/>
        <p:txBody>
          <a:bodyPr/>
          <a:lstStyle/>
          <a:p>
            <a:pPr lvl="0" indent="0" marL="0">
              <a:buNone/>
            </a:pPr>
            <a:r>
              <a:rPr/>
              <a:t>Under a modular-monolith stance, the modules should be drawn inside one container as labeled sub-boxes — not promoted to separate containers.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7 — True</a:t>
            </a:r>
          </a:p>
        </p:txBody>
      </p:sp>
      <p:sp>
        <p:nvSpPr>
          <p:cNvPr id="3" name="Content Placeholder 2"/>
          <p:cNvSpPr>
            <a:spLocks noGrp="1"/>
          </p:cNvSpPr>
          <p:nvPr>
            <p:ph idx="1"/>
          </p:nvPr>
        </p:nvSpPr>
        <p:spPr/>
        <p:txBody>
          <a:bodyPr/>
          <a:lstStyle/>
          <a:p>
            <a:pPr lvl="0" indent="0" marL="0">
              <a:buNone/>
            </a:pPr>
            <a:r>
              <a:rPr/>
              <a:t>A modular monolith is one container; draw the modules as sub-boxes inside it.</a:t>
            </a:r>
          </a:p>
          <a:p>
            <a:pPr lvl="0" indent="0" marL="0">
              <a:buNone/>
            </a:pPr>
            <a:r>
              <a:rPr/>
              <a:t>Microservices are many containers. The diagram should make the stance visible at a glance.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8</a:t>
            </a:r>
          </a:p>
        </p:txBody>
      </p:sp>
      <p:sp>
        <p:nvSpPr>
          <p:cNvPr id="3" name="Content Placeholder 2"/>
          <p:cNvSpPr>
            <a:spLocks noGrp="1"/>
          </p:cNvSpPr>
          <p:nvPr>
            <p:ph idx="1"/>
          </p:nvPr>
        </p:nvSpPr>
        <p:spPr/>
        <p:txBody>
          <a:bodyPr/>
          <a:lstStyle/>
          <a:p>
            <a:pPr lvl="0" indent="0" marL="0">
              <a:buNone/>
            </a:pPr>
            <a:r>
              <a:rPr/>
              <a:t>Which of these is a contractual commitment with consequences — as opposed to an internal target?</a:t>
            </a:r>
          </a:p>
          <a:p>
            <a:pPr lvl="0" indent="-342900" marL="342900">
              <a:buAutoNum type="alphaUcParenR"/>
            </a:pPr>
            <a:r>
              <a:rPr/>
              <a:t>SLI</a:t>
            </a:r>
          </a:p>
          <a:p>
            <a:pPr lvl="0" indent="-342900" marL="342900">
              <a:buAutoNum type="alphaUcParenR"/>
            </a:pPr>
            <a:r>
              <a:rPr/>
              <a:t>SLO</a:t>
            </a:r>
          </a:p>
          <a:p>
            <a:pPr lvl="0" indent="-342900" marL="342900">
              <a:buAutoNum type="alphaUcParenR"/>
            </a:pPr>
            <a:r>
              <a:rPr/>
              <a:t>SLA</a:t>
            </a:r>
          </a:p>
          <a:p>
            <a:pPr lvl="0" indent="-342900" marL="342900">
              <a:buAutoNum type="alphaUcParenR"/>
            </a:pPr>
            <a:r>
              <a:rPr/>
              <a:t>Error budget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8 — C</a:t>
            </a:r>
          </a:p>
        </p:txBody>
      </p:sp>
      <p:sp>
        <p:nvSpPr>
          <p:cNvPr id="3" name="Content Placeholder 2"/>
          <p:cNvSpPr>
            <a:spLocks noGrp="1"/>
          </p:cNvSpPr>
          <p:nvPr>
            <p:ph idx="1"/>
          </p:nvPr>
        </p:nvSpPr>
        <p:spPr/>
        <p:txBody>
          <a:bodyPr/>
          <a:lstStyle/>
          <a:p>
            <a:pPr lvl="0" indent="0" marL="0">
              <a:buNone/>
            </a:pPr>
            <a:r>
              <a:rPr/>
              <a:t>SLA — contractual, with consequences.</a:t>
            </a:r>
          </a:p>
          <a:p>
            <a:pPr lvl="0" indent="0" marL="0">
              <a:buNone/>
            </a:pPr>
            <a:r>
              <a:rPr/>
              <a:t>SLI = the measurement. SLO = the internal target. Error budget = (1 − SLO) over the window. Casually writing “we commit to 99.99%” turns an SLO into an SLA.</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9</a:t>
            </a:r>
          </a:p>
        </p:txBody>
      </p:sp>
      <p:sp>
        <p:nvSpPr>
          <p:cNvPr id="3" name="Content Placeholder 2"/>
          <p:cNvSpPr>
            <a:spLocks noGrp="1"/>
          </p:cNvSpPr>
          <p:nvPr>
            <p:ph idx="1"/>
          </p:nvPr>
        </p:nvSpPr>
        <p:spPr/>
        <p:txBody>
          <a:bodyPr/>
          <a:lstStyle/>
          <a:p>
            <a:pPr lvl="0" indent="0" marL="0">
              <a:buNone/>
            </a:pPr>
            <a:r>
              <a:rPr/>
              <a:t>If a feature’s availability SLO is 99.9% over a 30-day window, its error budget is roughly:</a:t>
            </a:r>
          </a:p>
          <a:p>
            <a:pPr lvl="0" indent="-342900" marL="342900">
              <a:buAutoNum type="alphaUcParenR"/>
            </a:pPr>
            <a:r>
              <a:rPr/>
              <a:t>4 minutes</a:t>
            </a:r>
          </a:p>
          <a:p>
            <a:pPr lvl="0" indent="-342900" marL="342900">
              <a:buAutoNum type="alphaUcParenR"/>
            </a:pPr>
            <a:r>
              <a:rPr/>
              <a:t>43 minutes</a:t>
            </a:r>
          </a:p>
          <a:p>
            <a:pPr lvl="0" indent="-342900" marL="342900">
              <a:buAutoNum type="alphaUcParenR"/>
            </a:pPr>
            <a:r>
              <a:rPr/>
              <a:t>7 hours</a:t>
            </a:r>
          </a:p>
          <a:p>
            <a:pPr lvl="0" indent="-342900" marL="342900">
              <a:buAutoNum type="alphaUcParenR"/>
            </a:pPr>
            <a:r>
              <a:rPr/>
              <a:t>22 hours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9 — B</a:t>
            </a:r>
          </a:p>
        </p:txBody>
      </p:sp>
      <p:sp>
        <p:nvSpPr>
          <p:cNvPr id="3" name="Content Placeholder 2"/>
          <p:cNvSpPr>
            <a:spLocks noGrp="1"/>
          </p:cNvSpPr>
          <p:nvPr>
            <p:ph idx="1"/>
          </p:nvPr>
        </p:nvSpPr>
        <p:spPr/>
        <p:txBody>
          <a:bodyPr/>
          <a:lstStyle/>
          <a:p>
            <a:pPr lvl="0" indent="0" marL="0">
              <a:buNone/>
            </a:pPr>
            <a:r>
              <a:rPr/>
              <a:t>~43 minutes.</a:t>
            </a:r>
          </a:p>
          <a:p>
            <a:pPr lvl="0" indent="0" marL="0">
              <a:buNone/>
            </a:pPr>
            <a:r>
              <a:rPr/>
              <a:t>Error budget = (1 − 0.999) = 0.1% of 30 days ≈ 43 minutes of allowed downtime. Inside the budget → ship; near/past it → prioritize reliability.</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10 — True / False</a:t>
            </a:r>
          </a:p>
        </p:txBody>
      </p:sp>
      <p:sp>
        <p:nvSpPr>
          <p:cNvPr id="3" name="Content Placeholder 2"/>
          <p:cNvSpPr>
            <a:spLocks noGrp="1"/>
          </p:cNvSpPr>
          <p:nvPr>
            <p:ph idx="1"/>
          </p:nvPr>
        </p:nvSpPr>
        <p:spPr/>
        <p:txBody>
          <a:bodyPr/>
          <a:lstStyle/>
          <a:p>
            <a:pPr lvl="0" indent="0" marL="0">
              <a:buNone/>
            </a:pPr>
            <a:r>
              <a:rPr/>
              <a:t>Stating a latency SLO as “avg &lt; 500ms” is a solid target because the average captures typical user experience.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10 — False</a:t>
            </a:r>
          </a:p>
        </p:txBody>
      </p:sp>
      <p:sp>
        <p:nvSpPr>
          <p:cNvPr id="3" name="Content Placeholder 2"/>
          <p:cNvSpPr>
            <a:spLocks noGrp="1"/>
          </p:cNvSpPr>
          <p:nvPr>
            <p:ph idx="1"/>
          </p:nvPr>
        </p:nvSpPr>
        <p:spPr/>
        <p:txBody>
          <a:bodyPr/>
          <a:lstStyle/>
          <a:p>
            <a:pPr lvl="0" indent="0" marL="0">
              <a:buNone/>
            </a:pPr>
            <a:r>
              <a:rPr/>
              <a:t>Average hides bimodal distributions.</a:t>
            </a:r>
          </a:p>
          <a:p>
            <a:pPr lvl="0" indent="0" marL="0">
              <a:buNone/>
            </a:pPr>
            <a:r>
              <a:rPr/>
              <a:t>Force percentiles (e.g., p95). Every SLO needs a percentile, a window, and a defense.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11</a:t>
            </a:r>
          </a:p>
        </p:txBody>
      </p:sp>
      <p:sp>
        <p:nvSpPr>
          <p:cNvPr id="3" name="Content Placeholder 2"/>
          <p:cNvSpPr>
            <a:spLocks noGrp="1"/>
          </p:cNvSpPr>
          <p:nvPr>
            <p:ph idx="1"/>
          </p:nvPr>
        </p:nvSpPr>
        <p:spPr/>
        <p:txBody>
          <a:bodyPr/>
          <a:lstStyle/>
          <a:p>
            <a:pPr lvl="0" indent="0" marL="0">
              <a:buNone/>
            </a:pPr>
            <a:r>
              <a:rPr/>
              <a:t>Which of these is a mature trade-off statement rather than a mere description?</a:t>
            </a:r>
          </a:p>
          <a:p>
            <a:pPr lvl="0" indent="-342900" marL="342900">
              <a:buAutoNum type="alphaUcParenR"/>
            </a:pPr>
            <a:r>
              <a:rPr/>
              <a:t>“We considered microservices but chose a monolith.”</a:t>
            </a:r>
          </a:p>
          <a:p>
            <a:pPr lvl="0" indent="-342900" marL="342900">
              <a:buAutoNum type="alphaUcParenR"/>
            </a:pPr>
            <a:r>
              <a:rPr/>
              <a:t>“We chose a monolith because monoliths are simpler.”</a:t>
            </a:r>
          </a:p>
          <a:p>
            <a:pPr lvl="0" indent="-342900" marL="342900">
              <a:buAutoNum type="alphaUcParenR"/>
            </a:pPr>
            <a:r>
              <a:rPr/>
              <a:t>“Option A: modular monolith. Option B: extract a service. We chose A. Accepted cost: future extraction needs a coordinated refactor. Revisit if traffic exceeds 5× rest-of-app.”</a:t>
            </a:r>
          </a:p>
          <a:p>
            <a:pPr lvl="0" indent="-342900" marL="342900">
              <a:buAutoNum type="alphaUcParenR"/>
            </a:pPr>
            <a:r>
              <a:rPr/>
              <a:t>“We’ll start with a monolith and figure out the rest later.”</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11 — C</a:t>
            </a:r>
          </a:p>
        </p:txBody>
      </p:sp>
      <p:sp>
        <p:nvSpPr>
          <p:cNvPr id="3" name="Content Placeholder 2"/>
          <p:cNvSpPr>
            <a:spLocks noGrp="1"/>
          </p:cNvSpPr>
          <p:nvPr>
            <p:ph idx="1"/>
          </p:nvPr>
        </p:nvSpPr>
        <p:spPr/>
        <p:txBody>
          <a:bodyPr/>
          <a:lstStyle/>
          <a:p>
            <a:pPr lvl="0" indent="0" marL="0">
              <a:buNone/>
            </a:pPr>
            <a:r>
              <a:rPr/>
              <a:t>Option A vs Option B → choice → accepted cost → revisit trigger.</a:t>
            </a:r>
          </a:p>
          <a:p>
            <a:pPr lvl="0" indent="0" marL="0">
              <a:buNone/>
            </a:pPr>
            <a:r>
              <a:rPr/>
              <a:t>“We chose X because X is better” is not a trade-off. A mature trade-off names what you gave up and when you’d change your mind.</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12</a:t>
            </a:r>
          </a:p>
        </p:txBody>
      </p:sp>
      <p:sp>
        <p:nvSpPr>
          <p:cNvPr id="3" name="Content Placeholder 2"/>
          <p:cNvSpPr>
            <a:spLocks noGrp="1"/>
          </p:cNvSpPr>
          <p:nvPr>
            <p:ph idx="1"/>
          </p:nvPr>
        </p:nvSpPr>
        <p:spPr/>
        <p:txBody>
          <a:bodyPr/>
          <a:lstStyle/>
          <a:p>
            <a:pPr lvl="0" indent="0" marL="0">
              <a:buNone/>
            </a:pPr>
            <a:r>
              <a:rPr/>
              <a:t>When writing the top-5 architectural trade-offs, what is the recommended coverage check to confirm you surfaced real tensions?</a:t>
            </a:r>
          </a:p>
          <a:p>
            <a:pPr lvl="0" indent="-342900" marL="342900">
              <a:buAutoNum type="alphaUcParenR"/>
            </a:pPr>
            <a:r>
              <a:rPr/>
              <a:t>All 5 come from a single category</a:t>
            </a:r>
          </a:p>
          <a:p>
            <a:pPr lvl="0" indent="-342900" marL="342900">
              <a:buAutoNum type="alphaUcParenR"/>
            </a:pPr>
            <a:r>
              <a:rPr/>
              <a:t>They span at least 3 of the five trade-off categories</a:t>
            </a:r>
          </a:p>
          <a:p>
            <a:pPr lvl="0" indent="-342900" marL="342900">
              <a:buAutoNum type="alphaUcParenR"/>
            </a:pPr>
            <a:r>
              <a:rPr/>
              <a:t>Each names a specific competitor</a:t>
            </a:r>
          </a:p>
          <a:p>
            <a:pPr lvl="0" indent="-342900" marL="342900">
              <a:buAutoNum type="alphaUcParenR"/>
            </a:pPr>
            <a:r>
              <a:rPr/>
              <a:t>Each has a dollar figure attached</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12 — B</a:t>
            </a:r>
          </a:p>
        </p:txBody>
      </p:sp>
      <p:sp>
        <p:nvSpPr>
          <p:cNvPr id="3" name="Content Placeholder 2"/>
          <p:cNvSpPr>
            <a:spLocks noGrp="1"/>
          </p:cNvSpPr>
          <p:nvPr>
            <p:ph idx="1"/>
          </p:nvPr>
        </p:nvSpPr>
        <p:spPr/>
        <p:txBody>
          <a:bodyPr/>
          <a:lstStyle/>
          <a:p>
            <a:pPr lvl="0" indent="0" marL="0">
              <a:buNone/>
            </a:pPr>
            <a:r>
              <a:rPr/>
              <a:t>Span at least 3 of the five categories.</a:t>
            </a:r>
          </a:p>
          <a:p>
            <a:pPr lvl="0" indent="0" marL="0">
              <a:buNone/>
            </a:pPr>
            <a:r>
              <a:rPr/>
              <a:t>Coupling vs independence · consistency vs availability · latency vs durability · speed vs robustness · generality vs simplicity. All in one category usually means real tensions were missed.</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That’s Week 4</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Score yourself — but the real check is whether your TCD can survive 30 minutes with a senior architect.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2026-07-01T16:57:02Z</dcterms:created>
  <dcterms:modified xsi:type="dcterms:W3CDTF">2026-07-01T16:57:02Z</dcterms:modified>
</cp:coreProperties>
</file>

<file path=docProps/custom.xml><?xml version="1.0" encoding="utf-8"?>
<Properties xmlns="http://schemas.openxmlformats.org/officeDocument/2006/custom-properties" xmlns:vt="http://schemas.openxmlformats.org/officeDocument/2006/docPropsVTypes"/>
</file>