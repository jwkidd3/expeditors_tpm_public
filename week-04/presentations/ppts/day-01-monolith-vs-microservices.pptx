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Week 4. AI is restored this week — Week 1 prompt patterns + Week 2 Day 4 provenance discipline both apply. Your PRD becomes input to architecture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a defended stance — not a final architecture, a starting point for the architect.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arc: calibrate → apply → integrate → stress-test with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Vocabulary alone is dangerous — it tempts TPMs to argue by category. The goal is reasoning, not labels. Set this expectation before Activity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these aloud. Pay particular attention to “distributed monolith” — many real systems labeled “microservices” are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“With evidence” matters. “Yes, we’ll have lots of traffic” without numbers is not a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“Microservices because Netflix” is the rookie reasoning. Netflix split for deploy independence at scale, not because microservices are inherently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“real-time pricing engine” case is the trickiest — many callers (separation) but a hard dependency for all (resilience suffers either way).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now translate Week-3 PRDs into a stance. The “we don’t know” line is allowed once; more than that, the stance isn’t 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“revisit if” is “later” or “when needed”, it’s not a real trigger. Force a metric or organizational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“depends on Tickets API and Auth, if either is down, can’t function” — that single sentence kills the resilience argument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don’t know” is allowed for a question — it’s informative. But not for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integration map is the bridge from “architecture stance” to “what touches what.” Naming failure modes here pays off when AC and NFRs get re-examined.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Failure Handling column forces a choice. Push for a stance, even if the stance is “ask the architect.”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Two-way contracts are the most-missed dependencies. Triads who skip them ship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for read-then-write integration patterns — they’re consistency-bug magnets.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returns today as a stress-tester, not an author. Triads use it to challenge their stance — keep the provenance log discipline from Week 2 Day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week’s pattern: AI as critic + structurer; humans as decider + validator.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should add both prompts to their Pattern Library after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Catch any output that sounds like fortune-cookie generic prose — rewrite in the triad’s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assumption in their stance that they’d most want to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Knowing the first-fail assumption shapes what to monitor and what to revisit. Tomorrow extends the stance into security and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🏗️ Monolith vs Microservices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4 • Day 1 • Technical Architecture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mono-vs-micro decisions in business + operational terms, not framework hype</a:t>
            </a:r>
          </a:p>
          <a:p>
            <a:pPr lvl="0" indent="0" marL="0">
              <a:buNone/>
            </a:pPr>
            <a:r>
              <a:rPr/>
              <a:t>Apply the three-question frame: deploy cadence, failure domain, scaling axis</a:t>
            </a:r>
          </a:p>
          <a:p>
            <a:pPr lvl="0" indent="0" marL="0">
              <a:buNone/>
            </a:pPr>
            <a:r>
              <a:rPr/>
              <a:t>Recognize the “majestic monolith” as the often-correct default</a:t>
            </a:r>
          </a:p>
          <a:p>
            <a:pPr lvl="0" indent="0" marL="0">
              <a:buNone/>
            </a:pPr>
            <a:r>
              <a:rPr/>
              <a:t>Draft Section 1 of the TCD — your architecture stance with trade-off and revisit trigger</a:t>
            </a:r>
          </a:p>
          <a:p>
            <a:pPr lvl="0" indent="0" marL="0">
              <a:buNone/>
            </a:pPr>
            <a:r>
              <a:rPr/>
              <a:t>Begin Section 2 — Integration map with failure-handling stances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AI restored; PRD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Mono/Micro Triage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Apply the frame to your PRD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Integration map (first pass)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AI-assisted architecture Q&amp;A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Vocabulary &amp; the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Enough to follow the architect’s reasoning, not enough to win arguments by quoting taxonomy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Vocabulary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</a:t>
            </a:r>
          </a:p>
          <a:p>
            <a:pPr lvl="0" indent="0" marL="0">
              <a:buNone/>
            </a:pPr>
            <a:r>
              <a:rPr/>
              <a:t>What it means</a:t>
            </a:r>
          </a:p>
          <a:p>
            <a:pPr lvl="0" indent="0" marL="0">
              <a:buNone/>
            </a:pPr>
            <a:r>
              <a:rPr/>
              <a:t>TPM signal</a:t>
            </a:r>
          </a:p>
          <a:p>
            <a:pPr lvl="0" indent="0" marL="0">
              <a:buNone/>
            </a:pPr>
            <a:r>
              <a:rPr/>
              <a:t>Monolith</a:t>
            </a:r>
          </a:p>
          <a:p>
            <a:pPr lvl="0" indent="0" marL="0">
              <a:buNone/>
            </a:pPr>
            <a:r>
              <a:rPr/>
              <a:t>One deployable, one repo, one runtime</a:t>
            </a:r>
          </a:p>
          <a:p>
            <a:pPr lvl="0" indent="0" marL="0">
              <a:buNone/>
            </a:pPr>
            <a:r>
              <a:rPr/>
              <a:t>Faster start; harder team scaling</a:t>
            </a:r>
          </a:p>
          <a:p>
            <a:pPr lvl="0" indent="0" marL="0">
              <a:buNone/>
            </a:pPr>
            <a:r>
              <a:rPr/>
              <a:t>Modular monolith</a:t>
            </a:r>
          </a:p>
          <a:p>
            <a:pPr lvl="0" indent="0" marL="0">
              <a:buNone/>
            </a:pPr>
            <a:r>
              <a:rPr/>
              <a:t>Monolith with strict module boundaries</a:t>
            </a:r>
          </a:p>
          <a:p>
            <a:pPr lvl="0" indent="0" marL="0">
              <a:buNone/>
            </a:pPr>
            <a:r>
              <a:rPr/>
              <a:t>Often the right answer</a:t>
            </a:r>
          </a:p>
          <a:p>
            <a:pPr lvl="0" indent="0" marL="0">
              <a:buNone/>
            </a:pPr>
            <a:r>
              <a:rPr/>
              <a:t>Microservice</a:t>
            </a:r>
          </a:p>
          <a:p>
            <a:pPr lvl="0" indent="0" marL="0">
              <a:buNone/>
            </a:pPr>
            <a:r>
              <a:rPr/>
              <a:t>Independently deployable, owned by one team</a:t>
            </a:r>
          </a:p>
          <a:p>
            <a:pPr lvl="0" indent="0" marL="0">
              <a:buNone/>
            </a:pPr>
            <a:r>
              <a:rPr/>
              <a:t>Independent scale &amp; failure domains</a:t>
            </a:r>
          </a:p>
          <a:p>
            <a:pPr lvl="0" indent="0" marL="0">
              <a:buNone/>
            </a:pPr>
            <a:r>
              <a:rPr/>
              <a:t>SOA</a:t>
            </a:r>
          </a:p>
          <a:p>
            <a:pPr lvl="0" indent="0" marL="0">
              <a:buNone/>
            </a:pPr>
            <a:r>
              <a:rPr/>
              <a:t>Coarse-grained services, often shared infra</a:t>
            </a:r>
          </a:p>
          <a:p>
            <a:pPr lvl="0" indent="0" marL="0">
              <a:buNone/>
            </a:pPr>
            <a:r>
              <a:rPr/>
              <a:t>What “microservices” often actually is</a:t>
            </a:r>
          </a:p>
          <a:p>
            <a:pPr lvl="0" indent="0" marL="0">
              <a:buNone/>
            </a:pPr>
            <a:r>
              <a:rPr/>
              <a:t>Distributed monolith</a:t>
            </a:r>
          </a:p>
          <a:p>
            <a:pPr lvl="0" indent="0" marL="0">
              <a:buNone/>
            </a:pPr>
            <a:r>
              <a:rPr/>
              <a:t>Multi-deploy that must deploy together</a:t>
            </a:r>
          </a:p>
          <a:p>
            <a:pPr lvl="0" indent="0" marL="0">
              <a:buNone/>
            </a:pPr>
            <a:r>
              <a:rPr/>
              <a:t>Anti-pattern</a:t>
            </a:r>
          </a:p>
          <a:p>
            <a:pPr lvl="0" indent="0" marL="0">
              <a:buNone/>
            </a:pPr>
            <a:r>
              <a:rPr/>
              <a:t>FaaS</a:t>
            </a:r>
          </a:p>
          <a:p>
            <a:pPr lvl="0" indent="0" marL="0">
              <a:buNone/>
            </a:pPr>
            <a:r>
              <a:rPr/>
              <a:t>Per-function deploys</a:t>
            </a:r>
          </a:p>
          <a:p>
            <a:pPr lvl="0" indent="0" marL="0">
              <a:buNone/>
            </a:pPr>
            <a:r>
              <a:rPr/>
              <a:t>Bursty workloads; not a default</a:t>
            </a:r>
          </a:p>
          <a:p>
            <a:pPr lvl="0" indent="0" marL="0">
              <a:buNone/>
            </a:pPr>
            <a:r>
              <a:rPr/>
              <a:t>Event-driven</a:t>
            </a:r>
          </a:p>
          <a:p>
            <a:pPr lvl="0" indent="0" marL="0">
              <a:buNone/>
            </a:pPr>
            <a:r>
              <a:rPr/>
              <a:t>Components via queues / events</a:t>
            </a:r>
          </a:p>
          <a:p>
            <a:pPr lvl="0" indent="0" marL="0">
              <a:buNone/>
            </a:pPr>
            <a:r>
              <a:rPr/>
              <a:t>Decouples timing; complicates debugging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❓ The Three-Question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Deploy cadence</a:t>
            </a:r>
          </a:p>
          <a:p>
            <a:pPr lvl="1" indent="0" marL="342900">
              <a:buNone/>
            </a:pPr>
            <a:r>
              <a:rPr/>
              <a:t>Whose deployment cadence does separation protect?</a:t>
            </a:r>
          </a:p>
          <a:p>
            <a:pPr lvl="1" indent="0" marL="342900">
              <a:buNone/>
            </a:pPr>
            <a:r>
              <a:rPr/>
              <a:t>If only one team owns it, separation buys mostly ops cost.</a:t>
            </a:r>
          </a:p>
          <a:p>
            <a:pPr lvl="1" indent="-342900" marL="685800">
              <a:buAutoNum startAt="2" type="arabicPeriod"/>
            </a:pPr>
            <a:r>
              <a:rPr/>
              <a:t>Failure domain</a:t>
            </a:r>
          </a:p>
          <a:p>
            <a:pPr lvl="2" indent="0" marL="685800">
              <a:buNone/>
            </a:pPr>
            <a:r>
              <a:rPr/>
              <a:t>What independent failure do we want?</a:t>
            </a:r>
          </a:p>
          <a:p>
            <a:pPr lvl="2" indent="0" marL="685800">
              <a:buNone/>
            </a:pPr>
            <a:r>
              <a:rPr/>
              <a:t>If the feature can’t function without its dependencies anyway, separation buys no resilience.</a:t>
            </a:r>
          </a:p>
          <a:p>
            <a:pPr lvl="2" indent="-342900" marL="1028700">
              <a:buAutoNum startAt="3" type="arabicPeriod"/>
            </a:pPr>
            <a:r>
              <a:rPr/>
              <a:t>Scaling axis</a:t>
            </a:r>
          </a:p>
          <a:p>
            <a:pPr lvl="3" indent="0" marL="1028700">
              <a:buNone/>
            </a:pPr>
            <a:r>
              <a:rPr/>
              <a:t>What scale curve are we anticipating?</a:t>
            </a:r>
          </a:p>
          <a:p>
            <a:pPr lvl="3" indent="0" marL="1028700">
              <a:buNone/>
            </a:pPr>
            <a:r>
              <a:rPr/>
              <a:t>If load is uniform, one runtime is cheaper.</a:t>
            </a:r>
          </a:p>
          <a:p>
            <a:pPr lvl="3" indent="0" marL="1028700">
              <a:buNone/>
            </a:pPr>
            <a:r>
              <a:rPr/>
              <a:t>Heuristic: 2+ “yes with evidence” → microservice plausible. 2+ “we don’t know” → modular monolith.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🥇 The “Majestic Monolith”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early-stage features ship better as modules in a well-factored monolith than as new services.</a:t>
            </a:r>
          </a:p>
          <a:p>
            <a:pPr lvl="0" indent="0" marL="0">
              <a:buNone/>
            </a:pPr>
            <a:r>
              <a:rPr/>
              <a:t>Faster end-to-end testing (one process, one deploy)</a:t>
            </a:r>
          </a:p>
          <a:p>
            <a:pPr lvl="0" indent="0" marL="0">
              <a:buNone/>
            </a:pPr>
            <a:r>
              <a:rPr/>
              <a:t>Lower observability complexity (no inter-service tracing tax)</a:t>
            </a:r>
          </a:p>
          <a:p>
            <a:pPr lvl="0" indent="0" marL="0">
              <a:buNone/>
            </a:pPr>
            <a:r>
              <a:rPr/>
              <a:t>Lower coordination cost (no shared API contract)</a:t>
            </a:r>
          </a:p>
          <a:p>
            <a:pPr lvl="0" indent="0" marL="0">
              <a:buNone/>
            </a:pPr>
            <a:r>
              <a:rPr/>
              <a:t>Reversibility — extract a module to a service later; merging two services is hard</a:t>
            </a:r>
          </a:p>
          <a:p>
            <a:pPr lvl="0" indent="0" marL="0">
              <a:buNone/>
            </a:pPr>
            <a:r>
              <a:rPr/>
              <a:t>The TPM job: surface the business cost of premature service-orientation. Not to win the debate — to set the right starting point.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Mono/Micro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8 anonymized examples. Apply the three-question frame; stamp Monolith / Micro / Modular monolith / Need more info.</a:t>
            </a:r>
          </a:p>
          <a:p>
            <a:pPr lvl="0" indent="0" marL="0">
              <a:buNone/>
            </a:pPr>
            <a:r>
              <a:rPr/>
              <a:t>15 min: stamp all 8</a:t>
            </a:r>
          </a:p>
          <a:p>
            <a:pPr lvl="0" indent="0" marL="0">
              <a:buNone/>
            </a:pPr>
            <a:r>
              <a:rPr/>
              <a:t>10 min: pick 2 strongest cases for separation, 2 for staying together</a:t>
            </a:r>
          </a:p>
          <a:p>
            <a:pPr lvl="0" indent="0" marL="0">
              <a:buNone/>
            </a:pPr>
            <a:r>
              <a:rPr/>
              <a:t>10 min: identify 1 disagreement to share</a:t>
            </a:r>
          </a:p>
          <a:p>
            <a:pPr lvl="0" indent="0" marL="0">
              <a:buNone/>
            </a:pPr>
            <a:r>
              <a:rPr/>
              <a:t>⏱ 15 stamp · 10 pick · 10 disagree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Apply the Frame to Your PRD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Draft TCD §1 — Architecture stance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The Stance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“Revisit if” is the senior-author signal. A concrete trigger (“if our deploy frequency drops below daily” or “if traffic to this feature grows 10x”) beats “later.”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Stance (FieldPulse reconcile)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Apply the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Run the three-question frame against your locked PRD feature. Draft TCD §1.</a:t>
            </a:r>
          </a:p>
          <a:p>
            <a:pPr lvl="0" indent="0" marL="0">
              <a:buNone/>
            </a:pPr>
            <a:r>
              <a:rPr/>
              <a:t>5 min: re-read PRD §10 (Dependencies)</a:t>
            </a:r>
          </a:p>
          <a:p>
            <a:pPr lvl="0" indent="0" marL="0">
              <a:buNone/>
            </a:pPr>
            <a:r>
              <a:rPr/>
              <a:t>15 min: 3-question pass; honest answers with evidence</a:t>
            </a:r>
          </a:p>
          <a:p>
            <a:pPr lvl="0" indent="0" marL="0">
              <a:buNone/>
            </a:pPr>
            <a:r>
              <a:rPr/>
              <a:t>15 min: draft §1</a:t>
            </a:r>
          </a:p>
          <a:p>
            <a:pPr lvl="0" indent="0" marL="0">
              <a:buNone/>
            </a:pPr>
            <a:r>
              <a:rPr/>
              <a:t>5 min: sanity check — real evidence or hand-wave?</a:t>
            </a:r>
          </a:p>
          <a:p>
            <a:pPr lvl="0" indent="0" marL="0">
              <a:buNone/>
            </a:pPr>
            <a:r>
              <a:rPr/>
              <a:t>⏱ 5 + 15 + 15 + 5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Integration Map (First Pass)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the feature touches; how it fails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Integration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</a:t>
            </a:r>
          </a:p>
          <a:p>
            <a:pPr lvl="0" indent="0" marL="0">
              <a:buNone/>
            </a:pPr>
            <a:r>
              <a:rPr/>
              <a:t>Owner</a:t>
            </a:r>
          </a:p>
          <a:p>
            <a:pPr lvl="0" indent="0" marL="0">
              <a:buNone/>
            </a:pPr>
            <a:r>
              <a:rPr/>
              <a:t>Sync/Async</a:t>
            </a:r>
          </a:p>
          <a:p>
            <a:pPr lvl="0" indent="0" marL="0">
              <a:buNone/>
            </a:pPr>
            <a:r>
              <a:rPr/>
              <a:t>R/W</a:t>
            </a:r>
          </a:p>
          <a:p>
            <a:pPr lvl="0" indent="0" marL="0">
              <a:buNone/>
            </a:pPr>
            <a:r>
              <a:rPr/>
              <a:t>Failure handling</a:t>
            </a:r>
          </a:p>
          <a:p>
            <a:pPr lvl="0" indent="0" marL="0">
              <a:buNone/>
            </a:pPr>
            <a:r>
              <a:rPr/>
              <a:t>Auth (SSO)</a:t>
            </a:r>
          </a:p>
          <a:p>
            <a:pPr lvl="0" indent="0" marL="0">
              <a:buNone/>
            </a:pPr>
            <a:r>
              <a:rPr/>
              <a:t>Identity</a:t>
            </a:r>
          </a:p>
          <a:p>
            <a:pPr lvl="0" indent="0" marL="0">
              <a:buNone/>
            </a:pPr>
            <a:r>
              <a:rPr/>
              <a:t>Sync</a:t>
            </a:r>
          </a:p>
          <a:p>
            <a:pPr lvl="0" indent="0" marL="0">
              <a:buNone/>
            </a:pPr>
            <a:r>
              <a:rPr/>
              <a:t>R</a:t>
            </a:r>
          </a:p>
          <a:p>
            <a:pPr lvl="0" indent="0" marL="0">
              <a:buNone/>
            </a:pPr>
            <a:r>
              <a:rPr/>
              <a:t>Fail closed</a:t>
            </a:r>
          </a:p>
          <a:p>
            <a:pPr lvl="0" indent="0" marL="0">
              <a:buNone/>
            </a:pPr>
            <a:r>
              <a:rPr/>
              <a:t>Audit event store</a:t>
            </a:r>
          </a:p>
          <a:p>
            <a:pPr lvl="0" indent="0" marL="0">
              <a:buNone/>
            </a:pPr>
            <a:r>
              <a:rPr/>
              <a:t>Platform</a:t>
            </a:r>
          </a:p>
          <a:p>
            <a:pPr lvl="0" indent="0" marL="0">
              <a:buNone/>
            </a:pPr>
            <a:r>
              <a:rPr/>
              <a:t>Async</a:t>
            </a:r>
          </a:p>
          <a:p>
            <a:pPr lvl="0" indent="0" marL="0">
              <a:buNone/>
            </a:pPr>
            <a:r>
              <a:rPr/>
              <a:t>W</a:t>
            </a:r>
          </a:p>
          <a:p>
            <a:pPr lvl="0" indent="0" marL="0">
              <a:buNone/>
            </a:pPr>
            <a:r>
              <a:rPr/>
              <a:t>Queue + DLQ</a:t>
            </a:r>
          </a:p>
          <a:p>
            <a:pPr lvl="0" indent="0" marL="0">
              <a:buNone/>
            </a:pPr>
            <a:r>
              <a:rPr/>
              <a:t>Tickets API</a:t>
            </a:r>
          </a:p>
          <a:p>
            <a:pPr lvl="0" indent="0" marL="0">
              <a:buNone/>
            </a:pPr>
            <a:r>
              <a:rPr/>
              <a:t>Dispatch</a:t>
            </a:r>
          </a:p>
          <a:p>
            <a:pPr lvl="0" indent="0" marL="0">
              <a:buNone/>
            </a:pPr>
            <a:r>
              <a:rPr/>
              <a:t>Sync</a:t>
            </a:r>
          </a:p>
          <a:p>
            <a:pPr lvl="0" indent="0" marL="0">
              <a:buNone/>
            </a:pPr>
            <a:r>
              <a:rPr/>
              <a:t>RW</a:t>
            </a:r>
          </a:p>
          <a:p>
            <a:pPr lvl="0" indent="0" marL="0">
              <a:buNone/>
            </a:pPr>
            <a:r>
              <a:rPr/>
              <a:t>Retry x3, then fail</a:t>
            </a:r>
          </a:p>
          <a:p>
            <a:pPr lvl="0" indent="0" marL="0">
              <a:buNone/>
            </a:pPr>
            <a:r>
              <a:rPr/>
              <a:t>Notification svc</a:t>
            </a:r>
          </a:p>
          <a:p>
            <a:pPr lvl="0" indent="0" marL="0">
              <a:buNone/>
            </a:pPr>
            <a:r>
              <a:rPr/>
              <a:t>Comms</a:t>
            </a:r>
          </a:p>
          <a:p>
            <a:pPr lvl="0" indent="0" marL="0">
              <a:buNone/>
            </a:pPr>
            <a:r>
              <a:rPr/>
              <a:t>Async</a:t>
            </a:r>
          </a:p>
          <a:p>
            <a:pPr lvl="0" indent="0" marL="0">
              <a:buNone/>
            </a:pPr>
            <a:r>
              <a:rPr/>
              <a:t>W</a:t>
            </a:r>
          </a:p>
          <a:p>
            <a:pPr lvl="0" indent="0" marL="0">
              <a:buNone/>
            </a:pPr>
            <a:r>
              <a:rPr/>
              <a:t>Best-effort, drop</a:t>
            </a:r>
          </a:p>
          <a:p>
            <a:pPr lvl="0" indent="0" marL="0">
              <a:buNone/>
            </a:pPr>
            <a:r>
              <a:rPr/>
              <a:t>“Failure handling: TBD” is fine if it’s an open question. “Hopefully it works” is not.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Two-Way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integrations require coordination with another team — they have to change something for you. Mark these explicitly.</a:t>
            </a:r>
          </a:p>
          <a:p>
            <a:pPr lvl="0" indent="0" marL="0">
              <a:buNone/>
            </a:pPr>
            <a:r>
              <a:rPr/>
              <a:t>Contract</a:t>
            </a:r>
          </a:p>
          <a:p>
            <a:pPr lvl="0" indent="0" marL="0">
              <a:buNone/>
            </a:pPr>
            <a:r>
              <a:rPr/>
              <a:t>What we need</a:t>
            </a:r>
          </a:p>
          <a:p>
            <a:pPr lvl="0" indent="0" marL="0">
              <a:buNone/>
            </a:pPr>
            <a:r>
              <a:rPr/>
              <a:t>What they need</a:t>
            </a:r>
          </a:p>
          <a:p>
            <a:pPr lvl="0" indent="0" marL="0">
              <a:buNone/>
            </a:pPr>
            <a:r>
              <a:rPr/>
              <a:t>Tickets API</a:t>
            </a:r>
          </a:p>
          <a:p>
            <a:pPr lvl="0" indent="0" marL="0">
              <a:buNone/>
            </a:pPr>
            <a:r>
              <a:rPr/>
              <a:t>New endpoint for batch close</a:t>
            </a:r>
          </a:p>
          <a:p>
            <a:pPr lvl="0" indent="0" marL="0">
              <a:buNone/>
            </a:pPr>
            <a:r>
              <a:rPr/>
              <a:t>Schema review; rate-limit budget</a:t>
            </a:r>
          </a:p>
          <a:p>
            <a:pPr lvl="0" indent="0" marL="0">
              <a:buNone/>
            </a:pPr>
            <a:r>
              <a:rPr/>
              <a:t>SSO scopes</a:t>
            </a:r>
          </a:p>
          <a:p>
            <a:pPr lvl="0" indent="0" marL="0">
              <a:buNone/>
            </a:pPr>
            <a:r>
              <a:rPr/>
              <a:t>New scope </a:t>
            </a:r>
            <a:r>
              <a:rPr>
                <a:latin typeface="Courier"/>
              </a:rPr>
              <a:t>reconcile.write</a:t>
            </a:r>
          </a:p>
          <a:p>
            <a:pPr lvl="0" indent="0" marL="0">
              <a:buNone/>
            </a:pPr>
            <a:r>
              <a:rPr/>
              <a:t>Security review; rollout plan</a:t>
            </a:r>
          </a:p>
          <a:p>
            <a:pPr lvl="0" indent="0" marL="0">
              <a:buNone/>
            </a:pPr>
            <a:r>
              <a:rPr/>
              <a:t>Audit schema</a:t>
            </a:r>
          </a:p>
          <a:p>
            <a:pPr lvl="0" indent="0" marL="0">
              <a:buNone/>
            </a:pPr>
            <a:r>
              <a:rPr/>
              <a:t>7 new event types</a:t>
            </a:r>
          </a:p>
          <a:p>
            <a:pPr lvl="0" indent="0" marL="0">
              <a:buNone/>
            </a:pPr>
            <a:r>
              <a:rPr/>
              <a:t>Schema versioning; PII review</a:t>
            </a:r>
          </a:p>
          <a:p>
            <a:pPr lvl="0" indent="0" marL="0">
              <a:buNone/>
            </a:pPr>
            <a:r>
              <a:rPr/>
              <a:t>Two-way contracts go on the Stakeholder + Sign-off matrix (TCD §6, Friday).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Integration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List integrations from PRD §10 + anything missed. Characterize each. Mark two-way contracts.</a:t>
            </a:r>
          </a:p>
          <a:p>
            <a:pPr lvl="0" indent="0" marL="0">
              <a:buNone/>
            </a:pPr>
            <a:r>
              <a:rPr/>
              <a:t>15 min: list integrations</a:t>
            </a:r>
          </a:p>
          <a:p>
            <a:pPr lvl="0" indent="0" marL="0">
              <a:buNone/>
            </a:pPr>
            <a:r>
              <a:rPr/>
              <a:t>15 min: characterize sync/async, R/W, failure</a:t>
            </a:r>
          </a:p>
          <a:p>
            <a:pPr lvl="0" indent="0" marL="0">
              <a:buNone/>
            </a:pPr>
            <a:r>
              <a:rPr/>
              <a:t>10 min: identify two-way contracts</a:t>
            </a:r>
          </a:p>
          <a:p>
            <a:pPr lvl="0" indent="0" marL="0">
              <a:buNone/>
            </a:pPr>
            <a:r>
              <a:rPr/>
              <a:t>⏱ 15 + 15 + 10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AI is 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Stress-test the stance; surface what we forgot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🧠 AI Norms (Refresher)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Week 1 prompt patterns: Role / Context / Constraints / Format</a:t>
            </a:r>
          </a:p>
          <a:p>
            <a:pPr lvl="0" indent="0" marL="0">
              <a:buNone/>
            </a:pPr>
            <a:r>
              <a:rPr/>
              <a:t>Use Week 2 Day 4 discipline: provenance log for any AI-assisted output</a:t>
            </a:r>
          </a:p>
          <a:p>
            <a:pPr lvl="0" indent="0" marL="0">
              <a:buNone/>
            </a:pPr>
            <a:r>
              <a:rPr/>
              <a:t>Stay on the safe side of the bright line: structure source material; do not ask AI for facts about your real systems</a:t>
            </a:r>
          </a:p>
          <a:p>
            <a:pPr lvl="0" indent="0" marL="0">
              <a:buNone/>
            </a:pPr>
            <a:r>
              <a:rPr/>
              <a:t>Cross-validate: AI surfaces possibilities; you decide what’s real</a:t>
            </a:r>
          </a:p>
          <a:p>
            <a:pPr lvl="0" indent="0" marL="0">
              <a:buNone/>
            </a:pPr>
            <a:r>
              <a:rPr/>
              <a:t>Not allowed: “AI told me our system uses X.” That’s hallucination. AI doesn’t know your codebase.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Today’s Two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A. Stress-test our stance</a:t>
            </a:r>
          </a:p>
          <a:p>
            <a:pPr lvl="0" indent="0" marL="0">
              <a:buNone/>
            </a:pPr>
            <a:r>
              <a:rPr/>
              <a:t>Paste TCD §1 + integration table. Ask for the 3 strongest objections, each with the specific scenario.</a:t>
            </a:r>
          </a:p>
          <a:p>
            <a:pPr lvl="0" indent="0" marL="0">
              <a:buNone/>
            </a:pPr>
            <a:r>
              <a:rPr/>
              <a:t>B. What did we forget?</a:t>
            </a:r>
          </a:p>
          <a:p>
            <a:pPr lvl="0" indent="0" marL="0">
              <a:buNone/>
            </a:pPr>
            <a:r>
              <a:rPr/>
              <a:t>Paste integration table. Ask: “what categories of dependency are commonly forgotten for a feature with this footprint?”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AI-Assisted Architecture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Run Prompt A and Prompt B. Adopt / defer / reject each suggestion. Update §1 + §2. Add provenance note.</a:t>
            </a:r>
          </a:p>
          <a:p>
            <a:pPr lvl="0" indent="0" marL="0">
              <a:buNone/>
            </a:pPr>
            <a:r>
              <a:rPr/>
              <a:t>10 min: Prompt A → 3 objections</a:t>
            </a:r>
          </a:p>
          <a:p>
            <a:pPr lvl="0" indent="0" marL="0">
              <a:buNone/>
            </a:pPr>
            <a:r>
              <a:rPr/>
              <a:t>10 min: adopt / defer / reject decisions</a:t>
            </a:r>
          </a:p>
          <a:p>
            <a:pPr lvl="0" indent="0" marL="0">
              <a:buNone/>
            </a:pPr>
            <a:r>
              <a:rPr/>
              <a:t>10 min: Prompt B → missing dependencies</a:t>
            </a:r>
          </a:p>
          <a:p>
            <a:pPr lvl="0" indent="0" marL="0">
              <a:buNone/>
            </a:pPr>
            <a:r>
              <a:rPr/>
              <a:t>10 min: update §§1–2 + provenance note</a:t>
            </a:r>
          </a:p>
          <a:p>
            <a:pPr lvl="0" indent="0" marL="0">
              <a:buNone/>
            </a:pPr>
            <a:r>
              <a:rPr/>
              <a:t>5 min: AI-prose check; rewrite if generic</a:t>
            </a:r>
          </a:p>
          <a:p>
            <a:pPr lvl="0" indent="0" marL="0">
              <a:buNone/>
            </a:pPr>
            <a:r>
              <a:rPr/>
              <a:t>⏱ 10 + 10 + 10 + 10 + 5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Three-question frame (deploy / failure / scale)</a:t>
            </a:r>
          </a:p>
          <a:p>
            <a:pPr lvl="0" indent="0" marL="0">
              <a:buNone/>
            </a:pPr>
            <a:r>
              <a:rPr/>
              <a:t>Architecture stance with revisit trigger</a:t>
            </a:r>
          </a:p>
          <a:p>
            <a:pPr lvl="0" indent="0" marL="0">
              <a:buNone/>
            </a:pPr>
            <a:r>
              <a:rPr/>
              <a:t>Integration table with failure handling</a:t>
            </a:r>
          </a:p>
          <a:p>
            <a:pPr lvl="0" indent="0" marL="0">
              <a:buNone/>
            </a:pPr>
            <a:r>
              <a:rPr/>
              <a:t>Two-way contracts list</a:t>
            </a:r>
          </a:p>
          <a:p>
            <a:pPr lvl="0" indent="0" marL="0">
              <a:buNone/>
            </a:pPr>
            <a:r>
              <a:rPr/>
              <a:t>AI provenance discipline restored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System security &amp; compliance</a:t>
            </a:r>
          </a:p>
          <a:p>
            <a:pPr lvl="0" indent="0" marL="0">
              <a:buNone/>
            </a:pPr>
            <a:r>
              <a:rPr/>
              <a:t>STRIDE threat-model pass</a:t>
            </a:r>
          </a:p>
          <a:p>
            <a:pPr lvl="0" indent="0" marL="0">
              <a:buNone/>
            </a:pPr>
            <a:r>
              <a:rPr/>
              <a:t>Revising PRD’s Security NFRs at architectural level</a:t>
            </a:r>
          </a:p>
          <a:p>
            <a:pPr lvl="0" indent="0" marL="0">
              <a:buNone/>
            </a:pPr>
            <a:r>
              <a:rPr/>
              <a:t>Bring to Day 2: Your TCD §§1–2. We’ll thread the security model through them tomorrow.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your stance is wrong, which assumption fails first?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2026-05-16T00:02:16Z</dcterms:created>
  <dcterms:modified xsi:type="dcterms:W3CDTF">2026-05-16T00:02:16Z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