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The TCD ships today, sibling to the PRD. Today produces Sections 5–6 + the integration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TCD is approved (or approved with gaps) and ready for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 mirrors Week 3’s Day 4 (assembly) and Day 5 (review). Compressed here into one day because the TCD is a sibling artifact, not a primary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hide everywhere — in the stance, the diagram, the SLOs. Quads have to surface 8+ candidates before they can cull to the strongest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this pattern. “We chose X because X is better” is not a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category check is a quick filter for whether the quad surfaced real 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brainstorm yields fewer than 8, push: “what alternative did you reject?”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trade-off template forces tension, choice, and consequence in three lines each. Watch for choices that align suspiciously with the writer’s preference rather than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trade-off without a concrete accepted cost is half-finished.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how this links Section 3 (audit), Section 4 (latency SLO), and Section 5 (the trade-off) — internal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for trade-offs aligned suspiciously with personal preference. Reasoning should come from the system, not the writer.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names, real next steps. Aim for 6+ entries — most architectural features touch that many stakeholders even if quads under-count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“TBD” is not allowed. If a quad doesn’t know who, ask “who would be angry if you shipped without telling them?”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who claim everything is “Approved” haven’t done the work.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for 6+ entries. Most architectural features touch this many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catches drift between sections written across the week. Pair-review beats self-review for spotting coherence gaps; sign-off locks the TCD for Monday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discipline as Week 3 Day 4. Run it solo, then cross-review.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 scores 0–4 per dimension. Same convention as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shares one of their five trade-offs aloud, including the revisit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quad names the trade-off they expect a real architect to push hardest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architect-time test reveals which trade-offs are still soft. Week 5 picks up Monday with data modeling against this same TCD.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⚔️ Trade-Offs &amp; the TCD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5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TCD ships today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and write the top 5 trade-offs — Option A vs B, choice, cost, revisit trigger</a:t>
            </a:r>
          </a:p>
          <a:p>
            <a:pPr lvl="0" indent="0" marL="0">
              <a:buNone/>
            </a:pPr>
            <a:r>
              <a:rPr/>
              <a:t>Cover at least 3 categories: coupling vs independence, consistency vs availability, latency vs durability, speed vs robustness, generality vs simplicity</a:t>
            </a:r>
          </a:p>
          <a:p>
            <a:pPr lvl="0" indent="0" marL="0">
              <a:buNone/>
            </a:pPr>
            <a:r>
              <a:rPr/>
              <a:t>Build the stakeholder sign-off matrix with real names</a:t>
            </a:r>
          </a:p>
          <a:p>
            <a:pPr lvl="0" indent="0" marL="0">
              <a:buNone/>
            </a:pPr>
            <a:r>
              <a:rPr/>
              <a:t>Run an integration pass across Sections 1–6</a:t>
            </a:r>
          </a:p>
          <a:p>
            <a:pPr lvl="0" indent="0" marL="0">
              <a:buNone/>
            </a:pPr>
            <a:r>
              <a:rPr/>
              <a:t>Cross-review with another quad and ship the Technical Concept Document (TCD) as a sibling to the Product Requirements Document (PRD)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TCD Sections 1–4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Surface the trade-offs (8–10 candidates)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Write the top 5 trade-offs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Stakeholder sign-off matrix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Integration + cross-review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Surface the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Mature architecture documents name the tensions explicitly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Mature vs Immature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Immature</a:t>
            </a:r>
          </a:p>
          <a:p>
            <a:pPr lvl="0" indent="0" marL="0">
              <a:buNone/>
            </a:pPr>
            <a:r>
              <a:rPr/>
              <a:t>“We considered microservices but chose monolith.” Description, not trade-off.</a:t>
            </a:r>
          </a:p>
          <a:p>
            <a:pPr lvl="0" indent="0" marL="0">
              <a:buNone/>
            </a:pPr>
            <a:r>
              <a:rPr/>
              <a:t>✅ Mature</a:t>
            </a:r>
          </a:p>
          <a:p>
            <a:pPr lvl="0" indent="0" marL="0">
              <a:buNone/>
            </a:pPr>
            <a:r>
              <a:rPr/>
              <a:t>“Option A: modular monolith. Option B: extract reconcile into a service. We chose A. Accepted cost: future extraction needs coordinated refactor. Revisit if traffic exceeds 5× rest-of-app or a second team contributes.”</a:t>
            </a:r>
          </a:p>
          <a:p>
            <a:pPr lvl="0" indent="0" marL="0">
              <a:buNone/>
            </a:pPr>
            <a:r>
              <a:rPr/>
              <a:t>The pattern: Option A vs Option B → choice → accepted cost → revisit trigger.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Five Categories of Architectural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Category</a:t>
            </a:r>
          </a:p>
          <a:p>
            <a:pPr lvl="0" indent="0" marL="0">
              <a:buNone/>
            </a:pPr>
            <a:r>
              <a:rPr/>
              <a:t>Example tension</a:t>
            </a:r>
          </a:p>
          <a:p>
            <a:pPr lvl="0" indent="0" marL="0">
              <a:buNone/>
            </a:pPr>
            <a:r>
              <a:rPr/>
              <a:t>Coupling vs independence</a:t>
            </a:r>
          </a:p>
          <a:p>
            <a:pPr lvl="0" indent="0" marL="0">
              <a:buNone/>
            </a:pPr>
            <a:r>
              <a:rPr/>
              <a:t>Module in monolith vs new service</a:t>
            </a:r>
          </a:p>
          <a:p>
            <a:pPr lvl="0" indent="0" marL="0">
              <a:buNone/>
            </a:pPr>
            <a:r>
              <a:rPr/>
              <a:t>Consistency vs availability</a:t>
            </a:r>
          </a:p>
          <a:p>
            <a:pPr lvl="0" indent="0" marL="0">
              <a:buNone/>
            </a:pPr>
            <a:r>
              <a:rPr/>
              <a:t>Strong-consistency reads vs replica reads</a:t>
            </a:r>
          </a:p>
          <a:p>
            <a:pPr lvl="0" indent="0" marL="0">
              <a:buNone/>
            </a:pPr>
            <a:r>
              <a:rPr/>
              <a:t>Latency vs durability</a:t>
            </a:r>
          </a:p>
          <a:p>
            <a:pPr lvl="0" indent="0" marL="0">
              <a:buNone/>
            </a:pPr>
            <a:r>
              <a:rPr/>
              <a:t>Sync write vs async with retry</a:t>
            </a:r>
          </a:p>
          <a:p>
            <a:pPr lvl="0" indent="0" marL="0">
              <a:buNone/>
            </a:pPr>
            <a:r>
              <a:rPr/>
              <a:t>Speed vs robustness</a:t>
            </a:r>
          </a:p>
          <a:p>
            <a:pPr lvl="0" indent="0" marL="0">
              <a:buNone/>
            </a:pPr>
            <a:r>
              <a:rPr/>
              <a:t>Ship happy path now, harden later</a:t>
            </a:r>
          </a:p>
          <a:p>
            <a:pPr lvl="0" indent="0" marL="0">
              <a:buNone/>
            </a:pPr>
            <a:r>
              <a:rPr/>
              <a:t>Generality vs simplicity</a:t>
            </a:r>
          </a:p>
          <a:p>
            <a:pPr lvl="0" indent="0" marL="0">
              <a:buNone/>
            </a:pPr>
            <a:r>
              <a:rPr/>
              <a:t>Build the generic capability or just this case</a:t>
            </a:r>
          </a:p>
          <a:p>
            <a:pPr lvl="0" indent="0" marL="0">
              <a:buNone/>
            </a:pPr>
            <a:r>
              <a:rPr/>
              <a:t>Aim: top-5 trade-offs span at least 3 categories. All in one category usually missed real tensions.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Surface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Brainstorm 8–10 candidates from Sections 1–4. Categorize. Cull to 5 finalists. Rough out structure.</a:t>
            </a:r>
          </a:p>
          <a:p>
            <a:pPr lvl="0" indent="0" marL="0">
              <a:buNone/>
            </a:pPr>
            <a:r>
              <a:rPr/>
              <a:t>15 min: brainstorm 8–10</a:t>
            </a:r>
          </a:p>
          <a:p>
            <a:pPr lvl="0" indent="0" marL="0">
              <a:buNone/>
            </a:pPr>
            <a:r>
              <a:rPr/>
              <a:t>5 min: categorize</a:t>
            </a:r>
          </a:p>
          <a:p>
            <a:pPr lvl="0" indent="0" marL="0">
              <a:buNone/>
            </a:pPr>
            <a:r>
              <a:rPr/>
              <a:t>10 min: cull to 5</a:t>
            </a:r>
          </a:p>
          <a:p>
            <a:pPr lvl="0" indent="0" marL="0">
              <a:buNone/>
            </a:pPr>
            <a:r>
              <a:rPr/>
              <a:t>5 min: rough Option A / B / Choice / Cost / Trigger</a:t>
            </a:r>
          </a:p>
          <a:p>
            <a:pPr lvl="0" indent="0" marL="0">
              <a:buNone/>
            </a:pPr>
            <a:r>
              <a:rPr/>
              <a:t>⏱ 15 + 5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Write the Top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TCD Section 5 prose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Trade-Off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Trade-off N — &lt;short name&gt;
**Tension:** &lt;category&gt; — &lt;framing in one sentence&gt;
**Option A:** &lt;1–2 sentences&gt;
**Option B:** &lt;1–2 sentences&gt;
**Choice:** Option A.
**Why:** &lt;2–3 sentences — defended in business + operational terms&gt;
**Accepted cost:** &lt;what we give up, concretely&gt;
**Revisit trigger:** &lt;metric or organizational change&gt;</a:t>
            </a:r>
          </a:p>
          <a:p>
            <a:pPr lvl="0" indent="0" marL="0">
              <a:buNone/>
            </a:pPr>
            <a:r>
              <a:rPr/>
              <a:t>“Accepted cost: complexity” is vague. Force concreteness: maintenance burden, debugging difficulty, on-call exposure.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Trade-off 2 — Sync vs async write to audit
**Tension:** Latency vs durability.
**Option A:** Synchronous write to audit event store
before responding to user.
**Option B:** Async publish to Event Hubs audit stream;
consumer writes to store.
**Choice:** Option B.
**Why:** Synchronous would add 30–80ms to the reconcile
latency budget, breaking the p95 ≤ 1000ms SLO. Async
with Event Hubs durability is sufficient for SOC 2 audit
requirements. The DLQ on the consumer handles rare
write failures.
**Accepted cost:** Audit events may lag 1–10s behind user
action; a regulator querying within seconds may see
stale state.
**Revisit trigger:** A regulator or customer requires
synchronous audit visibility within &lt; 1 second.</a:t>
            </a:r>
          </a:p>
          <a:p>
            <a:pPr lvl="0" indent="0" marL="0">
              <a:buNone/>
            </a:pPr>
            <a:r>
              <a:rPr/>
              <a:t>Option B leans on a dead-letter queue (DLQ) to catch rare write failures.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Write the Top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15 min: solo drafts (each member writes 2)</a:t>
            </a:r>
          </a:p>
          <a:p>
            <a:pPr lvl="0" indent="0" marL="0">
              <a:buNone/>
            </a:pPr>
            <a:r>
              <a:rPr/>
              <a:t>15 min: pool + refine</a:t>
            </a:r>
          </a:p>
          <a:p>
            <a:pPr lvl="0" indent="0" marL="0">
              <a:buNone/>
            </a:pPr>
            <a:r>
              <a:rPr/>
              <a:t>10 min: consistency check — do trade-offs contradict each other?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Stakeholder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constraint without an owner is a constraint nobody implements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row pairs a constraint with an owner — down to the single sign-on (SSO) scope addition.</a:t>
            </a:r>
          </a:p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Constraint (link)</a:t>
            </a:r>
          </a:p>
          <a:p>
            <a:pPr lvl="0" indent="0" marL="0">
              <a:buNone/>
            </a:pPr>
            <a:r>
              <a:rPr/>
              <a:t>Stakeholder</a:t>
            </a:r>
          </a:p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Next step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Section 1 Architecture stance</a:t>
            </a:r>
          </a:p>
          <a:p>
            <a:pPr lvl="0" indent="0" marL="0">
              <a:buNone/>
            </a:pPr>
            <a:r>
              <a:rPr/>
              <a:t>Lin (Architect)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30-min walkthrough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Section 3 Threat model</a:t>
            </a:r>
          </a:p>
          <a:p>
            <a:pPr lvl="0" indent="0" marL="0">
              <a:buNone/>
            </a:pPr>
            <a:r>
              <a:rPr/>
              <a:t>Pat (Security lead)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Send brief + 30-min walk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Section 3 SOC 2 retention</a:t>
            </a:r>
          </a:p>
          <a:p>
            <a:pPr lvl="0" indent="0" marL="0">
              <a:buNone/>
            </a:pPr>
            <a:r>
              <a:rPr/>
              <a:t>Sam (Compliance)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Email + 15-min sync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Section 4 Latency SLO</a:t>
            </a:r>
          </a:p>
          <a:p>
            <a:pPr lvl="0" indent="0" marL="0">
              <a:buNone/>
            </a:pPr>
            <a:r>
              <a:rPr/>
              <a:t>Kim (Eng lead)</a:t>
            </a:r>
          </a:p>
          <a:p>
            <a:pPr lvl="0" indent="0" marL="0">
              <a:buNone/>
            </a:pPr>
            <a:r>
              <a:rPr/>
              <a:t>Discussed</a:t>
            </a:r>
          </a:p>
          <a:p>
            <a:pPr lvl="0" indent="0" marL="0">
              <a:buNone/>
            </a:pPr>
            <a:r>
              <a:rPr/>
              <a:t>Confirm sprint review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Section 4 Rate-limit policy</a:t>
            </a:r>
          </a:p>
          <a:p>
            <a:pPr lvl="0" indent="0" marL="0">
              <a:buNone/>
            </a:pPr>
            <a:r>
              <a:rPr/>
              <a:t>Jamie (Platform)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Slack + review</a:t>
            </a:r>
          </a:p>
          <a:p>
            <a:pPr lvl="0" indent="0" marL="0">
              <a:buNone/>
            </a:pPr>
            <a:r>
              <a:rPr/>
              <a:t>6</a:t>
            </a:r>
          </a:p>
          <a:p>
            <a:pPr lvl="0" indent="0" marL="0">
              <a:buNone/>
            </a:pPr>
            <a:r>
              <a:rPr/>
              <a:t>Section 5 Trade-off 1</a:t>
            </a:r>
          </a:p>
          <a:p>
            <a:pPr lvl="0" indent="0" marL="0">
              <a:buNone/>
            </a:pPr>
            <a:r>
              <a:rPr/>
              <a:t>Lin (Architect)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Same as #1</a:t>
            </a:r>
          </a:p>
          <a:p>
            <a:pPr lvl="0" indent="0" marL="0">
              <a:buNone/>
            </a:pPr>
            <a:r>
              <a:rPr/>
              <a:t>7</a:t>
            </a:r>
          </a:p>
          <a:p>
            <a:pPr lvl="0" indent="0" marL="0">
              <a:buNone/>
            </a:pPr>
            <a:r>
              <a:rPr/>
              <a:t>SSO scope addition</a:t>
            </a:r>
          </a:p>
          <a:p>
            <a:pPr lvl="0" indent="0" marL="0">
              <a:buNone/>
            </a:pPr>
            <a:r>
              <a:rPr/>
              <a:t>Casey (Identity)</a:t>
            </a:r>
          </a:p>
          <a:p>
            <a:pPr lvl="0" indent="0" marL="0">
              <a:buNone/>
            </a:pPr>
            <a:r>
              <a:rPr/>
              <a:t>Approved</a:t>
            </a:r>
          </a:p>
          <a:p>
            <a:pPr lvl="0" indent="0" marL="0">
              <a:buNone/>
            </a:pPr>
            <a:r>
              <a:rPr/>
              <a:t>None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Status Values (be 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Meaning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TPM has drafted; stakeholder hasn’t reacted</a:t>
            </a:r>
          </a:p>
          <a:p>
            <a:pPr lvl="0" indent="0" marL="0">
              <a:buNone/>
            </a:pPr>
            <a:r>
              <a:rPr/>
              <a:t>Discussed</a:t>
            </a:r>
          </a:p>
          <a:p>
            <a:pPr lvl="0" indent="0" marL="0">
              <a:buNone/>
            </a:pPr>
            <a:r>
              <a:rPr/>
              <a:t>Conversation happened; no formal sign-off</a:t>
            </a:r>
          </a:p>
          <a:p>
            <a:pPr lvl="0" indent="0" marL="0">
              <a:buNone/>
            </a:pPr>
            <a:r>
              <a:rPr/>
              <a:t>Approved</a:t>
            </a:r>
          </a:p>
          <a:p>
            <a:pPr lvl="0" indent="0" marL="0">
              <a:buNone/>
            </a:pPr>
            <a:r>
              <a:rPr/>
              <a:t>Stakeholder said yes (capture how)</a:t>
            </a:r>
          </a:p>
          <a:p>
            <a:pPr lvl="0" indent="0" marL="0">
              <a:buNone/>
            </a:pPr>
            <a:r>
              <a:rPr/>
              <a:t>Blocked</a:t>
            </a:r>
          </a:p>
          <a:p>
            <a:pPr lvl="0" indent="0" marL="0">
              <a:buNone/>
            </a:pPr>
            <a:r>
              <a:rPr/>
              <a:t>Pushback; needs different proposal</a:t>
            </a:r>
          </a:p>
          <a:p>
            <a:pPr lvl="0" indent="0" marL="0">
              <a:buNone/>
            </a:pPr>
            <a:r>
              <a:rPr/>
              <a:t>Most entries should be Proposed today. That’s honest. The matrix is the action list for Week 6.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15 min: list every constraint needing sign-off</a:t>
            </a:r>
          </a:p>
          <a:p>
            <a:pPr lvl="0" indent="0" marL="0">
              <a:buNone/>
            </a:pPr>
            <a:r>
              <a:rPr/>
              <a:t>10 min: assign a real person per row</a:t>
            </a:r>
          </a:p>
          <a:p>
            <a:pPr lvl="0" indent="0" marL="0">
              <a:buNone/>
            </a:pPr>
            <a:r>
              <a:rPr/>
              <a:t>10 min: set the “next step” for each</a:t>
            </a:r>
          </a:p>
          <a:p>
            <a:pPr lvl="0" indent="0" marL="0">
              <a:buNone/>
            </a:pPr>
            <a:r>
              <a:rPr/>
              <a:t>5 min: status sanity check (most should be Proposed)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Integration + Cross-Review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pair-review; ship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Integration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Pass criterion</a:t>
            </a:r>
          </a:p>
          <a:p>
            <a:pPr lvl="0" indent="0" marL="0">
              <a:buNone/>
            </a:pPr>
            <a:r>
              <a:rPr/>
              <a:t>Section 1 stance ↔ Section 2 diagrams</a:t>
            </a:r>
          </a:p>
          <a:p>
            <a:pPr lvl="0" indent="0" marL="0">
              <a:buNone/>
            </a:pPr>
            <a:r>
              <a:rPr/>
              <a:t>Stance shows as expected container layout</a:t>
            </a:r>
          </a:p>
          <a:p>
            <a:pPr lvl="0" indent="0" marL="0">
              <a:buNone/>
            </a:pPr>
            <a:r>
              <a:rPr/>
              <a:t>Section 2 integrations ↔ Section 3 threats</a:t>
            </a:r>
          </a:p>
          <a:p>
            <a:pPr lvl="0" indent="0" marL="0">
              <a:buNone/>
            </a:pPr>
            <a:r>
              <a:rPr/>
              <a:t>Every boundary covered or explicitly out-of-scope</a:t>
            </a:r>
          </a:p>
          <a:p>
            <a:pPr lvl="0" indent="0" marL="0">
              <a:buNone/>
            </a:pPr>
            <a:r>
              <a:rPr/>
              <a:t>Section 3 NFRs ↔ Section 4 SLOs</a:t>
            </a:r>
          </a:p>
          <a:p>
            <a:pPr lvl="0" indent="0" marL="0">
              <a:buNone/>
            </a:pPr>
            <a:r>
              <a:rPr/>
              <a:t>Conflicts surface as Section 5 trade-offs</a:t>
            </a:r>
          </a:p>
          <a:p>
            <a:pPr lvl="0" indent="0" marL="0">
              <a:buNone/>
            </a:pPr>
            <a:r>
              <a:rPr/>
              <a:t>Section 4 SLOs ↔ Section 5 trade-offs</a:t>
            </a:r>
          </a:p>
          <a:p>
            <a:pPr lvl="0" indent="0" marL="0">
              <a:buNone/>
            </a:pPr>
            <a:r>
              <a:rPr/>
              <a:t>Latency cost appears in Section 5 if accepted</a:t>
            </a:r>
          </a:p>
          <a:p>
            <a:pPr lvl="0" indent="0" marL="0">
              <a:buNone/>
            </a:pPr>
            <a:r>
              <a:rPr/>
              <a:t>Sections 1–5 ↔ Section 6 stakeholders</a:t>
            </a:r>
          </a:p>
          <a:p>
            <a:pPr lvl="0" indent="0" marL="0">
              <a:buNone/>
            </a:pPr>
            <a:r>
              <a:rPr/>
              <a:t>Every load-bearing decision has an owner</a:t>
            </a:r>
          </a:p>
          <a:p>
            <a:pPr lvl="0" indent="0" marL="0">
              <a:buNone/>
            </a:pPr>
            <a:r>
              <a:rPr/>
              <a:t>No fortune-cookie prose</a:t>
            </a:r>
          </a:p>
          <a:p>
            <a:pPr lvl="0" indent="0" marL="0">
              <a:buNone/>
            </a:pPr>
            <a:r>
              <a:rPr/>
              <a:t>Specific to this feature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Cross-Review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each trade-off really a trade-off, or just a description?</a:t>
            </a:r>
          </a:p>
          <a:p>
            <a:pPr lvl="0" indent="0" marL="0">
              <a:buNone/>
            </a:pPr>
            <a:r>
              <a:rPr/>
              <a:t>Does the stakeholder matrix have obvious gaps?</a:t>
            </a:r>
          </a:p>
          <a:p>
            <a:pPr lvl="0" indent="0" marL="0">
              <a:buNone/>
            </a:pPr>
            <a:r>
              <a:rPr/>
              <a:t>Are Service Level Objectives (SLOs) and trade-offs internally consistent?</a:t>
            </a:r>
          </a:p>
          <a:p>
            <a:pPr lvl="0" indent="0" marL="0">
              <a:buNone/>
            </a:pPr>
            <a:r>
              <a:rPr/>
              <a:t>Reviewer rubric (for scoring):</a:t>
            </a:r>
          </a:p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Stance defensibility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Threat-model rigor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Component clarity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SLO realism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Trade-off honesty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Stakeholder map</a:t>
            </a:r>
          </a:p>
          <a:p>
            <a:pPr lvl="0" indent="0" marL="0">
              <a:buNone/>
            </a:pPr>
            <a:r>
              <a:rPr/>
              <a:t>10%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+ Cross-Review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10 min: integration pass (solo + pool)</a:t>
            </a:r>
          </a:p>
          <a:p>
            <a:pPr lvl="0" indent="0" marL="0">
              <a:buNone/>
            </a:pPr>
            <a:r>
              <a:rPr/>
              <a:t>20 min: cross-review with another quad (rubric)</a:t>
            </a:r>
          </a:p>
          <a:p>
            <a:pPr lvl="0" indent="0" marL="0">
              <a:buNone/>
            </a:pPr>
            <a:r>
              <a:rPr/>
              <a:t>15 min: adopt / defer / reject + revise + internal sign-off</a:t>
            </a:r>
          </a:p>
          <a:p>
            <a:pPr lvl="0" indent="0" marL="0">
              <a:buNone/>
            </a:pPr>
            <a:r>
              <a:rPr/>
              <a:t>⏱ 10 + 20 + 15 · 15-min wrap-share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 this week</a:t>
            </a:r>
          </a:p>
          <a:p>
            <a:pPr lvl="0" indent="0" marL="0">
              <a:buNone/>
            </a:pPr>
            <a:r>
              <a:rPr/>
              <a:t>Architecture stance with revisit trigger</a:t>
            </a:r>
          </a:p>
          <a:p>
            <a:pPr lvl="0" indent="0" marL="0">
              <a:buNone/>
            </a:pPr>
            <a:r>
              <a:rPr/>
              <a:t>Integration map + C4 diagrams</a:t>
            </a:r>
          </a:p>
          <a:p>
            <a:pPr lvl="0" indent="0" marL="0">
              <a:buNone/>
            </a:pPr>
            <a:r>
              <a:rPr/>
              <a:t>STRIDE threat model (six threat categories) + security non-functional requirements (NFRs)</a:t>
            </a:r>
          </a:p>
          <a:p>
            <a:pPr lvl="0" indent="0" marL="0">
              <a:buNone/>
            </a:pPr>
            <a:r>
              <a:rPr/>
              <a:t>Three SLOs + latency budget</a:t>
            </a:r>
          </a:p>
          <a:p>
            <a:pPr lvl="0" indent="0" marL="0">
              <a:buNone/>
            </a:pPr>
            <a:r>
              <a:rPr/>
              <a:t>Top 5 trade-offs</a:t>
            </a:r>
          </a:p>
          <a:p>
            <a:pPr lvl="0" indent="0" marL="0">
              <a:buNone/>
            </a:pPr>
            <a:r>
              <a:rPr/>
              <a:t>Stakeholder sign-off matrix</a:t>
            </a:r>
          </a:p>
          <a:p>
            <a:pPr lvl="0" indent="0" marL="0">
              <a:buNone/>
            </a:pPr>
            <a:r>
              <a:rPr/>
              <a:t>Integrated TCD</a:t>
            </a:r>
          </a:p>
          <a:p>
            <a:pPr lvl="0" indent="0" marL="0">
              <a:buNone/>
            </a:pPr>
            <a:r>
              <a:rPr/>
              <a:t>What opens Week 5</a:t>
            </a:r>
          </a:p>
          <a:p>
            <a:pPr lvl="0" indent="0" marL="0">
              <a:buNone/>
            </a:pPr>
            <a:r>
              <a:rPr/>
              <a:t>Technical Infrastructure &amp; Modeling</a:t>
            </a:r>
          </a:p>
          <a:p>
            <a:pPr lvl="0" indent="0" marL="0">
              <a:buNone/>
            </a:pPr>
            <a:r>
              <a:rPr/>
              <a:t>Databases &amp; data logic</a:t>
            </a:r>
          </a:p>
          <a:p>
            <a:pPr lvl="0" indent="0" marL="0">
              <a:buNone/>
            </a:pPr>
            <a:r>
              <a:rPr/>
              <a:t>Cloud architecture</a:t>
            </a:r>
          </a:p>
          <a:p>
            <a:pPr lvl="0" indent="0" marL="0">
              <a:buNone/>
            </a:pPr>
            <a:r>
              <a:rPr/>
              <a:t>REST &amp; SOAP APIs</a:t>
            </a:r>
          </a:p>
          <a:p>
            <a:pPr lvl="0" indent="0" marL="0">
              <a:buNone/>
            </a:pPr>
            <a:r>
              <a:rPr/>
              <a:t>Perf baselines &amp; monitoring</a:t>
            </a:r>
          </a:p>
          <a:p>
            <a:pPr lvl="0" indent="0" marL="0">
              <a:buNone/>
            </a:pPr>
            <a:r>
              <a:rPr/>
              <a:t>TCD becomes the spine</a:t>
            </a:r>
          </a:p>
          <a:p>
            <a:pPr lvl="0" indent="0" marL="0">
              <a:buNone/>
            </a:pPr>
            <a:r>
              <a:rPr/>
              <a:t>Bring to Monday: your TCD + PRD. The component map drives Week 5 data modeling; the SLOs drive perf baselines.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trade-offs would you change if a senior architect spent 30 minutes with you?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2026-08-10T21:38:31Z</dcterms:created>
  <dcterms:modified xsi:type="dcterms:W3CDTF">2026-08-10T21:38:31Z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