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notesMaster" Target="notesMasters/notesMaster1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Today: take one TCD/TMD trade-off and translate it into a 1-page brief that wins (or honestly loses) the call.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SEP §3 — the 1-page brief.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calibrate → pick → draft →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same trade-off, expressed in their currency.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“Use simpler words” misses the point. The framing is what matters.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Common rookie error: trying to teach the stakeholder everything. They don’t have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CFO: force a dollar number. For Sales: anticipate “what’s the revenue at risk?”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trade-off + stakeholder + their first 5 questions.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hostile question test catches under-prepared briefs.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picks a low-power stakeholder, push them to a higher-power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the 1-page constraint is forcing.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it doesn’t fit on one page, the trade-off isn’t sharp enough.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this aloud. It’s clear, it’s specific, it asks for a decision.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Hold the page constraint. Cut, don’t add.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read the brief as the stakeholder would.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In-role reading is the most useful review style for briefs.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 The “in-role” frame is reusable.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read decision sentence aloud, name the unsure-question, name a word cut.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phrase they’d never use again with this stakeholder.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“Which trade-off in your TCD would you most want to brief tomorrow?”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📋 Communicating Trade-Offs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6 • Day 3 • Stakeholder Alignment &amp; Negotiation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3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Translate a technical trade-off into the stakeholder’s currency</a:t>
            </a:r>
          </a:p>
          <a:p>
            <a:pPr lvl="0" indent="0" marL="0">
              <a:buNone/>
            </a:pPr>
            <a:r>
              <a:rPr/>
              <a:t>Apply the “need to know vs need to decide” frame</a:t>
            </a:r>
          </a:p>
          <a:p>
            <a:pPr lvl="0" indent="0" marL="0">
              <a:buNone/>
            </a:pPr>
            <a:r>
              <a:rPr/>
              <a:t>Write a 1-page brief that fits on one page (the constraint is forcing)</a:t>
            </a:r>
          </a:p>
          <a:p>
            <a:pPr lvl="0" indent="0" marL="0">
              <a:buNone/>
            </a:pPr>
            <a:r>
              <a:rPr/>
              <a:t>Predict the stakeholder’s top 5 questions</a:t>
            </a:r>
          </a:p>
          <a:p>
            <a:pPr lvl="0" indent="0" marL="0">
              <a:buNone/>
            </a:pPr>
            <a:r>
              <a:rPr/>
              <a:t>Cross-review in role + AI-critique to surface gaps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SEP §§1–2 + TCD §5 trade-offs on the wall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Translation drill (6 examples)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Pick trade-off + stakeholder + predict 5 questions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Draft the 1-page brief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Cross-review (in role) + AI critique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The Translation Discipline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Same trade-off, expressed in their currency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Translation Is Re-Framing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Technical framing</a:t>
            </a:r>
          </a:p>
          <a:p>
            <a:pPr lvl="0" indent="0" marL="0">
              <a:buNone/>
            </a:pPr>
            <a:r>
              <a:rPr/>
              <a:t>Business framing</a:t>
            </a:r>
          </a:p>
          <a:p>
            <a:pPr lvl="0" indent="0" marL="0">
              <a:buNone/>
            </a:pPr>
            <a:r>
              <a:rPr/>
              <a:t>“Async write to audit; sync would breach p95”</a:t>
            </a:r>
          </a:p>
          <a:p>
            <a:pPr lvl="0" indent="0" marL="0">
              <a:buNone/>
            </a:pPr>
            <a:r>
              <a:rPr/>
              <a:t>“Ship 50ms faster; audit logs lag 10s. Important for Q3 compliance review timing.”</a:t>
            </a:r>
          </a:p>
          <a:p>
            <a:pPr lvl="0" indent="0" marL="0">
              <a:buNone/>
            </a:pPr>
            <a:r>
              <a:rPr/>
              <a:t>“Denormalized ticket_ids array”</a:t>
            </a:r>
          </a:p>
          <a:p>
            <a:pPr lvl="0" indent="0" marL="0">
              <a:buNone/>
            </a:pPr>
            <a:r>
              <a:rPr/>
              <a:t>“Optimizing reconcile reads at the cost of a future query type. We’d revisit if that query becomes hot.”</a:t>
            </a:r>
          </a:p>
          <a:p>
            <a:pPr lvl="0" indent="0" marL="0">
              <a:buNone/>
            </a:pPr>
            <a:r>
              <a:rPr/>
              <a:t>“Modular monolith, not a service”</a:t>
            </a:r>
          </a:p>
          <a:p>
            <a:pPr lvl="0" indent="0" marL="0">
              <a:buNone/>
            </a:pPr>
            <a:r>
              <a:rPr/>
              <a:t>“Shipping faster by not separating this code; we accept the cost of a future split if traffic grows 5x.”</a:t>
            </a:r>
          </a:p>
          <a:p>
            <a:pPr lvl="0" indent="0" marL="0">
              <a:buNone/>
            </a:pPr>
            <a:r>
              <a:rPr/>
              <a:t>Currency by stakeholder: CFO → cost. Customer Success → customer outcome. Compliance → regulatory exposure. Eng Director → velocity.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“Need to Know” vs “Need to Decide”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Need to know</a:t>
            </a:r>
          </a:p>
          <a:p>
            <a:pPr lvl="0" indent="0" marL="0">
              <a:buNone/>
            </a:pPr>
            <a:r>
              <a:rPr/>
              <a:t>Headline outcome</a:t>
            </a:r>
          </a:p>
          <a:p>
            <a:pPr lvl="0" indent="0" marL="0">
              <a:buNone/>
            </a:pPr>
            <a:r>
              <a:rPr/>
              <a:t>Cost we’re accepting</a:t>
            </a:r>
          </a:p>
          <a:p>
            <a:pPr lvl="0" indent="0" marL="0">
              <a:buNone/>
            </a:pPr>
            <a:r>
              <a:rPr/>
              <a:t>Trigger to revisit</a:t>
            </a:r>
          </a:p>
          <a:p>
            <a:pPr lvl="0" indent="0" marL="0">
              <a:buNone/>
            </a:pPr>
            <a:r>
              <a:rPr/>
              <a:t>What we need from them</a:t>
            </a:r>
          </a:p>
          <a:p>
            <a:pPr lvl="0" indent="0" marL="0">
              <a:buNone/>
            </a:pPr>
            <a:r>
              <a:rPr/>
              <a:t>Need to decide</a:t>
            </a:r>
          </a:p>
          <a:p>
            <a:pPr lvl="0" indent="0" marL="0">
              <a:buNone/>
            </a:pPr>
            <a:r>
              <a:rPr/>
              <a:t>Approve the choice?</a:t>
            </a:r>
          </a:p>
          <a:p>
            <a:pPr lvl="0" indent="0" marL="0">
              <a:buNone/>
            </a:pPr>
            <a:r>
              <a:rPr/>
              <a:t>Cost acceptable?</a:t>
            </a:r>
          </a:p>
          <a:p>
            <a:pPr lvl="0" indent="0" marL="0">
              <a:buNone/>
            </a:pPr>
            <a:r>
              <a:rPr/>
              <a:t>Trigger well-chosen?</a:t>
            </a:r>
          </a:p>
          <a:p>
            <a:pPr lvl="0" indent="0" marL="0">
              <a:buNone/>
            </a:pPr>
            <a:r>
              <a:rPr/>
              <a:t>Provide what we need?</a:t>
            </a:r>
          </a:p>
          <a:p>
            <a:pPr lvl="0" indent="0" marL="0">
              <a:buNone/>
            </a:pPr>
            <a:r>
              <a:rPr/>
              <a:t>Strip everything else. Detail goes in the appendix or “available on request.”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Translation Drill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6 technical statements, each paired with a stakeholder. Pick 3; translate each.</a:t>
            </a:r>
          </a:p>
          <a:p>
            <a:pPr lvl="0" indent="0" marL="0">
              <a:buNone/>
            </a:pPr>
            <a:r>
              <a:rPr/>
              <a:t>5 min: pick 3 of the 6</a:t>
            </a:r>
          </a:p>
          <a:p>
            <a:pPr lvl="0" indent="0" marL="0">
              <a:buNone/>
            </a:pPr>
            <a:r>
              <a:rPr/>
              <a:t>20 min: translate using audience currency</a:t>
            </a:r>
          </a:p>
          <a:p>
            <a:pPr lvl="0" indent="0" marL="0">
              <a:buNone/>
            </a:pPr>
            <a:r>
              <a:rPr/>
              <a:t>10 min: critique the translations (would the stakeholder act?)</a:t>
            </a:r>
          </a:p>
          <a:p>
            <a:pPr lvl="0" indent="0" marL="0">
              <a:buNone/>
            </a:pPr>
            <a:r>
              <a:rPr/>
              <a:t>⏱ 5 + 20 + 10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Pick + Predict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Trade-off + stakeholder + their first 5 questions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Picking the Pairing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Pick criteria</a:t>
            </a:r>
          </a:p>
          <a:p>
            <a:pPr lvl="0" indent="0" marL="0">
              <a:buNone/>
            </a:pPr>
            <a:r>
              <a:rPr/>
              <a:t>What this means</a:t>
            </a:r>
          </a:p>
          <a:p>
            <a:pPr lvl="0" indent="0" marL="0">
              <a:buNone/>
            </a:pPr>
            <a:r>
              <a:rPr/>
              <a:t>Decision-shaped</a:t>
            </a:r>
          </a:p>
          <a:p>
            <a:pPr lvl="0" indent="0" marL="0">
              <a:buNone/>
            </a:pPr>
            <a:r>
              <a:rPr/>
              <a:t>There’s a real call to make</a:t>
            </a:r>
          </a:p>
          <a:p>
            <a:pPr lvl="0" indent="0" marL="0">
              <a:buNone/>
            </a:pPr>
            <a:r>
              <a:rPr/>
              <a:t>Stakeholder has power</a:t>
            </a:r>
          </a:p>
          <a:p>
            <a:pPr lvl="0" indent="0" marL="0">
              <a:buNone/>
            </a:pPr>
            <a:r>
              <a:rPr/>
              <a:t>They can approve or block</a:t>
            </a:r>
          </a:p>
          <a:p>
            <a:pPr lvl="0" indent="0" marL="0">
              <a:buNone/>
            </a:pPr>
            <a:r>
              <a:rPr/>
              <a:t>Non-obvious cost</a:t>
            </a:r>
          </a:p>
          <a:p>
            <a:pPr lvl="0" indent="0" marL="0">
              <a:buNone/>
            </a:pPr>
            <a:r>
              <a:rPr/>
              <a:t>Needs explaining</a:t>
            </a:r>
          </a:p>
          <a:p>
            <a:pPr lvl="0" indent="0" marL="0">
              <a:buNone/>
            </a:pPr>
            <a:r>
              <a:rPr/>
              <a:t>5 predicted questions: at least one should be hostile. If all 5 are friendly, you’re not stress-testing.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Pick + Predict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5 min: review TCD §5 + TMD trade-offs</a:t>
            </a:r>
          </a:p>
          <a:p>
            <a:pPr lvl="0" indent="0" marL="0">
              <a:buNone/>
            </a:pPr>
            <a:r>
              <a:rPr/>
              <a:t>10 min: pick the trade-off</a:t>
            </a:r>
          </a:p>
          <a:p>
            <a:pPr lvl="0" indent="0" marL="0">
              <a:buNone/>
            </a:pPr>
            <a:r>
              <a:rPr/>
              <a:t>10 min: pick the stakeholder</a:t>
            </a:r>
          </a:p>
          <a:p>
            <a:pPr lvl="0" indent="0" marL="0">
              <a:buNone/>
            </a:pPr>
            <a:r>
              <a:rPr/>
              <a:t>15 min: predict 5 questions, ranked, with at least 1 hostile</a:t>
            </a:r>
          </a:p>
          <a:p>
            <a:pPr lvl="0" indent="0" marL="0">
              <a:buNone/>
            </a:pPr>
            <a:r>
              <a:rPr/>
              <a:t>⏱ 5 + 10 + 10 + 15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Draft the 1-Page Brief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1-page constraint is forcing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1-Page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Trade-off brief: &lt;feature&gt;
**For:** &lt;stakeholder&gt;  |  **From:** &lt;triad&gt;  |  **Date:** ...
## The decision (1 sentence)
We are choosing [X] over [Y], accepting [cost].
## Why this matters to you (1–2 sentences in their currency)
...
## The choice
- What we're doing: ...
- What we're explicitly NOT doing: ...
- The cost we're accepting: ...
## What would change our mind
&lt;concrete trigger&gt;
## What we need from you
☐ Approval to proceed
☐ Specific concern to address
☐ Information we don't have
## Appendix (linked)
- TCD §5 / TMD §X / SLO budget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Brief (Async Audit Write for Compliance)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The decision
Async audit write (1–10s lag) over synchronous to keep
dispatcher reconcile screens fast.
## Why this matters to you
Affects audit-trail timing your SOC 2 process depends on.
Audit events are still durable (Kafka topic + DLQ) — they
just appear in audit store 1–10 seconds after the action.
## The choice
- Doing: Publish to Kafka topic at user-action; consumer
writes to audit store within 1–10s.
- NOT doing: Sync write on user's hot path (would add
30–80ms; breaks p95 SLO).
- Cost: A regulator querying within 5s of an event sees
stale state.
## What would change our mind
A regulator or customer contractually requires sync audit
visibility within &lt; 1 second.
## What we need from you
☐ Approval that 1–10s lag is acceptable for SOC 2
☐ Confirmation of acceptable lag bound (we propose ≤10s p99)
☐ Note of any contract requiring sync audit (we know of none)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Draft the Brief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5 min: decision sentence</a:t>
            </a:r>
          </a:p>
          <a:p>
            <a:pPr lvl="0" indent="0" marL="0">
              <a:buNone/>
            </a:pPr>
            <a:r>
              <a:rPr/>
              <a:t>10 min: why this matters (cross-check vs predicted Q1)</a:t>
            </a:r>
          </a:p>
          <a:p>
            <a:pPr lvl="0" indent="0" marL="0">
              <a:buNone/>
            </a:pPr>
            <a:r>
              <a:rPr/>
              <a:t>10 min: doing / not doing / cost</a:t>
            </a:r>
          </a:p>
          <a:p>
            <a:pPr lvl="0" indent="0" marL="0">
              <a:buNone/>
            </a:pPr>
            <a:r>
              <a:rPr/>
              <a:t>5 min: change-our-mind trigger</a:t>
            </a:r>
          </a:p>
          <a:p>
            <a:pPr lvl="0" indent="0" marL="0">
              <a:buNone/>
            </a:pPr>
            <a:r>
              <a:rPr/>
              <a:t>5 min: what we need (specific checkboxes)</a:t>
            </a:r>
          </a:p>
          <a:p>
            <a:pPr lvl="0" indent="0" marL="0">
              <a:buNone/>
            </a:pPr>
            <a:r>
              <a:rPr/>
              <a:t>5 min: appendix linkbox</a:t>
            </a:r>
          </a:p>
          <a:p>
            <a:pPr lvl="0" indent="0" marL="0">
              <a:buNone/>
            </a:pPr>
            <a:r>
              <a:rPr/>
              <a:t>⏱ 5 + 10 + 10 + 5 + 5 + 5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Cross-Review (in Role) +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 the brief as the stakeholder would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🗣️ In-Role Reading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Reviewer triad reads the brief as if they were the stakeholder. They underline:</a:t>
            </a:r>
          </a:p>
          <a:p>
            <a:pPr lvl="0" indent="0" marL="0">
              <a:buNone/>
            </a:pPr>
            <a:r>
              <a:rPr/>
              <a:t>Sentences that lose them (jargon, irrelevant, unclear)</a:t>
            </a:r>
          </a:p>
          <a:p>
            <a:pPr lvl="0" indent="0" marL="0">
              <a:buNone/>
            </a:pPr>
            <a:r>
              <a:rPr/>
              <a:t>Sentences they’d push back on</a:t>
            </a:r>
          </a:p>
          <a:p>
            <a:pPr lvl="0" indent="0" marL="0">
              <a:buNone/>
            </a:pPr>
            <a:r>
              <a:rPr/>
              <a:t>The first question they’d ask</a:t>
            </a:r>
          </a:p>
          <a:p>
            <a:pPr lvl="0" indent="0" marL="0">
              <a:buNone/>
            </a:pPr>
            <a:r>
              <a:rPr/>
              <a:t>Author triad listens; does not defend. Same Week-3 review discipline.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🧿 AI in Role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In-Role Review +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 pairs • 45 minutes • Wrap</a:t>
            </a:r>
          </a:p>
          <a:p>
            <a:pPr lvl="0" indent="0" marL="0">
              <a:buNone/>
            </a:pPr>
            <a:r>
              <a:rPr/>
              <a:t>10 min: reviewer triad reads in role; underlines</a:t>
            </a:r>
          </a:p>
          <a:p>
            <a:pPr lvl="0" indent="0" marL="0">
              <a:buNone/>
            </a:pPr>
            <a:r>
              <a:rPr/>
              <a:t>10 min: author triad listens to feedback</a:t>
            </a:r>
          </a:p>
          <a:p>
            <a:pPr lvl="0" indent="0" marL="0">
              <a:buNone/>
            </a:pPr>
            <a:r>
              <a:rPr/>
              <a:t>15 min: AI critique in role</a:t>
            </a:r>
          </a:p>
          <a:p>
            <a:pPr lvl="0" indent="0" marL="0">
              <a:buNone/>
            </a:pPr>
            <a:r>
              <a:rPr/>
              <a:t>10 min: adopt / defer / reject + update §3</a:t>
            </a:r>
          </a:p>
          <a:p>
            <a:pPr lvl="0" indent="0" marL="0">
              <a:buNone/>
            </a:pPr>
            <a:r>
              <a:rPr/>
              <a:t>⏱ 10 + 10 + 15 + 10 · 15-min wrap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3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Translation discipline (currency by stakeholder)</a:t>
            </a:r>
          </a:p>
          <a:p>
            <a:pPr lvl="0" indent="0" marL="0">
              <a:buNone/>
            </a:pPr>
            <a:r>
              <a:rPr/>
              <a:t>“Need to know vs need to decide” frame</a:t>
            </a:r>
          </a:p>
          <a:p>
            <a:pPr lvl="0" indent="0" marL="0">
              <a:buNone/>
            </a:pPr>
            <a:r>
              <a:rPr/>
              <a:t>1-page brief for one trade-off + stakeholder</a:t>
            </a:r>
          </a:p>
          <a:p>
            <a:pPr lvl="0" indent="0" marL="0">
              <a:buNone/>
            </a:pPr>
            <a:r>
              <a:rPr/>
              <a:t>Cross-reviewed in role + AI-critiqued</a:t>
            </a:r>
          </a:p>
          <a:p>
            <a:pPr lvl="0" indent="0" marL="0">
              <a:buNone/>
            </a:pPr>
            <a:r>
              <a:rPr/>
              <a:t>SEP §3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AI-augmented requirement summaries</a:t>
            </a:r>
          </a:p>
          <a:p>
            <a:pPr lvl="0" indent="0" marL="0">
              <a:buNone/>
            </a:pPr>
            <a:r>
              <a:rPr/>
              <a:t>Meeting prep: prior context, predicted objections, opening</a:t>
            </a:r>
          </a:p>
          <a:p>
            <a:pPr lvl="0" indent="0" marL="0">
              <a:buNone/>
            </a:pPr>
            <a:r>
              <a:rPr/>
              <a:t>Validation discipline (Wk 5 D5)</a:t>
            </a:r>
          </a:p>
          <a:p>
            <a:pPr lvl="0" indent="0" marL="0">
              <a:buNone/>
            </a:pPr>
            <a:r>
              <a:rPr/>
              <a:t>Bring to Day 4: SEP §§1–3. Tomorrow we prep for the Friday simulation using AI.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trade-off in your TCD would you most want to brief tomorrow?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2026-07-16T20:05:14Z</dcterms:created>
  <dcterms:modified xsi:type="dcterms:W3CDTF">2026-07-16T20:05:14Z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