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notesMaster" Target="notesMasters/notesMaster1.xml" /><Relationship Id="rId25" Type="http://schemas.openxmlformats.org/officeDocument/2006/relationships/viewProps" Target="viewProps.xml" /><Relationship Id="rId2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7" Type="http://schemas.openxmlformats.org/officeDocument/2006/relationships/tableStyles" Target="tableStyles.xml" /><Relationship Id="rId26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?>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_rels/notesSlide17.xml.rels><?xml version="1.0" encoding="UTF-8"?><Relationships xmlns="http://schemas.openxmlformats.org/package/2006/relationships"><Relationship Id="rId2" Type="http://schemas.openxmlformats.org/officeDocument/2006/relationships/slide" Target="../slides/slide18.xml" /><Relationship Id="rId1" Type="http://schemas.openxmlformats.org/officeDocument/2006/relationships/notesMaster" Target="../notesMasters/notesMaster1.xml" /></Relationships>
</file>

<file path=ppt/notesSlides/_rels/notesSlide18.xml.rels><?xml version="1.0" encoding="UTF-8"?>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_rels/notesSlide19.xml.rels><?xml version="1.0" encoding="UTF-8"?><Relationships xmlns="http://schemas.openxmlformats.org/package/2006/relationships"><Relationship Id="rId2" Type="http://schemas.openxmlformats.org/officeDocument/2006/relationships/slide" Target="../slides/slide20.xml" /><Relationship Id="rId1" Type="http://schemas.openxmlformats.org/officeDocument/2006/relationships/notesMaster" Target="../notesMasters/notesMaster1.xml" /></Relationships>
</file>

<file path=ppt/notesSlides/_rels/notesSlide20.xml.rels><?xml version="1.0" encoding="UTF-8"?><Relationships xmlns="http://schemas.openxmlformats.org/package/2006/relationships"><Relationship Id="rId2" Type="http://schemas.openxmlformats.org/officeDocument/2006/relationships/slide" Target="../slides/slide21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Today: take one TCD/TMD trade-off and translate it into a 1-page brief that wins (or honestly loses) the call.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By 16:00, every triad has SEP Section 3 — the 1-page brief.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Arc: calibrate → pick → draft →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Frame the block: same trade-off, expressed in their currency. Set context briefly, then move into the teaching content.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“Use simpler words” misses the point. The framing is what matters.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6</a:t>
            </a:fld>
            <a:endParaRPr lang="en-US"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Common rookie error: trying to teach the stakeholder everything. They don’t have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7</a:t>
            </a:fld>
            <a:endParaRPr lang="en-US"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 CFO: force a dollar number. For Sales: anticipate “what’s the revenue at risk?”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8</a:t>
            </a:fld>
            <a:endParaRPr lang="en-US"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Frame the block: trade-off + stakeholder + their first 5 questions. Set context briefly, then move into the teaching content.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9</a:t>
            </a:fld>
            <a:endParaRPr lang="en-US"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hostile question test catches under-prepared briefs.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10</a:t>
            </a:fld>
            <a:endParaRPr lang="en-US"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If a triad picks a low-power stakeholder, push them to a higher-power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11</a:t>
            </a:fld>
            <a:endParaRPr lang="en-US"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Frame the block: the 1-page constraint is forcing. Set context briefly, then move into the teaching content.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12</a:t>
            </a:fld>
            <a:endParaRPr lang="en-US"/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If it doesn’t fit on one page, the trade-off isn’t sharp enough.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13</a:t>
            </a:fld>
            <a:endParaRPr lang="en-US"/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Read this aloud. It’s clear, it’s specific, it asks for a decision.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14</a:t>
            </a:fld>
            <a:endParaRPr lang="en-US"/>
          </a:p>
        </p:txBody>
      </p:sp>
    </p:spTree>
  </p:cSld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Hold the page constraint. Cut, don’t add.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15</a:t>
            </a:fld>
            <a:endParaRPr lang="en-US"/>
          </a:p>
        </p:txBody>
      </p:sp>
    </p:spTree>
  </p:cSld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Frame the block: read the brief as the stakeholder would. Set context briefly, then move into the teaching content.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16</a:t>
            </a:fld>
            <a:endParaRPr lang="en-US"/>
          </a:p>
        </p:txBody>
      </p:sp>
    </p:spTree>
  </p:cSld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In-role reading is the most useful review style for briefs.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17</a:t>
            </a:fld>
            <a:endParaRPr lang="en-US"/>
          </a:p>
        </p:txBody>
      </p:sp>
    </p:spTree>
  </p:cSld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Add to Pattern Library. The “in-role” frame is reusable.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18</a:t>
            </a:fld>
            <a:endParaRPr lang="en-US"/>
          </a:p>
        </p:txBody>
      </p:sp>
    </p:spTree>
  </p:cSld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Wrap-share: read decision sentence aloud, name the unsure-question, name a word cut.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19</a:t>
            </a:fld>
            <a:endParaRPr lang="en-US"/>
          </a:p>
        </p:txBody>
      </p:sp>
    </p:spTree>
  </p:cSld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Round-robin close: each person says one phrase they’d never use again with this stakeholder.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20</a:t>
            </a:fld>
            <a:endParaRPr lang="en-US"/>
          </a:p>
        </p:txBody>
      </p:sp>
    </p:spTree>
  </p:cSld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Open the floor. Use the prompt — “Which trade-off in your TCD would you most want to brief tomorrow?” — to invite one short reflection per voice. Keep it tight; this is closure, not new content.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21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1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3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4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5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6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7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8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9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0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📋 Communicating Trade-Offs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Week 6 • Day 3 • Stakeholder Alignment &amp; Negotiation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TPM Academy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🎯 Day 3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Translate a technical trade-off — say, an SLO (Service Level Objective) budget — into the stakeholder’s currency</a:t>
            </a:r>
          </a:p>
          <a:p>
            <a:pPr lvl="0" indent="0" marL="0">
              <a:buNone/>
            </a:pPr>
            <a:r>
              <a:rPr/>
              <a:t>Apply the “need to know vs need to decide” frame</a:t>
            </a:r>
          </a:p>
          <a:p>
            <a:pPr lvl="0" indent="0" marL="0">
              <a:buNone/>
            </a:pPr>
            <a:r>
              <a:rPr/>
              <a:t>Write a 1-page brief that fits on one page (the constraint is forcing)</a:t>
            </a:r>
          </a:p>
          <a:p>
            <a:pPr lvl="0" indent="0" marL="0">
              <a:buNone/>
            </a:pPr>
            <a:r>
              <a:rPr/>
              <a:t>Predict the stakeholder’s top 5 questions</a:t>
            </a:r>
          </a:p>
          <a:p>
            <a:pPr lvl="0" indent="0" marL="0">
              <a:buNone/>
            </a:pPr>
            <a:r>
              <a:rPr/>
              <a:t>Cross-review in role + AI-critique to surface gaps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🕑 Today’s Shape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Clock</a:t>
            </a:r>
          </a:p>
          <a:p>
            <a:pPr lvl="0" indent="0" marL="0">
              <a:buNone/>
            </a:pPr>
            <a:r>
              <a:rPr/>
              <a:t>Block</a:t>
            </a:r>
          </a:p>
          <a:p>
            <a:pPr lvl="0" indent="0" marL="0">
              <a:buNone/>
            </a:pPr>
            <a:r>
              <a:rPr/>
              <a:t>Outcome</a:t>
            </a:r>
          </a:p>
          <a:p>
            <a:pPr lvl="0" indent="0" marL="0">
              <a:buNone/>
            </a:pPr>
            <a:r>
              <a:rPr/>
              <a:t>09:00 – 09:15</a:t>
            </a:r>
          </a:p>
          <a:p>
            <a:pPr lvl="0" indent="0" marL="0">
              <a:buNone/>
            </a:pPr>
            <a:r>
              <a:rPr/>
              <a:t>Opening</a:t>
            </a:r>
          </a:p>
          <a:p>
            <a:pPr lvl="0" indent="0" marL="0">
              <a:buNone/>
            </a:pPr>
            <a:r>
              <a:rPr/>
              <a:t>Pin SEP Sections 1–2 + TCD Section 5 trade-offs on the wall</a:t>
            </a:r>
          </a:p>
          <a:p>
            <a:pPr lvl="0" indent="0" marL="0">
              <a:buNone/>
            </a:pPr>
            <a:r>
              <a:rPr/>
              <a:t>09:15 – 10:30</a:t>
            </a:r>
          </a:p>
          <a:p>
            <a:pPr lvl="0" indent="0" marL="0">
              <a:buNone/>
            </a:pPr>
            <a:r>
              <a:rPr/>
              <a:t>Block 1 + Activity 1</a:t>
            </a:r>
          </a:p>
          <a:p>
            <a:pPr lvl="0" indent="0" marL="0">
              <a:buNone/>
            </a:pPr>
            <a:r>
              <a:rPr/>
              <a:t>Translation drill (6 examples)</a:t>
            </a:r>
          </a:p>
          <a:p>
            <a:pPr lvl="0" indent="0" marL="0">
              <a:buNone/>
            </a:pPr>
            <a:r>
              <a:rPr/>
              <a:t>10:45 – 12:00</a:t>
            </a:r>
          </a:p>
          <a:p>
            <a:pPr lvl="0" indent="0" marL="0">
              <a:buNone/>
            </a:pPr>
            <a:r>
              <a:rPr/>
              <a:t>Block 2 + Activity 2</a:t>
            </a:r>
          </a:p>
          <a:p>
            <a:pPr lvl="0" indent="0" marL="0">
              <a:buNone/>
            </a:pPr>
            <a:r>
              <a:rPr/>
              <a:t>Pick trade-off + stakeholder + predict 5 questions</a:t>
            </a:r>
          </a:p>
          <a:p>
            <a:pPr lvl="0" indent="0" marL="0">
              <a:buNone/>
            </a:pPr>
            <a:r>
              <a:rPr/>
              <a:t>13:00 – 14:15</a:t>
            </a:r>
          </a:p>
          <a:p>
            <a:pPr lvl="0" indent="0" marL="0">
              <a:buNone/>
            </a:pPr>
            <a:r>
              <a:rPr/>
              <a:t>Block 3 + Activity 3</a:t>
            </a:r>
          </a:p>
          <a:p>
            <a:pPr lvl="0" indent="0" marL="0">
              <a:buNone/>
            </a:pPr>
            <a:r>
              <a:rPr/>
              <a:t>Draft the 1-page brief</a:t>
            </a:r>
          </a:p>
          <a:p>
            <a:pPr lvl="0" indent="0" marL="0">
              <a:buNone/>
            </a:pPr>
            <a:r>
              <a:rPr/>
              <a:t>14:30 – 16:00</a:t>
            </a:r>
          </a:p>
          <a:p>
            <a:pPr lvl="0" indent="0" marL="0">
              <a:buNone/>
            </a:pPr>
            <a:r>
              <a:rPr/>
              <a:t>Block 4 + Activity 4 + Wrap</a:t>
            </a:r>
          </a:p>
          <a:p>
            <a:pPr lvl="0" indent="0" marL="0">
              <a:buNone/>
            </a:pPr>
            <a:r>
              <a:rPr/>
              <a:t>Cross-review (in role) + AI critique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1 — The Translation Discipline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Same trade-off, expressed in their currency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📚 Translation Is Re-Framing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Technical framing</a:t>
            </a:r>
          </a:p>
          <a:p>
            <a:pPr lvl="0" indent="0" marL="0">
              <a:buNone/>
            </a:pPr>
            <a:r>
              <a:rPr/>
              <a:t>Business framing</a:t>
            </a:r>
          </a:p>
          <a:p>
            <a:pPr lvl="0" indent="0" marL="0">
              <a:buNone/>
            </a:pPr>
            <a:r>
              <a:rPr/>
              <a:t>“Async write to audit; sync would breach p95”</a:t>
            </a:r>
          </a:p>
          <a:p>
            <a:pPr lvl="0" indent="0" marL="0">
              <a:buNone/>
            </a:pPr>
            <a:r>
              <a:rPr/>
              <a:t>“Ship 50ms faster; audit logs lag 10s. Important for Q3 compliance review timing.”</a:t>
            </a:r>
          </a:p>
          <a:p>
            <a:pPr lvl="0" indent="0" marL="0">
              <a:buNone/>
            </a:pPr>
            <a:r>
              <a:rPr/>
              <a:t>“Denormalized ticket_ids array”</a:t>
            </a:r>
          </a:p>
          <a:p>
            <a:pPr lvl="0" indent="0" marL="0">
              <a:buNone/>
            </a:pPr>
            <a:r>
              <a:rPr/>
              <a:t>“Optimizing reconcile reads at the cost of a future query type. We’d revisit if that query becomes hot.”</a:t>
            </a:r>
          </a:p>
          <a:p>
            <a:pPr lvl="0" indent="0" marL="0">
              <a:buNone/>
            </a:pPr>
            <a:r>
              <a:rPr/>
              <a:t>“Modular monolith, not a service”</a:t>
            </a:r>
          </a:p>
          <a:p>
            <a:pPr lvl="0" indent="0" marL="0">
              <a:buNone/>
            </a:pPr>
            <a:r>
              <a:rPr/>
              <a:t>“Shipping faster by not separating this code; we accept the cost of a future split if traffic grows 5x.”</a:t>
            </a:r>
          </a:p>
          <a:p>
            <a:pPr lvl="0" indent="0" marL="0">
              <a:buNone/>
            </a:pPr>
            <a:r>
              <a:rPr/>
              <a:t>Currency by stakeholder: CFO → cost. Customer Success → customer outcome. Compliance → regulatory exposure. Eng Director → velocity.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🎯 “Need to Know” vs “Need to Decide”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Need to know</a:t>
            </a:r>
          </a:p>
          <a:p>
            <a:pPr lvl="0" indent="0" marL="0">
              <a:buNone/>
            </a:pPr>
            <a:r>
              <a:rPr/>
              <a:t>Headline outcome</a:t>
            </a:r>
          </a:p>
          <a:p>
            <a:pPr lvl="0" indent="0" marL="0">
              <a:buNone/>
            </a:pPr>
            <a:r>
              <a:rPr/>
              <a:t>Cost we’re accepting</a:t>
            </a:r>
          </a:p>
          <a:p>
            <a:pPr lvl="0" indent="0" marL="0">
              <a:buNone/>
            </a:pPr>
            <a:r>
              <a:rPr/>
              <a:t>Trigger to revisit</a:t>
            </a:r>
          </a:p>
          <a:p>
            <a:pPr lvl="0" indent="0" marL="0">
              <a:buNone/>
            </a:pPr>
            <a:r>
              <a:rPr/>
              <a:t>What we need from them</a:t>
            </a:r>
          </a:p>
          <a:p>
            <a:pPr lvl="0" indent="0" marL="0">
              <a:buNone/>
            </a:pPr>
            <a:r>
              <a:rPr/>
              <a:t>Need to decide</a:t>
            </a:r>
          </a:p>
          <a:p>
            <a:pPr lvl="0" indent="0" marL="0">
              <a:buNone/>
            </a:pPr>
            <a:r>
              <a:rPr/>
              <a:t>Approve the choice?</a:t>
            </a:r>
          </a:p>
          <a:p>
            <a:pPr lvl="0" indent="0" marL="0">
              <a:buNone/>
            </a:pPr>
            <a:r>
              <a:rPr/>
              <a:t>Cost acceptable?</a:t>
            </a:r>
          </a:p>
          <a:p>
            <a:pPr lvl="0" indent="0" marL="0">
              <a:buNone/>
            </a:pPr>
            <a:r>
              <a:rPr/>
              <a:t>Trigger well-chosen?</a:t>
            </a:r>
          </a:p>
          <a:p>
            <a:pPr lvl="0" indent="0" marL="0">
              <a:buNone/>
            </a:pPr>
            <a:r>
              <a:rPr/>
              <a:t>Provide what we need?</a:t>
            </a:r>
          </a:p>
          <a:p>
            <a:pPr lvl="0" indent="0" marL="0">
              <a:buNone/>
            </a:pPr>
            <a:r>
              <a:rPr/>
              <a:t>Strip everything else. Detail goes in the appendix or “available on request.”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1 — Translation Drill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Triads • 35 minutes</a:t>
            </a:r>
          </a:p>
          <a:p>
            <a:pPr lvl="0" indent="0" marL="0">
              <a:buNone/>
            </a:pPr>
            <a:r>
              <a:rPr/>
              <a:t>6 technical statements, each paired with a stakeholder. Pick 3; translate each.</a:t>
            </a:r>
          </a:p>
          <a:p>
            <a:pPr lvl="0" indent="0" marL="0">
              <a:buNone/>
            </a:pPr>
            <a:r>
              <a:rPr/>
              <a:t>5 min: pick 3 of the 6</a:t>
            </a:r>
          </a:p>
          <a:p>
            <a:pPr lvl="0" indent="0" marL="0">
              <a:buNone/>
            </a:pPr>
            <a:r>
              <a:rPr/>
              <a:t>20 min: translate using audience currency</a:t>
            </a:r>
          </a:p>
          <a:p>
            <a:pPr lvl="0" indent="0" marL="0">
              <a:buNone/>
            </a:pPr>
            <a:r>
              <a:rPr/>
              <a:t>10 min: critique the translations (would the stakeholder act?)</a:t>
            </a:r>
          </a:p>
          <a:p>
            <a:pPr lvl="0" indent="0" marL="0">
              <a:buNone/>
            </a:pPr>
            <a:r>
              <a:rPr/>
              <a:t>⏱ 5 + 20 + 10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2 — Pick + Predict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Trade-off + stakeholder + their first 5 questions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📚 Picking the Pairing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Pick criteria</a:t>
            </a:r>
          </a:p>
          <a:p>
            <a:pPr lvl="0" indent="0" marL="0">
              <a:buNone/>
            </a:pPr>
            <a:r>
              <a:rPr/>
              <a:t>What this means</a:t>
            </a:r>
          </a:p>
          <a:p>
            <a:pPr lvl="0" indent="0" marL="0">
              <a:buNone/>
            </a:pPr>
            <a:r>
              <a:rPr/>
              <a:t>Decision-shaped</a:t>
            </a:r>
          </a:p>
          <a:p>
            <a:pPr lvl="0" indent="0" marL="0">
              <a:buNone/>
            </a:pPr>
            <a:r>
              <a:rPr/>
              <a:t>There’s a real call to make</a:t>
            </a:r>
          </a:p>
          <a:p>
            <a:pPr lvl="0" indent="0" marL="0">
              <a:buNone/>
            </a:pPr>
            <a:r>
              <a:rPr/>
              <a:t>Stakeholder has power</a:t>
            </a:r>
          </a:p>
          <a:p>
            <a:pPr lvl="0" indent="0" marL="0">
              <a:buNone/>
            </a:pPr>
            <a:r>
              <a:rPr/>
              <a:t>They can approve or block</a:t>
            </a:r>
          </a:p>
          <a:p>
            <a:pPr lvl="0" indent="0" marL="0">
              <a:buNone/>
            </a:pPr>
            <a:r>
              <a:rPr/>
              <a:t>Non-obvious cost</a:t>
            </a:r>
          </a:p>
          <a:p>
            <a:pPr lvl="0" indent="0" marL="0">
              <a:buNone/>
            </a:pPr>
            <a:r>
              <a:rPr/>
              <a:t>Needs explaining</a:t>
            </a:r>
          </a:p>
          <a:p>
            <a:pPr lvl="0" indent="0" marL="0">
              <a:buNone/>
            </a:pPr>
            <a:r>
              <a:rPr/>
              <a:t>5 predicted questions: at least one should be hostile. If all 5 are friendly, you’re not stress-testing.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2 — Pick + Predict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Triads • 40 minutes</a:t>
            </a:r>
          </a:p>
          <a:p>
            <a:pPr lvl="0" indent="0" marL="0">
              <a:buNone/>
            </a:pPr>
            <a:r>
              <a:rPr/>
              <a:t>5 min: review Technical Concept Document (TCD) Section 5 + Technical Modeling Document (TMD) trade-offs</a:t>
            </a:r>
          </a:p>
          <a:p>
            <a:pPr lvl="0" indent="0" marL="0">
              <a:buNone/>
            </a:pPr>
            <a:r>
              <a:rPr/>
              <a:t>10 min: pick the trade-off</a:t>
            </a:r>
          </a:p>
          <a:p>
            <a:pPr lvl="0" indent="0" marL="0">
              <a:buNone/>
            </a:pPr>
            <a:r>
              <a:rPr/>
              <a:t>10 min: pick the stakeholder</a:t>
            </a:r>
          </a:p>
          <a:p>
            <a:pPr lvl="0" indent="0" marL="0">
              <a:buNone/>
            </a:pPr>
            <a:r>
              <a:rPr/>
              <a:t>15 min: predict 5 questions, ranked, with at least 1 hostile</a:t>
            </a:r>
          </a:p>
          <a:p>
            <a:pPr lvl="0" indent="0" marL="0">
              <a:buNone/>
            </a:pPr>
            <a:r>
              <a:rPr/>
              <a:t>⏱ 5 + 10 + 10 + 15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3 — Draft the 1-Page Brief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The 1-page constraint is forcing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📝 The 1-Page Template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# Trade-off brief: &lt;feature&gt;
**For:** &lt;stakeholder&gt;  |  **From:** &lt;triad&gt;  |  **Date:** ...
## The decision (1 sentence)
We are choosing [X] over [Y], accepting [cost].
## Why this matters to you (1–2 sentences in their currency)
...
## The choice
- What we're doing: ...
- What we're explicitly NOT doing: ...
- The cost we're accepting: ...
## What would change our mind
&lt;concrete trigger&gt;
## What we need from you
☐ Approval to proceed
☐ Specific concern to address
☐ Information we don't have
## Appendix (linked)
- TCD Section 5 / TMD SectionX / SLO budget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📝 Worked Brief (Async Audit Write for Compliance)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## The decision
Async audit write (1–10s lag) over synchronous to keep
dispatcher reconcile screens fast.
## Why this matters to you
Affects audit-trail timing your SOC 2 process depends on.
Audit events are still durable (Kafka topic + DLQ) — they
just appear in audit store 1–10 seconds after the action.
## The choice
- Doing: Publish to Kafka topic at user-action; consumer
writes to audit store within 1–10s.
- NOT doing: Sync write on user's hot path (would add
30–80ms; breaks p95 SLO).
- Cost: A regulator querying within 5s of an event sees
stale state.
## What would change our mind
A regulator or customer contractually requires sync audit
visibility within &lt; 1 second.
## What we need from you
☐ Approval that 1–10s lag is acceptable for SOC 2
☐ Confirmation of acceptable lag bound (we propose ≤10s p99)
☐ Note of any contract requiring sync audit (we know of none)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3 — Draft the Brief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Triads • 40 minutes</a:t>
            </a:r>
          </a:p>
          <a:p>
            <a:pPr lvl="0" indent="0" marL="0">
              <a:buNone/>
            </a:pPr>
            <a:r>
              <a:rPr/>
              <a:t>5 min: decision sentence</a:t>
            </a:r>
          </a:p>
          <a:p>
            <a:pPr lvl="0" indent="0" marL="0">
              <a:buNone/>
            </a:pPr>
            <a:r>
              <a:rPr/>
              <a:t>10 min: why this matters (cross-check vs predicted Q1)</a:t>
            </a:r>
          </a:p>
          <a:p>
            <a:pPr lvl="0" indent="0" marL="0">
              <a:buNone/>
            </a:pPr>
            <a:r>
              <a:rPr/>
              <a:t>10 min: doing / not doing / cost</a:t>
            </a:r>
          </a:p>
          <a:p>
            <a:pPr lvl="0" indent="0" marL="0">
              <a:buNone/>
            </a:pPr>
            <a:r>
              <a:rPr/>
              <a:t>5 min: change-our-mind trigger</a:t>
            </a:r>
          </a:p>
          <a:p>
            <a:pPr lvl="0" indent="0" marL="0">
              <a:buNone/>
            </a:pPr>
            <a:r>
              <a:rPr/>
              <a:t>5 min: what we need (specific checkboxes)</a:t>
            </a:r>
          </a:p>
          <a:p>
            <a:pPr lvl="0" indent="0" marL="0">
              <a:buNone/>
            </a:pPr>
            <a:r>
              <a:rPr/>
              <a:t>5 min: appendix linkbox (e.g., a DLQ — dead-letter queue — reference)</a:t>
            </a:r>
          </a:p>
          <a:p>
            <a:pPr lvl="0" indent="0" marL="0">
              <a:buNone/>
            </a:pPr>
            <a:r>
              <a:rPr/>
              <a:t>⏱ 5 + 10 + 10 + 5 + 5 + 5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4 — Cross-Review (in Role) +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Read the brief as the stakeholder would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🗣️ In-Role Reading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Reviewer triad reads the brief as if they were the stakeholder. They underline:</a:t>
            </a:r>
          </a:p>
          <a:p>
            <a:pPr lvl="0" indent="0" marL="0">
              <a:buNone/>
            </a:pPr>
            <a:r>
              <a:rPr/>
              <a:t>Sentences that lose them (jargon, irrelevant, unclear)</a:t>
            </a:r>
          </a:p>
          <a:p>
            <a:pPr lvl="0" indent="0" marL="0">
              <a:buNone/>
            </a:pPr>
            <a:r>
              <a:rPr/>
              <a:t>Sentences they’d push back on</a:t>
            </a:r>
          </a:p>
          <a:p>
            <a:pPr lvl="0" indent="0" marL="0">
              <a:buNone/>
            </a:pPr>
            <a:r>
              <a:rPr/>
              <a:t>The first question they’d ask</a:t>
            </a:r>
          </a:p>
          <a:p>
            <a:pPr lvl="0" indent="0" marL="0">
              <a:buNone/>
            </a:pPr>
            <a:r>
              <a:rPr/>
              <a:t>Author triad listens; does not defend. Same Week-3 review discipline.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🤖 AI in Role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4 — In-Role Review +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Triad pairs • 45 minutes • Wrap</a:t>
            </a:r>
          </a:p>
          <a:p>
            <a:pPr lvl="0" indent="0" marL="0">
              <a:buNone/>
            </a:pPr>
            <a:r>
              <a:rPr/>
              <a:t>10 min: reviewer triad reads in role; underlines</a:t>
            </a:r>
          </a:p>
          <a:p>
            <a:pPr lvl="0" indent="0" marL="0">
              <a:buNone/>
            </a:pPr>
            <a:r>
              <a:rPr/>
              <a:t>10 min: author triad listens to feedback</a:t>
            </a:r>
          </a:p>
          <a:p>
            <a:pPr lvl="0" indent="0" marL="0">
              <a:buNone/>
            </a:pPr>
            <a:r>
              <a:rPr/>
              <a:t>15 min: AI critique in role</a:t>
            </a:r>
          </a:p>
          <a:p>
            <a:pPr lvl="0" indent="0" marL="0">
              <a:buNone/>
            </a:pPr>
            <a:r>
              <a:rPr/>
              <a:t>10 min: adopt / defer / reject + update Section 3</a:t>
            </a:r>
          </a:p>
          <a:p>
            <a:pPr lvl="0" indent="0" marL="0">
              <a:buNone/>
            </a:pPr>
            <a:r>
              <a:rPr/>
              <a:t>⏱ 10 + 10 + 15 + 10 · 15-min wrap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🎉 Day 3 Wrap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we built</a:t>
            </a:r>
          </a:p>
          <a:p>
            <a:pPr lvl="0" indent="0" marL="0">
              <a:buNone/>
            </a:pPr>
            <a:r>
              <a:rPr/>
              <a:t>Translation discipline (currency by stakeholder)</a:t>
            </a:r>
          </a:p>
          <a:p>
            <a:pPr lvl="0" indent="0" marL="0">
              <a:buNone/>
            </a:pPr>
            <a:r>
              <a:rPr/>
              <a:t>“Need to know vs need to decide” frame</a:t>
            </a:r>
          </a:p>
          <a:p>
            <a:pPr lvl="0" indent="0" marL="0">
              <a:buNone/>
            </a:pPr>
            <a:r>
              <a:rPr/>
              <a:t>1-page brief for one trade-off + stakeholder</a:t>
            </a:r>
          </a:p>
          <a:p>
            <a:pPr lvl="0" indent="0" marL="0">
              <a:buNone/>
            </a:pPr>
            <a:r>
              <a:rPr/>
              <a:t>Cross-reviewed in role + AI-critiqued</a:t>
            </a:r>
          </a:p>
          <a:p>
            <a:pPr lvl="0" indent="0" marL="0">
              <a:buNone/>
            </a:pPr>
            <a:r>
              <a:rPr/>
              <a:t>Stakeholder Engagement Plan (SEP) Section 3 drafted</a:t>
            </a:r>
          </a:p>
          <a:p>
            <a:pPr lvl="0" indent="0" marL="0">
              <a:buNone/>
            </a:pPr>
            <a:r>
              <a:rPr/>
              <a:t>What opens tomorrow</a:t>
            </a:r>
          </a:p>
          <a:p>
            <a:pPr lvl="0" indent="0" marL="0">
              <a:buNone/>
            </a:pPr>
            <a:r>
              <a:rPr/>
              <a:t>AI-augmented requirement summaries</a:t>
            </a:r>
          </a:p>
          <a:p>
            <a:pPr lvl="0" indent="0" marL="0">
              <a:buNone/>
            </a:pPr>
            <a:r>
              <a:rPr/>
              <a:t>Meeting prep: prior context, predicted objections, opening</a:t>
            </a:r>
          </a:p>
          <a:p>
            <a:pPr lvl="0" indent="0" marL="0">
              <a:buNone/>
            </a:pPr>
            <a:r>
              <a:rPr/>
              <a:t>Validation discipline (Wk 5 D5)</a:t>
            </a:r>
          </a:p>
          <a:p>
            <a:pPr lvl="0" indent="0" marL="0">
              <a:buNone/>
            </a:pPr>
            <a:r>
              <a:rPr/>
              <a:t>Bring to Day 4: SEP Sections 1–3. Tomorrow we prep for the Friday simulation using AI.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💬 Questions &amp; Reflection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Which trade-off in your TCD would you most want to brief tomorrow?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2026-07-27T15:20:04Z</dcterms:created>
  <dcterms:modified xsi:type="dcterms:W3CDTF">2026-07-27T15:20:04Z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