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Week 6. Outward-facing week. The artifacts you’ve shipped become inputs to real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quad has SEP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list → place → assign → 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Block 1: a complete stakeholder list is the foundation for every later step. Push quads to think beyond the org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quads through all five circles. The omissions are usually compliance and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discipline as the TCD Section 6 sign-off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Lists below 8 mean a circle was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to placement: the 2×2 turns a list into a strategy. The argument over each placement is where the learning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TPMs over-invest in high-interest quadrants. The high-power-low-interest is what catches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“shifting” stakeholders are flagged for the watch list (Block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argument is the learning. Don’t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introduces the accountability discipline. The “one A per decision” rule is the brutal check that surfaces ambiguity.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“exactly one A” check is brutal but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TPMs often grab too much A. Coach back to C where the architect or eng lead is the actual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down the A column: 5 unique A’s, no duplicates. That’s the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“actually empowered” check is the most useful. Many nominal A’s are rubber stamps.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block: the watch list converts mapping into vigilance. Each high-power-low-interest stakeholder gets a named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3–5 entries on the watch list, with specific triggers, is the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Reusable for future feature stakeholder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1 contested placement, 1 reassigned A, 1 watch-list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stakeholder they realized today they had wrongly 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Encourage quads to share one stakeholder whose placement on the map surprised them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🧑‍🤝‍🧑 Stakeholder Mapping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6 • Day 1 • Stakeholder Alignment &amp;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a complete stakeholder list — not an org-chart copy</a:t>
            </a:r>
          </a:p>
          <a:p>
            <a:pPr lvl="0" indent="0" marL="0">
              <a:buNone/>
            </a:pPr>
            <a:r>
              <a:rPr/>
              <a:t>Place every stakeholder on a Power × Interest grid</a:t>
            </a:r>
          </a:p>
          <a:p>
            <a:pPr lvl="0" indent="0" marL="0">
              <a:buNone/>
            </a:pPr>
            <a:r>
              <a:rPr/>
              <a:t>Assign a RACI matrix (Responsible, Accountable, Consulted, Informed) to the 5 most consequential decisions, with one A per decision</a:t>
            </a:r>
          </a:p>
          <a:p>
            <a:pPr lvl="0" indent="0" marL="0">
              <a:buNone/>
            </a:pPr>
            <a:r>
              <a:rPr/>
              <a:t>Build a watch list — the high-power-low-interest stakeholders + their triggers</a:t>
            </a:r>
          </a:p>
          <a:p>
            <a:pPr lvl="0" indent="0" marL="0">
              <a:buNone/>
            </a:pPr>
            <a:r>
              <a:rPr/>
              <a:t>Draft Stakeholder Engagement Plan (SEP) Section 1 — the input to engagement planning tomorrow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TCD Section 6 sign-off matrix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Build the stakeholder list (the 5 circles)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Power × Interest mapping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RACI for 5 decisions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Watch list + SEP Section 1 polish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Build the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Org chart ≠ stakeholder map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🎲 The Five Circles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Customer-facing: customer success, sales, support</a:t>
            </a:r>
          </a:p>
          <a:p>
            <a:pPr lvl="0" indent="0" marL="0">
              <a:buNone/>
            </a:pPr>
            <a:r>
              <a:rPr/>
              <a:t>Engineering-adjacent: architecture, security, platform, infra, data, QA</a:t>
            </a:r>
          </a:p>
          <a:p>
            <a:pPr lvl="0" indent="0" marL="0">
              <a:buNone/>
            </a:pPr>
            <a:r>
              <a:rPr/>
              <a:t>Operating partners: ops, IT, compliance, legal, finance</a:t>
            </a:r>
          </a:p>
          <a:p>
            <a:pPr lvl="0" indent="0" marL="0">
              <a:buNone/>
            </a:pPr>
            <a:r>
              <a:rPr/>
              <a:t>Decision-makers: PM lead, eng director, GM, executive sponsor</a:t>
            </a:r>
          </a:p>
          <a:p>
            <a:pPr lvl="0" indent="0" marL="0">
              <a:buNone/>
            </a:pPr>
            <a:r>
              <a:rPr/>
              <a:t>Indirect interest: other product teams whose work this touches</a:t>
            </a:r>
          </a:p>
          <a:p>
            <a:pPr lvl="0" indent="0" marL="0">
              <a:buNone/>
            </a:pPr>
            <a:r>
              <a:rPr/>
              <a:t>Most rookie lists are 5–7 names. A complete list is usually 10–18.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What Good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stakeholder has a name (or named role) — not “the security team”</a:t>
            </a:r>
          </a:p>
          <a:p>
            <a:pPr lvl="0" indent="0" marL="0">
              <a:buNone/>
            </a:pPr>
            <a:r>
              <a:rPr/>
              <a:t>Each has a one-sentence concern — what they care about</a:t>
            </a:r>
          </a:p>
          <a:p>
            <a:pPr lvl="0" indent="0" marL="0">
              <a:buNone/>
            </a:pPr>
            <a:r>
              <a:rPr/>
              <a:t>Each has a relationship to this feature — consumer, owner, gate</a:t>
            </a:r>
          </a:p>
          <a:p>
            <a:pPr lvl="0" indent="0" marL="0">
              <a:buNone/>
            </a:pPr>
            <a:r>
              <a:rPr/>
              <a:t>Watch for: “TBD” entries. Force a name. The unowned stakeholder is the one who blindsides you.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Build the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5 min: copy from Technical Concept Document (TCD) Section 6</a:t>
            </a:r>
          </a:p>
          <a:p>
            <a:pPr lvl="0" indent="0" marL="0">
              <a:buNone/>
            </a:pPr>
            <a:r>
              <a:rPr/>
              <a:t>15 min: walk the 5 circles, augment</a:t>
            </a:r>
          </a:p>
          <a:p>
            <a:pPr lvl="0" indent="0" marL="0">
              <a:buNone/>
            </a:pPr>
            <a:r>
              <a:rPr/>
              <a:t>5 min: light cull</a:t>
            </a:r>
          </a:p>
          <a:p>
            <a:pPr lvl="0" indent="0" marL="0">
              <a:buNone/>
            </a:pPr>
            <a:r>
              <a:rPr/>
              <a:t>10 min: capture role + concern per stakeholder</a:t>
            </a:r>
          </a:p>
          <a:p>
            <a:pPr lvl="0" indent="0" marL="0">
              <a:buNone/>
            </a:pPr>
            <a:r>
              <a:rPr/>
              <a:t>⏱ 5 + 15 + 5 + 10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Power ×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each stakeholder lives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The 2×2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 Power, High Interest</a:t>
            </a:r>
          </a:p>
          <a:p>
            <a:pPr lvl="0" indent="0" marL="0">
              <a:buNone/>
            </a:pPr>
            <a:r>
              <a:rPr/>
              <a:t>Manage closely — key partners; frequent deep engagement</a:t>
            </a:r>
          </a:p>
          <a:p>
            <a:pPr lvl="0" indent="0" marL="0">
              <a:buNone/>
            </a:pPr>
            <a:r>
              <a:rPr/>
              <a:t>Low Power, High Interest</a:t>
            </a:r>
          </a:p>
          <a:p>
            <a:pPr lvl="0" indent="0" marL="0">
              <a:buNone/>
            </a:pPr>
            <a:r>
              <a:rPr/>
              <a:t>Keep informed — engaged audience; you’ll learn from them</a:t>
            </a:r>
          </a:p>
          <a:p>
            <a:pPr lvl="0" indent="0" marL="0">
              <a:buNone/>
            </a:pPr>
            <a:r>
              <a:rPr/>
              <a:t>High Power, Low Interest</a:t>
            </a:r>
          </a:p>
          <a:p>
            <a:pPr lvl="0" indent="0" marL="0">
              <a:buNone/>
            </a:pPr>
            <a:r>
              <a:rPr/>
              <a:t>Manage with authority — the surprise-veto quadrant</a:t>
            </a:r>
          </a:p>
          <a:p>
            <a:pPr lvl="0" indent="0" marL="0">
              <a:buNone/>
            </a:pPr>
            <a:r>
              <a:rPr/>
              <a:t>Low Power, Low Interest</a:t>
            </a:r>
          </a:p>
          <a:p>
            <a:pPr lvl="0" indent="0" marL="0">
              <a:buNone/>
            </a:pPr>
            <a:r>
              <a:rPr/>
              <a:t>Monitor — low effort; periodic check-ins</a:t>
            </a:r>
          </a:p>
          <a:p>
            <a:pPr lvl="0" indent="0" marL="0">
              <a:buNone/>
            </a:pPr>
            <a:r>
              <a:rPr/>
              <a:t>The dangerous quadrant: high-power, low-interest. They surprise you with a “no” at the worst time.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Example (FieldPulse)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High-Interest, High-Power: Eng Lead
Customer Success Lead
QA Lead
High-Interest, Low-Power:   Other dispatcher squads
Internal users testing
Low-Interest, High-Power:   Architect
Eng Director
Security Lead
CFO
Low-Interest, Low-Power:    Internal communications
Ops floor</a:t>
            </a:r>
          </a:p>
          <a:p>
            <a:pPr lvl="0" indent="0" marL="0">
              <a:buNone/>
            </a:pPr>
            <a:r>
              <a:rPr/>
              <a:t>Surprise: Compliance is low-interest in the abstract but high-power in specific moments (audit deadlines). Position can shift.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Power ×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5 min: sketch 2×2</a:t>
            </a:r>
          </a:p>
          <a:p>
            <a:pPr lvl="0" indent="0" marL="0">
              <a:buNone/>
            </a:pPr>
            <a:r>
              <a:rPr/>
              <a:t>15 min: place each stakeholder; argue when you disagree</a:t>
            </a:r>
          </a:p>
          <a:p>
            <a:pPr lvl="0" indent="0" marL="0">
              <a:buNone/>
            </a:pPr>
            <a:r>
              <a:rPr/>
              <a:t>10 min: name engagement style per quadrant</a:t>
            </a:r>
          </a:p>
          <a:p>
            <a:pPr lvl="0" indent="0" marL="0">
              <a:buNone/>
            </a:pPr>
            <a:r>
              <a:rPr/>
              <a:t>10 min: identify your 2 “surprises”</a:t>
            </a:r>
          </a:p>
          <a:p>
            <a:pPr lvl="0" indent="0" marL="0">
              <a:buNone/>
            </a:pPr>
            <a:r>
              <a:rPr/>
              <a:t>⏱ 5 + 15 + 10 + 10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RACI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A per decision; if two, neither is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RACI Refresher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Letter</a:t>
            </a:r>
          </a:p>
          <a:p>
            <a:pPr lvl="0" indent="0" marL="0">
              <a:buNone/>
            </a:pPr>
            <a:r>
              <a:rPr/>
              <a:t>Role</a:t>
            </a:r>
          </a:p>
          <a:p>
            <a:pPr lvl="0" indent="0" marL="0">
              <a:buNone/>
            </a:pPr>
            <a:r>
              <a:rPr/>
              <a:t>Definition</a:t>
            </a:r>
          </a:p>
          <a:p>
            <a:pPr lvl="0" indent="0" marL="0">
              <a:buNone/>
            </a:pPr>
            <a:r>
              <a:rPr/>
              <a:t>R</a:t>
            </a:r>
          </a:p>
          <a:p>
            <a:pPr lvl="0" indent="0" marL="0">
              <a:buNone/>
            </a:pPr>
            <a:r>
              <a:rPr/>
              <a:t>Responsible</a:t>
            </a:r>
          </a:p>
          <a:p>
            <a:pPr lvl="0" indent="0" marL="0">
              <a:buNone/>
            </a:pPr>
            <a:r>
              <a:rPr/>
              <a:t>Does the work. Many R’s possible.</a:t>
            </a:r>
          </a:p>
          <a:p>
            <a:pPr lvl="0" indent="0" marL="0">
              <a:buNone/>
            </a:pPr>
            <a:r>
              <a:rPr/>
              <a:t>A</a:t>
            </a:r>
          </a:p>
          <a:p>
            <a:pPr lvl="0" indent="0" marL="0">
              <a:buNone/>
            </a:pPr>
            <a:r>
              <a:rPr/>
              <a:t>Accountable</a:t>
            </a:r>
          </a:p>
          <a:p>
            <a:pPr lvl="0" indent="0" marL="0">
              <a:buNone/>
            </a:pPr>
            <a:r>
              <a:rPr/>
              <a:t>Owns the outcome. Exactly one per decision.</a:t>
            </a:r>
          </a:p>
          <a:p>
            <a:pPr lvl="0" indent="0" marL="0">
              <a:buNone/>
            </a:pPr>
            <a:r>
              <a:rPr/>
              <a:t>C</a:t>
            </a:r>
          </a:p>
          <a:p>
            <a:pPr lvl="0" indent="0" marL="0">
              <a:buNone/>
            </a:pPr>
            <a:r>
              <a:rPr/>
              <a:t>Consulted</a:t>
            </a:r>
          </a:p>
          <a:p>
            <a:pPr lvl="0" indent="0" marL="0">
              <a:buNone/>
            </a:pPr>
            <a:r>
              <a:rPr/>
              <a:t>Two-way; opinion sought.</a:t>
            </a:r>
          </a:p>
          <a:p>
            <a:pPr lvl="0" indent="0" marL="0">
              <a:buNone/>
            </a:pPr>
            <a:r>
              <a:rPr/>
              <a:t>I</a:t>
            </a:r>
          </a:p>
          <a:p>
            <a:pPr lvl="0" indent="0" marL="0">
              <a:buNone/>
            </a:pPr>
            <a:r>
              <a:rPr/>
              <a:t>Informed</a:t>
            </a:r>
          </a:p>
          <a:p>
            <a:pPr lvl="0" indent="0" marL="0">
              <a:buNone/>
            </a:pPr>
            <a:r>
              <a:rPr/>
              <a:t>One-way notification.</a:t>
            </a:r>
          </a:p>
          <a:p>
            <a:pPr lvl="0" indent="0" marL="0">
              <a:buNone/>
            </a:pPr>
            <a:r>
              <a:rPr/>
              <a:t>The discipline: if two people are A, neither is. If no one is A, the decision rots.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Five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 — what’s in vs out</a:t>
            </a:r>
          </a:p>
          <a:p>
            <a:pPr lvl="0" indent="0" marL="0">
              <a:buNone/>
            </a:pPr>
            <a:r>
              <a:rPr/>
              <a:t>Architecture — TCD Section 1 + key trade-offs</a:t>
            </a:r>
          </a:p>
          <a:p>
            <a:pPr lvl="0" indent="0" marL="0">
              <a:buNone/>
            </a:pPr>
            <a:r>
              <a:rPr/>
              <a:t>Service Level Objective (SLO) targets — TCD Section 4</a:t>
            </a:r>
          </a:p>
          <a:p>
            <a:pPr lvl="0" indent="0" marL="0">
              <a:buNone/>
            </a:pPr>
            <a:r>
              <a:rPr/>
              <a:t>Launch date — when it ships</a:t>
            </a:r>
          </a:p>
          <a:p>
            <a:pPr lvl="0" indent="0" marL="0">
              <a:buNone/>
            </a:pPr>
            <a:r>
              <a:rPr/>
              <a:t>Out-of-scope (OOS) backlog ownership — deferred items + owners</a:t>
            </a:r>
          </a:p>
          <a:p>
            <a:pPr lvl="0" indent="0" marL="0">
              <a:buNone/>
            </a:pPr>
            <a:r>
              <a:rPr/>
              <a:t>The TPM rookie error: “I’ll be A for architecture.” The architect is A. You’re C.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RACI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Decision</a:t>
            </a:r>
          </a:p>
          <a:p>
            <a:pPr lvl="0" indent="0" marL="0">
              <a:buNone/>
            </a:pPr>
            <a:r>
              <a:rPr/>
              <a:t>R</a:t>
            </a:r>
          </a:p>
          <a:p>
            <a:pPr lvl="0" indent="0" marL="0">
              <a:buNone/>
            </a:pPr>
            <a:r>
              <a:rPr/>
              <a:t>A</a:t>
            </a:r>
          </a:p>
          <a:p>
            <a:pPr lvl="0" indent="0" marL="0">
              <a:buNone/>
            </a:pPr>
            <a:r>
              <a:rPr/>
              <a:t>C</a:t>
            </a:r>
          </a:p>
          <a:p>
            <a:pPr lvl="0" indent="0" marL="0">
              <a:buNone/>
            </a:pPr>
            <a:r>
              <a:rPr/>
              <a:t>I</a:t>
            </a:r>
          </a:p>
          <a:p>
            <a:pPr lvl="0" indent="0" marL="0">
              <a:buNone/>
            </a:pPr>
            <a:r>
              <a:rPr/>
              <a:t>Scope</a:t>
            </a:r>
          </a:p>
          <a:p>
            <a:pPr lvl="0" indent="0" marL="0">
              <a:buNone/>
            </a:pPr>
            <a:r>
              <a:rPr/>
              <a:t>TPM</a:t>
            </a:r>
          </a:p>
          <a:p>
            <a:pPr lvl="0" indent="0" marL="0">
              <a:buNone/>
            </a:pPr>
            <a:r>
              <a:rPr/>
              <a:t>PM Director</a:t>
            </a:r>
          </a:p>
          <a:p>
            <a:pPr lvl="0" indent="0" marL="0">
              <a:buNone/>
            </a:pPr>
            <a:r>
              <a:rPr/>
              <a:t>Eng Lead, Architect, CS</a:t>
            </a:r>
          </a:p>
          <a:p>
            <a:pPr lvl="0" indent="0" marL="0">
              <a:buNone/>
            </a:pPr>
            <a:r>
              <a:rPr/>
              <a:t>Sales, Support</a:t>
            </a:r>
          </a:p>
          <a:p>
            <a:pPr lvl="0" indent="0" marL="0">
              <a:buNone/>
            </a:pPr>
            <a:r>
              <a:rPr/>
              <a:t>Architecture</a:t>
            </a:r>
          </a:p>
          <a:p>
            <a:pPr lvl="0" indent="0" marL="0">
              <a:buNone/>
            </a:pPr>
            <a:r>
              <a:rPr/>
              <a:t>Architect</a:t>
            </a:r>
          </a:p>
          <a:p>
            <a:pPr lvl="0" indent="0" marL="0">
              <a:buNone/>
            </a:pPr>
            <a:r>
              <a:rPr/>
              <a:t>Eng Director</a:t>
            </a:r>
          </a:p>
          <a:p>
            <a:pPr lvl="0" indent="0" marL="0">
              <a:buNone/>
            </a:pPr>
            <a:r>
              <a:rPr/>
              <a:t>TPM, Security, Platform</a:t>
            </a:r>
          </a:p>
          <a:p>
            <a:pPr lvl="0" indent="0" marL="0">
              <a:buNone/>
            </a:pPr>
            <a:r>
              <a:rPr/>
              <a:t>All eng</a:t>
            </a:r>
          </a:p>
          <a:p>
            <a:pPr lvl="0" indent="0" marL="0">
              <a:buNone/>
            </a:pPr>
            <a:r>
              <a:rPr/>
              <a:t>SLO targets</a:t>
            </a:r>
          </a:p>
          <a:p>
            <a:pPr lvl="0" indent="0" marL="0">
              <a:buNone/>
            </a:pPr>
            <a:r>
              <a:rPr/>
              <a:t>Eng Lead</a:t>
            </a:r>
          </a:p>
          <a:p>
            <a:pPr lvl="0" indent="0" marL="0">
              <a:buNone/>
            </a:pPr>
            <a:r>
              <a:rPr/>
              <a:t>TPM</a:t>
            </a:r>
          </a:p>
          <a:p>
            <a:pPr lvl="0" indent="0" marL="0">
              <a:buNone/>
            </a:pPr>
            <a:r>
              <a:rPr/>
              <a:t>SREs, CS</a:t>
            </a:r>
          </a:p>
          <a:p>
            <a:pPr lvl="0" indent="0" marL="0">
              <a:buNone/>
            </a:pPr>
            <a:r>
              <a:rPr/>
              <a:t>Eng Director</a:t>
            </a:r>
          </a:p>
          <a:p>
            <a:pPr lvl="0" indent="0" marL="0">
              <a:buNone/>
            </a:pPr>
            <a:r>
              <a:rPr/>
              <a:t>Launch date</a:t>
            </a:r>
          </a:p>
          <a:p>
            <a:pPr lvl="0" indent="0" marL="0">
              <a:buNone/>
            </a:pPr>
            <a:r>
              <a:rPr/>
              <a:t>TPM</a:t>
            </a:r>
          </a:p>
          <a:p>
            <a:pPr lvl="0" indent="0" marL="0">
              <a:buNone/>
            </a:pPr>
            <a:r>
              <a:rPr/>
              <a:t>PM Director</a:t>
            </a:r>
          </a:p>
          <a:p>
            <a:pPr lvl="0" indent="0" marL="0">
              <a:buNone/>
            </a:pPr>
            <a:r>
              <a:rPr/>
              <a:t>Eng Lead, CS, Marketing</a:t>
            </a:r>
          </a:p>
          <a:p>
            <a:pPr lvl="0" indent="0" marL="0">
              <a:buNone/>
            </a:pPr>
            <a:r>
              <a:rPr/>
              <a:t>All eng, Sales</a:t>
            </a:r>
          </a:p>
          <a:p>
            <a:pPr lvl="0" indent="0" marL="0">
              <a:buNone/>
            </a:pPr>
            <a:r>
              <a:rPr/>
              <a:t>OOS backlog</a:t>
            </a:r>
          </a:p>
          <a:p>
            <a:pPr lvl="0" indent="0" marL="0">
              <a:buNone/>
            </a:pPr>
            <a:r>
              <a:rPr/>
              <a:t>TPM</a:t>
            </a:r>
          </a:p>
          <a:p>
            <a:pPr lvl="0" indent="0" marL="0">
              <a:buNone/>
            </a:pPr>
            <a:r>
              <a:rPr/>
              <a:t>TPM</a:t>
            </a:r>
          </a:p>
          <a:p>
            <a:pPr lvl="0" indent="0" marL="0">
              <a:buNone/>
            </a:pPr>
            <a:r>
              <a:rPr/>
              <a:t>Eng Lead</a:t>
            </a:r>
          </a:p>
          <a:p>
            <a:pPr lvl="0" indent="0" marL="0">
              <a:buNone/>
            </a:pPr>
            <a:r>
              <a:rPr/>
              <a:t>Backlog readers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RACI for 5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20 min: draft matrix</a:t>
            </a:r>
          </a:p>
          <a:p>
            <a:pPr lvl="0" indent="0" marL="0">
              <a:buNone/>
            </a:pPr>
            <a:r>
              <a:rPr/>
              <a:t>5 min: “no two A’s” check</a:t>
            </a:r>
          </a:p>
          <a:p>
            <a:pPr lvl="0" indent="0" marL="0">
              <a:buNone/>
            </a:pPr>
            <a:r>
              <a:rPr/>
              <a:t>10 min: “is the A actually empowered?” check</a:t>
            </a:r>
          </a:p>
          <a:p>
            <a:pPr lvl="0" indent="0" marL="0">
              <a:buNone/>
            </a:pPr>
            <a:r>
              <a:rPr/>
              <a:t>5 min: “anyone surprised by being I?”</a:t>
            </a:r>
          </a:p>
          <a:p>
            <a:pPr lvl="0" indent="0" marL="0">
              <a:buNone/>
            </a:pPr>
            <a:r>
              <a:rPr/>
              <a:t>⏱ 20 + 5 + 10 + 5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Watch List + Polish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early-warning system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👁️ The Watch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high-power-low-interest stakeholder, identify the event that would move them to high-interest — and the trigger to escalate engagement.</a:t>
            </a:r>
          </a:p>
          <a:p>
            <a:pPr lvl="0" indent="0" marL="0">
              <a:buNone/>
            </a:pPr>
            <a:r>
              <a:rPr/>
              <a:t>Stakeholder</a:t>
            </a:r>
          </a:p>
          <a:p>
            <a:pPr lvl="0" indent="0" marL="0">
              <a:buNone/>
            </a:pPr>
            <a:r>
              <a:rPr/>
              <a:t>Trigger to escalate</a:t>
            </a:r>
          </a:p>
          <a:p>
            <a:pPr lvl="0" indent="0" marL="0">
              <a:buNone/>
            </a:pPr>
            <a:r>
              <a:rPr/>
              <a:t>CFO</a:t>
            </a:r>
          </a:p>
          <a:p>
            <a:pPr lvl="0" indent="0" marL="0">
              <a:buNone/>
            </a:pPr>
            <a:r>
              <a:rPr/>
              <a:t>Cost projection &gt; $X</a:t>
            </a:r>
          </a:p>
          <a:p>
            <a:pPr lvl="0" indent="0" marL="0">
              <a:buNone/>
            </a:pPr>
            <a:r>
              <a:rPr/>
              <a:t>General Counsel</a:t>
            </a:r>
          </a:p>
          <a:p>
            <a:pPr lvl="0" indent="0" marL="0">
              <a:buNone/>
            </a:pPr>
            <a:r>
              <a:rPr/>
              <a:t>Any regulator email</a:t>
            </a:r>
          </a:p>
          <a:p>
            <a:pPr lvl="0" indent="0" marL="0">
              <a:buNone/>
            </a:pPr>
            <a:r>
              <a:rPr/>
              <a:t>Chief Customer Officer</a:t>
            </a:r>
          </a:p>
          <a:p>
            <a:pPr lvl="0" indent="0" marL="0">
              <a:buNone/>
            </a:pPr>
            <a:r>
              <a:rPr/>
              <a:t>Top-10 customer escalation</a:t>
            </a:r>
          </a:p>
          <a:p>
            <a:pPr lvl="0" indent="0" marL="0">
              <a:buNone/>
            </a:pPr>
            <a:r>
              <a:rPr/>
              <a:t>Architect</a:t>
            </a:r>
          </a:p>
          <a:p>
            <a:pPr lvl="0" indent="0" marL="0">
              <a:buNone/>
            </a:pPr>
            <a:r>
              <a:rPr/>
              <a:t>Architecture stance changes after Day 1</a:t>
            </a:r>
          </a:p>
          <a:p>
            <a:pPr lvl="0" indent="0" marL="0">
              <a:buNone/>
            </a:pPr>
            <a:r>
              <a:rPr/>
              <a:t>The watch list is your early-warning system. Distinguishes managers of stakeholders from reactors to them.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Day 1 AI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Role: Senior PM coaching a junior TPM on stakeholder management.
Context: &lt;stakeholder list with quadrants and RACI&gt;
Task: Identify 3 likely blind spots:
1. A stakeholder who probably has more power than the map shows
2. A decision where the A is wrong or absent
3. A high-power-low-interest stakeholder whose trigger isn't named
Constraints:
- Be specific to names and roles given
- Do not invent stakeholders
Format: 3 numbered findings, each with one-sentence rationale.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Watch List + Polish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Wrap</a:t>
            </a:r>
          </a:p>
          <a:p>
            <a:pPr lvl="0" indent="0" marL="0">
              <a:buNone/>
            </a:pPr>
            <a:r>
              <a:rPr/>
              <a:t>15 min: polish Section 1</a:t>
            </a:r>
          </a:p>
          <a:p>
            <a:pPr lvl="0" indent="0" marL="0">
              <a:buNone/>
            </a:pPr>
            <a:r>
              <a:rPr/>
              <a:t>20 min: build watch list (3–5 stakeholders + triggers)</a:t>
            </a:r>
          </a:p>
          <a:p>
            <a:pPr lvl="0" indent="0" marL="0">
              <a:buNone/>
            </a:pPr>
            <a:r>
              <a:rPr/>
              <a:t>5 min: cross-check vs TCD Section 6</a:t>
            </a:r>
          </a:p>
          <a:p>
            <a:pPr lvl="0" indent="0" marL="0">
              <a:buNone/>
            </a:pPr>
            <a:r>
              <a:rPr/>
              <a:t>5 min: AI prompt + provenance note</a:t>
            </a:r>
          </a:p>
          <a:p>
            <a:pPr lvl="0" indent="0" marL="0">
              <a:buNone/>
            </a:pPr>
            <a:r>
              <a:rPr/>
              <a:t>⏱ 15 + 20 + 5 + 5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Comprehensive stakeholder list</a:t>
            </a:r>
          </a:p>
          <a:p>
            <a:pPr lvl="0" indent="0" marL="0">
              <a:buNone/>
            </a:pPr>
            <a:r>
              <a:rPr/>
              <a:t>Power × Interest grid</a:t>
            </a:r>
          </a:p>
          <a:p>
            <a:pPr lvl="0" indent="0" marL="0">
              <a:buNone/>
            </a:pPr>
            <a:r>
              <a:rPr/>
              <a:t>RACI for 5 decisions</a:t>
            </a:r>
          </a:p>
          <a:p>
            <a:pPr lvl="0" indent="0" marL="0">
              <a:buNone/>
            </a:pPr>
            <a:r>
              <a:rPr/>
              <a:t>Watch list with triggers</a:t>
            </a:r>
          </a:p>
          <a:p>
            <a:pPr lvl="0" indent="0" marL="0">
              <a:buNone/>
            </a:pPr>
            <a:r>
              <a:rPr/>
              <a:t>SEP Section 1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Managing engagement for outcomes</a:t>
            </a:r>
          </a:p>
          <a:p>
            <a:pPr lvl="0" indent="0" marL="0">
              <a:buNone/>
            </a:pPr>
            <a:r>
              <a:rPr/>
              <a:t>Per-stakeholder engagement plans</a:t>
            </a:r>
          </a:p>
          <a:p>
            <a:pPr lvl="0" indent="0" marL="0">
              <a:buNone/>
            </a:pPr>
            <a:r>
              <a:rPr/>
              <a:t>Cadence + format + asks</a:t>
            </a:r>
          </a:p>
          <a:p>
            <a:pPr lvl="0" indent="0" marL="0">
              <a:buNone/>
            </a:pPr>
            <a:r>
              <a:rPr/>
              <a:t>Bring to Day 2: SEP Section 1. Tomorrow we plan the actual engagement.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Whose attention have you been spending too much on? Too little?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2026-08-10T21:38:43Z</dcterms:created>
  <dcterms:modified xsi:type="dcterms:W3CDTF">2026-08-10T21:38:43Z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