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notesMaster" Target="notesMasters/notesMaster1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3 simulated negotiation rounds. SEP Section 5 outcomes log. Sign-off.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the SEP is shipped alongside PRD/TCD/TMD.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Hold the time strictly. Each round has its own purpose.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to: The Three Rounds. Each tests a different muscle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play stakeholder for one round and author for another.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Identify which axis the stakeholder cares most about; offer movement on a different axis.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round produces a score for both the author and the stakeholder.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Surprise objections force improvisation. Rehearsal alone isn’t enough.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Instructor pre-loads 1–2 per 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Forces author to honestly evaluate options, not just say 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hard one. Designed to be unwinnable straightforwardly.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“Owner + next step” — no “TBD.”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Public read-aloud: facilitator names the best line from each triad’s negotiation.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“Where in today’s negotiation did you wish you’d held the line harder?”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🤝 Live Negotiation Simulations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6 • Day 5 • SEP ships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3 simulated negotiation rounds: Architecture/SLO (Service Level Objective), Scope, Resource/Timeline</a:t>
            </a:r>
          </a:p>
          <a:p>
            <a:pPr lvl="0" indent="0" marL="0">
              <a:buNone/>
            </a:pPr>
            <a:r>
              <a:rPr/>
              <a:t>Surface the trade space (scope / time / quality / resources)</a:t>
            </a:r>
          </a:p>
          <a:p>
            <a:pPr lvl="0" indent="0" marL="0">
              <a:buNone/>
            </a:pPr>
            <a:r>
              <a:rPr/>
              <a:t>Hold non-negotiables under pressure</a:t>
            </a:r>
          </a:p>
          <a:p>
            <a:pPr lvl="0" indent="0" marL="0">
              <a:buNone/>
            </a:pPr>
            <a:r>
              <a:rPr/>
              <a:t>Capture each round in the Stakeholder Engagement Plan (SEP) Section 5 outcomes log with owner + next step</a:t>
            </a:r>
          </a:p>
          <a:p>
            <a:pPr lvl="0" indent="0" marL="0">
              <a:buNone/>
            </a:pPr>
            <a:r>
              <a:rPr/>
              <a:t>Sign off the SEP — the fourth and final sibling artifact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Cadence (different)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Opening; pairings posted; rubric reminder</a:t>
            </a:r>
          </a:p>
          <a:p>
            <a:pPr lvl="0" indent="0" marL="0">
              <a:buNone/>
            </a:pPr>
            <a:r>
              <a:rPr/>
              <a:t>09:15 – 10:45</a:t>
            </a:r>
          </a:p>
          <a:p>
            <a:pPr lvl="0" indent="0" marL="0">
              <a:buNone/>
            </a:pPr>
            <a:r>
              <a:rPr/>
              <a:t>Round 1: Architecture / SLO</a:t>
            </a:r>
          </a:p>
          <a:p>
            <a:pPr lvl="0" indent="0" marL="0">
              <a:buNone/>
            </a:pPr>
            <a:r>
              <a:rPr/>
              <a:t>10:45 – 11:00</a:t>
            </a:r>
          </a:p>
          <a:p>
            <a:pPr lvl="0" indent="0" marL="0">
              <a:buNone/>
            </a:pPr>
            <a:r>
              <a:rPr/>
              <a:t>Break</a:t>
            </a:r>
          </a:p>
          <a:p>
            <a:pPr lvl="0" indent="0" marL="0">
              <a:buNone/>
            </a:pPr>
            <a:r>
              <a:rPr/>
              <a:t>11:00 – 12:00</a:t>
            </a:r>
          </a:p>
          <a:p>
            <a:pPr lvl="0" indent="0" marL="0">
              <a:buNone/>
            </a:pPr>
            <a:r>
              <a:rPr/>
              <a:t>Round 1 debrief + Round 2 prep</a:t>
            </a:r>
          </a:p>
          <a:p>
            <a:pPr lvl="0" indent="0" marL="0">
              <a:buNone/>
            </a:pPr>
            <a:r>
              <a:rPr/>
              <a:t>12:00 – 13:00</a:t>
            </a:r>
          </a:p>
          <a:p>
            <a:pPr lvl="0" indent="0" marL="0">
              <a:buNone/>
            </a:pPr>
            <a:r>
              <a:rPr/>
              <a:t>Lunch</a:t>
            </a:r>
          </a:p>
          <a:p>
            <a:pPr lvl="0" indent="0" marL="0">
              <a:buNone/>
            </a:pPr>
            <a:r>
              <a:rPr/>
              <a:t>13:00 – 14:30</a:t>
            </a:r>
          </a:p>
          <a:p>
            <a:pPr lvl="0" indent="0" marL="0">
              <a:buNone/>
            </a:pPr>
            <a:r>
              <a:rPr/>
              <a:t>Round 2: Scope</a:t>
            </a:r>
          </a:p>
          <a:p>
            <a:pPr lvl="0" indent="0" marL="0">
              <a:buNone/>
            </a:pPr>
            <a:r>
              <a:rPr/>
              <a:t>14:30 – 14:45</a:t>
            </a:r>
          </a:p>
          <a:p>
            <a:pPr lvl="0" indent="0" marL="0">
              <a:buNone/>
            </a:pPr>
            <a:r>
              <a:rPr/>
              <a:t>Break</a:t>
            </a:r>
          </a:p>
          <a:p>
            <a:pPr lvl="0" indent="0" marL="0">
              <a:buNone/>
            </a:pPr>
            <a:r>
              <a:rPr/>
              <a:t>14:45 – 15:45</a:t>
            </a:r>
          </a:p>
          <a:p>
            <a:pPr lvl="0" indent="0" marL="0">
              <a:buNone/>
            </a:pPr>
            <a:r>
              <a:rPr/>
              <a:t>Round 3: Resource / Timeline</a:t>
            </a:r>
          </a:p>
          <a:p>
            <a:pPr lvl="0" indent="0" marL="0">
              <a:buNone/>
            </a:pPr>
            <a:r>
              <a:rPr/>
              <a:t>15:45 – 16:00</a:t>
            </a:r>
          </a:p>
          <a:p>
            <a:pPr lvl="0" indent="0" marL="0">
              <a:buNone/>
            </a:pPr>
            <a:r>
              <a:rPr/>
              <a:t>Wrap + sign-off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Three Rounds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Each tests a different muscle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Round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</a:t>
            </a:r>
          </a:p>
          <a:p>
            <a:pPr lvl="0" indent="0" marL="0">
              <a:buNone/>
            </a:pPr>
            <a:r>
              <a:rPr/>
              <a:t>Stakeholder type</a:t>
            </a:r>
          </a:p>
          <a:p>
            <a:pPr lvl="0" indent="0" marL="0">
              <a:buNone/>
            </a:pPr>
            <a:r>
              <a:rPr/>
              <a:t>Author tests</a:t>
            </a:r>
          </a:p>
          <a:p>
            <a:pPr lvl="0" indent="0" marL="0">
              <a:buNone/>
            </a:pPr>
            <a:r>
              <a:rPr/>
              <a:t>1: Architecture / SLO</a:t>
            </a:r>
          </a:p>
          <a:p>
            <a:pPr lvl="0" indent="0" marL="0">
              <a:buNone/>
            </a:pPr>
            <a:r>
              <a:rPr/>
              <a:t>High-power technical (Architect, Security, Eng Director)</a:t>
            </a:r>
          </a:p>
          <a:p>
            <a:pPr lvl="0" indent="0" marL="0">
              <a:buNone/>
            </a:pPr>
            <a:r>
              <a:rPr/>
              <a:t>Hold technical line; respond to surprise objections</a:t>
            </a:r>
          </a:p>
          <a:p>
            <a:pPr lvl="0" indent="0" marL="0">
              <a:buNone/>
            </a:pPr>
            <a:r>
              <a:rPr/>
              <a:t>2: Scope</a:t>
            </a:r>
          </a:p>
          <a:p>
            <a:pPr lvl="0" indent="0" marL="0">
              <a:buNone/>
            </a:pPr>
            <a:r>
              <a:rPr/>
              <a:t>Non-technical (PM Director, CS Lead, Sales VP)</a:t>
            </a:r>
          </a:p>
          <a:p>
            <a:pPr lvl="0" indent="0" marL="0">
              <a:buNone/>
            </a:pPr>
            <a:r>
              <a:rPr/>
              <a:t>Defend non-goals against scope-creep</a:t>
            </a:r>
          </a:p>
          <a:p>
            <a:pPr lvl="0" indent="0" marL="0">
              <a:buNone/>
            </a:pPr>
            <a:r>
              <a:rPr/>
              <a:t>3: Resource / Timeline</a:t>
            </a:r>
          </a:p>
          <a:p>
            <a:pPr lvl="0" indent="0" marL="0">
              <a:buNone/>
            </a:pPr>
            <a:r>
              <a:rPr/>
              <a:t>Executive (CFO, GM)</a:t>
            </a:r>
          </a:p>
          <a:p>
            <a:pPr lvl="0" indent="0" marL="0">
              <a:buNone/>
            </a:pPr>
            <a:r>
              <a:rPr/>
              <a:t>Negotiate against impossible asks via the trade space</a:t>
            </a:r>
          </a:p>
          <a:p>
            <a:pPr lvl="0" indent="0" marL="0">
              <a:buNone/>
            </a:pPr>
            <a:r>
              <a:rPr/>
              <a:t>Each round runs ~30 min: 5 prep + 15 negotiate + 10 debrief.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⚔️ The Trade Space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Negotiation surfaces when at least one of these can move:</a:t>
            </a:r>
          </a:p>
          <a:p>
            <a:pPr lvl="0" indent="0" marL="0">
              <a:buNone/>
            </a:pPr>
            <a:r>
              <a:rPr/>
              <a:t>Scope</a:t>
            </a:r>
          </a:p>
          <a:p>
            <a:pPr lvl="0" indent="0" marL="0">
              <a:buNone/>
            </a:pPr>
            <a:r>
              <a:rPr/>
              <a:t>What’s in</a:t>
            </a:r>
          </a:p>
          <a:p>
            <a:pPr lvl="0" indent="0" marL="0">
              <a:buNone/>
            </a:pPr>
            <a:r>
              <a:rPr/>
              <a:t>Time</a:t>
            </a:r>
          </a:p>
          <a:p>
            <a:pPr lvl="0" indent="0" marL="0">
              <a:buNone/>
            </a:pPr>
            <a:r>
              <a:rPr/>
              <a:t>When it ships</a:t>
            </a:r>
          </a:p>
          <a:p>
            <a:pPr lvl="0" indent="0" marL="0">
              <a:buNone/>
            </a:pPr>
            <a:r>
              <a:rPr/>
              <a:t>Quality / Resources</a:t>
            </a:r>
          </a:p>
          <a:p>
            <a:pPr lvl="0" indent="0" marL="0">
              <a:buNone/>
            </a:pPr>
            <a:r>
              <a:rPr/>
              <a:t>Polish level / who’s working</a:t>
            </a:r>
          </a:p>
          <a:p>
            <a:pPr lvl="0" indent="0" marL="0">
              <a:buNone/>
            </a:pPr>
            <a:r>
              <a:rPr/>
              <a:t>If nothing can move, you’re not negotiating — you’re saying yes or no.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Negotiation Rubric (live scoring)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Listened first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Translated tech to business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Held the line where it mattered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Found the trade space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Captured the outcome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Body / pacing / closure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Each side scores both. Same convention: 0–4 per dimension.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Round 1 — Architecture / SLO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90 minutes total</a:t>
            </a:r>
          </a:p>
          <a:p>
            <a:pPr lvl="0" indent="0" marL="0">
              <a:buNone/>
            </a:pPr>
            <a:r>
              <a:rPr/>
              <a:t>Author triad uses Day-3 brief + Day-4 objection map. Stakeholder triad has the brief + map + 1–2 surprise objections from instructor.</a:t>
            </a:r>
          </a:p>
          <a:p>
            <a:pPr lvl="0" indent="0" marL="0">
              <a:buNone/>
            </a:pPr>
            <a:r>
              <a:rPr/>
              <a:t>5 min: prep</a:t>
            </a:r>
          </a:p>
          <a:p>
            <a:pPr lvl="0" indent="0" marL="0">
              <a:buNone/>
            </a:pPr>
            <a:r>
              <a:rPr/>
              <a:t>15 min: live negotiation</a:t>
            </a:r>
          </a:p>
          <a:p>
            <a:pPr lvl="0" indent="0" marL="0">
              <a:buNone/>
            </a:pPr>
            <a:r>
              <a:rPr/>
              <a:t>10 min: debrief + capture outcome</a:t>
            </a:r>
          </a:p>
          <a:p>
            <a:pPr lvl="0" indent="0" marL="0">
              <a:buNone/>
            </a:pPr>
            <a:r>
              <a:rPr/>
              <a:t>(swap roles; repeat)</a:t>
            </a:r>
          </a:p>
          <a:p>
            <a:pPr lvl="0" indent="0" marL="0">
              <a:buNone/>
            </a:pPr>
            <a:r>
              <a:rPr/>
              <a:t>⏱ 5 + 15 + 10 × 2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Surprise Objection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</a:t>
            </a:r>
          </a:p>
          <a:p>
            <a:pPr lvl="0" indent="0" marL="0">
              <a:buNone/>
            </a:pPr>
            <a:r>
              <a:rPr/>
              <a:t>“Other team rebuilds audit pipeline next quarter. Why now?”</a:t>
            </a:r>
          </a:p>
          <a:p>
            <a:pPr lvl="0" indent="0" marL="0">
              <a:buNone/>
            </a:pPr>
            <a:r>
              <a:rPr/>
              <a:t>“Tickets module p95 is now 250ms, not 100ms — your budget breaks.”</a:t>
            </a:r>
          </a:p>
          <a:p>
            <a:pPr lvl="0" indent="0" marL="0">
              <a:buNone/>
            </a:pPr>
            <a:r>
              <a:rPr/>
              <a:t>Security Lead</a:t>
            </a:r>
          </a:p>
          <a:p>
            <a:pPr lvl="0" indent="0" marL="0">
              <a:buNone/>
            </a:pPr>
            <a:r>
              <a:rPr/>
              <a:t>“I need data-retention policy in writing before sign-off.”</a:t>
            </a:r>
          </a:p>
          <a:p>
            <a:pPr lvl="0" indent="0" marL="0">
              <a:buNone/>
            </a:pPr>
            <a:r>
              <a:rPr/>
              <a:t>“What stops a malicious client from replaying old idempotency keys?”</a:t>
            </a:r>
          </a:p>
          <a:p>
            <a:pPr lvl="0" indent="0" marL="0">
              <a:buNone/>
            </a:pPr>
            <a:r>
              <a:rPr/>
              <a:t>Eng Director</a:t>
            </a:r>
          </a:p>
          <a:p>
            <a:pPr lvl="0" indent="0" marL="0">
              <a:buNone/>
            </a:pPr>
            <a:r>
              <a:rPr/>
              <a:t>“3 features competing for sprint slots — why yours wins?”</a:t>
            </a:r>
          </a:p>
          <a:p>
            <a:pPr lvl="0" indent="0" marL="0">
              <a:buNone/>
            </a:pPr>
            <a:r>
              <a:rPr/>
              <a:t>“What’s the velocity assumption behind your timeline?”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Round 2 —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90 minutes</a:t>
            </a:r>
          </a:p>
          <a:p>
            <a:pPr lvl="0" indent="0" marL="0">
              <a:buNone/>
            </a:pPr>
            <a:r>
              <a:rPr/>
              <a:t>Stakeholder triad arrives with a scope-creep ask:</a:t>
            </a:r>
          </a:p>
          <a:p>
            <a:pPr lvl="0" indent="0" marL="0">
              <a:buNone/>
            </a:pPr>
            <a:r>
              <a:rPr/>
              <a:t>“Marketing wants a manager-view dashboard before launch”</a:t>
            </a:r>
          </a:p>
          <a:p>
            <a:pPr lvl="0" indent="0" marL="0">
              <a:buNone/>
            </a:pPr>
            <a:r>
              <a:rPr/>
              <a:t>“Top-3 customer just made tablet support a renewal condition”</a:t>
            </a:r>
          </a:p>
          <a:p>
            <a:pPr lvl="0" indent="0" marL="0">
              <a:buNone/>
            </a:pPr>
            <a:r>
              <a:rPr/>
              <a:t>“In-flight deal requires multi-shop manager view”</a:t>
            </a:r>
          </a:p>
          <a:p>
            <a:pPr lvl="0" indent="0" marL="0">
              <a:buNone/>
            </a:pPr>
            <a:r>
              <a:rPr/>
              <a:t>Author defends Product Requirements Document (PRD) Section 3 non-goals + Section 11 follow-ups. Hold / cut / phase / escalate. ⏱ 5 prep + 15 negotiate + 10 debrief × 2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Round 3 — Resource / Timeline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Fresh pairing • 60 minutes</a:t>
            </a:r>
          </a:p>
          <a:p>
            <a:pPr lvl="0" indent="0" marL="0">
              <a:buNone/>
            </a:pPr>
            <a:r>
              <a:rPr/>
              <a:t>Executive demands one of:</a:t>
            </a:r>
          </a:p>
          <a:p>
            <a:pPr lvl="0" indent="0" marL="0">
              <a:buNone/>
            </a:pPr>
            <a:r>
              <a:rPr/>
              <a:t>“Ship 30% sooner. No scope cut offered.”</a:t>
            </a:r>
          </a:p>
          <a:p>
            <a:pPr lvl="0" indent="0" marL="0">
              <a:buNone/>
            </a:pPr>
            <a:r>
              <a:rPr/>
              <a:t>“Lost an engineer to higher priority. Same scope, same date.”</a:t>
            </a:r>
          </a:p>
          <a:p>
            <a:pPr lvl="0" indent="0" marL="0">
              <a:buNone/>
            </a:pPr>
            <a:r>
              <a:rPr/>
              <a:t>“Add adjacent feature. Same date, same team.”</a:t>
            </a:r>
          </a:p>
          <a:p>
            <a:pPr lvl="0" indent="0" marL="0">
              <a:buNone/>
            </a:pPr>
            <a:r>
              <a:rPr/>
              <a:t>Author surfaces all 4 trade-space axes; offers movement on 2; protects non-negotiables. ⏱ 5 + 15 + 10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SEP Section 5 Outcomes Log Entry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### Round N: &lt;topic&gt;
**Triad A (author):** ...  |  **Triad B (stakeholder):** ...
**Stakeholder role:** ...
**The ask:** ...
**Stakeholder's response:** top 1–2 objections
**Trade space surfaced:** what offered to move; what held
**Agreement:** what was agreed; or "deferred to &lt;date&gt;"; or
"disagreed; escalation to &lt;person&gt;"
**Owner + next step:** specific
**What we learned:** one sentence
**Score:**
- Author: total /4.0
- Stakeholder: total /4.0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6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</a:t>
            </a:r>
          </a:p>
          <a:p>
            <a:pPr lvl="0" indent="0" marL="0">
              <a:buNone/>
            </a:pPr>
            <a:r>
              <a:rPr/>
              <a:t>Stakeholder map (P×I + RACI matrix [Responsible, Accountable, Consulted, Informed] + watch list)</a:t>
            </a:r>
          </a:p>
          <a:p>
            <a:pPr lvl="0" indent="0" marL="0">
              <a:buNone/>
            </a:pPr>
            <a:r>
              <a:rPr/>
              <a:t>Engagement plan</a:t>
            </a:r>
          </a:p>
          <a:p>
            <a:pPr lvl="0" indent="0" marL="0">
              <a:buNone/>
            </a:pPr>
            <a:r>
              <a:rPr/>
              <a:t>1-page trade-off brief</a:t>
            </a:r>
          </a:p>
          <a:p>
            <a:pPr lvl="0" indent="0" marL="0">
              <a:buNone/>
            </a:pPr>
            <a:r>
              <a:rPr/>
              <a:t>Meeting prep + objection map</a:t>
            </a:r>
          </a:p>
          <a:p>
            <a:pPr lvl="0" indent="0" marL="0">
              <a:buNone/>
            </a:pPr>
            <a:r>
              <a:rPr/>
              <a:t>3 negotiation outcomes (live)</a:t>
            </a:r>
          </a:p>
          <a:p>
            <a:pPr lvl="0" indent="0" marL="0">
              <a:buNone/>
            </a:pPr>
            <a:r>
              <a:rPr/>
              <a:t>Integrated SEP — 4th sibling artifact</a:t>
            </a:r>
          </a:p>
          <a:p>
            <a:pPr lvl="0" indent="0" marL="0">
              <a:buNone/>
            </a:pPr>
            <a:r>
              <a:rPr/>
              <a:t>What opens Week 7</a:t>
            </a:r>
          </a:p>
          <a:p>
            <a:pPr lvl="0" indent="0" marL="0">
              <a:buNone/>
            </a:pPr>
            <a:r>
              <a:rPr/>
              <a:t>Agile Delivery &amp; Azure DevOps (ADO) Mastery</a:t>
            </a:r>
          </a:p>
          <a:p>
            <a:pPr lvl="0" indent="0" marL="0">
              <a:buNone/>
            </a:pPr>
            <a:r>
              <a:rPr/>
              <a:t>Negotiated commitments → sprint planning</a:t>
            </a:r>
          </a:p>
          <a:p>
            <a:pPr lvl="0" indent="0" marL="0">
              <a:buNone/>
            </a:pPr>
            <a:r>
              <a:rPr/>
              <a:t>Outcome vs output tracking</a:t>
            </a:r>
          </a:p>
          <a:p>
            <a:pPr lvl="0" indent="0" marL="0">
              <a:buNone/>
            </a:pPr>
            <a:r>
              <a:rPr/>
              <a:t>Value stream mapping</a:t>
            </a:r>
          </a:p>
          <a:p>
            <a:pPr lvl="0" indent="0" marL="0">
              <a:buNone/>
            </a:pPr>
            <a:r>
              <a:rPr/>
              <a:t>Bring to Monday: PRD + Technical Concept Document (TCD) + Technical Modeling Document (TMD) + SEP. The full set of artifacts is now your delivery input.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in today’s negotiation did you wish you’d held the line harder?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2026-08-04T16:59:40Z</dcterms:created>
  <dcterms:modified xsi:type="dcterms:W3CDTF">2026-08-04T16:59:40Z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