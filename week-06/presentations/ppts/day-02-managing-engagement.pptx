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 mapped stakeholders. Today turns the map into a plan: cadence, format,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Section 2. Friday’s negotiation simulations draw from the “5 most consequential.”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recurring → current → diagnose.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four rules + style by quadrant.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bar: engagement style is calibrated, not instinctive.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treats this as gospel, they’ll over-mechanize. It’s a calibration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“At-risk Customer Success” and “VP of Operations” are the trickiest cards. Surface the dynamic.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per stakeholder: cadence, format, channel, asks.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“Right now” rows change month-to-month. “Recurring” rows are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over-investment is comfortable but not strategic.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plans that invent meetings the calendar can’t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decisions / information / action — both directions.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only lists their asks (not reciprocal),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conflict-surfacing exercise is high-value. Triads who skip it ship surprise escalations.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5 most consequential are the inputs to Friday’s negotiation simulations. Choose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diagnose tendencies; design counter-measures.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Asymmetric asks and veto avoidance are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HP × LI engagement style, most consequential ask, anti-pattern +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ask they’re nervous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stakeholder will you stop hiding from after this week?”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🗣️ Managing Engagement for Outcomes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2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4 engagement principles: early, deliberate, match-form-to-power, bidirectional</a:t>
            </a:r>
          </a:p>
          <a:p>
            <a:pPr lvl="0" indent="0" marL="0">
              <a:buNone/>
            </a:pPr>
            <a:r>
              <a:rPr/>
              <a:t>Pick cadence + format + length per quadrant</a:t>
            </a:r>
          </a:p>
          <a:p>
            <a:pPr lvl="0" indent="0" marL="0">
              <a:buNone/>
            </a:pPr>
            <a:r>
              <a:rPr/>
              <a:t>Build “right now” asks across decisions / information / action — decision asks trace to a RACI matrix (Responsible, Accountable, Consulted, Informed)</a:t>
            </a:r>
          </a:p>
          <a:p>
            <a:pPr lvl="0" indent="0" marL="0">
              <a:buNone/>
            </a:pPr>
            <a:r>
              <a:rPr/>
              <a:t>Diagnose your engagement anti-patterns and design counter-measures</a:t>
            </a:r>
          </a:p>
          <a:p>
            <a:pPr lvl="0" indent="0" marL="0">
              <a:buNone/>
            </a:pPr>
            <a:r>
              <a:rPr/>
              <a:t>Identify the 5 most consequential asks for Friday’s negotiation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 1 grid + RACI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Engagement style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Recurring engagement plan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“Right now” asks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Anti-patterns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Four rules + style by quadrant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4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</a:t>
            </a:r>
          </a:p>
          <a:p>
            <a:pPr lvl="0" indent="0" marL="0">
              <a:buNone/>
            </a:pPr>
            <a:r>
              <a:rPr/>
              <a:t>Plain English</a:t>
            </a:r>
          </a:p>
          <a:p>
            <a:pPr lvl="0" indent="0" marL="0">
              <a:buNone/>
            </a:pPr>
            <a:r>
              <a:rPr/>
              <a:t>Engage early</a:t>
            </a:r>
          </a:p>
          <a:p>
            <a:pPr lvl="0" indent="0" marL="0">
              <a:buNone/>
            </a:pPr>
            <a:r>
              <a:rPr/>
              <a:t>Surprise = anger. Surface concerns before decisions.</a:t>
            </a:r>
          </a:p>
          <a:p>
            <a:pPr lvl="0" indent="0" marL="0">
              <a:buNone/>
            </a:pPr>
            <a:r>
              <a:rPr/>
              <a:t>Engage deliberately</a:t>
            </a:r>
          </a:p>
          <a:p>
            <a:pPr lvl="0" indent="0" marL="0">
              <a:buNone/>
            </a:pPr>
            <a:r>
              <a:rPr/>
              <a:t>One channel per stakeholder.</a:t>
            </a:r>
          </a:p>
          <a:p>
            <a:pPr lvl="0" indent="0" marL="0">
              <a:buNone/>
            </a:pPr>
            <a:r>
              <a:rPr/>
              <a:t>Match form to power</a:t>
            </a:r>
          </a:p>
          <a:p>
            <a:pPr lvl="0" indent="0" marL="0">
              <a:buNone/>
            </a:pPr>
            <a:r>
              <a:rPr/>
              <a:t>High-power gets crisp writing; high-interest gets conversation.</a:t>
            </a:r>
          </a:p>
          <a:p>
            <a:pPr lvl="0" indent="0" marL="0">
              <a:buNone/>
            </a:pPr>
            <a:r>
              <a:rPr/>
              <a:t>Bidirectional asks</a:t>
            </a:r>
          </a:p>
          <a:p>
            <a:pPr lvl="0" indent="0" marL="0">
              <a:buNone/>
            </a:pPr>
            <a:r>
              <a:rPr/>
              <a:t>Every engagement names what they need from us AND what we need from them.</a:t>
            </a:r>
          </a:p>
          <a:p>
            <a:pPr lvl="0" indent="0" marL="0">
              <a:buNone/>
            </a:pPr>
            <a:r>
              <a:rPr/>
              <a:t>(3) and (4) are the differentiators. Most TPMs do (1) and (2) by quarter 2 in role.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Style by Quadrant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HP = High Power, HI = High Interest, LP = Low Power, LI = Low Interest (from the Power × Interest grid).</a:t>
            </a:r>
          </a:p>
          <a:p>
            <a:pPr lvl="0" indent="0" marL="0">
              <a:buNone/>
            </a:pPr>
            <a:r>
              <a:rPr/>
              <a:t>Quadrant</a:t>
            </a:r>
          </a:p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Length</a:t>
            </a:r>
          </a:p>
          <a:p>
            <a:pPr lvl="0" indent="0" marL="0">
              <a:buNone/>
            </a:pPr>
            <a:r>
              <a:rPr/>
              <a:t>HP × HI</a:t>
            </a:r>
          </a:p>
          <a:p>
            <a:pPr lvl="0" indent="0" marL="0">
              <a:buNone/>
            </a:pPr>
            <a:r>
              <a:rPr/>
              <a:t>Weekly / bi-weekly</a:t>
            </a:r>
          </a:p>
          <a:p>
            <a:pPr lvl="0" indent="0" marL="0">
              <a:buNone/>
            </a:pPr>
            <a:r>
              <a:rPr/>
              <a:t>Brief + 30-min sync</a:t>
            </a:r>
          </a:p>
          <a:p>
            <a:pPr lvl="0" indent="0" marL="0">
              <a:buNone/>
            </a:pPr>
            <a:r>
              <a:rPr/>
              <a:t>1 page; focused agenda</a:t>
            </a:r>
          </a:p>
          <a:p>
            <a:pPr lvl="0" indent="0" marL="0">
              <a:buNone/>
            </a:pPr>
            <a:r>
              <a:rPr/>
              <a:t>HP × LI</a:t>
            </a:r>
          </a:p>
          <a:p>
            <a:pPr lvl="0" indent="0" marL="0">
              <a:buNone/>
            </a:pPr>
            <a:r>
              <a:rPr/>
              <a:t>Monthly / trigger</a:t>
            </a:r>
          </a:p>
          <a:p>
            <a:pPr lvl="0" indent="0" marL="0">
              <a:buNone/>
            </a:pPr>
            <a:r>
              <a:rPr/>
              <a:t>Crisp written</a:t>
            </a:r>
          </a:p>
          <a:p>
            <a:pPr lvl="0" indent="0" marL="0">
              <a:buNone/>
            </a:pPr>
            <a:r>
              <a:rPr/>
              <a:t>&lt; 250 words</a:t>
            </a:r>
          </a:p>
          <a:p>
            <a:pPr lvl="0" indent="0" marL="0">
              <a:buNone/>
            </a:pPr>
            <a:r>
              <a:rPr/>
              <a:t>LP × HI</a:t>
            </a:r>
          </a:p>
          <a:p>
            <a:pPr lvl="0" indent="0" marL="0">
              <a:buNone/>
            </a:pPr>
            <a:r>
              <a:rPr/>
              <a:t>Bi-weekly</a:t>
            </a:r>
          </a:p>
          <a:p>
            <a:pPr lvl="0" indent="0" marL="0">
              <a:buNone/>
            </a:pPr>
            <a:r>
              <a:rPr/>
              <a:t>Email digest; group thread</a:t>
            </a:r>
          </a:p>
          <a:p>
            <a:pPr lvl="0" indent="0" marL="0">
              <a:buNone/>
            </a:pPr>
            <a:r>
              <a:rPr/>
              <a:t>5 bullets</a:t>
            </a:r>
          </a:p>
          <a:p>
            <a:pPr lvl="0" indent="0" marL="0">
              <a:buNone/>
            </a:pPr>
            <a:r>
              <a:rPr/>
              <a:t>LP × LI</a:t>
            </a:r>
          </a:p>
          <a:p>
            <a:pPr lvl="0" indent="0" marL="0">
              <a:buNone/>
            </a:pPr>
            <a:r>
              <a:rPr/>
              <a:t>Quarterly / launch</a:t>
            </a:r>
          </a:p>
          <a:p>
            <a:pPr lvl="0" indent="0" marL="0">
              <a:buNone/>
            </a:pPr>
            <a:r>
              <a:rPr/>
              <a:t>Newsletter</a:t>
            </a:r>
          </a:p>
          <a:p>
            <a:pPr lvl="0" indent="0" marL="0">
              <a:buNone/>
            </a:pPr>
            <a:r>
              <a:rPr/>
              <a:t>Short</a:t>
            </a:r>
          </a:p>
          <a:p>
            <a:pPr lvl="0" indent="0" marL="0">
              <a:buNone/>
            </a:pPr>
            <a:r>
              <a:rPr/>
              <a:t>Starting points. Adjust per stakeholder personality.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Engagement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stakeholder profiles. Place on grid; pick cadence/format/length.</a:t>
            </a:r>
          </a:p>
          <a:p>
            <a:pPr lvl="0" indent="0" marL="0">
              <a:buNone/>
            </a:pPr>
            <a:r>
              <a:rPr/>
              <a:t>10 min: place all 8 on the grid</a:t>
            </a:r>
          </a:p>
          <a:p>
            <a:pPr lvl="0" indent="0" marL="0">
              <a:buNone/>
            </a:pPr>
            <a:r>
              <a:rPr/>
              <a:t>15 min: pick cadence + format + length</a:t>
            </a:r>
          </a:p>
          <a:p>
            <a:pPr lvl="0" indent="0" marL="0">
              <a:buNone/>
            </a:pPr>
            <a:r>
              <a:rPr/>
              <a:t>10 min: disagree on 1–2; document why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Recurring Engagement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 stakeholder: cadence, format, channel, asks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Engagement Plan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&lt;Name / Role&gt;
**Quadrant:** ...
**Cadence:** weekly / bi-weekly / monthly / trigger
**Format:** memo / email / sync / standup mention
**Length:** &lt; N words / &lt; N min
**What they need from us (recurring):** ...
**What we need from them (recurring):** ...
**What they need from us right now:** ...
**What we need from them right now:** ...
**Channel of choice:** email / Slack / sync / Confluence
**Backup channel:** ...
**Stakeholder-specific notes:** ...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⏱ Time Allocation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time → high-power × high-interest</a:t>
            </a:r>
          </a:p>
          <a:p>
            <a:pPr lvl="0" indent="0" marL="0">
              <a:buNone/>
            </a:pPr>
            <a:r>
              <a:rPr/>
              <a:t>Crispest writing → high-power × low-interest</a:t>
            </a:r>
          </a:p>
          <a:p>
            <a:pPr lvl="0" indent="0" marL="0">
              <a:buNone/>
            </a:pPr>
            <a:r>
              <a:rPr/>
              <a:t>Group channels → low-power × high-interest</a:t>
            </a:r>
          </a:p>
          <a:p>
            <a:pPr lvl="0" indent="0" marL="0">
              <a:buNone/>
            </a:pPr>
            <a:r>
              <a:rPr/>
              <a:t>Light touch → low-power × low-interest</a:t>
            </a:r>
          </a:p>
          <a:p>
            <a:pPr lvl="0" indent="0" marL="0">
              <a:buNone/>
            </a:pPr>
            <a:r>
              <a:rPr/>
              <a:t>Most rookie TPMs over-invest in low-power × high-interest. They’re easy to engage; they ask for time.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Recurring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sort by quadrant</a:t>
            </a:r>
          </a:p>
          <a:p>
            <a:pPr lvl="0" indent="0" marL="0">
              <a:buNone/>
            </a:pPr>
            <a:r>
              <a:rPr/>
              <a:t>10 min: HP × HI detailed plans</a:t>
            </a:r>
          </a:p>
          <a:p>
            <a:pPr lvl="0" indent="0" marL="0">
              <a:buNone/>
            </a:pPr>
            <a:r>
              <a:rPr/>
              <a:t>10 min: HP × LI crisp plans</a:t>
            </a:r>
          </a:p>
          <a:p>
            <a:pPr lvl="0" indent="0" marL="0">
              <a:buNone/>
            </a:pPr>
            <a:r>
              <a:rPr/>
              <a:t>5 min: LP × HI group plans</a:t>
            </a:r>
          </a:p>
          <a:p>
            <a:pPr lvl="0" indent="0" marL="0">
              <a:buNone/>
            </a:pPr>
            <a:r>
              <a:rPr/>
              <a:t>5 min: LP × LI lightweight plans</a:t>
            </a:r>
          </a:p>
          <a:p>
            <a:pPr lvl="0" indent="0" marL="0">
              <a:buNone/>
            </a:pPr>
            <a:r>
              <a:rPr/>
              <a:t>5 min: time allocation sanity check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Decisions / Information / Action — both directions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3 Asks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Examples</a:t>
            </a:r>
          </a:p>
          <a:p>
            <a:pPr lvl="0" indent="0" marL="0">
              <a:buNone/>
            </a:pPr>
            <a:r>
              <a:rPr/>
              <a:t>Decisions</a:t>
            </a:r>
          </a:p>
          <a:p>
            <a:pPr lvl="0" indent="0" marL="0">
              <a:buNone/>
            </a:pPr>
            <a:r>
              <a:rPr/>
              <a:t>Confirm scope; sign off on architecture; approve SLO targets</a:t>
            </a:r>
          </a:p>
          <a:p>
            <a:pPr lvl="0" indent="0" marL="0">
              <a:buNone/>
            </a:pPr>
            <a:r>
              <a:rPr/>
              <a:t>Information</a:t>
            </a:r>
          </a:p>
          <a:p>
            <a:pPr lvl="0" indent="0" marL="0">
              <a:buNone/>
            </a:pPr>
            <a:r>
              <a:rPr/>
              <a:t>Answer a question; share a doc; introduce someone</a:t>
            </a:r>
          </a:p>
          <a:p>
            <a:pPr lvl="0" indent="0" marL="0">
              <a:buNone/>
            </a:pPr>
            <a:r>
              <a:rPr/>
              <a:t>Action</a:t>
            </a:r>
          </a:p>
          <a:p>
            <a:pPr lvl="0" indent="0" marL="0">
              <a:buNone/>
            </a:pPr>
            <a:r>
              <a:rPr/>
              <a:t>Add a story to backlog; schedule a review; make a call</a:t>
            </a:r>
          </a:p>
          <a:p>
            <a:pPr lvl="0" indent="0" marL="0">
              <a:buNone/>
            </a:pPr>
            <a:r>
              <a:rPr/>
              <a:t>Reciprocal asks: what will they ask of you? Predict; don’t be surprised — ask for an SLO (Service Level Objective) sign-off and expect a scope ask back.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Conflict Surfacing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 any asks across stakeholders in tension with each other?</a:t>
            </a:r>
          </a:p>
          <a:p>
            <a:pPr lvl="0" indent="0" marL="0">
              <a:buNone/>
            </a:pPr>
            <a:r>
              <a:rPr/>
              <a:t>Asking architect to defer + asking eng director to approve launch date</a:t>
            </a:r>
          </a:p>
          <a:p>
            <a:pPr lvl="0" indent="0" marL="0">
              <a:buNone/>
            </a:pPr>
            <a:r>
              <a:rPr/>
              <a:t>Asking security for a fast review + asking compliance for a thorough audit</a:t>
            </a:r>
          </a:p>
          <a:p>
            <a:pPr lvl="0" indent="0" marL="0">
              <a:buNone/>
            </a:pPr>
            <a:r>
              <a:rPr/>
              <a:t>Asking CS for customer feedback + asking sales not to surface it yet</a:t>
            </a:r>
          </a:p>
          <a:p>
            <a:pPr lvl="0" indent="0" marL="0">
              <a:buNone/>
            </a:pPr>
            <a:r>
              <a:rPr/>
              <a:t>Surfacing conflict early is the senior-author signal. Buried conflict ships as escalation.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3–5 asks per stakeholder (mix of categories)</a:t>
            </a:r>
          </a:p>
          <a:p>
            <a:pPr lvl="0" indent="0" marL="0">
              <a:buNone/>
            </a:pPr>
            <a:r>
              <a:rPr/>
              <a:t>10 min: predict reciprocal asks</a:t>
            </a:r>
          </a:p>
          <a:p>
            <a:pPr lvl="0" indent="0" marL="0">
              <a:buNone/>
            </a:pPr>
            <a:r>
              <a:rPr/>
              <a:t>5 min: flag conflicts</a:t>
            </a:r>
          </a:p>
          <a:p>
            <a:pPr lvl="0" indent="0" marL="0">
              <a:buNone/>
            </a:pPr>
            <a:r>
              <a:rPr/>
              <a:t>5 min: pick the 5 most consequential</a:t>
            </a:r>
          </a:p>
          <a:p>
            <a:pPr lvl="0" indent="0" marL="0">
              <a:buNone/>
            </a:pPr>
            <a:r>
              <a:rPr/>
              <a:t>⏱ 20 + 10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Anti-Patterns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Diagnose tendencies; design counter-measures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6 Engagement Anti-Patterns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Counter-measure</a:t>
            </a:r>
          </a:p>
          <a:p>
            <a:pPr lvl="0" indent="0" marL="0">
              <a:buNone/>
            </a:pPr>
            <a:r>
              <a:rPr/>
              <a:t>Channel sprawl</a:t>
            </a:r>
          </a:p>
          <a:p>
            <a:pPr lvl="0" indent="0" marL="0">
              <a:buNone/>
            </a:pPr>
            <a:r>
              <a:rPr/>
              <a:t>One channel of record per stakeholder</a:t>
            </a:r>
          </a:p>
          <a:p>
            <a:pPr lvl="0" indent="0" marL="0">
              <a:buNone/>
            </a:pPr>
            <a:r>
              <a:rPr/>
              <a:t>Rolling silence</a:t>
            </a:r>
          </a:p>
          <a:p>
            <a:pPr lvl="0" indent="0" marL="0">
              <a:buNone/>
            </a:pPr>
            <a:r>
              <a:rPr/>
              <a:t>Calendar each cadence as recurring</a:t>
            </a:r>
          </a:p>
          <a:p>
            <a:pPr lvl="0" indent="0" marL="0">
              <a:buNone/>
            </a:pPr>
            <a:r>
              <a:rPr/>
              <a:t>Surprise reveal</a:t>
            </a:r>
          </a:p>
          <a:p>
            <a:pPr lvl="0" indent="0" marL="0">
              <a:buNone/>
            </a:pPr>
            <a:r>
              <a:rPr/>
              <a:t>Engage early; pre-share</a:t>
            </a:r>
          </a:p>
          <a:p>
            <a:pPr lvl="0" indent="0" marL="0">
              <a:buNone/>
            </a:pPr>
            <a:r>
              <a:rPr/>
              <a:t>Asymmetric asks</a:t>
            </a:r>
          </a:p>
          <a:p>
            <a:pPr lvl="0" indent="0" marL="0">
              <a:buNone/>
            </a:pPr>
            <a:r>
              <a:rPr/>
              <a:t>Build “what we offer” into each engagement</a:t>
            </a:r>
          </a:p>
          <a:p>
            <a:pPr lvl="0" indent="0" marL="0">
              <a:buNone/>
            </a:pPr>
            <a:r>
              <a:rPr/>
              <a:t>Veto avoidance</a:t>
            </a:r>
          </a:p>
          <a:p>
            <a:pPr lvl="0" indent="0" marL="0">
              <a:buNone/>
            </a:pPr>
            <a:r>
              <a:rPr/>
              <a:t>Trigger-based engagement from watch list</a:t>
            </a:r>
          </a:p>
          <a:p>
            <a:pPr lvl="0" indent="0" marL="0">
              <a:buNone/>
            </a:pPr>
            <a:r>
              <a:rPr/>
              <a:t>Email avalanche</a:t>
            </a:r>
          </a:p>
          <a:p>
            <a:pPr lvl="0" indent="0" marL="0">
              <a:buNone/>
            </a:pPr>
            <a:r>
              <a:rPr/>
              <a:t>Match length to audience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reviewing a junior TPM's engagement plan.
Context: &lt;SEP Section 1 + Section 2 stakeholder list and engagement plans&gt;
Task: Identify the top 3 engagement risks:
1. A stakeholder likely under-served by the plan
2. A stakeholder likely over-served (TPM wasting attention)
3. A specific anti-pattern the plan is exposed to
Constraints:
- Be specific
- Suggest a concrete adjustment
Format: 3 findings — Risk / Why / Adjustment.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Anti-Patterns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score self on 6 anti-patterns (H/M/L)</a:t>
            </a:r>
          </a:p>
          <a:p>
            <a:pPr lvl="0" indent="0" marL="0">
              <a:buNone/>
            </a:pPr>
            <a:r>
              <a:rPr/>
              <a:t>15 min: design counter-measures for top 2–3</a:t>
            </a:r>
          </a:p>
          <a:p>
            <a:pPr lvl="0" indent="0" marL="0">
              <a:buNone/>
            </a:pPr>
            <a:r>
              <a:rPr/>
              <a:t>15 min: document in Section 2</a:t>
            </a:r>
          </a:p>
          <a:p>
            <a:pPr lvl="0" indent="0" marL="0">
              <a:buNone/>
            </a:pPr>
            <a:r>
              <a:rPr/>
              <a:t>5 min: AI prompt + provenance</a:t>
            </a:r>
          </a:p>
          <a:p>
            <a:pPr lvl="0" indent="0" marL="0">
              <a:buNone/>
            </a:pPr>
            <a:r>
              <a:rPr/>
              <a:t>⏱ 10 + 15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Recurring engagement plan per stakeholder</a:t>
            </a:r>
          </a:p>
          <a:p>
            <a:pPr lvl="0" indent="0" marL="0">
              <a:buNone/>
            </a:pPr>
            <a:r>
              <a:rPr/>
              <a:t>“Right now” asks (decisions/info/action)</a:t>
            </a:r>
          </a:p>
          <a:p>
            <a:pPr lvl="0" indent="0" marL="0">
              <a:buNone/>
            </a:pPr>
            <a:r>
              <a:rPr/>
              <a:t>Reciprocal asks predicted</a:t>
            </a:r>
          </a:p>
          <a:p>
            <a:pPr lvl="0" indent="0" marL="0">
              <a:buNone/>
            </a:pPr>
            <a:r>
              <a:rPr/>
              <a:t>5 most consequential asks for Friday</a:t>
            </a:r>
          </a:p>
          <a:p>
            <a:pPr lvl="0" indent="0" marL="0">
              <a:buNone/>
            </a:pPr>
            <a:r>
              <a:rPr/>
              <a:t>Anti-pattern counter-measures</a:t>
            </a:r>
          </a:p>
          <a:p>
            <a:pPr lvl="0" indent="0" marL="0">
              <a:buNone/>
            </a:pPr>
            <a:r>
              <a:rPr/>
              <a:t>Stakeholder Engagement Plan (SEP)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Communicating technical trade-offs</a:t>
            </a:r>
          </a:p>
          <a:p>
            <a:pPr lvl="0" indent="0" marL="0">
              <a:buNone/>
            </a:pPr>
            <a:r>
              <a:rPr/>
              <a:t>One-page brief for non-technical execs</a:t>
            </a:r>
          </a:p>
          <a:p>
            <a:pPr lvl="0" indent="0" marL="0">
              <a:buNone/>
            </a:pPr>
            <a:r>
              <a:rPr/>
              <a:t>Translation layer: Technical Concept Document (TCD)/Technical Modeling Document (TMD) trade-offs → business</a:t>
            </a:r>
          </a:p>
          <a:p>
            <a:pPr lvl="0" indent="0" marL="0">
              <a:buNone/>
            </a:pPr>
            <a:r>
              <a:rPr/>
              <a:t>Bring to Day 3: SEP Sections 1–2 + your TCD Section 5 trade-offs. Tomorrow we translate one for an exec.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stakeholder will you stop hiding from after this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2026-08-04T16:59:33Z</dcterms:created>
  <dcterms:modified xsi:type="dcterms:W3CDTF">2026-08-04T16:59:33Z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