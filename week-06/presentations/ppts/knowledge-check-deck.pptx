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notesMaster" Target="notesMasters/notesMaster1.xml" /><Relationship Id="rId33" Type="http://schemas.openxmlformats.org/officeDocument/2006/relationships/viewProps" Target="viewProps.xml" /><Relationship Id="rId32" Type="http://schemas.openxmlformats.org/officeDocument/2006/relationships/presProps" Target="presProps.xml" /><Relationship Id="rId1" Type="http://schemas.openxmlformats.org/officeDocument/2006/relationships/slideMaster" Target="slideMasters/slideMaster1.xml" /><Relationship Id="rId35" Type="http://schemas.openxmlformats.org/officeDocument/2006/relationships/tableStyles" Target="tableStyles.xml" /><Relationship Id="rId34"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6.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7.xml.rels><?xml version="1.0" encoding="UTF-8"?><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Run this as a live review game to close the week. Read the question, let triads commit to an answer out loud or on paper, then advance to the answer slide. The goal is retention through retrieval — make them commit before revealing.</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Emphasize commitment before reveal. The retrieval effort is what moves knowledge into long-term memory — passively recognizing the right answer does far less.</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People reach for “high power, high interest” because it feels most important. The trap is the quadrant you’re tempted to ignore.</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Most TPMs over-invest in the high-interest quadrants. The high-power-low-interest stakeholder is what catches them.</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 is the tempting trap — the rookie who grabs A for everything. Coach them back: the architect is A for architecture, you’re C.</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Walk down the A column: five decisions, five unique A’s, no duplicates. That’s the brutal check.</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Let them vote. The phrase “copy of it” is the tell. The whole point of Day 1 is that the map is not the org chart.</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Lists below 8 mean a circle was missed. The unowned stakeholder is the one who surprises you.</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“Engage early” is everyone’s instinct — that’s why it’s a distractor. The differentiators are the two that require calibration.</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Engagement style is calibrated, not instinctive. That’s the bar for the week.</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Tempting to say “high power, high interest” — but that attention is well-spent. The over-investment is the comfortable one.</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Comfortable is not the same as strategic. Redirect the saved time to high-power stakeholders.</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sync (B) is what high-interest stakeholders want. High-power-low-interest people want their time protected — writing, not meetings.</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Monthly or trigger-based cadence, under 250 words. Anything longer wastes the power you most need to keep on side.</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“Simpler words” is the near-miss almost everyone reaches for. The point isn’t vocabulary — it’s the frame.</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framing is what matters. Force a dollar number for the CFO; anticipate “what’s the revenue at risk?” for Sales.</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Friendly feels reassuring — that’s the trap. Let them wrestle with why a friendly-only list is a warning sign.</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hostile-question test catches under-prepared briefs. This carries straight into Day 4’s objection map.</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 is the vague answer that gets a TPM pushed around tomorrow. C confuses “the line we hold” with the non-negotiables list.</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Force specificity. The line we hold is planned in advance so it isn’t invented under pressure.</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Week 1’s “what does the model know? Nothing” resurfacing inside a stakeholder-prep frame. Let them vote.</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“Looks fine” without opening the doc is not validation. AI does specific structured tasks under explicit constraints; the human validates.</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 sounds intuitive but is backwards — no movement is no leverage. This is the core mental model of Day 5.</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Identify which axis the stakeholder cares most about, then offer to move a different one. No movement, no negotiation.</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Last one. Many assume holding the line is the whole game — the rubric says otherwise. Let them recall the weights.</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Connect the whole week: negotiation rewards understanding and re-framing first — the line matters, but it’s not the top weight.</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Close by asking each triad which single question they got wrong and why. The misses are where next week’s coaching starts.</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5.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6.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7.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 Week 6 Knowledge Check</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Stakeholder Alignment &amp; Negotiation</a:t>
            </a:r>
          </a:p>
        </p:txBody>
      </p:sp>
      <p:sp>
        <p:nvSpPr>
          <p:cNvPr id="3" name="Content Placeholder 2"/>
          <p:cNvSpPr>
            <a:spLocks noGrp="1"/>
          </p:cNvSpPr>
          <p:nvPr>
            <p:ph idx="1"/>
          </p:nvPr>
        </p:nvSpPr>
        <p:spPr/>
        <p:txBody>
          <a:bodyPr/>
          <a:lstStyle/>
          <a:p>
            <a:pPr lvl="0" indent="0" marL="0">
              <a:spcBef>
                <a:spcPts val="3000"/>
              </a:spcBef>
              <a:buNone/>
            </a:pPr>
            <a:r>
              <a:rPr b="1"/>
              <a:t>Technical Product Manager Academy</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How This Works</a:t>
            </a:r>
          </a:p>
        </p:txBody>
      </p:sp>
      <p:sp>
        <p:nvSpPr>
          <p:cNvPr id="3" name="Content Placeholder 2"/>
          <p:cNvSpPr>
            <a:spLocks noGrp="1"/>
          </p:cNvSpPr>
          <p:nvPr>
            <p:ph idx="1"/>
          </p:nvPr>
        </p:nvSpPr>
        <p:spPr/>
        <p:txBody>
          <a:bodyPr/>
          <a:lstStyle/>
          <a:p>
            <a:pPr lvl="0" indent="0" marL="0">
              <a:buNone/>
            </a:pPr>
            <a:r>
              <a:rPr/>
              <a:t>12 questions across the week — stakeholder mapping, managing engagement, communicating trade-offs, AI-augmented prep, and live negotiation.  Commit to an answer before the reveal. Retrieval is the point.</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1</a:t>
            </a:r>
          </a:p>
        </p:txBody>
      </p:sp>
      <p:sp>
        <p:nvSpPr>
          <p:cNvPr id="3" name="Content Placeholder 2"/>
          <p:cNvSpPr>
            <a:spLocks noGrp="1"/>
          </p:cNvSpPr>
          <p:nvPr>
            <p:ph idx="1"/>
          </p:nvPr>
        </p:nvSpPr>
        <p:spPr/>
        <p:txBody>
          <a:bodyPr/>
          <a:lstStyle/>
          <a:p>
            <a:pPr lvl="0" indent="0" marL="0">
              <a:buNone/>
            </a:pPr>
            <a:r>
              <a:rPr/>
              <a:t>In the Power × Interest grid, which quadrant is the “dangerous” / surprise-veto quadrant?</a:t>
            </a:r>
          </a:p>
          <a:p>
            <a:pPr lvl="0" indent="-342900" marL="342900">
              <a:buAutoNum type="alphaUcParenR"/>
            </a:pPr>
            <a:r>
              <a:rPr/>
              <a:t>High power, high interest</a:t>
            </a:r>
          </a:p>
          <a:p>
            <a:pPr lvl="0" indent="-342900" marL="342900">
              <a:buAutoNum type="alphaUcParenR"/>
            </a:pPr>
            <a:r>
              <a:rPr/>
              <a:t>Low power, high interest</a:t>
            </a:r>
          </a:p>
          <a:p>
            <a:pPr lvl="0" indent="-342900" marL="342900">
              <a:buAutoNum type="alphaUcParenR"/>
            </a:pPr>
            <a:r>
              <a:rPr/>
              <a:t>High power, low interest</a:t>
            </a:r>
          </a:p>
          <a:p>
            <a:pPr lvl="0" indent="-342900" marL="342900">
              <a:buAutoNum type="alphaUcParenR"/>
            </a:pPr>
            <a:r>
              <a:rPr/>
              <a:t>Low power, low interest</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1 — C</a:t>
            </a:r>
          </a:p>
        </p:txBody>
      </p:sp>
      <p:sp>
        <p:nvSpPr>
          <p:cNvPr id="3" name="Content Placeholder 2"/>
          <p:cNvSpPr>
            <a:spLocks noGrp="1"/>
          </p:cNvSpPr>
          <p:nvPr>
            <p:ph idx="1"/>
          </p:nvPr>
        </p:nvSpPr>
        <p:spPr/>
        <p:txBody>
          <a:bodyPr/>
          <a:lstStyle/>
          <a:p>
            <a:pPr lvl="0" indent="0" marL="0">
              <a:buNone/>
            </a:pPr>
            <a:r>
              <a:rPr/>
              <a:t>High power, low interest.</a:t>
            </a:r>
          </a:p>
          <a:p>
            <a:pPr lvl="0" indent="0" marL="0">
              <a:buNone/>
            </a:pPr>
            <a:r>
              <a:rPr/>
              <a:t>They hand you a “no” at the worst possible time. That’s why each one goes on the watch list with a named trigger.</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2</a:t>
            </a:r>
          </a:p>
        </p:txBody>
      </p:sp>
      <p:sp>
        <p:nvSpPr>
          <p:cNvPr id="3" name="Content Placeholder 2"/>
          <p:cNvSpPr>
            <a:spLocks noGrp="1"/>
          </p:cNvSpPr>
          <p:nvPr>
            <p:ph idx="1"/>
          </p:nvPr>
        </p:nvSpPr>
        <p:spPr/>
        <p:txBody>
          <a:bodyPr/>
          <a:lstStyle/>
          <a:p>
            <a:pPr lvl="0" indent="0" marL="0">
              <a:buNone/>
            </a:pPr>
            <a:r>
              <a:rPr/>
              <a:t>The RACI discipline for the five key decisions requires that each decision has:</a:t>
            </a:r>
          </a:p>
          <a:p>
            <a:pPr lvl="0" indent="-342900" marL="342900">
              <a:buAutoNum type="alphaUcParenR"/>
            </a:pPr>
            <a:r>
              <a:rPr/>
              <a:t>At least two Accountable owners, for redundancy</a:t>
            </a:r>
          </a:p>
          <a:p>
            <a:pPr lvl="0" indent="-342900" marL="342900">
              <a:buAutoNum type="alphaUcParenR"/>
            </a:pPr>
            <a:r>
              <a:rPr/>
              <a:t>Exactly one Accountable owner</a:t>
            </a:r>
          </a:p>
          <a:p>
            <a:pPr lvl="0" indent="-342900" marL="342900">
              <a:buAutoNum type="alphaUcParenR"/>
            </a:pPr>
            <a:r>
              <a:rPr/>
              <a:t>One Responsible and no Accountable</a:t>
            </a:r>
          </a:p>
          <a:p>
            <a:pPr lvl="0" indent="-342900" marL="342900">
              <a:buAutoNum type="alphaUcParenR"/>
            </a:pPr>
            <a:r>
              <a:rPr/>
              <a:t>The TPM as Accountable for every decision</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2 — B</a:t>
            </a:r>
          </a:p>
        </p:txBody>
      </p:sp>
      <p:sp>
        <p:nvSpPr>
          <p:cNvPr id="3" name="Content Placeholder 2"/>
          <p:cNvSpPr>
            <a:spLocks noGrp="1"/>
          </p:cNvSpPr>
          <p:nvPr>
            <p:ph idx="1"/>
          </p:nvPr>
        </p:nvSpPr>
        <p:spPr/>
        <p:txBody>
          <a:bodyPr/>
          <a:lstStyle/>
          <a:p>
            <a:pPr lvl="0" indent="0" marL="0">
              <a:buNone/>
            </a:pPr>
            <a:r>
              <a:rPr/>
              <a:t>Exactly one Accountable per decision.</a:t>
            </a:r>
          </a:p>
          <a:p>
            <a:pPr lvl="0" indent="0" marL="0">
              <a:buNone/>
            </a:pPr>
            <a:r>
              <a:rPr/>
              <a:t>If two people are A, neither is. If no one is A, the decision rots.</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3 — True / False</a:t>
            </a:r>
          </a:p>
        </p:txBody>
      </p:sp>
      <p:sp>
        <p:nvSpPr>
          <p:cNvPr id="3" name="Content Placeholder 2"/>
          <p:cNvSpPr>
            <a:spLocks noGrp="1"/>
          </p:cNvSpPr>
          <p:nvPr>
            <p:ph idx="1"/>
          </p:nvPr>
        </p:nvSpPr>
        <p:spPr/>
        <p:txBody>
          <a:bodyPr/>
          <a:lstStyle/>
          <a:p>
            <a:pPr lvl="0" indent="0" marL="0">
              <a:buNone/>
            </a:pPr>
            <a:r>
              <a:rPr/>
              <a:t>The org chart is a good enough starting point — a complete stakeholder map is essentially a copy of it.</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3 — False</a:t>
            </a:r>
          </a:p>
        </p:txBody>
      </p:sp>
      <p:sp>
        <p:nvSpPr>
          <p:cNvPr id="3" name="Content Placeholder 2"/>
          <p:cNvSpPr>
            <a:spLocks noGrp="1"/>
          </p:cNvSpPr>
          <p:nvPr>
            <p:ph idx="1"/>
          </p:nvPr>
        </p:nvSpPr>
        <p:spPr/>
        <p:txBody>
          <a:bodyPr/>
          <a:lstStyle/>
          <a:p>
            <a:pPr lvl="0" indent="0" marL="0">
              <a:buNone/>
            </a:pPr>
            <a:r>
              <a:rPr/>
              <a:t>Org chart ≠ stakeholder map.</a:t>
            </a:r>
          </a:p>
          <a:p>
            <a:pPr lvl="0" indent="0" marL="0">
              <a:buNone/>
            </a:pPr>
            <a:r>
              <a:rPr/>
              <a:t>Walk the five circles. Complete lists run 10–18 names — and the usual omissions (compliance, finance) are exactly who blindside you.</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4</a:t>
            </a:r>
          </a:p>
        </p:txBody>
      </p:sp>
      <p:sp>
        <p:nvSpPr>
          <p:cNvPr id="3" name="Content Placeholder 2"/>
          <p:cNvSpPr>
            <a:spLocks noGrp="1"/>
          </p:cNvSpPr>
          <p:nvPr>
            <p:ph idx="1"/>
          </p:nvPr>
        </p:nvSpPr>
        <p:spPr/>
        <p:txBody>
          <a:bodyPr/>
          <a:lstStyle/>
          <a:p>
            <a:pPr lvl="0" indent="0" marL="0">
              <a:buNone/>
            </a:pPr>
            <a:r>
              <a:rPr/>
              <a:t>Of the four engagement principles, which two are the differentiators (most TPMs do the other two by quarter 2)?</a:t>
            </a:r>
          </a:p>
          <a:p>
            <a:pPr lvl="0" indent="-342900" marL="342900">
              <a:buAutoNum type="alphaUcParenR"/>
            </a:pPr>
            <a:r>
              <a:rPr/>
              <a:t>Engage early + engage deliberately</a:t>
            </a:r>
          </a:p>
          <a:p>
            <a:pPr lvl="0" indent="-342900" marL="342900">
              <a:buAutoNum type="alphaUcParenR"/>
            </a:pPr>
            <a:r>
              <a:rPr/>
              <a:t>Match form to power + bidirectional asks</a:t>
            </a:r>
          </a:p>
          <a:p>
            <a:pPr lvl="0" indent="-342900" marL="342900">
              <a:buAutoNum type="alphaUcParenR"/>
            </a:pPr>
            <a:r>
              <a:rPr/>
              <a:t>Engage early + bidirectional asks</a:t>
            </a:r>
          </a:p>
          <a:p>
            <a:pPr lvl="0" indent="-342900" marL="342900">
              <a:buAutoNum type="alphaUcParenR"/>
            </a:pPr>
            <a:r>
              <a:rPr/>
              <a:t>One channel per stakeholder + engage early</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4 — B</a:t>
            </a:r>
          </a:p>
        </p:txBody>
      </p:sp>
      <p:sp>
        <p:nvSpPr>
          <p:cNvPr id="3" name="Content Placeholder 2"/>
          <p:cNvSpPr>
            <a:spLocks noGrp="1"/>
          </p:cNvSpPr>
          <p:nvPr>
            <p:ph idx="1"/>
          </p:nvPr>
        </p:nvSpPr>
        <p:spPr/>
        <p:txBody>
          <a:bodyPr/>
          <a:lstStyle/>
          <a:p>
            <a:pPr lvl="0" indent="0" marL="0">
              <a:buNone/>
            </a:pPr>
            <a:r>
              <a:rPr/>
              <a:t>Match form to power + bidirectional asks.</a:t>
            </a:r>
          </a:p>
          <a:p>
            <a:pPr lvl="0" indent="0" marL="0">
              <a:buNone/>
            </a:pPr>
            <a:r>
              <a:rPr/>
              <a:t>Engaging early and deliberately is table stakes. Matching form to power and naming both-direction asks is the senior move.</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5</a:t>
            </a:r>
          </a:p>
        </p:txBody>
      </p:sp>
      <p:sp>
        <p:nvSpPr>
          <p:cNvPr id="3" name="Content Placeholder 2"/>
          <p:cNvSpPr>
            <a:spLocks noGrp="1"/>
          </p:cNvSpPr>
          <p:nvPr>
            <p:ph idx="1"/>
          </p:nvPr>
        </p:nvSpPr>
        <p:spPr/>
        <p:txBody>
          <a:bodyPr/>
          <a:lstStyle/>
          <a:p>
            <a:pPr lvl="0" indent="0" marL="0">
              <a:buNone/>
            </a:pPr>
            <a:r>
              <a:rPr/>
              <a:t>Which quadrant do most rookie TPMs over-invest attention in — because those stakeholders are easy to engage and ask for time?</a:t>
            </a:r>
          </a:p>
          <a:p>
            <a:pPr lvl="0" indent="-342900" marL="342900">
              <a:buAutoNum type="alphaUcParenR"/>
            </a:pPr>
            <a:r>
              <a:rPr/>
              <a:t>High power, high interest</a:t>
            </a:r>
          </a:p>
          <a:p>
            <a:pPr lvl="0" indent="-342900" marL="342900">
              <a:buAutoNum type="alphaUcParenR"/>
            </a:pPr>
            <a:r>
              <a:rPr/>
              <a:t>High power, low interest</a:t>
            </a:r>
          </a:p>
          <a:p>
            <a:pPr lvl="0" indent="-342900" marL="342900">
              <a:buAutoNum type="alphaUcParenR"/>
            </a:pPr>
            <a:r>
              <a:rPr/>
              <a:t>Low power, high interest</a:t>
            </a:r>
          </a:p>
          <a:p>
            <a:pPr lvl="0" indent="-342900" marL="342900">
              <a:buAutoNum type="alphaUcParenR"/>
            </a:pPr>
            <a:r>
              <a:rPr/>
              <a:t>Low power, low interest</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5 — C</a:t>
            </a:r>
          </a:p>
        </p:txBody>
      </p:sp>
      <p:sp>
        <p:nvSpPr>
          <p:cNvPr id="3" name="Content Placeholder 2"/>
          <p:cNvSpPr>
            <a:spLocks noGrp="1"/>
          </p:cNvSpPr>
          <p:nvPr>
            <p:ph idx="1"/>
          </p:nvPr>
        </p:nvSpPr>
        <p:spPr/>
        <p:txBody>
          <a:bodyPr/>
          <a:lstStyle/>
          <a:p>
            <a:pPr lvl="0" indent="0" marL="0">
              <a:buNone/>
            </a:pPr>
            <a:r>
              <a:rPr/>
              <a:t>Low power, high interest.</a:t>
            </a:r>
          </a:p>
          <a:p>
            <a:pPr lvl="0" indent="0" marL="0">
              <a:buNone/>
            </a:pPr>
            <a:r>
              <a:rPr/>
              <a:t>They’re comfortable to engage and they ask for your time — but the attention isn’t strategic. Use group channels here.</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6</a:t>
            </a:r>
          </a:p>
        </p:txBody>
      </p:sp>
      <p:sp>
        <p:nvSpPr>
          <p:cNvPr id="3" name="Content Placeholder 2"/>
          <p:cNvSpPr>
            <a:spLocks noGrp="1"/>
          </p:cNvSpPr>
          <p:nvPr>
            <p:ph idx="1"/>
          </p:nvPr>
        </p:nvSpPr>
        <p:spPr/>
        <p:txBody>
          <a:bodyPr/>
          <a:lstStyle/>
          <a:p>
            <a:pPr lvl="0" indent="0" marL="0">
              <a:buNone/>
            </a:pPr>
            <a:r>
              <a:rPr/>
              <a:t>“Match form to power” says a high-power, low-interest stakeholder should get:</a:t>
            </a:r>
          </a:p>
          <a:p>
            <a:pPr lvl="0" indent="-342900" marL="342900">
              <a:buAutoNum type="alphaUcParenR"/>
            </a:pPr>
            <a:r>
              <a:rPr/>
              <a:t>A crisp written update under ~250 words</a:t>
            </a:r>
          </a:p>
          <a:p>
            <a:pPr lvl="0" indent="-342900" marL="342900">
              <a:buAutoNum type="alphaUcParenR"/>
            </a:pPr>
            <a:r>
              <a:rPr/>
              <a:t>A weekly 30-minute sync</a:t>
            </a:r>
          </a:p>
          <a:p>
            <a:pPr lvl="0" indent="-342900" marL="342900">
              <a:buAutoNum type="alphaUcParenR"/>
            </a:pPr>
            <a:r>
              <a:rPr/>
              <a:t>A group email digest with the wider audience</a:t>
            </a:r>
          </a:p>
          <a:p>
            <a:pPr lvl="0" indent="-342900" marL="342900">
              <a:buAutoNum type="alphaUcParenR"/>
            </a:pPr>
            <a:r>
              <a:rPr/>
              <a:t>A quarterly newsletter</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6 — A</a:t>
            </a:r>
          </a:p>
        </p:txBody>
      </p:sp>
      <p:sp>
        <p:nvSpPr>
          <p:cNvPr id="3" name="Content Placeholder 2"/>
          <p:cNvSpPr>
            <a:spLocks noGrp="1"/>
          </p:cNvSpPr>
          <p:nvPr>
            <p:ph idx="1"/>
          </p:nvPr>
        </p:nvSpPr>
        <p:spPr/>
        <p:txBody>
          <a:bodyPr/>
          <a:lstStyle/>
          <a:p>
            <a:pPr lvl="0" indent="0" marL="0">
              <a:buNone/>
            </a:pPr>
            <a:r>
              <a:rPr/>
              <a:t>A crisp written update under ~250 words.</a:t>
            </a:r>
          </a:p>
          <a:p>
            <a:pPr lvl="0" indent="0" marL="0">
              <a:buNone/>
            </a:pPr>
            <a:r>
              <a:rPr/>
              <a:t>High-power gets crisp writing; high-interest gets conversation. Respect their time and their veto.</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7</a:t>
            </a:r>
          </a:p>
        </p:txBody>
      </p:sp>
      <p:sp>
        <p:nvSpPr>
          <p:cNvPr id="3" name="Content Placeholder 2"/>
          <p:cNvSpPr>
            <a:spLocks noGrp="1"/>
          </p:cNvSpPr>
          <p:nvPr>
            <p:ph idx="1"/>
          </p:nvPr>
        </p:nvSpPr>
        <p:spPr/>
        <p:txBody>
          <a:bodyPr/>
          <a:lstStyle/>
          <a:p>
            <a:pPr lvl="0" indent="0" marL="0">
              <a:buNone/>
            </a:pPr>
            <a:r>
              <a:rPr/>
              <a:t>“Translating” a technical trade-off for a stakeholder primarily means:</a:t>
            </a:r>
          </a:p>
          <a:p>
            <a:pPr lvl="0" indent="-342900" marL="342900">
              <a:buAutoNum type="alphaUcParenR"/>
            </a:pPr>
            <a:r>
              <a:rPr/>
              <a:t>Using simpler, less technical words</a:t>
            </a:r>
          </a:p>
          <a:p>
            <a:pPr lvl="0" indent="-342900" marL="342900">
              <a:buAutoNum type="alphaUcParenR"/>
            </a:pPr>
            <a:r>
              <a:rPr/>
              <a:t>Re-framing it in the stakeholder’s currency</a:t>
            </a:r>
          </a:p>
          <a:p>
            <a:pPr lvl="0" indent="-342900" marL="342900">
              <a:buAutoNum type="alphaUcParenR"/>
            </a:pPr>
            <a:r>
              <a:rPr/>
              <a:t>Removing the cost so it sounds positive</a:t>
            </a:r>
          </a:p>
          <a:p>
            <a:pPr lvl="0" indent="-342900" marL="342900">
              <a:buAutoNum type="alphaUcParenR"/>
            </a:pPr>
            <a:r>
              <a:rPr/>
              <a:t>Adding architectural detail so they trust you</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7 — B</a:t>
            </a:r>
          </a:p>
        </p:txBody>
      </p:sp>
      <p:sp>
        <p:nvSpPr>
          <p:cNvPr id="3" name="Content Placeholder 2"/>
          <p:cNvSpPr>
            <a:spLocks noGrp="1"/>
          </p:cNvSpPr>
          <p:nvPr>
            <p:ph idx="1"/>
          </p:nvPr>
        </p:nvSpPr>
        <p:spPr/>
        <p:txBody>
          <a:bodyPr/>
          <a:lstStyle/>
          <a:p>
            <a:pPr lvl="0" indent="0" marL="0">
              <a:buNone/>
            </a:pPr>
            <a:r>
              <a:rPr/>
              <a:t>Re-frame it in the stakeholder’s currency.</a:t>
            </a:r>
          </a:p>
          <a:p>
            <a:pPr lvl="0" indent="0" marL="0">
              <a:buNone/>
            </a:pPr>
            <a:r>
              <a:rPr/>
              <a:t>CFO → cost. Customer Success → customer outcome. Compliance → regulatory exposure. Eng Director → velocity. “Use simpler words” misses the point.</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8 — True / False</a:t>
            </a:r>
          </a:p>
        </p:txBody>
      </p:sp>
      <p:sp>
        <p:nvSpPr>
          <p:cNvPr id="3" name="Content Placeholder 2"/>
          <p:cNvSpPr>
            <a:spLocks noGrp="1"/>
          </p:cNvSpPr>
          <p:nvPr>
            <p:ph idx="1"/>
          </p:nvPr>
        </p:nvSpPr>
        <p:spPr/>
        <p:txBody>
          <a:bodyPr/>
          <a:lstStyle/>
          <a:p>
            <a:pPr lvl="0" indent="0" marL="0">
              <a:buNone/>
            </a:pPr>
            <a:r>
              <a:rPr/>
              <a:t>When predicting the stakeholder’s top 5 questions for your 1-page brief, having all 5 come out friendly means the brief is well-prepared.</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8 — False</a:t>
            </a:r>
          </a:p>
        </p:txBody>
      </p:sp>
      <p:sp>
        <p:nvSpPr>
          <p:cNvPr id="3" name="Content Placeholder 2"/>
          <p:cNvSpPr>
            <a:spLocks noGrp="1"/>
          </p:cNvSpPr>
          <p:nvPr>
            <p:ph idx="1"/>
          </p:nvPr>
        </p:nvSpPr>
        <p:spPr/>
        <p:txBody>
          <a:bodyPr/>
          <a:lstStyle/>
          <a:p>
            <a:pPr lvl="0" indent="0" marL="0">
              <a:buNone/>
            </a:pPr>
            <a:r>
              <a:rPr/>
              <a:t>At least one predicted question should be hostile.</a:t>
            </a:r>
          </a:p>
          <a:p>
            <a:pPr lvl="0" indent="0" marL="0">
              <a:buNone/>
            </a:pPr>
            <a:r>
              <a:rPr/>
              <a:t>If all five are friendly, you’re not stress-testing the brief — you’re rehearsing applause.</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9</a:t>
            </a:r>
          </a:p>
        </p:txBody>
      </p:sp>
      <p:sp>
        <p:nvSpPr>
          <p:cNvPr id="3" name="Content Placeholder 2"/>
          <p:cNvSpPr>
            <a:spLocks noGrp="1"/>
          </p:cNvSpPr>
          <p:nvPr>
            <p:ph idx="1"/>
          </p:nvPr>
        </p:nvSpPr>
        <p:spPr/>
        <p:txBody>
          <a:bodyPr/>
          <a:lstStyle/>
          <a:p>
            <a:pPr lvl="0" indent="0" marL="0">
              <a:buNone/>
            </a:pPr>
            <a:r>
              <a:rPr/>
              <a:t>In the objection-map template, “the line we hold” should be:</a:t>
            </a:r>
          </a:p>
          <a:p>
            <a:pPr lvl="0" indent="-342900" marL="342900">
              <a:buAutoNum type="alphaUcParenR"/>
            </a:pPr>
            <a:r>
              <a:rPr/>
              <a:t>A general promise like “we’d compromise if needed”</a:t>
            </a:r>
          </a:p>
          <a:p>
            <a:pPr lvl="0" indent="-342900" marL="342900">
              <a:buAutoNum type="alphaUcParenR"/>
            </a:pPr>
            <a:r>
              <a:rPr/>
              <a:t>The smallest specific ground you’d give up if the objection wins</a:t>
            </a:r>
          </a:p>
          <a:p>
            <a:pPr lvl="0" indent="-342900" marL="342900">
              <a:buAutoNum type="alphaUcParenR"/>
            </a:pPr>
            <a:r>
              <a:rPr/>
              <a:t>The list of everything you refuse to change</a:t>
            </a:r>
          </a:p>
          <a:p>
            <a:pPr lvl="0" indent="-342900" marL="342900">
              <a:buAutoNum type="alphaUcParenR"/>
            </a:pPr>
            <a:r>
              <a:rPr/>
              <a:t>The AI’s recommended response</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9 — B</a:t>
            </a:r>
          </a:p>
        </p:txBody>
      </p:sp>
      <p:sp>
        <p:nvSpPr>
          <p:cNvPr id="3" name="Content Placeholder 2"/>
          <p:cNvSpPr>
            <a:spLocks noGrp="1"/>
          </p:cNvSpPr>
          <p:nvPr>
            <p:ph idx="1"/>
          </p:nvPr>
        </p:nvSpPr>
        <p:spPr/>
        <p:txBody>
          <a:bodyPr/>
          <a:lstStyle/>
          <a:p>
            <a:pPr lvl="0" indent="0" marL="0">
              <a:buNone/>
            </a:pPr>
            <a:r>
              <a:rPr/>
              <a:t>The smallest, specific ground you’d give up if the objection wins.</a:t>
            </a:r>
          </a:p>
          <a:p>
            <a:pPr lvl="0" indent="0" marL="0">
              <a:buNone/>
            </a:pPr>
            <a:r>
              <a:rPr/>
              <a:t>It’s the senior-author signal — specific, not “we’d compromise.” Vague here means pushed-around tomorrow.</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10 — True / False</a:t>
            </a:r>
          </a:p>
        </p:txBody>
      </p:sp>
      <p:sp>
        <p:nvSpPr>
          <p:cNvPr id="3" name="Content Placeholder 2"/>
          <p:cNvSpPr>
            <a:spLocks noGrp="1"/>
          </p:cNvSpPr>
          <p:nvPr>
            <p:ph idx="1"/>
          </p:nvPr>
        </p:nvSpPr>
        <p:spPr/>
        <p:txBody>
          <a:bodyPr/>
          <a:lstStyle/>
          <a:p>
            <a:pPr lvl="0" indent="0" marL="0">
              <a:buNone/>
            </a:pPr>
            <a:r>
              <a:rPr/>
              <a:t>AI is a reliable source for telling you what’s already been decided about your product — so you can skip validating its prior-context summary.</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10 — False</a:t>
            </a:r>
          </a:p>
        </p:txBody>
      </p:sp>
      <p:sp>
        <p:nvSpPr>
          <p:cNvPr id="3" name="Content Placeholder 2"/>
          <p:cNvSpPr>
            <a:spLocks noGrp="1"/>
          </p:cNvSpPr>
          <p:nvPr>
            <p:ph idx="1"/>
          </p:nvPr>
        </p:nvSpPr>
        <p:spPr/>
        <p:txBody>
          <a:bodyPr/>
          <a:lstStyle/>
          <a:p>
            <a:pPr lvl="0" indent="0" marL="0">
              <a:buNone/>
            </a:pPr>
            <a:r>
              <a:rPr/>
              <a:t>AI does that poorly.</a:t>
            </a:r>
          </a:p>
          <a:p>
            <a:pPr lvl="0" indent="0" marL="0">
              <a:buNone/>
            </a:pPr>
            <a:r>
              <a:rPr/>
              <a:t>It can re-organize what you give it — it can’t tell you what’s been decided or verify facts against production. Every output gets validated.</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11</a:t>
            </a:r>
          </a:p>
        </p:txBody>
      </p:sp>
      <p:sp>
        <p:nvSpPr>
          <p:cNvPr id="3" name="Content Placeholder 2"/>
          <p:cNvSpPr>
            <a:spLocks noGrp="1"/>
          </p:cNvSpPr>
          <p:nvPr>
            <p:ph idx="1"/>
          </p:nvPr>
        </p:nvSpPr>
        <p:spPr/>
        <p:txBody>
          <a:bodyPr/>
          <a:lstStyle/>
          <a:p>
            <a:pPr lvl="0" indent="0" marL="0">
              <a:buNone/>
            </a:pPr>
            <a:r>
              <a:rPr/>
              <a:t>The negotiation “trade space” is the set of axes, at least one of which must move. If nothing can move, then:</a:t>
            </a:r>
          </a:p>
          <a:p>
            <a:pPr lvl="0" indent="-342900" marL="342900">
              <a:buAutoNum type="alphaUcParenR"/>
            </a:pPr>
            <a:r>
              <a:rPr/>
              <a:t>You have maximum leverage</a:t>
            </a:r>
          </a:p>
          <a:p>
            <a:pPr lvl="0" indent="-342900" marL="342900">
              <a:buAutoNum type="alphaUcParenR"/>
            </a:pPr>
            <a:r>
              <a:rPr/>
              <a:t>You’re not negotiating — you’re just saying yes or no</a:t>
            </a:r>
          </a:p>
          <a:p>
            <a:pPr lvl="0" indent="-342900" marL="342900">
              <a:buAutoNum type="alphaUcParenR"/>
            </a:pPr>
            <a:r>
              <a:rPr/>
              <a:t>You should add more non-negotiables</a:t>
            </a:r>
          </a:p>
          <a:p>
            <a:pPr lvl="0" indent="-342900" marL="342900">
              <a:buAutoNum type="alphaUcParenR"/>
            </a:pPr>
            <a:r>
              <a:rPr/>
              <a:t>You’ve automatically found the trade space</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11 — B</a:t>
            </a:r>
          </a:p>
        </p:txBody>
      </p:sp>
      <p:sp>
        <p:nvSpPr>
          <p:cNvPr id="3" name="Content Placeholder 2"/>
          <p:cNvSpPr>
            <a:spLocks noGrp="1"/>
          </p:cNvSpPr>
          <p:nvPr>
            <p:ph idx="1"/>
          </p:nvPr>
        </p:nvSpPr>
        <p:spPr/>
        <p:txBody>
          <a:bodyPr/>
          <a:lstStyle/>
          <a:p>
            <a:pPr lvl="0" indent="0" marL="0">
              <a:buNone/>
            </a:pPr>
            <a:r>
              <a:rPr/>
              <a:t>You’re not negotiating — you’re saying yes or no.</a:t>
            </a:r>
          </a:p>
          <a:p>
            <a:pPr lvl="0" indent="0" marL="0">
              <a:buNone/>
            </a:pPr>
            <a:r>
              <a:rPr/>
              <a:t>The trade space is scope / time / quality-resources. Offer movement on a different axis than the one they care most about.</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12 — True / False</a:t>
            </a:r>
          </a:p>
        </p:txBody>
      </p:sp>
      <p:sp>
        <p:nvSpPr>
          <p:cNvPr id="3" name="Content Placeholder 2"/>
          <p:cNvSpPr>
            <a:spLocks noGrp="1"/>
          </p:cNvSpPr>
          <p:nvPr>
            <p:ph idx="1"/>
          </p:nvPr>
        </p:nvSpPr>
        <p:spPr/>
        <p:txBody>
          <a:bodyPr/>
          <a:lstStyle/>
          <a:p>
            <a:pPr lvl="0" indent="0" marL="0">
              <a:buNone/>
            </a:pPr>
            <a:r>
              <a:rPr/>
              <a:t>In the live negotiation rubric, “Held the line where it mattered” is the single highest-weighted dimension.</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12 — False</a:t>
            </a:r>
          </a:p>
        </p:txBody>
      </p:sp>
      <p:sp>
        <p:nvSpPr>
          <p:cNvPr id="3" name="Content Placeholder 2"/>
          <p:cNvSpPr>
            <a:spLocks noGrp="1"/>
          </p:cNvSpPr>
          <p:nvPr>
            <p:ph idx="1"/>
          </p:nvPr>
        </p:nvSpPr>
        <p:spPr/>
        <p:txBody>
          <a:bodyPr/>
          <a:lstStyle/>
          <a:p>
            <a:pPr lvl="0" indent="0" marL="0">
              <a:buNone/>
            </a:pPr>
            <a:r>
              <a:rPr/>
              <a:t>“Held the line” is 15%.</a:t>
            </a:r>
          </a:p>
          <a:p>
            <a:pPr lvl="0" indent="0" marL="0">
              <a:buNone/>
            </a:pPr>
            <a:r>
              <a:rPr/>
              <a:t>“Listened first,” “Translated tech to business,” and “Found the trade space” each carry 20%. Listening and translating outweigh holding the line.</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 That’s Week 6</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Score yourself — but the real check is whether you can use these in Monday’s Week 7 delivery planning.</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2026-07-01T16:57:05Z</dcterms:created>
  <dcterms:modified xsi:type="dcterms:W3CDTF">2026-07-01T16:57:05Z</dcterms:modified>
</cp:coreProperties>
</file>

<file path=docProps/custom.xml><?xml version="1.0" encoding="utf-8"?>
<Properties xmlns="http://schemas.openxmlformats.org/officeDocument/2006/custom-properties" xmlns:vt="http://schemas.openxmlformats.org/officeDocument/2006/docPropsVTypes"/>
</file>