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notesMaster" Target="notesMasters/notesMaster1.xml" /><Relationship Id="rId33" Type="http://schemas.openxmlformats.org/officeDocument/2006/relationships/viewProps" Target="viewProps.xml" /><Relationship Id="rId32" Type="http://schemas.openxmlformats.org/officeDocument/2006/relationships/presProps" Target="presProps.xml" /><Relationship Id="rId1" Type="http://schemas.openxmlformats.org/officeDocument/2006/relationships/slideMaster" Target="slideMasters/slideMaster1.xml" /><Relationship Id="rId35" Type="http://schemas.openxmlformats.org/officeDocument/2006/relationships/tableStyles" Target="tableStyles.xml" /><Relationship Id="rId34"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Run this as a live review game to close the week. Read the question, let triads commit to an answer out loud or on paper, then advance to the answer slide. The goal is retention through retrieval — make them commit before revealing.</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Emphasize commitment before reveal. The retrieval effort is what moves knowledge into long-term memory — passively recognizing the right answer does far less.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Nearly everyone remembers “Role” and “Format.” The middle two are the retrieval test. Let them argue Context vs Constraints ordering — the order doesn’t matter, the four slots do.</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Reinforce: don’t argue taxonomy of frameworks — teach the habit. Every non-trivial PM prompt gets all four slots.</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trap answer is Hallucination. Draw the distinction clearly: hallucination invents confident specifics; context starvation produces generic plausibility because the model was told nothing.</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Tie back to “what does the model know about my product right now? Nothing.” Generic output is the tell.</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table is the single most-referenced artifact of Week 1. If they don’t know this cold, re-anchor it — they’ll use it every week.</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common slip is putting Inferred above Reported. A user’s own words beat your deduction.</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Let them vote. This is the most important mental model of Day 1 disguised as a T/F.</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Repeat the “Nothing” line. It fights the single most common real-world failure mode.</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People reach for “problem paragraph.” The answer is the customer quote — the hardest thing to fake believably.</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why we spent lab time on the quote. It forces you to name a real person in a real moment.</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word “already decided” is the tell. Working Backwards decides whether to build at all.</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reframes the whole method. It kills weak ideas on paper, where answers are cheap.</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tests whether they connected Day 1 and Day 2. Evidence lives in question 4 of the five.</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If a PR/FAQ answers this with “customers tell us…” and no tier, it’s ungrounded — a Day 5 failure mode too.</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Succinct feels good, but adjectives are un-falsifiable. Let them wrestle with why succinct isn’t the goal.</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“Busy” can’t be tested. “Reconciles paper tickets for 45 minutes after every shift” can.</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Mom Test in one question. The hypothetical-future question is the one to kill.</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Hypotheticals flatter you. Past behavior and workarounds tell the truth.</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Tickets feel authoritative but they’re filtered. The highest-fidelity pain is watched, not reported.</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Hammer “workaround = pain.” That’s the most missed and most valuable opportunity.</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Severity × Frequency alone produces a backlog no one can execute. Addressability is what makes it a decision.</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where PMs over-commit. Recognizing low addressability is a senior move.</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Last one. This is the payoff of the whole week: a falsifiable problem statement.</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Connect forward: this falsifiable statement becomes a PRD input in Week 3.</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Close by asking each triad which single question they got wrong and why. The misses are where next week’s coaching starts.</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 Week 1 Knowledge Check</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Customer-Centric Foundations</a:t>
            </a:r>
          </a:p>
        </p:txBody>
      </p:sp>
      <p:sp>
        <p:nvSpPr>
          <p:cNvPr id="3" name="Content Placeholder 2"/>
          <p:cNvSpPr>
            <a:spLocks noGrp="1"/>
          </p:cNvSpPr>
          <p:nvPr>
            <p:ph idx="1"/>
          </p:nvPr>
        </p:nvSpPr>
        <p:spPr/>
        <p:txBody>
          <a:bodyPr/>
          <a:lstStyle/>
          <a:p>
            <a:pPr lvl="0" indent="0" marL="0">
              <a:spcBef>
                <a:spcPts val="3000"/>
              </a:spcBef>
              <a:buNone/>
            </a:pPr>
            <a:r>
              <a:rPr b="1"/>
              <a:t>Technical Product Manager Academy</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How This Works</a:t>
            </a:r>
          </a:p>
        </p:txBody>
      </p:sp>
      <p:sp>
        <p:nvSpPr>
          <p:cNvPr id="3" name="Content Placeholder 2"/>
          <p:cNvSpPr>
            <a:spLocks noGrp="1"/>
          </p:cNvSpPr>
          <p:nvPr>
            <p:ph idx="1"/>
          </p:nvPr>
        </p:nvSpPr>
        <p:spPr/>
        <p:txBody>
          <a:bodyPr/>
          <a:lstStyle/>
          <a:p>
            <a:pPr lvl="0" indent="0" marL="0">
              <a:buNone/>
            </a:pPr>
            <a:r>
              <a:rPr/>
              <a:t>12 questions across the week — prompting, working backwards, personas, pain points, problem framing.  Commit to an answer before the reveal. Retrieval is the point.</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1</a:t>
            </a:r>
          </a:p>
        </p:txBody>
      </p:sp>
      <p:sp>
        <p:nvSpPr>
          <p:cNvPr id="3" name="Content Placeholder 2"/>
          <p:cNvSpPr>
            <a:spLocks noGrp="1"/>
          </p:cNvSpPr>
          <p:nvPr>
            <p:ph idx="1"/>
          </p:nvPr>
        </p:nvSpPr>
        <p:spPr/>
        <p:txBody>
          <a:bodyPr/>
          <a:lstStyle/>
          <a:p>
            <a:pPr lvl="0" indent="0" marL="0">
              <a:buNone/>
            </a:pPr>
            <a:r>
              <a:rPr/>
              <a:t>The RCCF prompting scaffold stands for:</a:t>
            </a:r>
          </a:p>
          <a:p>
            <a:pPr lvl="0" indent="-342900" marL="342900">
              <a:buAutoNum type="alphaUcParenR"/>
            </a:pPr>
            <a:r>
              <a:rPr/>
              <a:t>Role, Constraints, Context, Feedback</a:t>
            </a:r>
          </a:p>
          <a:p>
            <a:pPr lvl="0" indent="-342900" marL="342900">
              <a:buAutoNum type="alphaUcParenR"/>
            </a:pPr>
            <a:r>
              <a:rPr/>
              <a:t>Role, Context, Constraints, Format</a:t>
            </a:r>
          </a:p>
          <a:p>
            <a:pPr lvl="0" indent="-342900" marL="342900">
              <a:buAutoNum type="alphaUcParenR"/>
            </a:pPr>
            <a:r>
              <a:rPr/>
              <a:t>Request, Context, Criteria, Format</a:t>
            </a:r>
          </a:p>
          <a:p>
            <a:pPr lvl="0" indent="-342900" marL="342900">
              <a:buAutoNum type="alphaUcParenR"/>
            </a:pPr>
            <a:r>
              <a:rPr/>
              <a:t>Role, Content, Clarity, Format</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1 — B</a:t>
            </a:r>
          </a:p>
        </p:txBody>
      </p:sp>
      <p:sp>
        <p:nvSpPr>
          <p:cNvPr id="3" name="Content Placeholder 2"/>
          <p:cNvSpPr>
            <a:spLocks noGrp="1"/>
          </p:cNvSpPr>
          <p:nvPr>
            <p:ph idx="1"/>
          </p:nvPr>
        </p:nvSpPr>
        <p:spPr/>
        <p:txBody>
          <a:bodyPr/>
          <a:lstStyle/>
          <a:p>
            <a:pPr lvl="0" indent="0" marL="0">
              <a:buNone/>
            </a:pPr>
            <a:r>
              <a:rPr/>
              <a:t>Role, Context, Constraints, Format.</a:t>
            </a:r>
          </a:p>
          <a:p>
            <a:pPr lvl="0" indent="0" marL="0">
              <a:buNone/>
            </a:pPr>
            <a:r>
              <a:rPr/>
              <a:t>The kernel scaffold. Heavier frameworks (CO-STAR, CRISPE) are just elaborations of the same four-slot habit.</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2</a:t>
            </a:r>
          </a:p>
        </p:txBody>
      </p:sp>
      <p:sp>
        <p:nvSpPr>
          <p:cNvPr id="3" name="Content Placeholder 2"/>
          <p:cNvSpPr>
            <a:spLocks noGrp="1"/>
          </p:cNvSpPr>
          <p:nvPr>
            <p:ph idx="1"/>
          </p:nvPr>
        </p:nvSpPr>
        <p:spPr/>
        <p:txBody>
          <a:bodyPr/>
          <a:lstStyle/>
          <a:p>
            <a:pPr lvl="0" indent="0" marL="0">
              <a:buNone/>
            </a:pPr>
            <a:r>
              <a:rPr/>
              <a:t>An AI gives a confident, plausible answer that’s generic and not actually about your product. Most likely failure mode?</a:t>
            </a:r>
          </a:p>
          <a:p>
            <a:pPr lvl="0" indent="-342900" marL="342900">
              <a:buAutoNum type="alphaUcParenR"/>
            </a:pPr>
            <a:r>
              <a:rPr/>
              <a:t>Hallucination</a:t>
            </a:r>
          </a:p>
          <a:p>
            <a:pPr lvl="0" indent="-342900" marL="342900">
              <a:buAutoNum type="alphaUcParenR"/>
            </a:pPr>
            <a:r>
              <a:rPr/>
              <a:t>Sycophancy</a:t>
            </a:r>
          </a:p>
          <a:p>
            <a:pPr lvl="0" indent="-342900" marL="342900">
              <a:buAutoNum type="alphaUcParenR"/>
            </a:pPr>
            <a:r>
              <a:rPr/>
              <a:t>Context starvation</a:t>
            </a:r>
          </a:p>
          <a:p>
            <a:pPr lvl="0" indent="-342900" marL="342900">
              <a:buAutoNum type="alphaUcParenR"/>
            </a:pPr>
            <a:r>
              <a:rPr/>
              <a:t>Anchoring</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2 — C</a:t>
            </a:r>
          </a:p>
        </p:txBody>
      </p:sp>
      <p:sp>
        <p:nvSpPr>
          <p:cNvPr id="3" name="Content Placeholder 2"/>
          <p:cNvSpPr>
            <a:spLocks noGrp="1"/>
          </p:cNvSpPr>
          <p:nvPr>
            <p:ph idx="1"/>
          </p:nvPr>
        </p:nvSpPr>
        <p:spPr/>
        <p:txBody>
          <a:bodyPr/>
          <a:lstStyle/>
          <a:p>
            <a:pPr lvl="0" indent="0" marL="0">
              <a:buNone/>
            </a:pPr>
            <a:r>
              <a:rPr/>
              <a:t>Context starvation. Plausible but generic.</a:t>
            </a:r>
          </a:p>
          <a:p>
            <a:pPr lvl="0" indent="0" marL="0">
              <a:buNone/>
            </a:pPr>
            <a:r>
              <a:rPr/>
              <a:t>Fix: add Role + Context explicitly, paste in the source material. (Hallucination = confident fabricated specifics; this one is generic.)</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3</a:t>
            </a:r>
          </a:p>
        </p:txBody>
      </p:sp>
      <p:sp>
        <p:nvSpPr>
          <p:cNvPr id="3" name="Content Placeholder 2"/>
          <p:cNvSpPr>
            <a:spLocks noGrp="1"/>
          </p:cNvSpPr>
          <p:nvPr>
            <p:ph idx="1"/>
          </p:nvPr>
        </p:nvSpPr>
        <p:spPr/>
        <p:txBody>
          <a:bodyPr/>
          <a:lstStyle/>
          <a:p>
            <a:pPr lvl="0" indent="0" marL="0">
              <a:buNone/>
            </a:pPr>
            <a:r>
              <a:rPr/>
              <a:t>Rank the evidence tiers, most → least trustworthy:</a:t>
            </a:r>
          </a:p>
          <a:p>
            <a:pPr lvl="0" indent="-342900" marL="342900">
              <a:buAutoNum type="alphaUcParenR"/>
            </a:pPr>
            <a:r>
              <a:rPr/>
              <a:t>Reported → Observed → Inferred → AI-generated</a:t>
            </a:r>
          </a:p>
          <a:p>
            <a:pPr lvl="0" indent="-342900" marL="342900">
              <a:buAutoNum type="alphaUcParenR"/>
            </a:pPr>
            <a:r>
              <a:rPr/>
              <a:t>Observed → Reported → Inferred → AI-generated</a:t>
            </a:r>
          </a:p>
          <a:p>
            <a:pPr lvl="0" indent="-342900" marL="342900">
              <a:buAutoNum type="alphaUcParenR"/>
            </a:pPr>
            <a:r>
              <a:rPr/>
              <a:t>Observed → Inferred → Reported → AI-generated</a:t>
            </a:r>
          </a:p>
          <a:p>
            <a:pPr lvl="0" indent="-342900" marL="342900">
              <a:buAutoNum type="alphaUcParenR"/>
            </a:pPr>
            <a:r>
              <a:rPr/>
              <a:t>AI-generated → Observed → Reported → Inferred</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3 — B</a:t>
            </a:r>
          </a:p>
        </p:txBody>
      </p:sp>
      <p:sp>
        <p:nvSpPr>
          <p:cNvPr id="3" name="Content Placeholder 2"/>
          <p:cNvSpPr>
            <a:spLocks noGrp="1"/>
          </p:cNvSpPr>
          <p:nvPr>
            <p:ph idx="1"/>
          </p:nvPr>
        </p:nvSpPr>
        <p:spPr/>
        <p:txBody>
          <a:bodyPr/>
          <a:lstStyle/>
          <a:p>
            <a:pPr lvl="0" indent="0" marL="0">
              <a:buNone/>
            </a:pPr>
            <a:r>
              <a:rPr/>
              <a:t>Observed → Reported → Inferred → AI-generated.</a:t>
            </a:r>
          </a:p>
          <a:p>
            <a:pPr lvl="0" indent="0" marL="0">
              <a:buNone/>
            </a:pPr>
            <a:r>
              <a:rPr/>
              <a:t>AI-generated is the lowest tier and must be upgraded before it’s used in an artifact.</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4 — True / False</a:t>
            </a:r>
          </a:p>
        </p:txBody>
      </p:sp>
      <p:sp>
        <p:nvSpPr>
          <p:cNvPr id="3" name="Content Placeholder 2"/>
          <p:cNvSpPr>
            <a:spLocks noGrp="1"/>
          </p:cNvSpPr>
          <p:nvPr>
            <p:ph idx="1"/>
          </p:nvPr>
        </p:nvSpPr>
        <p:spPr/>
        <p:txBody>
          <a:bodyPr/>
          <a:lstStyle/>
          <a:p>
            <a:pPr lvl="0" indent="0" marL="0">
              <a:buNone/>
            </a:pPr>
            <a:r>
              <a:rPr/>
              <a:t>A large-enough context window means the model will remember facts about your product from previous, separate sessions — even if you don’t include them in this prompt.</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4 — False</a:t>
            </a:r>
          </a:p>
        </p:txBody>
      </p:sp>
      <p:sp>
        <p:nvSpPr>
          <p:cNvPr id="3" name="Content Placeholder 2"/>
          <p:cNvSpPr>
            <a:spLocks noGrp="1"/>
          </p:cNvSpPr>
          <p:nvPr>
            <p:ph idx="1"/>
          </p:nvPr>
        </p:nvSpPr>
        <p:spPr/>
        <p:txBody>
          <a:bodyPr/>
          <a:lstStyle/>
          <a:p>
            <a:pPr lvl="0" indent="0" marL="0">
              <a:buNone/>
            </a:pPr>
            <a:r>
              <a:rPr/>
              <a:t>If the model can’t see it in the prompt, it’s guessing.</a:t>
            </a:r>
          </a:p>
          <a:p>
            <a:pPr lvl="0" indent="0" marL="0">
              <a:buNone/>
            </a:pPr>
            <a:r>
              <a:rPr/>
              <a:t>“What does this model know about my product right now? Nothing.”</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5</a:t>
            </a:r>
          </a:p>
        </p:txBody>
      </p:sp>
      <p:sp>
        <p:nvSpPr>
          <p:cNvPr id="3" name="Content Placeholder 2"/>
          <p:cNvSpPr>
            <a:spLocks noGrp="1"/>
          </p:cNvSpPr>
          <p:nvPr>
            <p:ph idx="1"/>
          </p:nvPr>
        </p:nvSpPr>
        <p:spPr/>
        <p:txBody>
          <a:bodyPr/>
          <a:lstStyle/>
          <a:p>
            <a:pPr lvl="0" indent="0" marL="0">
              <a:buNone/>
            </a:pPr>
            <a:r>
              <a:rPr/>
              <a:t>In a Working Backwards PR/FAQ, which section is the single most diagnostic — if it sounds like marketing, the idea is in trouble?</a:t>
            </a:r>
          </a:p>
          <a:p>
            <a:pPr lvl="0" indent="-342900" marL="342900">
              <a:buAutoNum type="alphaUcParenR"/>
            </a:pPr>
            <a:r>
              <a:rPr/>
              <a:t>The heading</a:t>
            </a:r>
          </a:p>
          <a:p>
            <a:pPr lvl="0" indent="-342900" marL="342900">
              <a:buAutoNum type="alphaUcParenR"/>
            </a:pPr>
            <a:r>
              <a:rPr/>
              <a:t>The problem paragraph</a:t>
            </a:r>
          </a:p>
          <a:p>
            <a:pPr lvl="0" indent="-342900" marL="342900">
              <a:buAutoNum type="alphaUcParenR"/>
            </a:pPr>
            <a:r>
              <a:rPr/>
              <a:t>The customer quote</a:t>
            </a:r>
          </a:p>
          <a:p>
            <a:pPr lvl="0" indent="-342900" marL="342900">
              <a:buAutoNum type="alphaUcParenR"/>
            </a:pPr>
            <a:r>
              <a:rPr/>
              <a:t>The summary paragraph</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5 — C</a:t>
            </a:r>
          </a:p>
        </p:txBody>
      </p:sp>
      <p:sp>
        <p:nvSpPr>
          <p:cNvPr id="3" name="Content Placeholder 2"/>
          <p:cNvSpPr>
            <a:spLocks noGrp="1"/>
          </p:cNvSpPr>
          <p:nvPr>
            <p:ph idx="1"/>
          </p:nvPr>
        </p:nvSpPr>
        <p:spPr/>
        <p:txBody>
          <a:bodyPr/>
          <a:lstStyle/>
          <a:p>
            <a:pPr lvl="0" indent="0" marL="0">
              <a:buNone/>
            </a:pPr>
            <a:r>
              <a:rPr/>
              <a:t>The customer quote.</a:t>
            </a:r>
          </a:p>
          <a:p>
            <a:pPr lvl="0" indent="0" marL="0">
              <a:buNone/>
            </a:pPr>
            <a:r>
              <a:rPr/>
              <a:t>If you can’t write a fictional-but-credible quote believably, the PR fails. If it sounds like marketing, the problem is marketing.</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6 — True / False</a:t>
            </a:r>
          </a:p>
        </p:txBody>
      </p:sp>
      <p:sp>
        <p:nvSpPr>
          <p:cNvPr id="3" name="Content Placeholder 2"/>
          <p:cNvSpPr>
            <a:spLocks noGrp="1"/>
          </p:cNvSpPr>
          <p:nvPr>
            <p:ph idx="1"/>
          </p:nvPr>
        </p:nvSpPr>
        <p:spPr/>
        <p:txBody>
          <a:bodyPr/>
          <a:lstStyle/>
          <a:p>
            <a:pPr lvl="0" indent="0" marL="0">
              <a:buNone/>
            </a:pPr>
            <a:r>
              <a:rPr/>
              <a:t>The core purpose of the Working Backwards document is to plan how to build a product the team has already decided to build.</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6 — False</a:t>
            </a:r>
          </a:p>
        </p:txBody>
      </p:sp>
      <p:sp>
        <p:nvSpPr>
          <p:cNvPr id="3" name="Content Placeholder 2"/>
          <p:cNvSpPr>
            <a:spLocks noGrp="1"/>
          </p:cNvSpPr>
          <p:nvPr>
            <p:ph idx="1"/>
          </p:nvPr>
        </p:nvSpPr>
        <p:spPr/>
        <p:txBody>
          <a:bodyPr/>
          <a:lstStyle/>
          <a:p>
            <a:pPr lvl="0" indent="0" marL="0">
              <a:buNone/>
            </a:pPr>
            <a:r>
              <a:rPr/>
              <a:t>We don’t use the document to plan what we’ll build — we use it to decide whether to build at all.</a:t>
            </a:r>
          </a:p>
          <a:p>
            <a:pPr lvl="0" indent="0" marL="0">
              <a:buNone/>
            </a:pPr>
            <a:r>
              <a:rPr/>
              <a:t>“Fiction you can stress-test is cheaper than code you can’t unship.”</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7</a:t>
            </a:r>
          </a:p>
        </p:txBody>
      </p:sp>
      <p:sp>
        <p:nvSpPr>
          <p:cNvPr id="3" name="Content Placeholder 2"/>
          <p:cNvSpPr>
            <a:spLocks noGrp="1"/>
          </p:cNvSpPr>
          <p:nvPr>
            <p:ph idx="1"/>
          </p:nvPr>
        </p:nvSpPr>
        <p:spPr/>
        <p:txBody>
          <a:bodyPr/>
          <a:lstStyle/>
          <a:p>
            <a:pPr lvl="0" indent="0" marL="0">
              <a:buNone/>
            </a:pPr>
            <a:r>
              <a:rPr/>
              <a:t>Which of the Five Questions That Force Clarity is where Day 1’s evidence tiers re-enter?</a:t>
            </a:r>
          </a:p>
          <a:p>
            <a:pPr lvl="0" indent="-342900" marL="342900">
              <a:buAutoNum type="alphaUcParenR"/>
            </a:pPr>
            <a:r>
              <a:rPr/>
              <a:t>“Who is the customer?”</a:t>
            </a:r>
          </a:p>
          <a:p>
            <a:pPr lvl="0" indent="-342900" marL="342900">
              <a:buAutoNum type="alphaUcParenR"/>
            </a:pPr>
            <a:r>
              <a:rPr/>
              <a:t>“What is the most important benefit?”</a:t>
            </a:r>
          </a:p>
          <a:p>
            <a:pPr lvl="0" indent="-342900" marL="342900">
              <a:buAutoNum type="alphaUcParenR"/>
            </a:pPr>
            <a:r>
              <a:rPr/>
              <a:t>“How do you know what they want or need?”</a:t>
            </a:r>
          </a:p>
          <a:p>
            <a:pPr lvl="0" indent="-342900" marL="342900">
              <a:buAutoNum type="alphaUcParenR"/>
            </a:pPr>
            <a:r>
              <a:rPr/>
              <a:t>“What does the experience look like?”</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7 — C</a:t>
            </a:r>
          </a:p>
        </p:txBody>
      </p:sp>
      <p:sp>
        <p:nvSpPr>
          <p:cNvPr id="3" name="Content Placeholder 2"/>
          <p:cNvSpPr>
            <a:spLocks noGrp="1"/>
          </p:cNvSpPr>
          <p:nvPr>
            <p:ph idx="1"/>
          </p:nvPr>
        </p:nvSpPr>
        <p:spPr/>
        <p:txBody>
          <a:bodyPr/>
          <a:lstStyle/>
          <a:p>
            <a:pPr lvl="0" indent="0" marL="0">
              <a:buNone/>
            </a:pPr>
            <a:r>
              <a:rPr/>
              <a:t>“How do you know what they want or need?”</a:t>
            </a:r>
          </a:p>
          <a:p>
            <a:pPr lvl="0" indent="0" marL="0">
              <a:buNone/>
            </a:pPr>
            <a:r>
              <a:rPr/>
              <a:t>Name the evidence. Tag its tier. This is the seam between customer research and the PR/FAQ.</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8 — True / False</a:t>
            </a:r>
          </a:p>
        </p:txBody>
      </p:sp>
      <p:sp>
        <p:nvSpPr>
          <p:cNvPr id="3" name="Content Placeholder 2"/>
          <p:cNvSpPr>
            <a:spLocks noGrp="1"/>
          </p:cNvSpPr>
          <p:nvPr>
            <p:ph idx="1"/>
          </p:nvPr>
        </p:nvSpPr>
        <p:spPr/>
        <p:txBody>
          <a:bodyPr/>
          <a:lstStyle/>
          <a:p>
            <a:pPr lvl="0" indent="0" marL="0">
              <a:buNone/>
            </a:pPr>
            <a:r>
              <a:rPr/>
              <a:t>Writing a persona trait as an adjective — “busy,” “tech-savvy” — is a strength because it captures the customer succinctly.</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8 — False</a:t>
            </a:r>
          </a:p>
        </p:txBody>
      </p:sp>
      <p:sp>
        <p:nvSpPr>
          <p:cNvPr id="3" name="Content Placeholder 2"/>
          <p:cNvSpPr>
            <a:spLocks noGrp="1"/>
          </p:cNvSpPr>
          <p:nvPr>
            <p:ph idx="1"/>
          </p:nvPr>
        </p:nvSpPr>
        <p:spPr/>
        <p:txBody>
          <a:bodyPr/>
          <a:lstStyle/>
          <a:p>
            <a:pPr lvl="0" indent="0" marL="0">
              <a:buNone/>
            </a:pPr>
            <a:r>
              <a:rPr/>
              <a:t>Adjectives are the real killer — they’re un-falsifiable.</a:t>
            </a:r>
          </a:p>
          <a:p>
            <a:pPr lvl="0" indent="0" marL="0">
              <a:buNone/>
            </a:pPr>
            <a:r>
              <a:rPr/>
              <a:t>Working personas use observed behaviors and the customer’s own words, each tied to an evidence tier.</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9</a:t>
            </a:r>
          </a:p>
        </p:txBody>
      </p:sp>
      <p:sp>
        <p:nvSpPr>
          <p:cNvPr id="3" name="Content Placeholder 2"/>
          <p:cNvSpPr>
            <a:spLocks noGrp="1"/>
          </p:cNvSpPr>
          <p:nvPr>
            <p:ph idx="1"/>
          </p:nvPr>
        </p:nvSpPr>
        <p:spPr/>
        <p:txBody>
          <a:bodyPr/>
          <a:lstStyle/>
          <a:p>
            <a:pPr lvl="0" indent="0" marL="0">
              <a:buNone/>
            </a:pPr>
            <a:r>
              <a:rPr/>
              <a:t>In a validation interview, which question should you avoid?</a:t>
            </a:r>
          </a:p>
          <a:p>
            <a:pPr lvl="0" indent="-342900" marL="342900">
              <a:buAutoNum type="alphaUcParenR"/>
            </a:pPr>
            <a:r>
              <a:rPr/>
              <a:t>“Walk me through the last time you did X.”</a:t>
            </a:r>
          </a:p>
          <a:p>
            <a:pPr lvl="0" indent="-342900" marL="342900">
              <a:buAutoNum type="alphaUcParenR"/>
            </a:pPr>
            <a:r>
              <a:rPr/>
              <a:t>“Would you use a product that did X?”</a:t>
            </a:r>
          </a:p>
          <a:p>
            <a:pPr lvl="0" indent="-342900" marL="342900">
              <a:buAutoNum type="alphaUcParenR"/>
            </a:pPr>
            <a:r>
              <a:rPr/>
              <a:t>“What did you do to work around it?”</a:t>
            </a:r>
          </a:p>
          <a:p>
            <a:pPr lvl="0" indent="-342900" marL="342900">
              <a:buAutoNum type="alphaUcParenR"/>
            </a:pPr>
            <a:r>
              <a:rPr/>
              <a:t>“How often does that happen?”</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9 — B</a:t>
            </a:r>
          </a:p>
        </p:txBody>
      </p:sp>
      <p:sp>
        <p:nvSpPr>
          <p:cNvPr id="3" name="Content Placeholder 2"/>
          <p:cNvSpPr>
            <a:spLocks noGrp="1"/>
          </p:cNvSpPr>
          <p:nvPr>
            <p:ph idx="1"/>
          </p:nvPr>
        </p:nvSpPr>
        <p:spPr/>
        <p:txBody>
          <a:bodyPr/>
          <a:lstStyle/>
          <a:p>
            <a:pPr lvl="0" indent="0" marL="0">
              <a:buNone/>
            </a:pPr>
            <a:r>
              <a:rPr/>
              <a:t>“Would you use a product that did X?”</a:t>
            </a:r>
          </a:p>
          <a:p>
            <a:pPr lvl="0" indent="0" marL="0">
              <a:buNone/>
            </a:pPr>
            <a:r>
              <a:rPr/>
              <a:t>The answer is always yes. Observe past behavior instead — it’s the only reliable signal.</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10</a:t>
            </a:r>
          </a:p>
        </p:txBody>
      </p:sp>
      <p:sp>
        <p:nvSpPr>
          <p:cNvPr id="3" name="Content Placeholder 2"/>
          <p:cNvSpPr>
            <a:spLocks noGrp="1"/>
          </p:cNvSpPr>
          <p:nvPr>
            <p:ph idx="1"/>
          </p:nvPr>
        </p:nvSpPr>
        <p:spPr/>
        <p:txBody>
          <a:bodyPr/>
          <a:lstStyle/>
          <a:p>
            <a:pPr lvl="0" indent="0" marL="0">
              <a:buNone/>
            </a:pPr>
            <a:r>
              <a:rPr/>
              <a:t>Where does the most reliable signal of real pain usually show up?</a:t>
            </a:r>
          </a:p>
          <a:p>
            <a:pPr lvl="0" indent="-342900" marL="342900">
              <a:buAutoNum type="alphaUcParenR"/>
            </a:pPr>
            <a:r>
              <a:rPr/>
              <a:t>Support tickets</a:t>
            </a:r>
          </a:p>
          <a:p>
            <a:pPr lvl="0" indent="-342900" marL="342900">
              <a:buAutoNum type="alphaUcParenR"/>
            </a:pPr>
            <a:r>
              <a:rPr/>
              <a:t>Observation / ride-alongs (workarounds, side-channels)</a:t>
            </a:r>
          </a:p>
          <a:p>
            <a:pPr lvl="0" indent="-342900" marL="342900">
              <a:buAutoNum type="alphaUcParenR"/>
            </a:pPr>
            <a:r>
              <a:rPr/>
              <a:t>Sales / loss reviews</a:t>
            </a:r>
          </a:p>
          <a:p>
            <a:pPr lvl="0" indent="-342900" marL="342900">
              <a:buAutoNum type="alphaUcParenR"/>
            </a:pPr>
            <a:r>
              <a:rPr/>
              <a:t>Analytics drop-offs</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10 — B</a:t>
            </a:r>
          </a:p>
        </p:txBody>
      </p:sp>
      <p:sp>
        <p:nvSpPr>
          <p:cNvPr id="3" name="Content Placeholder 2"/>
          <p:cNvSpPr>
            <a:spLocks noGrp="1"/>
          </p:cNvSpPr>
          <p:nvPr>
            <p:ph idx="1"/>
          </p:nvPr>
        </p:nvSpPr>
        <p:spPr/>
        <p:txBody>
          <a:bodyPr/>
          <a:lstStyle/>
          <a:p>
            <a:pPr lvl="0" indent="0" marL="0">
              <a:buNone/>
            </a:pPr>
            <a:r>
              <a:rPr/>
              <a:t>Observation / ride-alongs.</a:t>
            </a:r>
          </a:p>
          <a:p>
            <a:pPr lvl="0" indent="0" marL="0">
              <a:buNone/>
            </a:pPr>
            <a:r>
              <a:rPr/>
              <a:t>The best pain points are the ones customers stopped complaining about — because they built a workaround. Silent pain = lucrative, easily missed.</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11</a:t>
            </a:r>
          </a:p>
        </p:txBody>
      </p:sp>
      <p:sp>
        <p:nvSpPr>
          <p:cNvPr id="3" name="Content Placeholder 2"/>
          <p:cNvSpPr>
            <a:spLocks noGrp="1"/>
          </p:cNvSpPr>
          <p:nvPr>
            <p:ph idx="1"/>
          </p:nvPr>
        </p:nvSpPr>
        <p:spPr/>
        <p:txBody>
          <a:bodyPr/>
          <a:lstStyle/>
          <a:p>
            <a:pPr lvl="0" indent="0" marL="0">
              <a:buNone/>
            </a:pPr>
            <a:r>
              <a:rPr/>
              <a:t>In Severity × Frequency × Addressability, which axis do PMs forget — and when it’s low, turns a pain into a communication problem, not a product one?</a:t>
            </a:r>
          </a:p>
          <a:p>
            <a:pPr lvl="0" indent="-342900" marL="342900">
              <a:buAutoNum type="alphaUcParenR"/>
            </a:pPr>
            <a:r>
              <a:rPr/>
              <a:t>Severity</a:t>
            </a:r>
          </a:p>
          <a:p>
            <a:pPr lvl="0" indent="-342900" marL="342900">
              <a:buAutoNum type="alphaUcParenR"/>
            </a:pPr>
            <a:r>
              <a:rPr/>
              <a:t>Frequency</a:t>
            </a:r>
          </a:p>
          <a:p>
            <a:pPr lvl="0" indent="-342900" marL="342900">
              <a:buAutoNum type="alphaUcParenR"/>
            </a:pPr>
            <a:r>
              <a:rPr/>
              <a:t>Addressability</a:t>
            </a:r>
          </a:p>
          <a:p>
            <a:pPr lvl="0" indent="-342900" marL="342900">
              <a:buAutoNum type="alphaUcParenR"/>
            </a:pPr>
            <a:r>
              <a:rPr/>
              <a:t>Reliability</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11 — C</a:t>
            </a:r>
          </a:p>
        </p:txBody>
      </p:sp>
      <p:sp>
        <p:nvSpPr>
          <p:cNvPr id="3" name="Content Placeholder 2"/>
          <p:cNvSpPr>
            <a:spLocks noGrp="1"/>
          </p:cNvSpPr>
          <p:nvPr>
            <p:ph idx="1"/>
          </p:nvPr>
        </p:nvSpPr>
        <p:spPr/>
        <p:txBody>
          <a:bodyPr/>
          <a:lstStyle/>
          <a:p>
            <a:pPr lvl="0" indent="0" marL="0">
              <a:buNone/>
            </a:pPr>
            <a:r>
              <a:rPr/>
              <a:t>Addressability.</a:t>
            </a:r>
          </a:p>
          <a:p>
            <a:pPr lvl="0" indent="0" marL="0">
              <a:buNone/>
            </a:pPr>
            <a:r>
              <a:rPr/>
              <a:t>High severity + high frequency + low addressability = communicate, don’t engineer. A red “Must fix” cell needs stakeholder framing, not a JIRA ticket.</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12 — True / False</a:t>
            </a:r>
          </a:p>
        </p:txBody>
      </p:sp>
      <p:sp>
        <p:nvSpPr>
          <p:cNvPr id="3" name="Content Placeholder 2"/>
          <p:cNvSpPr>
            <a:spLocks noGrp="1"/>
          </p:cNvSpPr>
          <p:nvPr>
            <p:ph idx="1"/>
          </p:nvPr>
        </p:nvSpPr>
        <p:spPr/>
        <p:txBody>
          <a:bodyPr/>
          <a:lstStyle/>
          <a:p>
            <a:pPr lvl="0" indent="0" marL="0">
              <a:buNone/>
            </a:pPr>
            <a:r>
              <a:rPr/>
              <a:t>The line most problem statements skip — and the one that lets you know when you’re actually done — is “Success looks like…”</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12 — True</a:t>
            </a:r>
          </a:p>
        </p:txBody>
      </p:sp>
      <p:sp>
        <p:nvSpPr>
          <p:cNvPr id="3" name="Content Placeholder 2"/>
          <p:cNvSpPr>
            <a:spLocks noGrp="1"/>
          </p:cNvSpPr>
          <p:nvPr>
            <p:ph idx="1"/>
          </p:nvPr>
        </p:nvSpPr>
        <p:spPr/>
        <p:txBody>
          <a:bodyPr/>
          <a:lstStyle/>
          <a:p>
            <a:pPr lvl="0" indent="0" marL="0">
              <a:buNone/>
            </a:pPr>
            <a:r>
              <a:rPr/>
              <a:t>“Success looks like…” is the most-skipped line — and the one that makes a problem statement falsifiable.</a:t>
            </a:r>
          </a:p>
          <a:p>
            <a:pPr lvl="0" indent="0" marL="0">
              <a:buNone/>
            </a:pPr>
            <a:r>
              <a:rPr/>
              <a:t>Without it, there’s no way to know when the problem is solved.</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 That’s Week 1</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Score yourself — but the real check is whether you can use these on Monday.</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2026-07-01T16:56:58Z</dcterms:created>
  <dcterms:modified xsi:type="dcterms:W3CDTF">2026-07-01T16:56:58Z</dcterms:modified>
</cp:coreProperties>
</file>

<file path=docProps/custom.xml><?xml version="1.0" encoding="utf-8"?>
<Properties xmlns="http://schemas.openxmlformats.org/officeDocument/2006/custom-properties" xmlns:vt="http://schemas.openxmlformats.org/officeDocument/2006/docPropsVTypes"/>
</file>