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</a:t>
            </a:r>
          </a:p>
          <a:p>
            <a:pPr lvl="0" indent="0" marL="0">
              <a:buNone/>
            </a:pPr>
            <a:r>
              <a:rPr/>
              <a:t>Currently — [observed behavior, with frequency]</a:t>
            </a:r>
          </a:p>
          <a:p>
            <a:pPr lvl="0" indent="0" marL="0">
              <a:buNone/>
            </a:pPr>
            <a:r>
              <a:rPr/>
              <a:t>Which causes — [measurable consequence]</a:t>
            </a:r>
          </a:p>
          <a:p>
            <a:pPr lvl="0" indent="0" marL="0">
              <a:buNone/>
            </a:pPr>
            <a:r>
              <a:rPr/>
              <a:t>Because — [root cause, from 5 Whys]</a:t>
            </a:r>
          </a:p>
          <a:p>
            <a:pPr lvl="0" indent="0" marL="0">
              <a:buNone/>
            </a:pPr>
            <a:r>
              <a:rPr/>
              <a:t>We know this because — [evidence, tagged]</a:t>
            </a:r>
          </a:p>
          <a:p>
            <a:pPr lvl="0" indent="0" marL="0">
              <a:buNone/>
            </a:pPr>
            <a:r>
              <a:rPr/>
              <a:t>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</a:t>
            </a:r>
          </a:p>
          <a:p>
            <a:pPr lvl="0" indent="0" marL="0">
              <a:buNone/>
            </a:pPr>
            <a:r>
              <a:rPr/>
              <a:t>Currently — Spend an average of 45 minutes post-shift reconciling paper tickets, truck stock, and timecards (observed, 6 of 8 ride-alongs)</a:t>
            </a:r>
          </a:p>
          <a:p>
            <a:pPr lvl="0" indent="0" marL="0">
              <a:buNone/>
            </a:pPr>
            <a:r>
              <a:rPr/>
              <a:t>Which causes — ~3.75 unpaid hours per dispatcher per week and a measured 22% turnover in the role (reported, HR data from 3 customers)</a:t>
            </a:r>
          </a:p>
          <a:p>
            <a:pPr lvl="0" indent="0" marL="0">
              <a:buNone/>
            </a:pPr>
            <a:r>
              <a:rPr/>
              <a:t>Because — Ticket submission requires connectivity techs don’t have at the last job, so paper becomes the path of least resistance (5 Whys root)</a:t>
            </a:r>
          </a:p>
          <a:p>
            <a:pPr lvl="0" indent="0" marL="0">
              <a:buNone/>
            </a:pPr>
            <a:r>
              <a:rPr/>
              <a:t>We know this because — Observed 6 ride-alongs; Reported 4 interviews; Inferred turnover causality</a:t>
            </a:r>
          </a:p>
          <a:p>
            <a:pPr lvl="0" indent="0" marL="0">
              <a:buNone/>
            </a:pPr>
            <a:r>
              <a:rPr/>
              <a:t>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2026-05-16T00:37:50Z</dcterms:created>
  <dcterms:modified xsi:type="dcterms:W3CDTF">2026-05-16T00:37:50Z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