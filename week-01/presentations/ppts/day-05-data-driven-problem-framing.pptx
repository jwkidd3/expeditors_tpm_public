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5 is the integration day for Week 1. Every prior artifact — prompts, PR/FAQ, persona, pains — funnels into a single problem statement plus Friday-afternoon readouts.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introduce new frameworks today. The intellectual work is convergence, not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 cadence is heavier on readouts. The last 90 minutes is full-cohort time — hold the clock so every quad gets their full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six-line template is the day’s anchor. Don’t introduce competing frameworks — the discipline today is finishing one, not exploring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out: this is not a solution. It’s a framing that a solution can be designed against. Distinction matters in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through this live. Point to every evidence tier pill and trace it back to prior Week 1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Have participants read their draft out loud and spot-check against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Within-quad peer read (not cross-quad yet) catches the obvious stuff before Activity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brief is what makes the statement auditable. Frame: this is the artifact a director would skim before agreeing to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exact artifact shape that becomes a PRD input in Week 3. Make that connection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quads will want to have AI rewrite. Don’t let them — they’ll lose the thinking that makes the readout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“Open questions” section is a feature, not a bug. Its length signals humility.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Rehearsal is the most-skipped step in real PM life. Treat it as a non-negotiable today so the muscle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no-defend norm is hard but keeps readouts productive. Re-invoke it before each quad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“what I heard” test is the best rehearsal tool. If the partner’s one-sentence summary doesn’t match the intent, the readout has work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moment of Week 1. Keep clock-discipline tight: every quad gets the full window, and we never cut readout time for catch-up.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rubric is in the Week 1 README. Make sure every quad has it during readouts.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Facilitator keeps the clock tight. Going long on early quads squeezes later ones — unfair.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with thanks — Week 1 is the heaviest lift of the academy because it introduces the most new rituals.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the week with one sentence per person. The shift in mindset is the durable Week-1 outcome — name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Data-Driven Problem Framing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5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a problem statement an engineer can scope from</a:t>
            </a:r>
          </a:p>
          <a:p>
            <a:pPr lvl="0" indent="0" marL="0">
              <a:buNone/>
            </a:pPr>
            <a:r>
              <a:rPr/>
              <a:t>Build an evidence brief that pairs every claim with its tier and source</a:t>
            </a:r>
          </a:p>
          <a:p>
            <a:pPr lvl="0" indent="0" marL="0">
              <a:buNone/>
            </a:pPr>
            <a:r>
              <a:rPr/>
              <a:t>Use AI to pressure-test — not author — the problem statement</a:t>
            </a:r>
          </a:p>
          <a:p>
            <a:pPr lvl="0" indent="0" marL="0">
              <a:buNone/>
            </a:pPr>
            <a:r>
              <a:rPr/>
              <a:t>Present a 10-minute integrated Week 1 artifact to the full cohort</a:t>
            </a:r>
          </a:p>
          <a:p>
            <a:pPr lvl="0" indent="0" marL="0">
              <a:buNone/>
            </a:pPr>
            <a:r>
              <a:rPr/>
              <a:t>Set up the bridge to Week 2 (metrics + strategic design)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Review Week 1 artifact stack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Problem statement template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Evidence brief &amp; AI critique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Rehearsal + peer dry-run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Readouts + Wrap</a:t>
            </a:r>
          </a:p>
          <a:p>
            <a:pPr lvl="0" indent="0" marL="0">
              <a:buNone/>
            </a:pPr>
            <a:r>
              <a:rPr/>
              <a:t>Full-cohort presentations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Scoped, verb-led, evidence-backed, falsifiable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📌 The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— [persona role + context] Currently — [observed behavior, with frequency] Which causes — [measurable consequence] Because — [root cause, from 5 Whys] We know this because — [evidence, tagged] Success looks like — [the change we’d see if the problem is solved]</a:t>
            </a:r>
          </a:p>
          <a:p>
            <a:pPr lvl="0" indent="0" marL="0">
              <a:buNone/>
            </a:pPr>
            <a:r>
              <a:rPr/>
              <a:t>The last line is the one most problem statements skip. Without it, there’s no way to know when you’re done.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A FieldPulse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— Lead Dispatchers at 50–200 tech HVAC companies Currently — Spend an average of 45 minutes post-shift reconciling paper tickets, truck stock, and timecards (observed, 6 of 8 ride-alongs) Which causes — ~3.75 unpaid hours per dispatcher per week and a measured 22% turnover in the role (reported, HR data from 3 customers) Because — Ticket submission requires connectivity techs don’t have at the last job, so paper becomes the path of least resistance (5 Whys root) We know this because — Observed 6 ride-alongs; Reported 4 interviews; Inferred turnover causality Success looks like — Post-shift reconcile under 10 minutes for 80% of dispatchers within 6 months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Failure Modes of Problem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Sounds like</a:t>
            </a:r>
          </a:p>
          <a:p>
            <a:pPr lvl="0" indent="0" marL="0">
              <a:buNone/>
            </a:pPr>
            <a:r>
              <a:rPr/>
              <a:t>Why it’s weak</a:t>
            </a:r>
          </a:p>
          <a:p>
            <a:pPr lvl="0" indent="0" marL="0">
              <a:buNone/>
            </a:pPr>
            <a:r>
              <a:rPr/>
              <a:t>Solution in disguise</a:t>
            </a:r>
          </a:p>
          <a:p>
            <a:pPr lvl="0" indent="0" marL="0">
              <a:buNone/>
            </a:pPr>
            <a:r>
              <a:rPr/>
              <a:t>“Dispatchers need a mobile reconcile screen”</a:t>
            </a:r>
          </a:p>
          <a:p>
            <a:pPr lvl="0" indent="0" marL="0">
              <a:buNone/>
            </a:pPr>
            <a:r>
              <a:rPr/>
              <a:t>Pre-decides the how; not falsifiable</a:t>
            </a:r>
          </a:p>
          <a:p>
            <a:pPr lvl="0" indent="0" marL="0">
              <a:buNone/>
            </a:pPr>
            <a:r>
              <a:rPr/>
              <a:t>Consequence-free</a:t>
            </a:r>
          </a:p>
          <a:p>
            <a:pPr lvl="0" indent="0" marL="0">
              <a:buNone/>
            </a:pPr>
            <a:r>
              <a:rPr/>
              <a:t>“Dispatchers are frustrated with reconciliation”</a:t>
            </a:r>
          </a:p>
          <a:p>
            <a:pPr lvl="0" indent="0" marL="0">
              <a:buNone/>
            </a:pPr>
            <a:r>
              <a:rPr/>
              <a:t>No measurable cost; no way to prioritize</a:t>
            </a:r>
          </a:p>
          <a:p>
            <a:pPr lvl="0" indent="0" marL="0">
              <a:buNone/>
            </a:pPr>
            <a:r>
              <a:rPr/>
              <a:t>No root cause</a:t>
            </a:r>
          </a:p>
          <a:p>
            <a:pPr lvl="0" indent="0" marL="0">
              <a:buNone/>
            </a:pPr>
            <a:r>
              <a:rPr/>
              <a:t>“The process is inefficient”</a:t>
            </a:r>
          </a:p>
          <a:p>
            <a:pPr lvl="0" indent="0" marL="0">
              <a:buNone/>
            </a:pPr>
            <a:r>
              <a:rPr/>
              <a:t>Symptom, not mechanism</a:t>
            </a:r>
          </a:p>
          <a:p>
            <a:pPr lvl="0" indent="0" marL="0">
              <a:buNone/>
            </a:pPr>
            <a:r>
              <a:rPr/>
              <a:t>Ungrounded</a:t>
            </a:r>
          </a:p>
          <a:p>
            <a:pPr lvl="0" indent="0" marL="0">
              <a:buNone/>
            </a:pPr>
            <a:r>
              <a:rPr/>
              <a:t>“Customers tell us…”</a:t>
            </a:r>
          </a:p>
          <a:p>
            <a:pPr lvl="0" indent="0" marL="0">
              <a:buNone/>
            </a:pPr>
            <a:r>
              <a:rPr/>
              <a:t>No evidence tier; can’t be audited</a:t>
            </a:r>
          </a:p>
          <a:p>
            <a:pPr lvl="0" indent="0" marL="0">
              <a:buNone/>
            </a:pPr>
            <a:r>
              <a:rPr/>
              <a:t>Success-agnostic</a:t>
            </a:r>
          </a:p>
          <a:p>
            <a:pPr lvl="0" indent="0" marL="0">
              <a:buNone/>
            </a:pPr>
            <a:r>
              <a:rPr/>
              <a:t>Missing the last line</a:t>
            </a:r>
          </a:p>
          <a:p>
            <a:pPr lvl="0" indent="0" marL="0">
              <a:buNone/>
            </a:pPr>
            <a:r>
              <a:rPr/>
              <a:t>Can’t recognize solved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Draft Your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Using your Top 3 pain set and persona, draft a problem statement in the six-line template.</a:t>
            </a:r>
          </a:p>
          <a:p>
            <a:pPr lvl="0" indent="0" marL="0">
              <a:buNone/>
            </a:pPr>
            <a:r>
              <a:rPr/>
              <a:t>Start with the strongest pain from Day 4</a:t>
            </a:r>
          </a:p>
          <a:p>
            <a:pPr lvl="0" indent="0" marL="0">
              <a:buNone/>
            </a:pPr>
            <a:r>
              <a:rPr/>
              <a:t>Every line must survive the failure-mode table</a:t>
            </a:r>
          </a:p>
          <a:p>
            <a:pPr lvl="0" indent="0" marL="0">
              <a:buNone/>
            </a:pPr>
            <a:r>
              <a:rPr/>
              <a:t>Mark which evidence tier each claim uses</a:t>
            </a:r>
          </a:p>
          <a:p>
            <a:pPr lvl="0" indent="0" marL="0">
              <a:buNone/>
            </a:pPr>
            <a:r>
              <a:rPr/>
              <a:t>⏱ 20 min draft · 15 min failure-mode audit · 10 min peer-within-quad read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The Evidence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goes with the problem statement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Brief, One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persona — one paragraph from your Day 3 canvas</a:t>
            </a:r>
          </a:p>
          <a:p>
            <a:pPr lvl="0" indent="0" marL="0">
              <a:buNone/>
            </a:pPr>
            <a:r>
              <a:rPr/>
              <a:t>The pain map — your Day 4 matrix, with Top 3 highlighted</a:t>
            </a:r>
          </a:p>
          <a:p>
            <a:pPr lvl="0" indent="0" marL="0">
              <a:buNone/>
            </a:pPr>
            <a:r>
              <a:rPr/>
              <a:t>The problem statement — from Activity 1</a:t>
            </a:r>
          </a:p>
          <a:p>
            <a:pPr lvl="0" indent="0" marL="0">
              <a:buNone/>
            </a:pPr>
            <a:r>
              <a:rPr/>
              <a:t>The evidence log — each claim: source, date, tier, who captured it</a:t>
            </a:r>
          </a:p>
          <a:p>
            <a:pPr lvl="0" indent="0" marL="0">
              <a:buNone/>
            </a:pPr>
            <a:r>
              <a:rPr/>
              <a:t>The open questions — what you don’t yet know and plan to learn</a:t>
            </a:r>
          </a:p>
          <a:p>
            <a:pPr lvl="0" indent="0" marL="0">
              <a:buNone/>
            </a:pPr>
            <a:r>
              <a:rPr/>
              <a:t>The discipline: Every claim in the problem statement appears in the evidence log. Nothing floats unsupported.</a:t>
            </a:r>
          </a:p>
          <a:p>
            <a:pPr lvl="0" indent="0" marL="0">
              <a:buNone/>
            </a:pPr>
            <a:r>
              <a:rPr/>
              <a:t>This one-page brief is your Week 3 product requirements document (PRD) input.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AI as Pressure-Tester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Senior engineering lead reading a problem statement I intend to scope against.
Context: [paste problem statement + evidence log]
Constraints:
- Do not rewrite. Ask the questions you would ask me in a scoping meeting.
- Rank your questions by how much they'd change your estimate if unanswered.
- Flag any claim that is inferred or AI-generated that you'd want upgraded first.
Format: Numbered list of questions, ranked.
</a:t>
            </a:r>
          </a:p>
          <a:p>
            <a:pPr lvl="0" indent="0" marL="0">
              <a:buNone/>
            </a:pPr>
            <a:r>
              <a:rPr/>
              <a:t>Rule: AI can challenge the statement. AI does not get to write it. Ownership stays with the quad.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Pressure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Run the pressure-test prompt. Then, as a quad:</a:t>
            </a:r>
          </a:p>
          <a:p>
            <a:pPr lvl="0" indent="0" marL="0">
              <a:buNone/>
            </a:pPr>
            <a:r>
              <a:rPr/>
              <a:t>Answer every question you can from existing evidence</a:t>
            </a:r>
          </a:p>
          <a:p>
            <a:pPr lvl="0" indent="0" marL="0">
              <a:buNone/>
            </a:pPr>
            <a:r>
              <a:rPr/>
              <a:t>Add unresolved questions to “Open questions” in the brief</a:t>
            </a:r>
          </a:p>
          <a:p>
            <a:pPr lvl="0" indent="0" marL="0">
              <a:buNone/>
            </a:pPr>
            <a:r>
              <a:rPr/>
              <a:t>Upgrade or remove any claim that failed</a:t>
            </a:r>
          </a:p>
          <a:p>
            <a:pPr lvl="0" indent="0" marL="0">
              <a:buNone/>
            </a:pPr>
            <a:r>
              <a:rPr/>
              <a:t>⏱ 10 min run prompt · 30 min respond · 10 min revise brief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Rehearsal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 minutes, the right 10 minutes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The Readout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0:00 – 1:30 Persona (who, observed behavior, 1 quote)</a:t>
            </a:r>
          </a:p>
          <a:p>
            <a:pPr lvl="0" indent="0" marL="0">
              <a:buNone/>
            </a:pPr>
            <a:r>
              <a:rPr/>
              <a:t>1:30 – 3:30 Top 3 pains (matrix, one slide)</a:t>
            </a:r>
          </a:p>
          <a:p>
            <a:pPr lvl="0" indent="0" marL="0">
              <a:buNone/>
            </a:pPr>
            <a:r>
              <a:rPr/>
              <a:t>3:30 – 5:30 Problem statement (read it, one line at a time)</a:t>
            </a:r>
          </a:p>
          <a:p>
            <a:pPr lvl="0" indent="0" marL="0">
              <a:buNone/>
            </a:pPr>
            <a:r>
              <a:rPr/>
              <a:t>5:30 – 7:30 Evidence sample + open questions</a:t>
            </a:r>
          </a:p>
          <a:p>
            <a:pPr lvl="0" indent="0" marL="0">
              <a:buNone/>
            </a:pPr>
            <a:r>
              <a:rPr/>
              <a:t>7:30 – 10:00 Q&amp;A from room, questions only</a:t>
            </a:r>
          </a:p>
          <a:p>
            <a:pPr lvl="0" indent="0" marL="0">
              <a:buNone/>
            </a:pPr>
            <a:r>
              <a:rPr/>
              <a:t>Norm: Don’t defend in the Q&amp;A. Listen and note. You’ll act on the feedback in Week 2 pre-work.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Paired Dry-Run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quads • 50 minutes</a:t>
            </a:r>
          </a:p>
          <a:p>
            <a:pPr lvl="0" indent="0" marL="0">
              <a:buNone/>
            </a:pPr>
            <a:r>
              <a:rPr/>
              <a:t>Quads pair. Each does a full timed 10-minute readout to the other, with stopwatch.</a:t>
            </a:r>
          </a:p>
          <a:p>
            <a:pPr lvl="0" indent="0" marL="0">
              <a:buNone/>
            </a:pPr>
            <a:r>
              <a:rPr/>
              <a:t>Partner writes down the 3 questions they would ask in real Q&amp;A</a:t>
            </a:r>
          </a:p>
          <a:p>
            <a:pPr lvl="0" indent="0" marL="0">
              <a:buNone/>
            </a:pPr>
            <a:r>
              <a:rPr/>
              <a:t>Partner writes down 1 sentence of what they heard the problem to be</a:t>
            </a:r>
          </a:p>
          <a:p>
            <a:pPr lvl="0" indent="0" marL="0">
              <a:buNone/>
            </a:pPr>
            <a:r>
              <a:rPr/>
              <a:t>Compare that sentence to what the quad intended to convey</a:t>
            </a:r>
          </a:p>
          <a:p>
            <a:pPr lvl="0" indent="0" marL="0">
              <a:buNone/>
            </a:pPr>
            <a:r>
              <a:rPr/>
              <a:t>⏱ 10 min each direction · 30 min debrief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Cohort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 integrated artifact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How We Score (Reminder)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Customer authenticity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Pain specificity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Evidence quality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Problem statement clarity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AI-use transparency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Each quad gets a score sheet from every peer quad + the instructor. Scores plus one strength and one suggestion.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Week 1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Full cohort • 10 min per quad + 3 min score-sheet writing</a:t>
            </a:r>
          </a:p>
          <a:p>
            <a:pPr lvl="0" indent="0" marL="0">
              <a:buNone/>
            </a:pPr>
            <a:r>
              <a:rPr/>
              <a:t>Order is random (draw quad names). Between quads, a 3-minute quiet block for written feedback.</a:t>
            </a:r>
          </a:p>
          <a:p>
            <a:pPr lvl="0" indent="0" marL="0">
              <a:buNone/>
            </a:pPr>
            <a:r>
              <a:rPr/>
              <a:t>Presenting quad: follow the rehearsal structure</a:t>
            </a:r>
          </a:p>
          <a:p>
            <a:pPr lvl="0" indent="0" marL="0">
              <a:buNone/>
            </a:pPr>
            <a:r>
              <a:rPr/>
              <a:t>Audience quads: questions only, no defending</a:t>
            </a:r>
          </a:p>
          <a:p>
            <a:pPr lvl="0" indent="0" marL="0">
              <a:buNone/>
            </a:pPr>
            <a:r>
              <a:rPr/>
              <a:t>Everyone: written score + 1 strength + 1 suggestion</a:t>
            </a:r>
          </a:p>
          <a:p>
            <a:pPr lvl="0" indent="0" marL="0">
              <a:buNone/>
            </a:pPr>
            <a:r>
              <a:rPr/>
              <a:t>⏱ Plan ~80–90 min for 6 quads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 (five artifacts)</a:t>
            </a:r>
          </a:p>
          <a:p>
            <a:pPr lvl="0" indent="0" marL="0">
              <a:buNone/>
            </a:pPr>
            <a:r>
              <a:rPr/>
              <a:t>Prompt Pattern Library (quad)</a:t>
            </a:r>
          </a:p>
          <a:p>
            <a:pPr lvl="0" indent="0" marL="0">
              <a:buNone/>
            </a:pPr>
            <a:r>
              <a:rPr/>
              <a:t>PR/FAQ</a:t>
            </a:r>
          </a:p>
          <a:p>
            <a:pPr lvl="0" indent="0" marL="0">
              <a:buNone/>
            </a:pPr>
            <a:r>
              <a:rPr/>
              <a:t>Validated persona canvas</a:t>
            </a:r>
          </a:p>
          <a:p>
            <a:pPr lvl="0" indent="0" marL="0">
              <a:buNone/>
            </a:pPr>
            <a:r>
              <a:rPr/>
              <a:t>Ranked pain-point matrix</a:t>
            </a:r>
          </a:p>
          <a:p>
            <a:pPr lvl="0" indent="0" marL="0">
              <a:buNone/>
            </a:pPr>
            <a:r>
              <a:rPr/>
              <a:t>Problem statement + evidence brief</a:t>
            </a:r>
          </a:p>
          <a:p>
            <a:pPr lvl="0" indent="0" marL="0">
              <a:buNone/>
            </a:pPr>
            <a:r>
              <a:rPr/>
              <a:t>What Week 2 does with them</a:t>
            </a:r>
          </a:p>
          <a:p>
            <a:pPr lvl="0" indent="0" marL="0">
              <a:buNone/>
            </a:pPr>
            <a:r>
              <a:rPr/>
              <a:t>Problem statement → North Star metric</a:t>
            </a:r>
          </a:p>
          <a:p>
            <a:pPr lvl="0" indent="0" marL="0">
              <a:buNone/>
            </a:pPr>
            <a:r>
              <a:rPr/>
              <a:t>Pain map → operational signals &amp; key performance indicators (KPIs)</a:t>
            </a:r>
          </a:p>
          <a:p>
            <a:pPr lvl="0" indent="0" marL="0">
              <a:buNone/>
            </a:pPr>
            <a:r>
              <a:rPr/>
              <a:t>Persona → customer journey map</a:t>
            </a:r>
          </a:p>
          <a:p>
            <a:pPr lvl="0" indent="0" marL="0">
              <a:buNone/>
            </a:pPr>
            <a:r>
              <a:rPr/>
              <a:t>PR/FAQ → UX-principled re-framing</a:t>
            </a:r>
          </a:p>
          <a:p>
            <a:pPr lvl="0" indent="0" marL="0">
              <a:buNone/>
            </a:pPr>
            <a:r>
              <a:rPr/>
              <a:t>Weekend pre-read for Week 2: Re-read your problem statement. Bring 3 candidate metrics. Come curious about which one is the North Star.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sentence: what’s the mindset you’re taking into Week 2?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2026-08-12T22:03:40Z</dcterms:created>
  <dcterms:modified xsi:type="dcterms:W3CDTF">2026-08-12T22:03:40Z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