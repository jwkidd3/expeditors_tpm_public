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notesMaster" Target="notesMasters/notesMaster1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Day 1. The single most impactful Week-1 muscle to build is “prompting as a first-class PM skill.” Frame today as learning a new interface to knowledge work, not learning a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reset before content begins. Confirm any final logistics here, not mid-module.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objectives set up every other week — we’ll be using AI-augmented workflows through Week 8. Stress that we are building judgment, not worshipping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this table visible on the side monitor if possible. People orient better when they can see the whole day’s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reset into the first content block. Frame: we are not learning a chatbot — we are learning a probability machine that happens to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Ask: “Who has had an LLM confidently lie to them this month?” Most hands go up. Use that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“nothing” line is worth repeating at least three times during the week. It fights the most common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first collaborative exercise of the academy. Help triads discover differences — don’t pre-answer. The surprise that same question yields different answers is half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Transition from “what an LLM is” to “how to talk to it.” Set expectation: this is the scaffold every prompt the rest of the academy will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RCCF is the kernel. Many heavier frameworks (CRISPE, CO-STAR, etc.) are elaborations — don’t argue taxonomy, teach the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difference live if time permits. The shift from “give me X” to “here is what I know, here is the shape I want” is the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the self-critique prompt live. It’s the single highest-leverage follow-up a PM can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room. The common failure is under-specifying Constraints. Ask probing questions rather than fixing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to the concrete value: research, summarization, critique. The three uses we’ll come back to all academy.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rule: use AI to generate the questions you should ask a human or a primary source, not to answer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pattern is the foundation for the Week 2 “AI for research summaries” block. We plant it here so it’s rehearsed.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use that converts skeptics fastest. Encourage them to try it on an actual email or draft they have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activity produces artifacts the triads will actually reuse on Day 3 and Day 5. Make sure each triad keeps their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trust block is what separates juniors who use AI from seniors who use AI well. Spend the energy here — it carries into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four cover the vast majority of “AI got me in trouble” stories. Participants will recognize at least two from lived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table is the single most-referenced artifact of Week 1. You’ll see it again on Days 3, 4,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Collect these. They are the foundation artifact for Week 1 and should be referenced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Close with a 2-minute round-robin: each person says one thing they’ll stop doing with AI. Commits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Give participants 60 seconds of silence before inviting answers — the question lands better with a beat of 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🧠 AI Fundamentals &amp; Prompting for TPMs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1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Let’s Get Started!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Day 1 — AI Fundamentals &amp; Prompting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Describe what a large language model (LLM) can and cannot reliably do for a TPM</a:t>
            </a:r>
          </a:p>
          <a:p>
            <a:pPr lvl="0" indent="0" marL="0">
              <a:buNone/>
            </a:pPr>
            <a:r>
              <a:rPr/>
              <a:t>Apply four prompt patterns: Role, Context, Constraints, Format</a:t>
            </a:r>
          </a:p>
          <a:p>
            <a:pPr lvl="0" indent="0" marL="0">
              <a:buNone/>
            </a:pPr>
            <a:r>
              <a:rPr/>
              <a:t>Use AI to accelerate three recurring PM tasks: research, summarization, critique</a:t>
            </a:r>
          </a:p>
          <a:p>
            <a:pPr lvl="0" indent="0" marL="0">
              <a:buNone/>
            </a:pPr>
            <a:r>
              <a:rPr/>
              <a:t>Detect and recover from hallucination, grounding failures, and false confidence</a:t>
            </a:r>
          </a:p>
          <a:p>
            <a:pPr lvl="0" indent="0" marL="0">
              <a:buNone/>
            </a:pPr>
            <a:r>
              <a:rPr/>
              <a:t>Build a personal Prompt Pattern Library with your cohort triad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Meet your triad, ground the week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What LLMs actually are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Four prompt patterns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Three TPM uses of AI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Verification &amp; trust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an LLM Actually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Enough mental model to stop being surprised by it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The Only Mental Model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LLM is a very large statistical model of language that predicts the next token given everything before it. It is not a database. It is not a reasoner. It does not “know” things.</a:t>
            </a:r>
          </a:p>
          <a:p>
            <a:pPr lvl="0" indent="0" marL="0">
              <a:buNone/>
            </a:pPr>
            <a:r>
              <a:rPr/>
              <a:t>✅ It is good at</a:t>
            </a:r>
          </a:p>
          <a:p>
            <a:pPr lvl="0" indent="0" marL="0">
              <a:buNone/>
            </a:pPr>
            <a:r>
              <a:rPr/>
              <a:t>Rephrasing, summarizing, re-formatting</a:t>
            </a:r>
          </a:p>
          <a:p>
            <a:pPr lvl="0" indent="0" marL="0">
              <a:buNone/>
            </a:pPr>
            <a:r>
              <a:rPr/>
              <a:t>Pattern-completing from strong context</a:t>
            </a:r>
          </a:p>
          <a:p>
            <a:pPr lvl="0" indent="0" marL="0">
              <a:buNone/>
            </a:pPr>
            <a:r>
              <a:rPr/>
              <a:t>Drafting first passes quickly</a:t>
            </a:r>
          </a:p>
          <a:p>
            <a:pPr lvl="0" indent="0" marL="0">
              <a:buNone/>
            </a:pPr>
            <a:r>
              <a:rPr/>
              <a:t>Stress-testing your own writing</a:t>
            </a:r>
          </a:p>
          <a:p>
            <a:pPr lvl="0" indent="0" marL="0">
              <a:buNone/>
            </a:pPr>
            <a:r>
              <a:rPr/>
              <a:t>❌ It is bad at</a:t>
            </a:r>
          </a:p>
          <a:p>
            <a:pPr lvl="0" indent="0" marL="0">
              <a:buNone/>
            </a:pPr>
            <a:r>
              <a:rPr/>
              <a:t>Giving exact numbers or citations from memory</a:t>
            </a:r>
          </a:p>
          <a:p>
            <a:pPr lvl="0" indent="0" marL="0">
              <a:buNone/>
            </a:pPr>
            <a:r>
              <a:rPr/>
              <a:t>Saying “I don’t know”</a:t>
            </a:r>
          </a:p>
          <a:p>
            <a:pPr lvl="0" indent="0" marL="0">
              <a:buNone/>
            </a:pPr>
            <a:r>
              <a:rPr/>
              <a:t>Reasoning about novel constraints without being shown them</a:t>
            </a:r>
          </a:p>
          <a:p>
            <a:pPr lvl="0" indent="0" marL="0">
              <a:buNone/>
            </a:pPr>
            <a:r>
              <a:rPr/>
              <a:t>Telling you when it is wrong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🧠 Three Terms You Will Say Out 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Token</a:t>
            </a:r>
          </a:p>
          <a:p>
            <a:pPr lvl="0" indent="0" marL="0">
              <a:buNone/>
            </a:pPr>
            <a:r>
              <a:rPr/>
              <a:t>The unit the model reads and writes. Roughly ~4 characters of English. “Product” ≈ 1 token, “Dispatch” ≈ 1–2.</a:t>
            </a:r>
          </a:p>
          <a:p>
            <a:pPr lvl="0" indent="0" marL="0">
              <a:buNone/>
            </a:pPr>
            <a:r>
              <a:rPr/>
              <a:t>Context window</a:t>
            </a:r>
          </a:p>
          <a:p>
            <a:pPr lvl="0" indent="0" marL="0">
              <a:buNone/>
            </a:pPr>
            <a:r>
              <a:rPr/>
              <a:t>How many tokens the model can see in one call. Everything outside this window is invisible to it.</a:t>
            </a:r>
          </a:p>
          <a:p>
            <a:pPr lvl="0" indent="0" marL="0">
              <a:buNone/>
            </a:pPr>
            <a:r>
              <a:rPr/>
              <a:t>Temperature</a:t>
            </a:r>
          </a:p>
          <a:p>
            <a:pPr lvl="0" indent="0" marL="0">
              <a:buNone/>
            </a:pPr>
            <a:r>
              <a:rPr/>
              <a:t>A knob from deterministic (0) to creative (1+). PMs usually want low-to-mid for drafts, low for extraction.</a:t>
            </a:r>
          </a:p>
          <a:p>
            <a:pPr lvl="0" indent="0" marL="0">
              <a:buNone/>
            </a:pPr>
            <a:r>
              <a:rPr/>
              <a:t>PM implication: If the model can’t see it in the prompt, it’s guessing. Always ask yourself: “What does this model know about my product right now? Nothing.”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“Same Question, Three Models”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Each triad picks one open PM question (provided list of 10). Each member asks the same question to a different tool (ChatGPT, Claude, Gemini/Copilot).</a:t>
            </a:r>
          </a:p>
          <a:p>
            <a:pPr lvl="0" indent="0" marL="0">
              <a:buNone/>
            </a:pPr>
            <a:r>
              <a:rPr/>
              <a:t>Compare: Where do the answers agree? Diverge? Hallucinate?</a:t>
            </a:r>
          </a:p>
          <a:p>
            <a:pPr lvl="0" indent="0" marL="0">
              <a:buNone/>
            </a:pPr>
            <a:r>
              <a:rPr/>
              <a:t>Score each answer on usefulness, verifiability, risk if wrong</a:t>
            </a:r>
          </a:p>
          <a:p>
            <a:pPr lvl="0" indent="0" marL="0">
              <a:buNone/>
            </a:pPr>
            <a:r>
              <a:rPr/>
              <a:t>Prepare a 60-second readout: “We would trust X for Y, and never trust it for Z”</a:t>
            </a:r>
          </a:p>
          <a:p>
            <a:pPr lvl="0" indent="0" marL="0">
              <a:buNone/>
            </a:pPr>
            <a:r>
              <a:rPr/>
              <a:t>⏱ 10 min prompt · 15 min compare · 10 min write readout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Four Prompt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smallest scaffold that meaningfully improves output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RCCF Scaffold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time you ask an AI for non-trivial PM help, include four things: Role, Context, Constraints, Format.</a:t>
            </a:r>
          </a:p>
          <a:p>
            <a:pPr lvl="0" indent="0" marL="0">
              <a:buNone/>
            </a:pPr>
            <a:r>
              <a:rPr/>
              <a:t>Slot</a:t>
            </a:r>
          </a:p>
          <a:p>
            <a:pPr lvl="0" indent="0" marL="0">
              <a:buNone/>
            </a:pPr>
            <a:r>
              <a:rPr/>
              <a:t>Question it answers</a:t>
            </a:r>
          </a:p>
          <a:p>
            <a:pPr lvl="0" indent="0" marL="0">
              <a:buNone/>
            </a:pPr>
            <a:r>
              <a:rPr/>
              <a:t>PM example</a:t>
            </a:r>
          </a:p>
          <a:p>
            <a:pPr lvl="0" indent="0" marL="0">
              <a:buNone/>
            </a:pPr>
            <a:r>
              <a:rPr/>
              <a:t>Role</a:t>
            </a:r>
          </a:p>
          <a:p>
            <a:pPr lvl="0" indent="0" marL="0">
              <a:buNone/>
            </a:pPr>
            <a:r>
              <a:rPr/>
              <a:t>Who is talking?</a:t>
            </a:r>
          </a:p>
          <a:p>
            <a:pPr lvl="0" indent="0" marL="0">
              <a:buNone/>
            </a:pPr>
            <a:r>
              <a:rPr/>
              <a:t>“Act as a senior technical product manager reviewing a PRD”</a:t>
            </a:r>
          </a:p>
          <a:p>
            <a:pPr lvl="0" indent="0" marL="0">
              <a:buNone/>
            </a:pPr>
            <a:r>
              <a:rPr/>
              <a:t>Context</a:t>
            </a:r>
          </a:p>
          <a:p>
            <a:pPr lvl="0" indent="0" marL="0">
              <a:buNone/>
            </a:pPr>
            <a:r>
              <a:rPr/>
              <a:t>What does the model need to see?</a:t>
            </a:r>
          </a:p>
          <a:p>
            <a:pPr lvl="0" indent="0" marL="0">
              <a:buNone/>
            </a:pPr>
            <a:r>
              <a:rPr/>
              <a:t>User persona, the problem, prior attempts</a:t>
            </a:r>
          </a:p>
          <a:p>
            <a:pPr lvl="0" indent="0" marL="0">
              <a:buNone/>
            </a:pPr>
            <a:r>
              <a:rPr/>
              <a:t>Constraints</a:t>
            </a:r>
          </a:p>
          <a:p>
            <a:pPr lvl="0" indent="0" marL="0">
              <a:buNone/>
            </a:pPr>
            <a:r>
              <a:rPr/>
              <a:t>What must be true of the answer?</a:t>
            </a:r>
          </a:p>
          <a:p>
            <a:pPr lvl="0" indent="0" marL="0">
              <a:buNone/>
            </a:pPr>
            <a:r>
              <a:rPr/>
              <a:t>“Flag any claim that lacks evidence”</a:t>
            </a:r>
          </a:p>
          <a:p>
            <a:pPr lvl="0" indent="0" marL="0">
              <a:buNone/>
            </a:pPr>
            <a:r>
              <a:rPr/>
              <a:t>Format</a:t>
            </a:r>
          </a:p>
          <a:p>
            <a:pPr lvl="0" indent="0" marL="0">
              <a:buNone/>
            </a:pPr>
            <a:r>
              <a:rPr/>
              <a:t>What shape should it take?</a:t>
            </a:r>
          </a:p>
          <a:p>
            <a:pPr lvl="0" indent="0" marL="0">
              <a:buNone/>
            </a:pPr>
            <a:r>
              <a:rPr/>
              <a:t>“Markdown table with columns X, Y, Z”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📄 Before &amp;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Weak prompt</a:t>
            </a:r>
          </a:p>
          <a:p>
            <a:pPr lvl="0" indent="0" marL="0">
              <a:buNone/>
            </a:pPr>
            <a:r>
              <a:rPr/>
              <a:t>Output is generic, confident, un-grounded, un-actionable.</a:t>
            </a:r>
          </a:p>
          <a:p>
            <a:pPr lvl="0" indent="0" marL="0">
              <a:buNone/>
            </a:pPr>
            <a:r>
              <a:rPr/>
              <a:t>✅ Scaffolded prompt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Prompting is a Dialogue, Not a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pass: RCCF scaffold</a:t>
            </a:r>
          </a:p>
          <a:p>
            <a:pPr lvl="0" indent="0" marL="0">
              <a:buNone/>
            </a:pPr>
            <a:r>
              <a:rPr/>
              <a:t>Second pass: “Critique the above as if you were a skeptical engineer”</a:t>
            </a:r>
          </a:p>
          <a:p>
            <a:pPr lvl="0" indent="0" marL="0">
              <a:buNone/>
            </a:pPr>
            <a:r>
              <a:rPr/>
              <a:t>Third pass: “Now rewrite it, addressing those critiques”</a:t>
            </a:r>
          </a:p>
          <a:p>
            <a:pPr lvl="0" indent="0" marL="0">
              <a:buNone/>
            </a:pPr>
            <a:r>
              <a:rPr/>
              <a:t>Always: “What in this answer are you least confident about?”</a:t>
            </a:r>
          </a:p>
          <a:p>
            <a:pPr lvl="0" indent="0" marL="0">
              <a:buNone/>
            </a:pPr>
            <a:r>
              <a:rPr/>
              <a:t>Caution: The model will happily invent critiques too. Your judgment is what converts dialogue into value.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Rewrite This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triad receives three weak prompts taken from the FieldPulse backlog. Rewrite each one using RCCF, then run the original and the rewrite side-by-side.</a:t>
            </a:r>
          </a:p>
          <a:p>
            <a:pPr lvl="0" indent="0" marL="0">
              <a:buNone/>
            </a:pPr>
            <a:r>
              <a:rPr/>
              <a:t>Capture: What changed in the output? What did not change?</a:t>
            </a:r>
          </a:p>
          <a:p>
            <a:pPr lvl="0" indent="0" marL="0">
              <a:buNone/>
            </a:pPr>
            <a:r>
              <a:rPr/>
              <a:t>Add one prompt to your triad’s Prompt Pattern Library</a:t>
            </a:r>
          </a:p>
          <a:p>
            <a:pPr lvl="0" indent="0" marL="0">
              <a:buNone/>
            </a:pPr>
            <a:r>
              <a:rPr/>
              <a:t>Star the prompt your triad would actually reuse on Monday morning</a:t>
            </a:r>
          </a:p>
          <a:p>
            <a:pPr lvl="0" indent="0" marL="0">
              <a:buNone/>
            </a:pPr>
            <a:r>
              <a:rPr/>
              <a:t>⏱ 15 min rewrite · 15 min run · 10 min library entry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Three Recurring TPM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AI actually earns its seat at the table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🔍 Use 1 — Accelerated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job: Quickly build context about an unfamiliar domain, user group, or competitor landscape — enough to ask smart questions, not to ship decisions.</a:t>
            </a:r>
          </a:p>
          <a:p>
            <a:pPr lvl="0" indent="0" marL="0">
              <a:buNone/>
            </a:pPr>
            <a:r>
              <a:rPr/>
              <a:t>✅ Good fit</a:t>
            </a:r>
          </a:p>
          <a:p>
            <a:pPr lvl="0" indent="0" marL="0">
              <a:buNone/>
            </a:pPr>
            <a:r>
              <a:rPr/>
              <a:t>“Explain HVAC dispatcher workflows to me in the language they’d use”</a:t>
            </a:r>
          </a:p>
          <a:p>
            <a:pPr lvl="0" indent="0" marL="0">
              <a:buNone/>
            </a:pPr>
            <a:r>
              <a:rPr/>
              <a:t>“What are five things I might be naive about here?”</a:t>
            </a:r>
          </a:p>
          <a:p>
            <a:pPr lvl="0" indent="0" marL="0">
              <a:buNone/>
            </a:pPr>
            <a:r>
              <a:rPr/>
              <a:t>“Give me five search queries that will find primary-source material”</a:t>
            </a:r>
          </a:p>
          <a:p>
            <a:pPr lvl="0" indent="0" marL="0">
              <a:buNone/>
            </a:pPr>
            <a:r>
              <a:rPr/>
              <a:t>❌ Bad fit</a:t>
            </a:r>
          </a:p>
          <a:p>
            <a:pPr lvl="0" indent="0" marL="0">
              <a:buNone/>
            </a:pPr>
            <a:r>
              <a:rPr/>
              <a:t>“What is the market size of dispatch software?” (will hallucinate)</a:t>
            </a:r>
          </a:p>
          <a:p>
            <a:pPr lvl="0" indent="0" marL="0">
              <a:buNone/>
            </a:pPr>
            <a:r>
              <a:rPr/>
              <a:t>“Who is the leader?” (outdated and confident)</a:t>
            </a:r>
          </a:p>
          <a:p>
            <a:pPr lvl="0" indent="0" marL="0">
              <a:buNone/>
            </a:pPr>
            <a:r>
              <a:rPr/>
              <a:t>“Cite a study that proves…” (fabricated citations)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Use 2 — Summarization with Evidence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feed a model a transcript, survey, or support-ticket batch, ask it to tag each claim with where in the source it came from. Unsourced claims are the ones to interrogate.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Use 3 — Self-Critique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sharing a product requirements document (PRD), persona, or problem statement, run a structured critique pass:</a:t>
            </a:r>
          </a:p>
          <a:p>
            <a:pPr lvl="0" indent="0" marL="0">
              <a:buNone/>
            </a:pPr>
            <a:r>
              <a:rPr/>
              <a:t>“Read the following as a skeptical engineer. What three questions will you ask me first?”</a:t>
            </a:r>
          </a:p>
          <a:p>
            <a:pPr lvl="0" indent="0" marL="0">
              <a:buNone/>
            </a:pPr>
            <a:r>
              <a:rPr/>
              <a:t>“Read the following as the stakeholder who most often blocks launches here. What objection worries me most?”</a:t>
            </a:r>
          </a:p>
          <a:p>
            <a:pPr lvl="0" indent="0" marL="0">
              <a:buNone/>
            </a:pPr>
            <a:r>
              <a:rPr/>
              <a:t>“Read the following as the customer in the persona. Where does it not ring true?”</a:t>
            </a:r>
          </a:p>
          <a:p>
            <a:pPr lvl="0" indent="0" marL="0">
              <a:buNone/>
            </a:pPr>
            <a:r>
              <a:rPr/>
              <a:t>Why it works: You get three perspectives in five minutes without socializing a half-baked draft with real people.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The Three Hats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triad takes the FieldPulse one-paragraph problem brief (provided). Using AI, run it through three critique hats: Engineer, Blocker-stakeholder, Target customer.</a:t>
            </a:r>
          </a:p>
          <a:p>
            <a:pPr lvl="0" indent="0" marL="0">
              <a:buNone/>
            </a:pPr>
            <a:r>
              <a:rPr/>
              <a:t>Capture the single most uncomfortable question each hat raised</a:t>
            </a:r>
          </a:p>
          <a:p>
            <a:pPr lvl="0" indent="0" marL="0">
              <a:buNone/>
            </a:pPr>
            <a:r>
              <a:rPr/>
              <a:t>Decide which one your triad cannot answer yet — that becomes your Day 3 research question</a:t>
            </a:r>
          </a:p>
          <a:p>
            <a:pPr lvl="0" indent="0" marL="0">
              <a:buNone/>
            </a:pPr>
            <a:r>
              <a:rPr/>
              <a:t>⏱ 10 min each hat · 10 min synthesize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Verification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grown-up TPMs use AI without being fooled by it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The Four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What it looks like</a:t>
            </a:r>
          </a:p>
          <a:p>
            <a:pPr lvl="0" indent="0" marL="0">
              <a:buNone/>
            </a:pPr>
            <a:r>
              <a:rPr/>
              <a:t>Mitigation</a:t>
            </a:r>
          </a:p>
          <a:p>
            <a:pPr lvl="0" indent="0" marL="0">
              <a:buNone/>
            </a:pPr>
            <a:r>
              <a:rPr/>
              <a:t>Hallucination</a:t>
            </a:r>
          </a:p>
          <a:p>
            <a:pPr lvl="0" indent="0" marL="0">
              <a:buNone/>
            </a:pPr>
            <a:r>
              <a:rPr/>
              <a:t>Confident fabricated facts, citations, APIs</a:t>
            </a:r>
          </a:p>
          <a:p>
            <a:pPr lvl="0" indent="0" marL="0">
              <a:buNone/>
            </a:pPr>
            <a:r>
              <a:rPr/>
              <a:t>Treat outputs as leads, not sources. Verify numerics &amp; names manually.</a:t>
            </a:r>
          </a:p>
          <a:p>
            <a:pPr lvl="0" indent="0" marL="0">
              <a:buNone/>
            </a:pPr>
            <a:r>
              <a:rPr/>
              <a:t>Context starvation</a:t>
            </a:r>
          </a:p>
          <a:p>
            <a:pPr lvl="0" indent="0" marL="0">
              <a:buNone/>
            </a:pPr>
            <a:r>
              <a:rPr/>
              <a:t>Plausible but generic answer</a:t>
            </a:r>
          </a:p>
          <a:p>
            <a:pPr lvl="0" indent="0" marL="0">
              <a:buNone/>
            </a:pPr>
            <a:r>
              <a:rPr/>
              <a:t>Add Role + Context explicitly. Paste in the source material.</a:t>
            </a:r>
          </a:p>
          <a:p>
            <a:pPr lvl="0" indent="0" marL="0">
              <a:buNone/>
            </a:pPr>
            <a:r>
              <a:rPr/>
              <a:t>Sycophancy</a:t>
            </a:r>
          </a:p>
          <a:p>
            <a:pPr lvl="0" indent="0" marL="0">
              <a:buNone/>
            </a:pPr>
            <a:r>
              <a:rPr/>
              <a:t>Agrees with whatever premise you give</a:t>
            </a:r>
          </a:p>
          <a:p>
            <a:pPr lvl="0" indent="0" marL="0">
              <a:buNone/>
            </a:pPr>
            <a:r>
              <a:rPr/>
              <a:t>Ask for counter-arguments and rank them by strength.</a:t>
            </a:r>
          </a:p>
          <a:p>
            <a:pPr lvl="0" indent="0" marL="0">
              <a:buNone/>
            </a:pPr>
            <a:r>
              <a:rPr/>
              <a:t>Anchoring</a:t>
            </a:r>
          </a:p>
          <a:p>
            <a:pPr lvl="0" indent="0" marL="0">
              <a:buNone/>
            </a:pPr>
            <a:r>
              <a:rPr/>
              <a:t>Your framing shapes its output</a:t>
            </a:r>
          </a:p>
          <a:p>
            <a:pPr lvl="0" indent="0" marL="0">
              <a:buNone/>
            </a:pPr>
            <a:r>
              <a:rPr/>
              <a:t>Ask for the opposite position as a second turn.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🔢 Evidence Tiers (we’ll use this all week)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write something down — persona traits, pain points, problem statements — tag each claim with its evidence tier so reviewers can calibrate trust.</a:t>
            </a:r>
          </a:p>
          <a:p>
            <a:pPr lvl="0" indent="0" marL="0">
              <a:buNone/>
            </a:pPr>
            <a:r>
              <a:rPr/>
              <a:t>Tier</a:t>
            </a:r>
          </a:p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Trust</a:t>
            </a:r>
          </a:p>
          <a:p>
            <a:pPr lvl="0" indent="0" marL="0">
              <a:buNone/>
            </a:pPr>
            <a:r>
              <a:rPr/>
              <a:t>Observed</a:t>
            </a:r>
          </a:p>
          <a:p>
            <a:pPr lvl="0" indent="0" marL="0">
              <a:buNone/>
            </a:pPr>
            <a:r>
              <a:rPr/>
              <a:t>You watched it happen, or recorded data shows it</a:t>
            </a:r>
          </a:p>
          <a:p>
            <a:pPr lvl="0" indent="0" marL="0">
              <a:buNone/>
            </a:pPr>
            <a:r>
              <a:rPr/>
              <a:t>High</a:t>
            </a:r>
          </a:p>
          <a:p>
            <a:pPr lvl="0" indent="0" marL="0">
              <a:buNone/>
            </a:pPr>
            <a:r>
              <a:rPr/>
              <a:t>Reported</a:t>
            </a:r>
          </a:p>
          <a:p>
            <a:pPr lvl="0" indent="0" marL="0">
              <a:buNone/>
            </a:pPr>
            <a:r>
              <a:rPr/>
              <a:t>A user said it in an interview or ticket</a:t>
            </a:r>
          </a:p>
          <a:p>
            <a:pPr lvl="0" indent="0" marL="0">
              <a:buNone/>
            </a:pPr>
            <a:r>
              <a:rPr/>
              <a:t>Medium</a:t>
            </a:r>
          </a:p>
          <a:p>
            <a:pPr lvl="0" indent="0" marL="0">
              <a:buNone/>
            </a:pPr>
            <a:r>
              <a:rPr/>
              <a:t>Inferred</a:t>
            </a:r>
          </a:p>
          <a:p>
            <a:pPr lvl="0" indent="0" marL="0">
              <a:buNone/>
            </a:pPr>
            <a:r>
              <a:rPr/>
              <a:t>You deduced it from related evidence</a:t>
            </a:r>
          </a:p>
          <a:p>
            <a:pPr lvl="0" indent="0" marL="0">
              <a:buNone/>
            </a:pPr>
            <a:r>
              <a:rPr/>
              <a:t>Low</a:t>
            </a:r>
          </a:p>
          <a:p>
            <a:pPr lvl="0" indent="0" marL="0">
              <a:buNone/>
            </a:pPr>
            <a:r>
              <a:rPr/>
              <a:t>AI-generated</a:t>
            </a:r>
          </a:p>
          <a:p>
            <a:pPr lvl="0" indent="0" marL="0">
              <a:buNone/>
            </a:pPr>
            <a:r>
              <a:rPr/>
              <a:t>A model produced it — not yet validated</a:t>
            </a:r>
          </a:p>
          <a:p>
            <a:pPr lvl="0" indent="0" marL="0">
              <a:buNone/>
            </a:pPr>
            <a:r>
              <a:rPr/>
              <a:t>Lowest; must be upgraded before use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Prompt Pattern Library (Publish)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Readouts</a:t>
            </a:r>
          </a:p>
          <a:p>
            <a:pPr lvl="0" indent="0" marL="0">
              <a:buNone/>
            </a:pPr>
            <a:r>
              <a:rPr/>
              <a:t>Each triad finalizes a shared Prompt Pattern Library for use the rest of the academy. Minimum four entries:</a:t>
            </a:r>
          </a:p>
          <a:p>
            <a:pPr lvl="0" indent="0" marL="0">
              <a:buNone/>
            </a:pPr>
            <a:r>
              <a:rPr/>
              <a:t>One Research prompt</a:t>
            </a:r>
          </a:p>
          <a:p>
            <a:pPr lvl="0" indent="0" marL="0">
              <a:buNone/>
            </a:pPr>
            <a:r>
              <a:rPr/>
              <a:t>One Summarization-with-evidence prompt</a:t>
            </a:r>
          </a:p>
          <a:p>
            <a:pPr lvl="0" indent="0" marL="0">
              <a:buNone/>
            </a:pPr>
            <a:r>
              <a:rPr/>
              <a:t>One Critique-hat prompt</a:t>
            </a:r>
          </a:p>
          <a:p>
            <a:pPr lvl="0" indent="0" marL="0">
              <a:buNone/>
            </a:pPr>
            <a:r>
              <a:rPr/>
              <a:t>One “Where could you be wrong?” prompt</a:t>
            </a:r>
          </a:p>
          <a:p>
            <a:pPr lvl="0" indent="0" marL="0">
              <a:buNone/>
            </a:pPr>
            <a:r>
              <a:rPr/>
              <a:t>⏱ 25 min draft · 10 min test · 10 min triad readout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 mental model of what an LLM is (and isn’t)</a:t>
            </a:r>
          </a:p>
          <a:p>
            <a:pPr lvl="0" indent="0" marL="0">
              <a:buNone/>
            </a:pPr>
            <a:r>
              <a:rPr/>
              <a:t>The RCCF prompt scaffold</a:t>
            </a:r>
          </a:p>
          <a:p>
            <a:pPr lvl="0" indent="0" marL="0">
              <a:buNone/>
            </a:pPr>
            <a:r>
              <a:rPr/>
              <a:t>Three reusable TPM uses: research, summarization, critique</a:t>
            </a:r>
          </a:p>
          <a:p>
            <a:pPr lvl="0" indent="0" marL="0">
              <a:buNone/>
            </a:pPr>
            <a:r>
              <a:rPr/>
              <a:t>A Prompt Pattern Library per triad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Working Backwards — we write the press release before the product</a:t>
            </a:r>
          </a:p>
          <a:p>
            <a:pPr lvl="0" indent="0" marL="0">
              <a:buNone/>
            </a:pPr>
            <a:r>
              <a:rPr/>
              <a:t>Your triad will use today’s prompts to draft and critique your first PR/FAQ</a:t>
            </a:r>
          </a:p>
          <a:p>
            <a:pPr lvl="0" indent="0" marL="0">
              <a:buNone/>
            </a:pPr>
            <a:r>
              <a:rPr/>
              <a:t>Bring to Day 2: Your triad’s Prompt Pattern Library + one domain you’d like to draft a Working-Backwards PR for.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you leave: what’s the one prompt you’ll use tomorrow morning?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2026-07-27T15:19:10Z</dcterms:created>
  <dcterms:modified xsi:type="dcterms:W3CDTF">2026-07-27T15:19:10Z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