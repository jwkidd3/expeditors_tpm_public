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notesMaster" Target="notesMasters/notesMaster1.xml" /><Relationship Id="rId26" Type="http://schemas.openxmlformats.org/officeDocument/2006/relationships/viewProps" Target="viewProps.xml" /><Relationship Id="rId2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8" Type="http://schemas.openxmlformats.org/officeDocument/2006/relationships/tableStyles" Target="tableStyles.xml" /><Relationship Id="rId27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Yesterday we built prompting muscle. Today we use it to draft, critique, and iterate a PR/FAQ — Amazon’s forcing function for customer clarity.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Stress the word “forcing function.” The PR/FAQ is not decoration; it exposes what you don’t understand.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Surface the day’s arc: build the PR/FAQ, then critique it twice. The cross-triad review is the highlight; budget time accordingly.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Set the frame: we are not learning a template, we are learning a posture — write the customer outcome first, decide whether to build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common pushback: “Isn’t this just fiction?” Yes — and that’s the point. Fiction you can stress-test is cheaper than code you can’t unship.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don’t need to romanticize Amazon. The method is the method, regardless of origin.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the debrief to surface disagreement. The “misleading” vignettes are the best teachers.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Move from “why” to “what.” Tell the cohort that every section in the structure earns its place by exposing a specific weakness in thinking.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customer quote is the single most diagnostic section. If it sounds like marketing, the problem is marketing.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Walk through this line by line. Note: benefit is time (quantified), not “efficiency.” Pain is named concretely. Customer speaks in customer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Internal FAQ is where senior reviewers probe. Participants should expect most of their review critique to land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third question usually kills the favorite draft. That’s a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five questions are the lens we’ll bring to the next two days. If a triad nails them today, the persona and pain-point work later this week comes faster.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Anchor on question 4 — that’s where Day 1’s evidence tiers re-enter. Make sure participants make the connection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the checklist triads will use in Activity 4 to critique each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Walk the room looking for benefit bouquets and generic customers — most common two failures.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block is doubly load-bearing: it teaches the critique protocol and gives triads their first cross-triad exchange of the academy. Hold the protocol tightly.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protocol reappears in Week 3 during the mini-capstone review. Teach it well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Don’t let triads skip the “what we left” moment in the protocol. Declining feedback thoughtfully is a PM skill.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Close with: “Your PR/FAQ is only as good as the persona it imagines. Tomorrow we pressure-test it.”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Closing reflection. Encourage a one-sentence answer from each triad — the answer often points at the persona work coming tomorrow.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📄 Working Backwards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1 • Day 2 • Customer-Centric Foundations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Technical Product Manager Academy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Day 2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Explain why Working Backwards out-performs feature-first planning</a:t>
            </a:r>
          </a:p>
          <a:p>
            <a:pPr lvl="0" indent="0" marL="0">
              <a:buNone/>
            </a:pPr>
            <a:r>
              <a:rPr/>
              <a:t>Structure and draft a one-page PR/FAQ for a product idea</a:t>
            </a:r>
          </a:p>
          <a:p>
            <a:pPr lvl="0" indent="0" marL="0">
              <a:buNone/>
            </a:pPr>
            <a:r>
              <a:rPr/>
              <a:t>Answer the Five Customer Questions concretely, not aspirationally</a:t>
            </a:r>
          </a:p>
          <a:p>
            <a:pPr lvl="0" indent="0" marL="0">
              <a:buNone/>
            </a:pPr>
            <a:r>
              <a:rPr/>
              <a:t>Apply Day 1 prompts to accelerate PR/FAQ drafting and critique</a:t>
            </a:r>
          </a:p>
          <a:p>
            <a:pPr lvl="0" indent="0" marL="0">
              <a:buNone/>
            </a:pPr>
            <a:r>
              <a:rPr/>
              <a:t>Run a structured peer critique of another triad’s PR/FAQ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🕑 Today’s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</a:t>
            </a:r>
          </a:p>
          <a:p>
            <a:pPr lvl="0" indent="0" marL="0">
              <a:buNone/>
            </a:pPr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Outcome</a:t>
            </a:r>
          </a:p>
          <a:p>
            <a:pPr lvl="0" indent="0" marL="0">
              <a:buNone/>
            </a:pPr>
            <a:r>
              <a:rPr/>
              <a:t>09:00 – 09:15</a:t>
            </a:r>
          </a:p>
          <a:p>
            <a:pPr lvl="0" indent="0" marL="0">
              <a:buNone/>
            </a:pPr>
            <a:r>
              <a:rPr/>
              <a:t>Opening</a:t>
            </a:r>
          </a:p>
          <a:p>
            <a:pPr lvl="0" indent="0" marL="0">
              <a:buNone/>
            </a:pPr>
            <a:r>
              <a:rPr/>
              <a:t>Recap Day 1, set up FieldPulse stretch case</a:t>
            </a:r>
          </a:p>
          <a:p>
            <a:pPr lvl="0" indent="0" marL="0">
              <a:buNone/>
            </a:pPr>
            <a:r>
              <a:rPr/>
              <a:t>09:15 – 10:30</a:t>
            </a:r>
          </a:p>
          <a:p>
            <a:pPr lvl="0" indent="0" marL="0">
              <a:buNone/>
            </a:pPr>
            <a:r>
              <a:rPr/>
              <a:t>Block 1 + Activity 1</a:t>
            </a:r>
          </a:p>
          <a:p>
            <a:pPr lvl="0" indent="0" marL="0">
              <a:buNone/>
            </a:pPr>
            <a:r>
              <a:rPr/>
              <a:t>Forward vs Backward thinking</a:t>
            </a:r>
          </a:p>
          <a:p>
            <a:pPr lvl="0" indent="0" marL="0">
              <a:buNone/>
            </a:pPr>
            <a:r>
              <a:rPr/>
              <a:t>10:45 – 12:00</a:t>
            </a:r>
          </a:p>
          <a:p>
            <a:pPr lvl="0" indent="0" marL="0">
              <a:buNone/>
            </a:pPr>
            <a:r>
              <a:rPr/>
              <a:t>Block 2 + Activity 2</a:t>
            </a:r>
          </a:p>
          <a:p>
            <a:pPr lvl="0" indent="0" marL="0">
              <a:buNone/>
            </a:pPr>
            <a:r>
              <a:rPr/>
              <a:t>PR/FAQ structure, headline drafting</a:t>
            </a:r>
          </a:p>
          <a:p>
            <a:pPr lvl="0" indent="0" marL="0">
              <a:buNone/>
            </a:pPr>
            <a:r>
              <a:rPr/>
              <a:t>13:00 – 14:15</a:t>
            </a:r>
          </a:p>
          <a:p>
            <a:pPr lvl="0" indent="0" marL="0">
              <a:buNone/>
            </a:pPr>
            <a:r>
              <a:rPr/>
              <a:t>Block 3 + Activity 3</a:t>
            </a:r>
          </a:p>
          <a:p>
            <a:pPr lvl="0" indent="0" marL="0">
              <a:buNone/>
            </a:pPr>
            <a:r>
              <a:rPr/>
              <a:t>The Five Customer Questions</a:t>
            </a:r>
          </a:p>
          <a:p>
            <a:pPr lvl="0" indent="0" marL="0">
              <a:buNone/>
            </a:pPr>
            <a:r>
              <a:rPr/>
              <a:t>14:30 – 16:00</a:t>
            </a:r>
          </a:p>
          <a:p>
            <a:pPr lvl="0" indent="0" marL="0">
              <a:buNone/>
            </a:pPr>
            <a:r>
              <a:rPr/>
              <a:t>Block 4 + Activity 4 + Readouts</a:t>
            </a:r>
          </a:p>
          <a:p>
            <a:pPr lvl="0" indent="0" marL="0">
              <a:buNone/>
            </a:pPr>
            <a:r>
              <a:rPr/>
              <a:t>Peer critique + revision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1 — Why Work Backwards?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feature factory problem and the fix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🚨 The Feature Factory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❌ Forward-built product</a:t>
            </a:r>
          </a:p>
          <a:p>
            <a:pPr lvl="0" indent="0" marL="0">
              <a:buNone/>
            </a:pPr>
            <a:r>
              <a:rPr/>
              <a:t>Idea → spec → build → ship</a:t>
            </a:r>
          </a:p>
          <a:p>
            <a:pPr lvl="0" indent="0" marL="0">
              <a:buNone/>
            </a:pPr>
            <a:r>
              <a:rPr/>
              <a:t>“Customer value” asserted, not tested</a:t>
            </a:r>
          </a:p>
          <a:p>
            <a:pPr lvl="0" indent="0" marL="0">
              <a:buNone/>
            </a:pPr>
            <a:r>
              <a:rPr/>
              <a:t>Launch reveals whether it was needed</a:t>
            </a:r>
          </a:p>
          <a:p>
            <a:pPr lvl="0" indent="0" marL="0">
              <a:buNone/>
            </a:pPr>
            <a:r>
              <a:rPr/>
              <a:t>Re-work paid for in production</a:t>
            </a:r>
          </a:p>
          <a:p>
            <a:pPr lvl="0" indent="0" marL="0">
              <a:buNone/>
            </a:pPr>
            <a:r>
              <a:rPr/>
              <a:t>✅ Backward-built product</a:t>
            </a:r>
          </a:p>
          <a:p>
            <a:pPr lvl="0" indent="0" marL="0">
              <a:buNone/>
            </a:pPr>
            <a:r>
              <a:rPr/>
              <a:t>Imagine the launch → write the PR → answer the FAQ</a:t>
            </a:r>
          </a:p>
          <a:p>
            <a:pPr lvl="0" indent="0" marL="0">
              <a:buNone/>
            </a:pPr>
            <a:r>
              <a:rPr/>
              <a:t>Customer value is written down first</a:t>
            </a:r>
          </a:p>
          <a:p>
            <a:pPr lvl="0" indent="0" marL="0">
              <a:buNone/>
            </a:pPr>
            <a:r>
              <a:rPr/>
              <a:t>If the PR is weak, the product is weak</a:t>
            </a:r>
          </a:p>
          <a:p>
            <a:pPr lvl="0" indent="0" marL="0">
              <a:buNone/>
            </a:pPr>
            <a:r>
              <a:rPr/>
              <a:t>Re-work paid for in writing</a:t>
            </a:r>
          </a:p>
          <a:p>
            <a:pPr lvl="0" indent="0" marL="0">
              <a:buNone/>
            </a:pPr>
            <a:r>
              <a:rPr/>
              <a:t>The shift: We do not use documents to plan what we’ll build. We use them to decide whether to build at all.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💡 Where Working Backwards Came From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Amazon formalized the PR/FAQ process in the early 2000s. Teams wrote a press release before the product existed, answered the FAQs an exec would ask, and used the document as the meeting agenda for “should we do this?”</a:t>
            </a:r>
          </a:p>
          <a:p>
            <a:pPr lvl="0" indent="0" marL="0">
              <a:buNone/>
            </a:pPr>
            <a:r>
              <a:rPr/>
              <a:t>Why it spread: It reliably kills weak ideas early, surfaces the hard questions on paper (where answers are cheap), and forces alignment before a single engineer is staffed.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1 — Forward or Backward?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30 minutes</a:t>
            </a:r>
          </a:p>
          <a:p>
            <a:pPr lvl="0" indent="0" marL="0">
              <a:buNone/>
            </a:pPr>
            <a:r>
              <a:rPr/>
              <a:t>Each triad receives 4 short vignettes describing how a real (anonymized) product was conceived. Decide: was this forward-built or backward-built? What’s the evidence?</a:t>
            </a:r>
          </a:p>
          <a:p>
            <a:pPr lvl="0" indent="0" marL="0">
              <a:buNone/>
            </a:pPr>
            <a:r>
              <a:rPr/>
              <a:t>Two of the four are misleading — read carefully</a:t>
            </a:r>
          </a:p>
          <a:p>
            <a:pPr lvl="0" indent="0" marL="0">
              <a:buNone/>
            </a:pPr>
            <a:r>
              <a:rPr/>
              <a:t>For each, write the one question that, if asked earlier, would have changed the outcome</a:t>
            </a:r>
          </a:p>
          <a:p>
            <a:pPr lvl="0" indent="0" marL="0">
              <a:buNone/>
            </a:pPr>
            <a:r>
              <a:rPr/>
              <a:t>⏱ 15 min analyze · 15 min full-room debrief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2 — The PR/FAQ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Anatomy of the document that kills bad ideas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📃 One-Page PR — Six Parts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#</a:t>
            </a:r>
          </a:p>
          <a:p>
            <a:pPr lvl="0" indent="0" marL="0">
              <a:buNone/>
            </a:pPr>
            <a:r>
              <a:rPr/>
              <a:t>Section</a:t>
            </a:r>
          </a:p>
          <a:p>
            <a:pPr lvl="0" indent="0" marL="0">
              <a:buNone/>
            </a:pPr>
            <a:r>
              <a:rPr/>
              <a:t>Purpose</a:t>
            </a:r>
          </a:p>
          <a:p>
            <a:pPr lvl="0" indent="0" marL="0">
              <a:buNone/>
            </a:pPr>
            <a:r>
              <a:rPr/>
              <a:t>1</a:t>
            </a:r>
          </a:p>
          <a:p>
            <a:pPr lvl="0" indent="0" marL="0">
              <a:buNone/>
            </a:pPr>
            <a:r>
              <a:rPr/>
              <a:t>Heading</a:t>
            </a:r>
          </a:p>
          <a:p>
            <a:pPr lvl="0" indent="0" marL="0">
              <a:buNone/>
            </a:pPr>
            <a:r>
              <a:rPr/>
              <a:t>Product + audience in one line a customer would read</a:t>
            </a:r>
          </a:p>
          <a:p>
            <a:pPr lvl="0" indent="0" marL="0">
              <a:buNone/>
            </a:pPr>
            <a:r>
              <a:rPr/>
              <a:t>2</a:t>
            </a:r>
          </a:p>
          <a:p>
            <a:pPr lvl="0" indent="0" marL="0">
              <a:buNone/>
            </a:pPr>
            <a:r>
              <a:rPr/>
              <a:t>Sub-heading</a:t>
            </a:r>
          </a:p>
          <a:p>
            <a:pPr lvl="0" indent="0" marL="0">
              <a:buNone/>
            </a:pPr>
            <a:r>
              <a:rPr/>
              <a:t>Concrete benefit in customer language</a:t>
            </a:r>
          </a:p>
          <a:p>
            <a:pPr lvl="0" indent="0" marL="0">
              <a:buNone/>
            </a:pPr>
            <a:r>
              <a:rPr/>
              <a:t>3</a:t>
            </a:r>
          </a:p>
          <a:p>
            <a:pPr lvl="0" indent="0" marL="0">
              <a:buNone/>
            </a:pPr>
            <a:r>
              <a:rPr/>
              <a:t>Summary paragraph</a:t>
            </a:r>
          </a:p>
          <a:p>
            <a:pPr lvl="0" indent="0" marL="0">
              <a:buNone/>
            </a:pPr>
            <a:r>
              <a:rPr/>
              <a:t>The story, in 3-4 sentences, as if launched</a:t>
            </a:r>
          </a:p>
          <a:p>
            <a:pPr lvl="0" indent="0" marL="0">
              <a:buNone/>
            </a:pPr>
            <a:r>
              <a:rPr/>
              <a:t>4</a:t>
            </a:r>
          </a:p>
          <a:p>
            <a:pPr lvl="0" indent="0" marL="0">
              <a:buNone/>
            </a:pPr>
            <a:r>
              <a:rPr/>
              <a:t>Problem paragraph</a:t>
            </a:r>
          </a:p>
          <a:p>
            <a:pPr lvl="0" indent="0" marL="0">
              <a:buNone/>
            </a:pPr>
            <a:r>
              <a:rPr/>
              <a:t>The pain before your product existed</a:t>
            </a:r>
          </a:p>
          <a:p>
            <a:pPr lvl="0" indent="0" marL="0">
              <a:buNone/>
            </a:pPr>
            <a:r>
              <a:rPr/>
              <a:t>5</a:t>
            </a:r>
          </a:p>
          <a:p>
            <a:pPr lvl="0" indent="0" marL="0">
              <a:buNone/>
            </a:pPr>
            <a:r>
              <a:rPr/>
              <a:t>Solution paragraph</a:t>
            </a:r>
          </a:p>
          <a:p>
            <a:pPr lvl="0" indent="0" marL="0">
              <a:buNone/>
            </a:pPr>
            <a:r>
              <a:rPr/>
              <a:t>How your product removes the pain — mechanism explicit</a:t>
            </a:r>
          </a:p>
          <a:p>
            <a:pPr lvl="0" indent="0" marL="0">
              <a:buNone/>
            </a:pPr>
            <a:r>
              <a:rPr/>
              <a:t>6</a:t>
            </a:r>
          </a:p>
          <a:p>
            <a:pPr lvl="0" indent="0" marL="0">
              <a:buNone/>
            </a:pPr>
            <a:r>
              <a:rPr/>
              <a:t>Customer quote</a:t>
            </a:r>
          </a:p>
          <a:p>
            <a:pPr lvl="0" indent="0" marL="0">
              <a:buNone/>
            </a:pPr>
            <a:r>
              <a:rPr/>
              <a:t>A fictional but credible customer — if you can’t write it believably, the PR fails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📄 A FieldPulse PR — Working Sketch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FieldPulse launches “End-of-Day Reconcile” — 5-minute close-outs for HVAC dispatchers</a:t>
            </a:r>
          </a:p>
          <a:p>
            <a:pPr lvl="0" indent="0" marL="0">
              <a:buNone/>
            </a:pPr>
            <a:r>
              <a:rPr/>
              <a:t>Small-business HVAC dispatchers can now close their day in five minutes instead of 45, using a guided reconcile flow that pulls truck inventory, tech timecards, and parts usage into one approval screen. Dispatchers at 50-to-200-technician shops typically stay 45 minutes past close every night reconciling paper tickets, truck stock, and timecards. FieldPulse’s new End-of-Day Reconcile pulls these into a single guided flow, flags anomalies, and submits the day in under five minutes. “I used to leave after my kids were in bed. Last week I made it home for dinner four nights in a row.” — Maria R., Lead Dispatcher, Reliable Climate Co.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The FAQ Side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Customer FAQ</a:t>
            </a:r>
          </a:p>
          <a:p>
            <a:pPr lvl="0" indent="0" marL="0">
              <a:buNone/>
            </a:pPr>
            <a:r>
              <a:rPr/>
              <a:t>How much does it cost?</a:t>
            </a:r>
          </a:p>
          <a:p>
            <a:pPr lvl="0" indent="0" marL="0">
              <a:buNone/>
            </a:pPr>
            <a:r>
              <a:rPr/>
              <a:t>What if my truck inventory is wrong?</a:t>
            </a:r>
          </a:p>
          <a:p>
            <a:pPr lvl="0" indent="0" marL="0">
              <a:buNone/>
            </a:pPr>
            <a:r>
              <a:rPr/>
              <a:t>Can I use it offline?</a:t>
            </a:r>
          </a:p>
          <a:p>
            <a:pPr lvl="0" indent="0" marL="0">
              <a:buNone/>
            </a:pPr>
            <a:r>
              <a:rPr/>
              <a:t>How does it know what parts were used?</a:t>
            </a:r>
          </a:p>
          <a:p>
            <a:pPr lvl="0" indent="0" marL="0">
              <a:buNone/>
            </a:pPr>
            <a:r>
              <a:rPr/>
              <a:t>Internal FAQ</a:t>
            </a:r>
          </a:p>
          <a:p>
            <a:pPr lvl="0" indent="0" marL="0">
              <a:buNone/>
            </a:pPr>
            <a:r>
              <a:rPr/>
              <a:t>What’s the riskiest assumption?</a:t>
            </a:r>
          </a:p>
          <a:p>
            <a:pPr lvl="0" indent="0" marL="0">
              <a:buNone/>
            </a:pPr>
            <a:r>
              <a:rPr/>
              <a:t>What’s the build estimate? On what evidence?</a:t>
            </a:r>
          </a:p>
          <a:p>
            <a:pPr lvl="0" indent="0" marL="0">
              <a:buNone/>
            </a:pPr>
            <a:r>
              <a:rPr/>
              <a:t>What breaks if adoption is 30% of plan?</a:t>
            </a:r>
          </a:p>
          <a:p>
            <a:pPr lvl="0" indent="0" marL="0">
              <a:buNone/>
            </a:pPr>
            <a:r>
              <a:rPr/>
              <a:t>What existing integrations block this?</a:t>
            </a:r>
          </a:p>
          <a:p>
            <a:pPr lvl="0" indent="0" marL="0">
              <a:buNone/>
            </a:pPr>
            <a:r>
              <a:rPr/>
              <a:t>Rule: If you can’t write the internal FAQ, you don’t understand the product yet. Go back to the PR.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2 — Headline + Sub-headline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45 minutes</a:t>
            </a:r>
          </a:p>
          <a:p>
            <a:pPr lvl="0" indent="0" marL="0">
              <a:buNone/>
            </a:pPr>
            <a:r>
              <a:rPr/>
              <a:t>Each triad selects one product idea (from their Day 1 critique artifacts, or a provided list). Draft three candidate heading + sub-headings. Then use AI to critique each:</a:t>
            </a:r>
          </a:p>
          <a:p>
            <a:pPr lvl="0" indent="0" marL="0">
              <a:buNone/>
            </a:pPr>
            <a:r>
              <a:rPr/>
              <a:t>“Which of these would a dispatcher actually click on?”</a:t>
            </a:r>
          </a:p>
          <a:p>
            <a:pPr lvl="0" indent="0" marL="0">
              <a:buNone/>
            </a:pPr>
            <a:r>
              <a:rPr/>
              <a:t>“Which promises something we can’t deliver?”</a:t>
            </a:r>
          </a:p>
          <a:p>
            <a:pPr lvl="0" indent="0" marL="0">
              <a:buNone/>
            </a:pPr>
            <a:r>
              <a:rPr/>
              <a:t>“Which is interchangeable with a competitor’s marketing?”</a:t>
            </a:r>
          </a:p>
          <a:p>
            <a:pPr lvl="0" indent="0" marL="0">
              <a:buNone/>
            </a:pPr>
            <a:r>
              <a:rPr/>
              <a:t>⏱ 15 min draft · 15 min AI critique · 15 min pick + justify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— The Five Customer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diagnostic under every PR/FAQ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❓ Five Questions That Force Clarity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Who is the customer? Named role, named context, not “users.”</a:t>
            </a:r>
          </a:p>
          <a:p>
            <a:pPr lvl="0" indent="0" marL="0">
              <a:buNone/>
            </a:pPr>
            <a:r>
              <a:rPr/>
              <a:t>What is the customer problem or opportunity? A verb, not a category.</a:t>
            </a:r>
          </a:p>
          <a:p>
            <a:pPr lvl="0" indent="0" marL="0">
              <a:buNone/>
            </a:pPr>
            <a:r>
              <a:rPr/>
              <a:t>What is the most important benefit? One benefit. If you list three, you don’t have one yet.</a:t>
            </a:r>
          </a:p>
          <a:p>
            <a:pPr lvl="0" indent="0" marL="0">
              <a:buNone/>
            </a:pPr>
            <a:r>
              <a:rPr/>
              <a:t>How do you know what they want or need? Name the evidence. Tag the tier.</a:t>
            </a:r>
          </a:p>
          <a:p>
            <a:pPr lvl="0" indent="0" marL="0">
              <a:buNone/>
            </a:pPr>
            <a:r>
              <a:rPr/>
              <a:t>What does the experience look like? Describe the moment, not the feature.</a:t>
            </a:r>
          </a:p>
          <a:p>
            <a:pPr lvl="0" indent="0" marL="0">
              <a:buNone/>
            </a:pPr>
            <a:r>
              <a:rPr/>
              <a:t>If your PR/FAQ answers all five with specifics, scoping is easy. If it doesn’t, no amount of engineering rigor will save it.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🔴 Common Failure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Failure</a:t>
            </a:r>
          </a:p>
          <a:p>
            <a:pPr lvl="0" indent="0" marL="0">
              <a:buNone/>
            </a:pPr>
            <a:r>
              <a:rPr/>
              <a:t>Symptom</a:t>
            </a:r>
          </a:p>
          <a:p>
            <a:pPr lvl="0" indent="0" marL="0">
              <a:buNone/>
            </a:pPr>
            <a:r>
              <a:rPr/>
              <a:t>Fix</a:t>
            </a:r>
          </a:p>
          <a:p>
            <a:pPr lvl="0" indent="0" marL="0">
              <a:buNone/>
            </a:pPr>
            <a:r>
              <a:rPr/>
              <a:t>Generic customer</a:t>
            </a:r>
          </a:p>
          <a:p>
            <a:pPr lvl="0" indent="0" marL="0">
              <a:buNone/>
            </a:pPr>
            <a:r>
              <a:rPr/>
              <a:t>“Small business owners”</a:t>
            </a:r>
          </a:p>
          <a:p>
            <a:pPr lvl="0" indent="0" marL="0">
              <a:buNone/>
            </a:pPr>
            <a:r>
              <a:rPr/>
              <a:t>Name the role, size, and context</a:t>
            </a:r>
          </a:p>
          <a:p>
            <a:pPr lvl="0" indent="0" marL="0">
              <a:buNone/>
            </a:pPr>
            <a:r>
              <a:rPr/>
              <a:t>Category problem</a:t>
            </a:r>
          </a:p>
          <a:p>
            <a:pPr lvl="0" indent="0" marL="0">
              <a:buNone/>
            </a:pPr>
            <a:r>
              <a:rPr/>
              <a:t>“Inefficient workflows”</a:t>
            </a:r>
          </a:p>
          <a:p>
            <a:pPr lvl="0" indent="0" marL="0">
              <a:buNone/>
            </a:pPr>
            <a:r>
              <a:rPr/>
              <a:t>Replace with a verb the customer uses</a:t>
            </a:r>
          </a:p>
          <a:p>
            <a:pPr lvl="0" indent="0" marL="0">
              <a:buNone/>
            </a:pPr>
            <a:r>
              <a:rPr/>
              <a:t>Benefit bouquet</a:t>
            </a:r>
          </a:p>
          <a:p>
            <a:pPr lvl="0" indent="0" marL="0">
              <a:buNone/>
            </a:pPr>
            <a:r>
              <a:rPr/>
              <a:t>“Faster, better, cheaper”</a:t>
            </a:r>
          </a:p>
          <a:p>
            <a:pPr lvl="0" indent="0" marL="0">
              <a:buNone/>
            </a:pPr>
            <a:r>
              <a:rPr/>
              <a:t>Choose one. Defend it.</a:t>
            </a:r>
          </a:p>
          <a:p>
            <a:pPr lvl="0" indent="0" marL="0">
              <a:buNone/>
            </a:pPr>
            <a:r>
              <a:rPr/>
              <a:t>Handwave evidence</a:t>
            </a:r>
          </a:p>
          <a:p>
            <a:pPr lvl="0" indent="0" marL="0">
              <a:buNone/>
            </a:pPr>
            <a:r>
              <a:rPr/>
              <a:t>“Customers told us”</a:t>
            </a:r>
          </a:p>
          <a:p>
            <a:pPr lvl="0" indent="0" marL="0">
              <a:buNone/>
            </a:pPr>
            <a:r>
              <a:rPr/>
              <a:t>Cite who, when, what tier</a:t>
            </a:r>
          </a:p>
          <a:p>
            <a:pPr lvl="0" indent="0" marL="0">
              <a:buNone/>
            </a:pPr>
            <a:r>
              <a:rPr/>
              <a:t>Feature description</a:t>
            </a:r>
          </a:p>
          <a:p>
            <a:pPr lvl="0" indent="0" marL="0">
              <a:buNone/>
            </a:pPr>
            <a:r>
              <a:rPr/>
              <a:t>“A dashboard with…”</a:t>
            </a:r>
          </a:p>
          <a:p>
            <a:pPr lvl="0" indent="0" marL="0">
              <a:buNone/>
            </a:pPr>
            <a:r>
              <a:rPr/>
              <a:t>Describe the human moment of use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3 — Answer the Five, Concretely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45 minutes</a:t>
            </a:r>
          </a:p>
          <a:p>
            <a:pPr lvl="0" indent="0" marL="0">
              <a:buNone/>
            </a:pPr>
            <a:r>
              <a:rPr/>
              <a:t>Your triad has a headline/sub-headline from Activity 2. Now draft a full PR paragraph + customer quote + 3 Customer-FAQ + 3 Internal-FAQ entries.</a:t>
            </a:r>
          </a:p>
          <a:p>
            <a:pPr lvl="0" indent="0" marL="0">
              <a:buNone/>
            </a:pPr>
            <a:r>
              <a:rPr/>
              <a:t>Use Day 1’s research + summarization prompts to ground each claim</a:t>
            </a:r>
          </a:p>
          <a:p>
            <a:pPr lvl="0" indent="0" marL="0">
              <a:buNone/>
            </a:pPr>
            <a:r>
              <a:rPr/>
              <a:t>Tag every claim with an evidence tier (Observed, Reported, Inferred, AI-generated)</a:t>
            </a:r>
          </a:p>
          <a:p>
            <a:pPr lvl="0" indent="0" marL="0">
              <a:buNone/>
            </a:pPr>
            <a:r>
              <a:rPr/>
              <a:t>Be honest — unvalidated is fine today, but it must be labeled</a:t>
            </a:r>
          </a:p>
          <a:p>
            <a:pPr lvl="0" indent="0" marL="0">
              <a:buNone/>
            </a:pPr>
            <a:r>
              <a:rPr/>
              <a:t>⏱ 10 min plan · 25 min draft · 10 min self-review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4 — Peer Critique &amp; Revision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to review without rewriting someone else’s work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The Critique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Critique runs on a timed protocol so every author gets balanced feedback:</a:t>
            </a:r>
          </a:p>
          <a:p>
            <a:pPr lvl="0" indent="0" marL="0">
              <a:buNone/>
            </a:pPr>
            <a:r>
              <a:rPr/>
              <a:t>2 min silent read — reviewer highlights 1 line they love, 1 they question</a:t>
            </a:r>
          </a:p>
          <a:p>
            <a:pPr lvl="0" indent="0" marL="0">
              <a:buNone/>
            </a:pPr>
            <a:r>
              <a:rPr/>
              <a:t>3 min “What I heard” — reviewer restates the product to the author in one sentence</a:t>
            </a:r>
          </a:p>
          <a:p>
            <a:pPr lvl="0" indent="0" marL="0">
              <a:buNone/>
            </a:pPr>
            <a:r>
              <a:rPr/>
              <a:t>5 min questions only — reviewer asks, author listens and takes notes (no defending)</a:t>
            </a:r>
          </a:p>
          <a:p>
            <a:pPr lvl="0" indent="0" marL="0">
              <a:buNone/>
            </a:pPr>
            <a:r>
              <a:rPr/>
              <a:t>5 min author response — author says what they’ll change, what they’ll leave</a:t>
            </a:r>
          </a:p>
          <a:p>
            <a:pPr lvl="0" indent="0" marL="0">
              <a:buNone/>
            </a:pPr>
            <a:r>
              <a:rPr/>
              <a:t>Why “questions only”: It forces reviewers to reveal what confused them rather than prescribing a fix. It respects the author’s ownership.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4 — Cross-Triad PR/FAQ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Paired triads • 60 minutes • Readouts</a:t>
            </a:r>
          </a:p>
          <a:p>
            <a:pPr lvl="0" indent="0" marL="0">
              <a:buNone/>
            </a:pPr>
            <a:r>
              <a:rPr/>
              <a:t>Triads pair up. Using the critique protocol, each triad reviews the other’s PR/FAQ. Then 15 minutes to revise.</a:t>
            </a:r>
          </a:p>
          <a:p>
            <a:pPr lvl="0" indent="0" marL="0">
              <a:buNone/>
            </a:pPr>
            <a:r>
              <a:rPr/>
              <a:t>One critique from each failure-mode table cell</a:t>
            </a:r>
          </a:p>
          <a:p>
            <a:pPr lvl="0" indent="0" marL="0">
              <a:buNone/>
            </a:pPr>
            <a:r>
              <a:rPr/>
              <a:t>Capture which evidence tier needs to be upgraded before Friday</a:t>
            </a:r>
          </a:p>
          <a:p>
            <a:pPr lvl="0" indent="0" marL="0">
              <a:buNone/>
            </a:pPr>
            <a:r>
              <a:rPr/>
              <a:t>Each triad does a 60-second readout: “What we changed and why”</a:t>
            </a:r>
          </a:p>
          <a:p>
            <a:pPr lvl="0" indent="0" marL="0">
              <a:buNone/>
            </a:pPr>
            <a:r>
              <a:rPr/>
              <a:t>⏱ 20 min review A · 20 min review B · 15 min revise · 5 min readout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Day 2 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built</a:t>
            </a:r>
          </a:p>
          <a:p>
            <a:pPr lvl="0" indent="0" marL="0">
              <a:buNone/>
            </a:pPr>
            <a:r>
              <a:rPr/>
              <a:t>A complete one-page PR/FAQ per triad</a:t>
            </a:r>
          </a:p>
          <a:p>
            <a:pPr lvl="0" indent="0" marL="0">
              <a:buNone/>
            </a:pPr>
            <a:r>
              <a:rPr/>
              <a:t>The Five Customer Questions as a working checklist</a:t>
            </a:r>
          </a:p>
          <a:p>
            <a:pPr lvl="0" indent="0" marL="0">
              <a:buNone/>
            </a:pPr>
            <a:r>
              <a:rPr/>
              <a:t>A critique protocol we’ll reuse every week</a:t>
            </a:r>
          </a:p>
          <a:p>
            <a:pPr lvl="0" indent="0" marL="0">
              <a:buNone/>
            </a:pPr>
            <a:r>
              <a:rPr/>
              <a:t>What opens tomorrow</a:t>
            </a:r>
          </a:p>
          <a:p>
            <a:pPr lvl="0" indent="0" marL="0">
              <a:buNone/>
            </a:pPr>
            <a:r>
              <a:rPr/>
              <a:t>Personas — we take “Who is the customer?” from a sentence to a validated artifact</a:t>
            </a:r>
          </a:p>
          <a:p>
            <a:pPr lvl="0" indent="0" marL="0">
              <a:buNone/>
            </a:pPr>
            <a:r>
              <a:rPr/>
              <a:t>Your PR/FAQ customer quote becomes persona input on Day 3</a:t>
            </a:r>
          </a:p>
          <a:p>
            <a:pPr lvl="0" indent="0" marL="0">
              <a:buNone/>
            </a:pPr>
            <a:r>
              <a:rPr/>
              <a:t>Bring to Day 3: Your PR/FAQ + the one unvalidated assumption you’re most worried about.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Questions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Which of the Five Questions was hardest for your triad?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2026-07-01T16:55:54Z</dcterms:created>
  <dcterms:modified xsi:type="dcterms:W3CDTF">2026-07-01T16:55:54Z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