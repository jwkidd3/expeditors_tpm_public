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notesMaster" Target="notesMasters/notesMaster1.xml" /><Relationship Id="rId27" Type="http://schemas.openxmlformats.org/officeDocument/2006/relationships/viewProps" Target="viewProps.xml" /><Relationship Id="rId2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9" Type="http://schemas.openxmlformats.org/officeDocument/2006/relationships/tableStyles" Target="tableStyles.xml" /><Relationship Id="rId28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Day 3 turns “who is the customer?” from a phrase into an artifact a team can disagree about productively.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Participants will often arrive with personas they dislike — usually because they’ve seen demographic “Marketing Mary” templates. We’re doing something different.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Walk the day’s shape: triage → build → validate → stress-test. The stress-test block is the highest-energy work — protect time for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block is a vocabulary install. The behavioral/demographic/adjectival distinction will recur every time we look at a persona this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Most participants have seen this persona. Ask them to name a decision it ever changed. Silence is instructive.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Highlight the evidence tags. This is where Day 1’s evidence tiers earn their keep.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Name + photo debate is a distraction — optional. Adjectives are the real killer because they’re un-falsifiable.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One of the three provided personas is intentionally good. Make sure quads notice — not every persona is broken.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Move from critique to construction. The Canvas is the artifact format the rest of Week 1 (pain extraction, problem framing) will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canvas is provided as a printable handout in the Day 3 activity folder.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prompt is in the Day 1 Pattern Library — point back to it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FieldPulse research packet includes 3 de-identified dispatcher interviews and a ride-along note — enough grounding for a real draft.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interview protocol installed here is reusable for the rest of the academy. Frame as a durable skill, not a one-day exercise.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protocol is “Mom Test”-adjacent (Rob Fitzpatrick). Credit the lineage without requiring the 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 bias here is common. Ask participants which they’ve caught themselves in — vulnerability speeds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character cards are in the Day 3 activity folder. They include hidden details interviewers will only surface with good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Final block: take the persona and try to break it. Quads that pass the stress-test leave with something they’d defend to an engineer.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Keep JTBD light today — we’re using it as a stress-test, not teaching a full framework.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 4 is often the most uncomfortable — it’s also the one that reveals brittle value propositions.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“Dropping a claim” publicly is the hardest thing we ask all week. Celebrate quads that do it honestly.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Close with: “A persona you would defend in front of an engineer is worth ten you keep to yourself.”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Closing reflection. The unvalidated-assumption answer often becomes a quad’s first Day 4 pain-extraction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23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👤 Building &amp; Validating Personas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1 • Day 3 • Customer-Centric Foundations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Technical Product Manager Academy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Day 3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Distinguish behavioral personas from demographic stereotypes</a:t>
            </a:r>
          </a:p>
          <a:p>
            <a:pPr lvl="0" indent="0" marL="0">
              <a:buNone/>
            </a:pPr>
            <a:r>
              <a:rPr/>
              <a:t>Construct a persona from a mix of observed, reported, and inferred evidence</a:t>
            </a:r>
          </a:p>
          <a:p>
            <a:pPr lvl="0" indent="0" marL="0">
              <a:buNone/>
            </a:pPr>
            <a:r>
              <a:rPr/>
              <a:t>Run a 5-question validation interview — and notice when you’re leading the witness</a:t>
            </a:r>
          </a:p>
          <a:p>
            <a:pPr lvl="0" indent="0" marL="0">
              <a:buNone/>
            </a:pPr>
            <a:r>
              <a:rPr/>
              <a:t>Stress-test a persona against its own Jobs to Be Done</a:t>
            </a:r>
          </a:p>
          <a:p>
            <a:pPr lvl="0" indent="0" marL="0">
              <a:buNone/>
            </a:pPr>
            <a:r>
              <a:rPr/>
              <a:t>Decide when AI is safe for persona drafting vs dangerous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🕑 Today’s Shape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Clock</a:t>
            </a:r>
          </a:p>
          <a:p>
            <a:pPr lvl="0" indent="0" marL="0">
              <a:buNone/>
            </a:pPr>
            <a:r>
              <a:rPr/>
              <a:t>Block</a:t>
            </a:r>
          </a:p>
          <a:p>
            <a:pPr lvl="0" indent="0" marL="0">
              <a:buNone/>
            </a:pPr>
            <a:r>
              <a:rPr/>
              <a:t>Outcome</a:t>
            </a:r>
          </a:p>
          <a:p>
            <a:pPr lvl="0" indent="0" marL="0">
              <a:buNone/>
            </a:pPr>
            <a:r>
              <a:rPr/>
              <a:t>09:00 – 09:15</a:t>
            </a:r>
          </a:p>
          <a:p>
            <a:pPr lvl="0" indent="0" marL="0">
              <a:buNone/>
            </a:pPr>
            <a:r>
              <a:rPr/>
              <a:t>Opening</a:t>
            </a:r>
          </a:p>
          <a:p>
            <a:pPr lvl="0" indent="0" marL="0">
              <a:buNone/>
            </a:pPr>
            <a:r>
              <a:rPr/>
              <a:t>Review PR/FAQ quotes → persona inputs</a:t>
            </a:r>
          </a:p>
          <a:p>
            <a:pPr lvl="0" indent="0" marL="0">
              <a:buNone/>
            </a:pPr>
            <a:r>
              <a:rPr/>
              <a:t>09:15 – 10:30</a:t>
            </a:r>
          </a:p>
          <a:p>
            <a:pPr lvl="0" indent="0" marL="0">
              <a:buNone/>
            </a:pPr>
            <a:r>
              <a:rPr/>
              <a:t>Block 1 + Activity 1</a:t>
            </a:r>
          </a:p>
          <a:p>
            <a:pPr lvl="0" indent="0" marL="0">
              <a:buNone/>
            </a:pPr>
            <a:r>
              <a:rPr/>
              <a:t>Behavioral vs demographic</a:t>
            </a:r>
          </a:p>
          <a:p>
            <a:pPr lvl="0" indent="0" marL="0">
              <a:buNone/>
            </a:pPr>
            <a:r>
              <a:rPr/>
              <a:t>10:45 – 12:00</a:t>
            </a:r>
          </a:p>
          <a:p>
            <a:pPr lvl="0" indent="0" marL="0">
              <a:buNone/>
            </a:pPr>
            <a:r>
              <a:rPr/>
              <a:t>Block 2 + Activity 2</a:t>
            </a:r>
          </a:p>
          <a:p>
            <a:pPr lvl="0" indent="0" marL="0">
              <a:buNone/>
            </a:pPr>
            <a:r>
              <a:rPr/>
              <a:t>Build a persona from evidence</a:t>
            </a:r>
          </a:p>
          <a:p>
            <a:pPr lvl="0" indent="0" marL="0">
              <a:buNone/>
            </a:pPr>
            <a:r>
              <a:rPr/>
              <a:t>13:00 – 14:15</a:t>
            </a:r>
          </a:p>
          <a:p>
            <a:pPr lvl="0" indent="0" marL="0">
              <a:buNone/>
            </a:pPr>
            <a:r>
              <a:rPr/>
              <a:t>Block 3 + Activity 3</a:t>
            </a:r>
          </a:p>
          <a:p>
            <a:pPr lvl="0" indent="0" marL="0">
              <a:buNone/>
            </a:pPr>
            <a:r>
              <a:rPr/>
              <a:t>Validation interviews</a:t>
            </a:r>
          </a:p>
          <a:p>
            <a:pPr lvl="0" indent="0" marL="0">
              <a:buNone/>
            </a:pPr>
            <a:r>
              <a:rPr/>
              <a:t>14:30 – 16:00</a:t>
            </a:r>
          </a:p>
          <a:p>
            <a:pPr lvl="0" indent="0" marL="0">
              <a:buNone/>
            </a:pPr>
            <a:r>
              <a:rPr/>
              <a:t>Block 4 + Activity 4 + Readouts</a:t>
            </a:r>
          </a:p>
          <a:p>
            <a:pPr lvl="0" indent="0" marL="0">
              <a:buNone/>
            </a:pPr>
            <a:r>
              <a:rPr/>
              <a:t>JTBD stress-test + revision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1 — Behavioral vs Demographic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most personas don’t change any decisions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🔴 The Persona That Doesn’t Do Anything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Marketing Mary — 38, CMO, urban, drinks lattes</a:t>
            </a:r>
          </a:p>
          <a:p>
            <a:pPr lvl="0" indent="0" marL="0">
              <a:buNone/>
            </a:pPr>
            <a:r>
              <a:rPr/>
              <a:t>Job: CMO · Age: 38 · Income: $150k · Hobbies: yoga Mary wants to grow her business and loves data-driven insights. She’s busy and values efficiency.</a:t>
            </a:r>
          </a:p>
          <a:p>
            <a:pPr lvl="0" indent="0" marL="0">
              <a:buNone/>
            </a:pPr>
            <a:r>
              <a:rPr/>
              <a:t>What decision does this persona change? None. It describes a stock character, not a customer. You could swap Mary for any persona and build the same product.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✅ The Persona That Does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Dispatcher who hates re-routing</a:t>
            </a:r>
          </a:p>
          <a:p>
            <a:pPr lvl="0" indent="0" marL="0">
              <a:buNone/>
            </a:pPr>
            <a:r>
              <a:rPr/>
              <a:t>Role: Lead Dispatcher, 50–200 tech HVAC co. · Tenure: 10+ yrs in trades</a:t>
            </a:r>
          </a:p>
          <a:p>
            <a:pPr lvl="0" indent="0" marL="0">
              <a:buNone/>
            </a:pPr>
            <a:r>
              <a:rPr/>
              <a:t>Observed: Spends 45 min post-close reconciling tickets on paper (6 of 8 dispatchers observed)</a:t>
            </a:r>
          </a:p>
          <a:p>
            <a:pPr lvl="0" indent="0" marL="0">
              <a:buNone/>
            </a:pPr>
            <a:r>
              <a:rPr/>
              <a:t>Observed: Never uses keyboard shortcuts; refuses training that runs past 20 min</a:t>
            </a:r>
          </a:p>
          <a:p>
            <a:pPr lvl="0" indent="0" marL="0">
              <a:buNone/>
            </a:pPr>
            <a:r>
              <a:rPr/>
              <a:t>Reported: “Mid-day re-routes are my worst hour” (7 of 10 interviewed)</a:t>
            </a:r>
          </a:p>
          <a:p>
            <a:pPr lvl="0" indent="0" marL="0">
              <a:buNone/>
            </a:pPr>
            <a:r>
              <a:rPr/>
              <a:t>Inferred: Distrusts software that “hides” truck inventory behind a click</a:t>
            </a:r>
          </a:p>
          <a:p>
            <a:pPr lvl="0" indent="0" marL="0">
              <a:buNone/>
            </a:pPr>
            <a:r>
              <a:rPr/>
              <a:t>This persona changes decisions: no training longer than 20 min, inventory visible on primary screen, re-route flow is the hero path.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Components of a Working Persona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🔍 Always include</a:t>
            </a:r>
          </a:p>
          <a:p>
            <a:pPr lvl="0" indent="0" marL="0">
              <a:buNone/>
            </a:pPr>
            <a:r>
              <a:rPr/>
              <a:t>Role + context (company type, size, tenure)</a:t>
            </a:r>
          </a:p>
          <a:p>
            <a:pPr lvl="0" indent="0" marL="0">
              <a:buNone/>
            </a:pPr>
            <a:r>
              <a:rPr/>
              <a:t>Observed behaviors (not beliefs)</a:t>
            </a:r>
          </a:p>
          <a:p>
            <a:pPr lvl="0" indent="0" marL="0">
              <a:buNone/>
            </a:pPr>
            <a:r>
              <a:rPr/>
              <a:t>Goals expressed in their words</a:t>
            </a:r>
          </a:p>
          <a:p>
            <a:pPr lvl="0" indent="0" marL="0">
              <a:buNone/>
            </a:pPr>
            <a:r>
              <a:rPr/>
              <a:t>Current workarounds and tools</a:t>
            </a:r>
          </a:p>
          <a:p>
            <a:pPr lvl="0" indent="0" marL="0">
              <a:buNone/>
            </a:pPr>
            <a:r>
              <a:rPr/>
              <a:t>Constraints (physical, organizational, cognitive)</a:t>
            </a:r>
          </a:p>
          <a:p>
            <a:pPr lvl="0" indent="0" marL="0">
              <a:buNone/>
            </a:pPr>
            <a:r>
              <a:rPr/>
              <a:t>Evidence tier per claim</a:t>
            </a:r>
          </a:p>
          <a:p>
            <a:pPr lvl="0" indent="0" marL="0">
              <a:buNone/>
            </a:pPr>
            <a:r>
              <a:rPr/>
              <a:t>❌ Usually skip</a:t>
            </a:r>
          </a:p>
          <a:p>
            <a:pPr lvl="0" indent="0" marL="0">
              <a:buNone/>
            </a:pPr>
            <a:r>
              <a:rPr/>
              <a:t>Stock photo + invented name (if it distracts)</a:t>
            </a:r>
          </a:p>
          <a:p>
            <a:pPr lvl="0" indent="0" marL="0">
              <a:buNone/>
            </a:pPr>
            <a:r>
              <a:rPr/>
              <a:t>Hobbies, lifestyle, brand preferences (unless load-bearing)</a:t>
            </a:r>
          </a:p>
          <a:p>
            <a:pPr lvl="0" indent="0" marL="0">
              <a:buNone/>
            </a:pPr>
            <a:r>
              <a:rPr/>
              <a:t>Traits written as adjectives (“busy,” “tech-savvy”)</a:t>
            </a:r>
          </a:p>
          <a:p>
            <a:pPr lvl="0" indent="0" marL="0">
              <a:buNone/>
            </a:pPr>
            <a:r>
              <a:rPr/>
              <a:t>Any claim you can’t tie to evidence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1 — Persona Triage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Quads • 45 minutes</a:t>
            </a:r>
          </a:p>
          <a:p>
            <a:pPr lvl="0" indent="0" marL="0">
              <a:buNone/>
            </a:pPr>
            <a:r>
              <a:rPr/>
              <a:t>Your quad gets 3 real-world personas (sanitized from actual companies). For each:</a:t>
            </a:r>
          </a:p>
          <a:p>
            <a:pPr lvl="0" indent="0" marL="0">
              <a:buNone/>
            </a:pPr>
            <a:r>
              <a:rPr/>
              <a:t>Highlight every claim that’s behavioral vs demographic vs adjectival</a:t>
            </a:r>
          </a:p>
          <a:p>
            <a:pPr lvl="0" indent="0" marL="0">
              <a:buNone/>
            </a:pPr>
            <a:r>
              <a:rPr/>
              <a:t>Mark which claims would change a product decision</a:t>
            </a:r>
          </a:p>
          <a:p>
            <a:pPr lvl="0" indent="0" marL="0">
              <a:buNone/>
            </a:pPr>
            <a:r>
              <a:rPr/>
              <a:t>Rewrite the weakest one in 10 minutes</a:t>
            </a:r>
          </a:p>
          <a:p>
            <a:pPr lvl="0" indent="0" marL="0">
              <a:buNone/>
            </a:pPr>
            <a:r>
              <a:rPr/>
              <a:t>⏱ 5 min read · 30 min mark up · 10 min rewrite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2 — Build From Evidence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Persona Validation Canvas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📋 The Canvas (one sheet, six boxes)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Box</a:t>
            </a:r>
          </a:p>
          <a:p>
            <a:pPr lvl="0" indent="0" marL="0">
              <a:buNone/>
            </a:pPr>
            <a:r>
              <a:rPr/>
              <a:t>Content</a:t>
            </a:r>
          </a:p>
          <a:p>
            <a:pPr lvl="0" indent="0" marL="0">
              <a:buNone/>
            </a:pPr>
            <a:r>
              <a:rPr/>
              <a:t>Evidence tiers allowed</a:t>
            </a:r>
          </a:p>
          <a:p>
            <a:pPr lvl="0" indent="0" marL="0">
              <a:buNone/>
            </a:pPr>
            <a:r>
              <a:rPr/>
              <a:t>Role &amp; context</a:t>
            </a:r>
          </a:p>
          <a:p>
            <a:pPr lvl="0" indent="0" marL="0">
              <a:buNone/>
            </a:pPr>
            <a:r>
              <a:rPr/>
              <a:t>Who they are and where they work</a:t>
            </a:r>
          </a:p>
          <a:p>
            <a:pPr lvl="0" indent="0" marL="0">
              <a:buNone/>
            </a:pPr>
            <a:r>
              <a:rPr/>
              <a:t>Observed, Reported</a:t>
            </a:r>
          </a:p>
          <a:p>
            <a:pPr lvl="0" indent="0" marL="0">
              <a:buNone/>
            </a:pPr>
            <a:r>
              <a:rPr/>
              <a:t>Goals (in their words)</a:t>
            </a:r>
          </a:p>
          <a:p>
            <a:pPr lvl="0" indent="0" marL="0">
              <a:buNone/>
            </a:pPr>
            <a:r>
              <a:rPr/>
              <a:t>What they’re trying to accomplish</a:t>
            </a:r>
          </a:p>
          <a:p>
            <a:pPr lvl="0" indent="0" marL="0">
              <a:buNone/>
            </a:pPr>
            <a:r>
              <a:rPr/>
              <a:t>Reported primarily</a:t>
            </a:r>
          </a:p>
          <a:p>
            <a:pPr lvl="0" indent="0" marL="0">
              <a:buNone/>
            </a:pPr>
            <a:r>
              <a:rPr/>
              <a:t>Current behavior</a:t>
            </a:r>
          </a:p>
          <a:p>
            <a:pPr lvl="0" indent="0" marL="0">
              <a:buNone/>
            </a:pPr>
            <a:r>
              <a:rPr/>
              <a:t>What they do today</a:t>
            </a:r>
          </a:p>
          <a:p>
            <a:pPr lvl="0" indent="0" marL="0">
              <a:buNone/>
            </a:pPr>
            <a:r>
              <a:rPr/>
              <a:t>Observed primarily</a:t>
            </a:r>
          </a:p>
          <a:p>
            <a:pPr lvl="0" indent="0" marL="0">
              <a:buNone/>
            </a:pPr>
            <a:r>
              <a:rPr/>
              <a:t>Constraints</a:t>
            </a:r>
          </a:p>
          <a:p>
            <a:pPr lvl="0" indent="0" marL="0">
              <a:buNone/>
            </a:pPr>
            <a:r>
              <a:rPr/>
              <a:t>What limits them</a:t>
            </a:r>
          </a:p>
          <a:p>
            <a:pPr lvl="0" indent="0" marL="0">
              <a:buNone/>
            </a:pPr>
            <a:r>
              <a:rPr/>
              <a:t>Observed or Reported</a:t>
            </a:r>
          </a:p>
          <a:p>
            <a:pPr lvl="0" indent="0" marL="0">
              <a:buNone/>
            </a:pPr>
            <a:r>
              <a:rPr/>
              <a:t>Pain points</a:t>
            </a:r>
          </a:p>
          <a:p>
            <a:pPr lvl="0" indent="0" marL="0">
              <a:buNone/>
            </a:pPr>
            <a:r>
              <a:rPr/>
              <a:t>What hurts (verbs, not categories)</a:t>
            </a:r>
          </a:p>
          <a:p>
            <a:pPr lvl="0" indent="0" marL="0">
              <a:buNone/>
            </a:pPr>
            <a:r>
              <a:rPr/>
              <a:t>Observed or Reported</a:t>
            </a:r>
          </a:p>
          <a:p>
            <a:pPr lvl="0" indent="0" marL="0">
              <a:buNone/>
            </a:pPr>
            <a:r>
              <a:rPr/>
              <a:t>Assumptions to validate</a:t>
            </a:r>
          </a:p>
          <a:p>
            <a:pPr lvl="0" indent="0" marL="0">
              <a:buNone/>
            </a:pPr>
            <a:r>
              <a:rPr/>
              <a:t>What you don’t know yet</a:t>
            </a:r>
          </a:p>
          <a:p>
            <a:pPr lvl="0" indent="0" marL="0">
              <a:buNone/>
            </a:pPr>
            <a:r>
              <a:rPr/>
              <a:t>Inferred + AI-generated</a:t>
            </a:r>
          </a:p>
          <a:p>
            <a:pPr lvl="0" indent="0" marL="0">
              <a:buNone/>
            </a:pPr>
            <a:r>
              <a:rPr/>
              <a:t>Rule: AI-generated claims can seed Boxes 1–5 but must move to a higher tier before Friday’s readout.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🧠 Using AI Safely for Persona Drafting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Role: Research assistant helping a TPM build an evidence-grounded persona.
Context:
- The user role is Lead Dispatcher at a 50–200 tech HVAC company.
- Observed behaviors (tier: Observed): [paste notes from ride-along]
- Reported statements (tier: Reported): [paste 6 interview quotes]
Constraints:
- Do NOT invent behaviors or quotes.
- Every claim in your output must cite one of the notes or quotes above, OR be flagged as Inferred.
- If you generate any claim not grounded in the inputs, tag it AI-generated with a note: "validate before use."
Format: Persona Validation Canvas (6 sections).
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2 — Build Your Persona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Quads • 50 minutes</a:t>
            </a:r>
          </a:p>
          <a:p>
            <a:pPr lvl="0" indent="0" marL="0">
              <a:buNone/>
            </a:pPr>
            <a:r>
              <a:rPr/>
              <a:t>Your quad has PR/FAQ customer quote + whatever assumptions you’re carrying. Build a canvas-format persona for the primary customer in your product idea.</a:t>
            </a:r>
          </a:p>
          <a:p>
            <a:pPr lvl="0" indent="0" marL="0">
              <a:buNone/>
            </a:pPr>
            <a:r>
              <a:rPr/>
              <a:t>Start with what you actually know (provided research packet for FieldPulse)</a:t>
            </a:r>
          </a:p>
          <a:p>
            <a:pPr lvl="0" indent="0" marL="0">
              <a:buNone/>
            </a:pPr>
            <a:r>
              <a:rPr/>
              <a:t>Use AI only for Boxes 5 and 6 — and tag carefully</a:t>
            </a:r>
          </a:p>
          <a:p>
            <a:pPr lvl="0" indent="0" marL="0">
              <a:buNone/>
            </a:pPr>
            <a:r>
              <a:rPr/>
              <a:t>Circle the 3 claims you’d most want to validate with a real person</a:t>
            </a:r>
          </a:p>
          <a:p>
            <a:pPr lvl="0" indent="0" marL="0">
              <a:buNone/>
            </a:pPr>
            <a:r>
              <a:rPr/>
              <a:t>⏱ 10 min plan · 30 min draft · 10 min mark validation targets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3 — Validation Interviews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Getting to evidence without leading the witness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🔔 The Five-Question Validation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Walk me through the last time you did X. (Past behavior &gt; hypothetical)</a:t>
            </a:r>
          </a:p>
          <a:p>
            <a:pPr lvl="0" indent="0" marL="0">
              <a:buNone/>
            </a:pPr>
            <a:r>
              <a:rPr/>
              <a:t>What was hardest about that? (Let them name the pain)</a:t>
            </a:r>
          </a:p>
          <a:p>
            <a:pPr lvl="0" indent="0" marL="0">
              <a:buNone/>
            </a:pPr>
            <a:r>
              <a:rPr/>
              <a:t>What did you do to work around it? (Workarounds reveal severity)</a:t>
            </a:r>
          </a:p>
          <a:p>
            <a:pPr lvl="0" indent="0" marL="0">
              <a:buNone/>
            </a:pPr>
            <a:r>
              <a:rPr/>
              <a:t>How often does that happen? (Frequency calibrates impact)</a:t>
            </a:r>
          </a:p>
          <a:p>
            <a:pPr lvl="0" indent="0" marL="0">
              <a:buNone/>
            </a:pPr>
            <a:r>
              <a:rPr/>
              <a:t>If you could wave a wand, what would change? (Only at the end, and discount heavily)</a:t>
            </a:r>
          </a:p>
          <a:p>
            <a:pPr lvl="0" indent="0" marL="0">
              <a:buNone/>
            </a:pPr>
            <a:r>
              <a:rPr/>
              <a:t>Do not ask: “Would you use a product that did X?” The answer is always yes. Observe past behavior instead.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⚠️ Bias Traps in the Room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Bias</a:t>
            </a:r>
          </a:p>
          <a:p>
            <a:pPr lvl="0" indent="0" marL="0">
              <a:buNone/>
            </a:pPr>
            <a:r>
              <a:rPr/>
              <a:t>What it sounds like</a:t>
            </a:r>
          </a:p>
          <a:p>
            <a:pPr lvl="0" indent="0" marL="0">
              <a:buNone/>
            </a:pPr>
            <a:r>
              <a:rPr/>
              <a:t>Correction</a:t>
            </a:r>
          </a:p>
          <a:p>
            <a:pPr lvl="0" indent="0" marL="0">
              <a:buNone/>
            </a:pPr>
            <a:r>
              <a:rPr/>
              <a:t>Leading question</a:t>
            </a:r>
          </a:p>
          <a:p>
            <a:pPr lvl="0" indent="0" marL="0">
              <a:buNone/>
            </a:pPr>
            <a:r>
              <a:rPr/>
              <a:t>“Wouldn’t it be great if…?”</a:t>
            </a:r>
          </a:p>
          <a:p>
            <a:pPr lvl="0" indent="0" marL="0">
              <a:buNone/>
            </a:pPr>
            <a:r>
              <a:rPr/>
              <a:t>Rephrase to past-tense behavior</a:t>
            </a:r>
          </a:p>
          <a:p>
            <a:pPr lvl="0" indent="0" marL="0">
              <a:buNone/>
            </a:pPr>
            <a:r>
              <a:rPr/>
              <a:t>Confirmation</a:t>
            </a:r>
          </a:p>
          <a:p>
            <a:pPr lvl="0" indent="0" marL="0">
              <a:buNone/>
            </a:pPr>
            <a:r>
              <a:rPr/>
              <a:t>Only listening for “yes”</a:t>
            </a:r>
          </a:p>
          <a:p>
            <a:pPr lvl="0" indent="0" marL="0">
              <a:buNone/>
            </a:pPr>
            <a:r>
              <a:rPr/>
              <a:t>Write down the 3 things that didn’t fit your hypothesis</a:t>
            </a:r>
          </a:p>
          <a:p>
            <a:pPr lvl="0" indent="0" marL="0">
              <a:buNone/>
            </a:pPr>
            <a:r>
              <a:rPr/>
              <a:t>Single-story</a:t>
            </a:r>
          </a:p>
          <a:p>
            <a:pPr lvl="0" indent="0" marL="0">
              <a:buNone/>
            </a:pPr>
            <a:r>
              <a:rPr/>
              <a:t>N=1 generalized to a persona</a:t>
            </a:r>
          </a:p>
          <a:p>
            <a:pPr lvl="0" indent="0" marL="0">
              <a:buNone/>
            </a:pPr>
            <a:r>
              <a:rPr/>
              <a:t>Require 3+ interviews before claims</a:t>
            </a:r>
          </a:p>
          <a:p>
            <a:pPr lvl="0" indent="0" marL="0">
              <a:buNone/>
            </a:pPr>
            <a:r>
              <a:rPr/>
              <a:t>Enthusiasm</a:t>
            </a:r>
          </a:p>
          <a:p>
            <a:pPr lvl="0" indent="0" marL="0">
              <a:buNone/>
            </a:pPr>
            <a:r>
              <a:rPr/>
              <a:t>“They loved it!”</a:t>
            </a:r>
          </a:p>
          <a:p>
            <a:pPr lvl="0" indent="0" marL="0">
              <a:buNone/>
            </a:pPr>
            <a:r>
              <a:rPr/>
              <a:t>Count compliments vs purchase/use signals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3 — Role-Play Interviews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Quads (rotating roles) • 50 minutes</a:t>
            </a:r>
          </a:p>
          <a:p>
            <a:pPr lvl="0" indent="0" marL="0">
              <a:buNone/>
            </a:pPr>
            <a:r>
              <a:rPr/>
              <a:t>Each quad member takes a turn in all three roles: interviewer, interviewee (given a FieldPulse dispatcher character card), observer (tallies bias traps).</a:t>
            </a:r>
          </a:p>
          <a:p>
            <a:pPr lvl="0" indent="0" marL="0">
              <a:buNone/>
            </a:pPr>
            <a:r>
              <a:rPr/>
              <a:t>10 min per rotation: 7 min interview + 3 min debrief</a:t>
            </a:r>
          </a:p>
          <a:p>
            <a:pPr lvl="0" indent="0" marL="0">
              <a:buNone/>
            </a:pPr>
            <a:r>
              <a:rPr/>
              <a:t>Observer uses a provided tally sheet (leading, confirmation, enthusiasm)</a:t>
            </a:r>
          </a:p>
          <a:p>
            <a:pPr lvl="0" indent="0" marL="0">
              <a:buNone/>
            </a:pPr>
            <a:r>
              <a:rPr/>
              <a:t>After three rounds: which validation target did not survive contact?</a:t>
            </a:r>
          </a:p>
          <a:p>
            <a:pPr lvl="0" indent="0" marL="0">
              <a:buNone/>
            </a:pPr>
            <a:r>
              <a:rPr/>
              <a:t>⏱ 30 min rotations · 20 min synthesize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4 — JTBD Stress-Test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Does this persona explain why they’d hire (or fire) your product?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🔨 Jobs to Be Done, Briefly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Job to Be Done is the progress a customer is trying to make in a particular circumstance. Products are “hired” to make that progress and “fired” when something better comes along.</a:t>
            </a:r>
          </a:p>
          <a:p>
            <a:pPr lvl="0" indent="0" marL="0">
              <a:buNone/>
            </a:pPr>
            <a:r>
              <a:rPr/>
              <a:t>Form: “When I [circumstance], I want to [motivation], so I can [expected outcome].”</a:t>
            </a:r>
          </a:p>
          <a:p>
            <a:pPr lvl="0" indent="0" marL="0">
              <a:buNone/>
            </a:pPr>
            <a:r>
              <a:rPr/>
              <a:t>Example: “When a tech calls out sick mid-shift, I want to re-route the remaining jobs without re-keying them, so I can keep promised ETAs without staying late.”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🧪 The Stress-Test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each JTBD, can the persona produce a concrete last-time-this-happened story?</a:t>
            </a:r>
          </a:p>
          <a:p>
            <a:pPr lvl="0" indent="0" marL="0">
              <a:buNone/>
            </a:pPr>
            <a:r>
              <a:rPr/>
              <a:t>Does the persona’s current behavior explain what they “hire” today (even if it’s a paper notebook)?</a:t>
            </a:r>
          </a:p>
          <a:p>
            <a:pPr lvl="0" indent="0" marL="0">
              <a:buNone/>
            </a:pPr>
            <a:r>
              <a:rPr/>
              <a:t>If your product didn’t exist, what would they do instead? Is that a credible fallback?</a:t>
            </a:r>
          </a:p>
          <a:p>
            <a:pPr lvl="0" indent="0" marL="0">
              <a:buNone/>
            </a:pPr>
            <a:r>
              <a:rPr/>
              <a:t>What would have to be true for them to fire your product?</a:t>
            </a:r>
          </a:p>
          <a:p>
            <a:pPr lvl="0" indent="0" marL="0">
              <a:buNone/>
            </a:pPr>
            <a:r>
              <a:rPr/>
              <a:t>If the persona survives all four, you have something to engineer against. If not, you have an interview plan.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4 — JTBD Cross-Examination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Paired quads • 60 minutes • Readouts</a:t>
            </a:r>
          </a:p>
          <a:p>
            <a:pPr lvl="0" indent="0" marL="0">
              <a:buNone/>
            </a:pPr>
            <a:r>
              <a:rPr/>
              <a:t>Quads pair. Each presents their persona + 2 JTBDs. The other quad plays “skeptical engineer” and runs the stress-test checklist out loud.</a:t>
            </a:r>
          </a:p>
          <a:p>
            <a:pPr lvl="0" indent="0" marL="0">
              <a:buNone/>
            </a:pPr>
            <a:r>
              <a:rPr/>
              <a:t>Every “I don’t know” goes on a parking lot of open validation questions</a:t>
            </a:r>
          </a:p>
          <a:p>
            <a:pPr lvl="0" indent="0" marL="0">
              <a:buNone/>
            </a:pPr>
            <a:r>
              <a:rPr/>
              <a:t>Revise the persona to downgrade or remove unsupported claims</a:t>
            </a:r>
          </a:p>
          <a:p>
            <a:pPr lvl="0" indent="0" marL="0">
              <a:buNone/>
            </a:pPr>
            <a:r>
              <a:rPr/>
              <a:t>60-second readout: one claim we upgraded, one we had to drop</a:t>
            </a:r>
          </a:p>
          <a:p>
            <a:pPr lvl="0" indent="0" marL="0">
              <a:buNone/>
            </a:pPr>
            <a:r>
              <a:rPr/>
              <a:t>⏱ 25 min per direction · 10 min full-room readouts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🎉 Day 3 Wrap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built</a:t>
            </a:r>
          </a:p>
          <a:p>
            <a:pPr lvl="0" indent="0" marL="0">
              <a:buNone/>
            </a:pPr>
            <a:r>
              <a:rPr/>
              <a:t>An evidence-tagged persona per quad</a:t>
            </a:r>
          </a:p>
          <a:p>
            <a:pPr lvl="0" indent="0" marL="0">
              <a:buNone/>
            </a:pPr>
            <a:r>
              <a:rPr/>
              <a:t>A validation interview protocol we can rerun anytime</a:t>
            </a:r>
          </a:p>
          <a:p>
            <a:pPr lvl="0" indent="0" marL="0">
              <a:buNone/>
            </a:pPr>
            <a:r>
              <a:rPr/>
              <a:t>A JTBD-based stress-test for personas</a:t>
            </a:r>
          </a:p>
          <a:p>
            <a:pPr lvl="0" indent="0" marL="0">
              <a:buNone/>
            </a:pPr>
            <a:r>
              <a:rPr/>
              <a:t>What opens tomorrow</a:t>
            </a:r>
          </a:p>
          <a:p>
            <a:pPr lvl="0" indent="0" marL="0">
              <a:buNone/>
            </a:pPr>
            <a:r>
              <a:rPr/>
              <a:t>Pain points — we take the persona’s “pains” box and turn it into a ranked, scored map</a:t>
            </a:r>
          </a:p>
          <a:p>
            <a:pPr lvl="0" indent="0" marL="0">
              <a:buNone/>
            </a:pPr>
            <a:r>
              <a:rPr/>
              <a:t>Your validated persona is the input</a:t>
            </a:r>
          </a:p>
          <a:p>
            <a:pPr lvl="0" indent="0" marL="0">
              <a:buNone/>
            </a:pPr>
            <a:r>
              <a:rPr/>
              <a:t>Bring to Day 4: Your persona sheet + at least 5 candidate pain points extracted from it.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💬 Questions &amp;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What’s the one assumption you’re leaving the day without having validated?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2026-08-23T18:35:42Z</dcterms:created>
  <dcterms:modified xsi:type="dcterms:W3CDTF">2026-08-23T18:35:42Z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