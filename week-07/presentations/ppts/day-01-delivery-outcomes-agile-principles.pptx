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notesMaster" Target="notesMasters/notesMaster1.xml" /><Relationship Id="rId27" Type="http://schemas.openxmlformats.org/officeDocument/2006/relationships/viewProps" Target="viewProps.xml" /><Relationship Id="rId2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9" Type="http://schemas.openxmlformats.org/officeDocument/2006/relationships/tableStyles" Target="tableStyles.xml" /><Relationship Id="rId28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_rels/notesSlide22.xml.rels><?xml version="1.0" encoding="UTF-8"?><Relationships xmlns="http://schemas.openxmlformats.org/package/2006/relationships"><Relationship Id="rId2" Type="http://schemas.openxmlformats.org/officeDocument/2006/relationships/slide" Target="../slides/slide23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Welcome to Week 7. Delivery week. Today we separate outputs from outcomes and use the Agile Manifesto as a decision aid.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By 16:00, every triad has DP §1.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Arc: distinguish → build → apply Agile →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Frame the block: the foundational distinction. Set context briefly, then move into the teaching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“The outcome is shipping the feature” is an output dressed in outcome’s clothes. Catch this language.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Velocity-as-success is the trap. Velocity is throughput; it isn’t outcome.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“Downloads” (#5) is the trap. “Active dispatchers with definition” (#12) is the cleanest outcome.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Frame the block: primary + supporting + counter-outcomes. Set context briefly, then move into the teaching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Counter-outcomes inherit from the NS Defense Card (Wk 2 D2). Reuse.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Note the “Explicitly NOT” line. Catches expectation creep.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If a triad lists 8+ supporting outcomes, force a cull. 4 max.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Frame the block: values, not ceremony. Set context briefly, then move into the teaching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Manifesto is a prioritization aid, not a checklist.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14</a:t>
            </a:fld>
            <a:endParaRPr lang="en-US"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“Manifesto says no docs” misreading is the most common rookie error.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12 total principles; we focus on 6 most relevant for TPM trade-off thinking.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16</a:t>
            </a:fld>
            <a:endParaRPr lang="en-US"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If discussion drifts to ceremony talk, redirect to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17</a:t>
            </a:fld>
            <a:endParaRPr lang="en-US"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Frame the block: catch outputs masquerading as outcomes. Set context briefly, then move into the teaching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18</a:t>
            </a:fld>
            <a:endParaRPr lang="en-US"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Reviewer triads ask these 4. Author triad listens; same Wk-3 review discipline.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Add to Pattern Library. Reusable for future features.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20</a:t>
            </a:fld>
            <a:endParaRPr lang="en-US"/>
          </a:p>
        </p:txBody>
      </p:sp>
    </p:spTree>
  </p:cSld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Wrap-share: primary outcome aloud, Manifesto value invoked, output that almost masqueraded.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21</a:t>
            </a:fld>
            <a:endParaRPr lang="en-US"/>
          </a:p>
        </p:txBody>
      </p:sp>
    </p:spTree>
  </p:cSld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Round-robin close: each person says one output they’ll never confuse with an outcome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22</a:t>
            </a:fld>
            <a:endParaRPr lang="en-US"/>
          </a:p>
        </p:txBody>
      </p:sp>
    </p:spTree>
  </p:cSld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Open the floor. Use the prompt — “Which output are you currently chasing because it’s measurable, even though it’s not the outcome?” — to invite one short reflection per voice. Keep it tight; this is closure, not new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23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4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5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6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7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8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9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0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1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🎯 Delivery Outcomes &amp; Agile Principles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Week 7 • Day 1 • Agile Delivery &amp; ADO Mastery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TPM Academy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🎯 Day 1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Distinguish outputs (what we shipped) from outcomes (what changed for the user/business)</a:t>
            </a:r>
          </a:p>
          <a:p>
            <a:pPr lvl="0" indent="0" marL="0">
              <a:buNone/>
            </a:pPr>
            <a:r>
              <a:rPr/>
              <a:t>Apply the Agile Manifesto values as a decision-making aid — not as ceremony</a:t>
            </a:r>
          </a:p>
          <a:p>
            <a:pPr lvl="0" indent="0" marL="0">
              <a:buNone/>
            </a:pPr>
            <a:r>
              <a:rPr/>
              <a:t>Build an outcome map for your feature, tied to NS / Tier Sheet</a:t>
            </a:r>
          </a:p>
          <a:p>
            <a:pPr lvl="0" indent="0" marL="0">
              <a:buNone/>
            </a:pPr>
            <a:r>
              <a:rPr/>
              <a:t>Name counter-outcomes — the guardrails against winning for the wrong reasons</a:t>
            </a:r>
          </a:p>
          <a:p>
            <a:pPr lvl="0" indent="0" marL="0">
              <a:buNone/>
            </a:pPr>
            <a:r>
              <a:rPr/>
              <a:t>Draft DP §1 — Outcome Map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🕑 Today’s Shape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Clock</a:t>
            </a:r>
          </a:p>
          <a:p>
            <a:pPr lvl="0" indent="0" marL="0">
              <a:buNone/>
            </a:pPr>
            <a:r>
              <a:rPr/>
              <a:t>Block</a:t>
            </a:r>
          </a:p>
          <a:p>
            <a:pPr lvl="0" indent="0" marL="0">
              <a:buNone/>
            </a:pPr>
            <a:r>
              <a:rPr/>
              <a:t>Outcome</a:t>
            </a:r>
          </a:p>
          <a:p>
            <a:pPr lvl="0" indent="0" marL="0">
              <a:buNone/>
            </a:pPr>
            <a:r>
              <a:rPr/>
              <a:t>09:00 – 09:15</a:t>
            </a:r>
          </a:p>
          <a:p>
            <a:pPr lvl="0" indent="0" marL="0">
              <a:buNone/>
            </a:pPr>
            <a:r>
              <a:rPr/>
              <a:t>Opening</a:t>
            </a:r>
          </a:p>
          <a:p>
            <a:pPr lvl="0" indent="0" marL="0">
              <a:buNone/>
            </a:pPr>
            <a:r>
              <a:rPr/>
              <a:t>Pin the artifact set (PRD/TCD/TMD/SEP)</a:t>
            </a:r>
          </a:p>
          <a:p>
            <a:pPr lvl="0" indent="0" marL="0">
              <a:buNone/>
            </a:pPr>
            <a:r>
              <a:rPr/>
              <a:t>09:15 – 10:30</a:t>
            </a:r>
          </a:p>
          <a:p>
            <a:pPr lvl="0" indent="0" marL="0">
              <a:buNone/>
            </a:pPr>
            <a:r>
              <a:rPr/>
              <a:t>Block 1 + Activity 1</a:t>
            </a:r>
          </a:p>
          <a:p>
            <a:pPr lvl="0" indent="0" marL="0">
              <a:buNone/>
            </a:pPr>
            <a:r>
              <a:rPr/>
              <a:t>Output / Outcome sort</a:t>
            </a:r>
          </a:p>
          <a:p>
            <a:pPr lvl="0" indent="0" marL="0">
              <a:buNone/>
            </a:pPr>
            <a:r>
              <a:rPr/>
              <a:t>10:45 – 12:00</a:t>
            </a:r>
          </a:p>
          <a:p>
            <a:pPr lvl="0" indent="0" marL="0">
              <a:buNone/>
            </a:pPr>
            <a:r>
              <a:rPr/>
              <a:t>Block 2 + Activity 2</a:t>
            </a:r>
          </a:p>
          <a:p>
            <a:pPr lvl="0" indent="0" marL="0">
              <a:buNone/>
            </a:pPr>
            <a:r>
              <a:rPr/>
              <a:t>Build your outcome map</a:t>
            </a:r>
          </a:p>
          <a:p>
            <a:pPr lvl="0" indent="0" marL="0">
              <a:buNone/>
            </a:pPr>
            <a:r>
              <a:rPr/>
              <a:t>13:00 – 14:15</a:t>
            </a:r>
          </a:p>
          <a:p>
            <a:pPr lvl="0" indent="0" marL="0">
              <a:buNone/>
            </a:pPr>
            <a:r>
              <a:rPr/>
              <a:t>Block 3 + Activity 3</a:t>
            </a:r>
          </a:p>
          <a:p>
            <a:pPr lvl="0" indent="0" marL="0">
              <a:buNone/>
            </a:pPr>
            <a:r>
              <a:rPr/>
              <a:t>Agile values in trade-offs</a:t>
            </a:r>
          </a:p>
          <a:p>
            <a:pPr lvl="0" indent="0" marL="0">
              <a:buNone/>
            </a:pPr>
            <a:r>
              <a:rPr/>
              <a:t>14:30 – 16:00</a:t>
            </a:r>
          </a:p>
          <a:p>
            <a:pPr lvl="0" indent="0" marL="0">
              <a:buNone/>
            </a:pPr>
            <a:r>
              <a:rPr/>
              <a:t>Block 4 + Activity 4 + Wrap</a:t>
            </a:r>
          </a:p>
          <a:p>
            <a:pPr lvl="0" indent="0" marL="0">
              <a:buNone/>
            </a:pPr>
            <a:r>
              <a:rPr/>
              <a:t>Cross-review + AI sanity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1 — Output vs Outcome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The foundational distinction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📚 Output vs Outcome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Output</a:t>
            </a:r>
          </a:p>
          <a:p>
            <a:pPr lvl="0" indent="0" marL="0">
              <a:buNone/>
            </a:pPr>
            <a:r>
              <a:rPr/>
              <a:t>Outcome</a:t>
            </a:r>
          </a:p>
          <a:p>
            <a:pPr lvl="0" indent="0" marL="0">
              <a:buNone/>
            </a:pPr>
            <a:r>
              <a:rPr/>
              <a:t>What we built / shipped</a:t>
            </a:r>
          </a:p>
          <a:p>
            <a:pPr lvl="0" indent="0" marL="0">
              <a:buNone/>
            </a:pPr>
            <a:r>
              <a:rPr/>
              <a:t>What changed for user / business</a:t>
            </a:r>
          </a:p>
          <a:p>
            <a:pPr lvl="0" indent="0" marL="0">
              <a:buNone/>
            </a:pPr>
            <a:r>
              <a:rPr/>
              <a:t>“Reconcile flow shipped July 15”</a:t>
            </a:r>
          </a:p>
          <a:p>
            <a:pPr lvl="0" indent="0" marL="0">
              <a:buNone/>
            </a:pPr>
            <a:r>
              <a:rPr/>
              <a:t>“Dispatchers spend 30 min less per shift”</a:t>
            </a:r>
          </a:p>
          <a:p>
            <a:pPr lvl="0" indent="0" marL="0">
              <a:buNone/>
            </a:pPr>
            <a:r>
              <a:rPr/>
              <a:t>Easy to measure</a:t>
            </a:r>
          </a:p>
          <a:p>
            <a:pPr lvl="0" indent="0" marL="0">
              <a:buNone/>
            </a:pPr>
            <a:r>
              <a:rPr/>
              <a:t>Harder to measure</a:t>
            </a:r>
          </a:p>
          <a:p>
            <a:pPr lvl="0" indent="0" marL="0">
              <a:buNone/>
            </a:pPr>
            <a:r>
              <a:rPr/>
              <a:t>Can be hit while losing</a:t>
            </a:r>
          </a:p>
          <a:p>
            <a:pPr lvl="0" indent="0" marL="0">
              <a:buNone/>
            </a:pPr>
            <a:r>
              <a:rPr/>
              <a:t>If hit, you actually won</a:t>
            </a:r>
          </a:p>
          <a:p>
            <a:pPr lvl="0" indent="0" marL="0">
              <a:buNone/>
            </a:pPr>
            <a:r>
              <a:rPr/>
              <a:t>The most common shipping-but-failing pattern: the team can hit all outputs and miss all outcomes.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📚 The Discipline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Every output maps to one or more outcomes</a:t>
            </a:r>
          </a:p>
          <a:p>
            <a:pPr lvl="0" indent="0" marL="0">
              <a:buNone/>
            </a:pPr>
            <a:r>
              <a:rPr/>
              <a:t>Every outcome has at least one leading indicator (Day 3)</a:t>
            </a:r>
          </a:p>
          <a:p>
            <a:pPr lvl="0" indent="0" marL="0">
              <a:buNone/>
            </a:pPr>
            <a:r>
              <a:rPr/>
              <a:t>If you can hit the outputs but not move any outcome, the work is theatre</a:t>
            </a:r>
          </a:p>
          <a:p>
            <a:pPr lvl="0" indent="0" marL="0">
              <a:buNone/>
            </a:pPr>
            <a:r>
              <a:rPr/>
              <a:t>Watch for: “we delivered all 23 user stories in the sprint.” That’s an output statement. Where’s the outcome?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1 — Output / Outcome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• 35 minutes</a:t>
            </a:r>
          </a:p>
          <a:p>
            <a:pPr lvl="0" indent="0" marL="0">
              <a:buNone/>
            </a:pPr>
            <a:r>
              <a:rPr/>
              <a:t>12 statements. Label each: Output / Outcome / Both / Neither. Argue when you disagree. Rewrite the “Both”-labeled ones cleanly.</a:t>
            </a:r>
          </a:p>
          <a:p>
            <a:pPr lvl="0" indent="0" marL="0">
              <a:buNone/>
            </a:pPr>
            <a:r>
              <a:rPr/>
              <a:t>15 min: label all 12</a:t>
            </a:r>
          </a:p>
          <a:p>
            <a:pPr lvl="0" indent="0" marL="0">
              <a:buNone/>
            </a:pPr>
            <a:r>
              <a:rPr/>
              <a:t>15 min: argue + rewrite</a:t>
            </a:r>
          </a:p>
          <a:p>
            <a:pPr lvl="0" indent="0" marL="0">
              <a:buNone/>
            </a:pPr>
            <a:r>
              <a:rPr/>
              <a:t>5 min: readout prep</a:t>
            </a:r>
          </a:p>
          <a:p>
            <a:pPr lvl="0" indent="0" marL="0">
              <a:buNone/>
            </a:pPr>
            <a:r>
              <a:rPr/>
              <a:t>⏱ 15 + 15 + 5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2 — Build Your Outcome 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Primary + supporting + counter-outcomes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📋 Outcome Map Structure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📝 Worked Outcome Map (FieldPulse)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2 — Build Your Outcome 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• 40 minutes</a:t>
            </a:r>
          </a:p>
          <a:p>
            <a:pPr lvl="0" indent="0" marL="0">
              <a:buNone/>
            </a:pPr>
            <a:r>
              <a:rPr/>
              <a:t>10 min: pull primary outcome from NS / Tier Sheet</a:t>
            </a:r>
          </a:p>
          <a:p>
            <a:pPr lvl="0" indent="0" marL="0">
              <a:buNone/>
            </a:pPr>
            <a:r>
              <a:rPr/>
              <a:t>10 min: list supporting outcomes (2–4)</a:t>
            </a:r>
          </a:p>
          <a:p>
            <a:pPr lvl="0" indent="0" marL="0">
              <a:buNone/>
            </a:pPr>
            <a:r>
              <a:rPr/>
              <a:t>10 min: name counter-outcomes</a:t>
            </a:r>
          </a:p>
          <a:p>
            <a:pPr lvl="0" indent="0" marL="0">
              <a:buNone/>
            </a:pPr>
            <a:r>
              <a:rPr/>
              <a:t>5 min: name “explicitly NOT”</a:t>
            </a:r>
          </a:p>
          <a:p>
            <a:pPr lvl="0" indent="0" marL="0">
              <a:buNone/>
            </a:pPr>
            <a:r>
              <a:rPr/>
              <a:t>5 min: each outcome has a Tier Sheet metric attached</a:t>
            </a:r>
          </a:p>
          <a:p>
            <a:pPr lvl="0" indent="0" marL="0">
              <a:buNone/>
            </a:pPr>
            <a:r>
              <a:rPr/>
              <a:t>⏱ 10 + 10 + 10 + 5 + 5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3 — Agile Manifesto as Decision Aid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Values, not ceremony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📚 The Four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Individuals and interactions over processes and tools</a:t>
            </a:r>
          </a:p>
          <a:p>
            <a:pPr lvl="0" indent="0" marL="0">
              <a:buNone/>
            </a:pPr>
            <a:r>
              <a:rPr/>
              <a:t>Working software over comprehensive documentation</a:t>
            </a:r>
          </a:p>
          <a:p>
            <a:pPr lvl="0" indent="0" marL="0">
              <a:buNone/>
            </a:pPr>
            <a:r>
              <a:rPr/>
              <a:t>Customer collaboration over contract negotiation</a:t>
            </a:r>
          </a:p>
          <a:p>
            <a:pPr lvl="0" indent="0" marL="0">
              <a:buNone/>
            </a:pPr>
            <a:r>
              <a:rPr/>
              <a:t>Responding to change over following a plan</a:t>
            </a:r>
          </a:p>
          <a:p>
            <a:pPr lvl="0" indent="0" marL="0">
              <a:buNone/>
            </a:pPr>
            <a:r>
              <a:rPr/>
              <a:t>“While there is value in the items on the right, we value the items on the left more.”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❌ What the Manifesto DOESN’T Say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Not “no documentation” — PRDs/TCDs/TMDs/SEPs are valuable; they support working software</a:t>
            </a:r>
          </a:p>
          <a:p>
            <a:pPr lvl="0" indent="0" marL="0">
              <a:buNone/>
            </a:pPr>
            <a:r>
              <a:rPr/>
              <a:t>Not “no plans” — plans are essential; rigid adherence isn’t</a:t>
            </a:r>
          </a:p>
          <a:p>
            <a:pPr lvl="0" indent="0" marL="0">
              <a:buNone/>
            </a:pPr>
            <a:r>
              <a:rPr/>
              <a:t>Not “no process” — processes serve people; people don’t serve processes</a:t>
            </a:r>
          </a:p>
          <a:p>
            <a:pPr lvl="0" indent="0" marL="0">
              <a:buNone/>
            </a:pPr>
            <a:r>
              <a:rPr/>
              <a:t>Not “stand-ups daily” — the Manifesto says nothing about meetings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📚 6 Principles to Internalize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Satisfy through early/continuous delivery — small frequent shipments</a:t>
            </a:r>
          </a:p>
          <a:p>
            <a:pPr lvl="0" indent="0" marL="0">
              <a:buNone/>
            </a:pPr>
            <a:r>
              <a:rPr/>
              <a:t>Welcome changing requirements, even late — change is information</a:t>
            </a:r>
          </a:p>
          <a:p>
            <a:pPr lvl="0" indent="0" marL="0">
              <a:buNone/>
            </a:pPr>
            <a:r>
              <a:rPr/>
              <a:t>Deliver working software frequently — weeks, not months</a:t>
            </a:r>
          </a:p>
          <a:p>
            <a:pPr lvl="0" indent="0" marL="0">
              <a:buNone/>
            </a:pPr>
            <a:r>
              <a:rPr/>
              <a:t>Business and developers work together daily — the TPM is the bridge</a:t>
            </a:r>
          </a:p>
          <a:p>
            <a:pPr lvl="0" indent="0" marL="0">
              <a:buNone/>
            </a:pPr>
            <a:r>
              <a:rPr/>
              <a:t>Continuous attention to technical excellence — speed without quality is cowardice</a:t>
            </a:r>
          </a:p>
          <a:p>
            <a:pPr lvl="0" indent="0" marL="0">
              <a:buNone/>
            </a:pPr>
            <a:r>
              <a:rPr/>
              <a:t>Self-organizing teams produce best results — top-down task assignment is a smell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3 — Agile Values in Trade-offs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• 40 minutes</a:t>
            </a:r>
          </a:p>
          <a:p>
            <a:pPr lvl="0" indent="0" marL="0">
              <a:buNone/>
            </a:pPr>
            <a:r>
              <a:rPr/>
              <a:t>4 trade-off scenarios. For each: name the value, what it implies, what it does NOT imply, your decision.</a:t>
            </a:r>
          </a:p>
          <a:p>
            <a:pPr lvl="0" indent="0" marL="0">
              <a:buNone/>
            </a:pPr>
            <a:r>
              <a:rPr/>
              <a:t>32 min: 4 scenarios × 8 min each</a:t>
            </a:r>
          </a:p>
          <a:p>
            <a:pPr lvl="0" indent="0" marL="0">
              <a:buNone/>
            </a:pPr>
            <a:r>
              <a:rPr/>
              <a:t>8 min: synthesis — which value did your triad invoke most?</a:t>
            </a:r>
          </a:p>
          <a:p>
            <a:pPr lvl="0" indent="0" marL="0">
              <a:buNone/>
            </a:pPr>
            <a:r>
              <a:rPr/>
              <a:t>⏱ 8 × 4 + 8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4 — Cross-Review + AI Sanity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Catch outputs masquerading as outcomes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🔎 Cross-Review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Is each “outcome” actually an outcome, or a dressed-up output?</a:t>
            </a:r>
          </a:p>
          <a:p>
            <a:pPr lvl="0" indent="0" marL="0">
              <a:buNone/>
            </a:pPr>
            <a:r>
              <a:rPr/>
              <a:t>Do supporting outcomes overlap?</a:t>
            </a:r>
          </a:p>
          <a:p>
            <a:pPr lvl="0" indent="0" marL="0">
              <a:buNone/>
            </a:pPr>
            <a:r>
              <a:rPr/>
              <a:t>Is the counter-outcome specific enough to detect a real cheat?</a:t>
            </a:r>
          </a:p>
          <a:p>
            <a:pPr lvl="0" indent="0" marL="0">
              <a:buNone/>
            </a:pPr>
            <a:r>
              <a:rPr/>
              <a:t>What outcome is missing?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🧿 AI Sanity Check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4 — Cross-Review +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 pairs • 45 minutes • Wrap</a:t>
            </a:r>
          </a:p>
          <a:p>
            <a:pPr lvl="0" indent="0" marL="0">
              <a:buNone/>
            </a:pPr>
            <a:r>
              <a:rPr/>
              <a:t>20 min: cross-review with 4 questions</a:t>
            </a:r>
          </a:p>
          <a:p>
            <a:pPr lvl="0" indent="0" marL="0">
              <a:buNone/>
            </a:pPr>
            <a:r>
              <a:rPr/>
              <a:t>15 min: author-triad revisions</a:t>
            </a:r>
          </a:p>
          <a:p>
            <a:pPr lvl="0" indent="0" marL="0">
              <a:buNone/>
            </a:pPr>
            <a:r>
              <a:rPr/>
              <a:t>10 min: AI sanity check + adopt/defer/reject</a:t>
            </a:r>
          </a:p>
          <a:p>
            <a:pPr lvl="0" indent="0" marL="0">
              <a:buNone/>
            </a:pPr>
            <a:r>
              <a:rPr/>
              <a:t>⏱ 20 + 15 + 10 · 15-min wrap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🎉 Day 1 Wrap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we built</a:t>
            </a:r>
          </a:p>
          <a:p>
            <a:pPr lvl="0" indent="0" marL="0">
              <a:buNone/>
            </a:pPr>
            <a:r>
              <a:rPr/>
              <a:t>Output/outcome distinction</a:t>
            </a:r>
          </a:p>
          <a:p>
            <a:pPr lvl="0" indent="0" marL="0">
              <a:buNone/>
            </a:pPr>
            <a:r>
              <a:rPr/>
              <a:t>Outcome map (primary + supporting + counter)</a:t>
            </a:r>
          </a:p>
          <a:p>
            <a:pPr lvl="0" indent="0" marL="0">
              <a:buNone/>
            </a:pPr>
            <a:r>
              <a:rPr/>
              <a:t>Agile values as decision aid</a:t>
            </a:r>
          </a:p>
          <a:p>
            <a:pPr lvl="0" indent="0" marL="0">
              <a:buNone/>
            </a:pPr>
            <a:r>
              <a:rPr/>
              <a:t>Cross-reviewed + AI-checked</a:t>
            </a:r>
          </a:p>
          <a:p>
            <a:pPr lvl="0" indent="0" marL="0">
              <a:buNone/>
            </a:pPr>
            <a:r>
              <a:rPr/>
              <a:t>DP §1 drafted</a:t>
            </a:r>
          </a:p>
          <a:p>
            <a:pPr lvl="0" indent="0" marL="0">
              <a:buNone/>
            </a:pPr>
            <a:r>
              <a:rPr/>
              <a:t>What opens tomorrow</a:t>
            </a:r>
          </a:p>
          <a:p>
            <a:pPr lvl="0" indent="0" marL="0">
              <a:buNone/>
            </a:pPr>
            <a:r>
              <a:rPr/>
              <a:t>ADO Usage (hands-on)</a:t>
            </a:r>
          </a:p>
          <a:p>
            <a:pPr lvl="0" indent="0" marL="0">
              <a:buNone/>
            </a:pPr>
            <a:r>
              <a:rPr/>
              <a:t>Epic → Feature → User Story → Task</a:t>
            </a:r>
          </a:p>
          <a:p>
            <a:pPr lvl="0" indent="0" marL="0">
              <a:buNone/>
            </a:pPr>
            <a:r>
              <a:rPr/>
              <a:t>Field discipline; queries; flow charts</a:t>
            </a:r>
          </a:p>
          <a:p>
            <a:pPr lvl="0" indent="0" marL="0">
              <a:buNone/>
            </a:pPr>
            <a:r>
              <a:rPr/>
              <a:t>Bring your laptop</a:t>
            </a:r>
          </a:p>
          <a:p>
            <a:pPr lvl="0" indent="0" marL="0">
              <a:buNone/>
            </a:pPr>
            <a:r>
              <a:rPr/>
              <a:t>Bring to Day 2: DP §1 + ADO access. Tomorrow we load the backlog.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💬 Questions &amp; Reflection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Which output are you currently chasing because it’s measurable, even though it’s not the outcome?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2026-05-28T13:00:03Z</dcterms:created>
  <dcterms:modified xsi:type="dcterms:W3CDTF">2026-05-28T13:00:03Z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