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to Week 7. Delivery week. Today we separate outputs from outcomes and use the Agile Manifesto as a decision aid.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quad has DP Section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distinguish → build → apply Agile →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the foundational distinction.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“The outcome is shipping the feature” is an output dressed in outcome’s clothes. Catch this language.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Velocity-as-success is the trap. Velocity is throughput; it isn’t outcome.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“Downloads” (#5) is the trap. “Active dispatchers with definition” (#12) is the cleanest outcome.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primary + supporting + counter-outcomes.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Counter-outcomes inherit from the NS Defense Card (Wk 2 D2). Reuse.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the “Explicitly NOT” line. Catches expectation creep.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quad lists 8+ supporting outcomes, force a cull. 4 max.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values, not ceremony.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Manifesto is a prioritization aid, not a checklist.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“Manifesto says no docs” misreading is the most common rookie error.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 total principles; we focus on 6 most relevant for TPM trade-off thinking.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discussion drifts to ceremony talk, redirect to decisions.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catch outputs masquerading as outcomes.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Reviewer quads ask these 4. Author quad listens; same Wk-3 review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Reusable for future features.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primary outcome aloud, Manifesto value invoked, output that almost masqueraded.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output they’ll never confuse with an outcome again.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“Which output are you currently chasing because it’s measurable, even though it’s not the outcome?”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🎯 Delivery Outcomes &amp; Agile Principles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7 • Day 1 • Agile Delivery &amp; ADO Mastery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1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Distinguish outputs (what we shipped) from outcomes (what changed for the user/business)</a:t>
            </a:r>
          </a:p>
          <a:p>
            <a:pPr lvl="0" indent="0" marL="0">
              <a:buNone/>
            </a:pPr>
            <a:r>
              <a:rPr/>
              <a:t>Apply the Agile Manifesto values as a decision-making aid — not as ceremony</a:t>
            </a:r>
          </a:p>
          <a:p>
            <a:pPr lvl="0" indent="0" marL="0">
              <a:buNone/>
            </a:pPr>
            <a:r>
              <a:rPr/>
              <a:t>Build an outcome map for your feature, tied to NS / Tier Sheet</a:t>
            </a:r>
          </a:p>
          <a:p>
            <a:pPr lvl="0" indent="0" marL="0">
              <a:buNone/>
            </a:pPr>
            <a:r>
              <a:rPr/>
              <a:t>Name counter-outcomes — the guardrails against winning for the wrong reasons</a:t>
            </a:r>
          </a:p>
          <a:p>
            <a:pPr lvl="0" indent="0" marL="0">
              <a:buNone/>
            </a:pPr>
            <a:r>
              <a:rPr/>
              <a:t>Draft Delivery Plan (DP) Section 1 — Outcome Map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the artifact set (PRD/TCD/TMD/SEP)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Output / Outcome sort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Build your outcome map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Agile values in trade-offs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Cross-review + AI sanity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Output vs Outcome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foundational distinction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Output vs Outcome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Output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What we built / shipped</a:t>
            </a:r>
          </a:p>
          <a:p>
            <a:pPr lvl="0" indent="0" marL="0">
              <a:buNone/>
            </a:pPr>
            <a:r>
              <a:rPr/>
              <a:t>What changed for user / business</a:t>
            </a:r>
          </a:p>
          <a:p>
            <a:pPr lvl="0" indent="0" marL="0">
              <a:buNone/>
            </a:pPr>
            <a:r>
              <a:rPr/>
              <a:t>“Reconcile flow shipped July 15”</a:t>
            </a:r>
          </a:p>
          <a:p>
            <a:pPr lvl="0" indent="0" marL="0">
              <a:buNone/>
            </a:pPr>
            <a:r>
              <a:rPr/>
              <a:t>“Dispatchers spend 30 min less per shift”</a:t>
            </a:r>
          </a:p>
          <a:p>
            <a:pPr lvl="0" indent="0" marL="0">
              <a:buNone/>
            </a:pPr>
            <a:r>
              <a:rPr/>
              <a:t>Easy to measure</a:t>
            </a:r>
          </a:p>
          <a:p>
            <a:pPr lvl="0" indent="0" marL="0">
              <a:buNone/>
            </a:pPr>
            <a:r>
              <a:rPr/>
              <a:t>Harder to measure</a:t>
            </a:r>
          </a:p>
          <a:p>
            <a:pPr lvl="0" indent="0" marL="0">
              <a:buNone/>
            </a:pPr>
            <a:r>
              <a:rPr/>
              <a:t>Can be hit while losing</a:t>
            </a:r>
          </a:p>
          <a:p>
            <a:pPr lvl="0" indent="0" marL="0">
              <a:buNone/>
            </a:pPr>
            <a:r>
              <a:rPr/>
              <a:t>If hit, you actually won</a:t>
            </a:r>
          </a:p>
          <a:p>
            <a:pPr lvl="0" indent="0" marL="0">
              <a:buNone/>
            </a:pPr>
            <a:r>
              <a:rPr/>
              <a:t>The most common shipping-but-failing pattern: the team can hit all outputs and miss all outcomes.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Discipline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output maps to one or more outcomes</a:t>
            </a:r>
          </a:p>
          <a:p>
            <a:pPr lvl="0" indent="0" marL="0">
              <a:buNone/>
            </a:pPr>
            <a:r>
              <a:rPr/>
              <a:t>Every outcome has at least one leading indicator (Day 3)</a:t>
            </a:r>
          </a:p>
          <a:p>
            <a:pPr lvl="0" indent="0" marL="0">
              <a:buNone/>
            </a:pPr>
            <a:r>
              <a:rPr/>
              <a:t>If you can hit the outputs but not move any outcome, the work is theatre</a:t>
            </a:r>
          </a:p>
          <a:p>
            <a:pPr lvl="0" indent="0" marL="0">
              <a:buNone/>
            </a:pPr>
            <a:r>
              <a:rPr/>
              <a:t>Watch for: “we delivered all 23 user stories in the sprint.” That’s an output statement. Where’s the outcome?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Output / Outcome Sort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45 minutes</a:t>
            </a:r>
          </a:p>
          <a:p>
            <a:pPr lvl="0" indent="0" marL="0">
              <a:buNone/>
            </a:pPr>
            <a:r>
              <a:rPr/>
              <a:t>12 statements. Label each: Output / Outcome / Both / Neither. Argue when you disagree. Rewrite the “Both”-labeled ones cleanly.</a:t>
            </a:r>
          </a:p>
          <a:p>
            <a:pPr lvl="0" indent="0" marL="0">
              <a:buNone/>
            </a:pPr>
            <a:r>
              <a:rPr/>
              <a:t>25 min: label all 12</a:t>
            </a:r>
          </a:p>
          <a:p>
            <a:pPr lvl="0" indent="0" marL="0">
              <a:buNone/>
            </a:pPr>
            <a:r>
              <a:rPr/>
              <a:t>15 min: argue + rewrite</a:t>
            </a:r>
          </a:p>
          <a:p>
            <a:pPr lvl="0" indent="0" marL="0">
              <a:buNone/>
            </a:pPr>
            <a:r>
              <a:rPr/>
              <a:t>5 min: readout prep</a:t>
            </a:r>
          </a:p>
          <a:p>
            <a:pPr lvl="0" indent="0" marL="0">
              <a:buNone/>
            </a:pPr>
            <a:r>
              <a:rPr/>
              <a:t>⏱ 25 + 15 + 5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Build Your Outcome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Primary + supporting + counter-outcomes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Outcome Map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outcome ties to a key performance indicator (KPI) from the Tier Sheet.</a:t>
            </a:r>
          </a:p>
          <a:p>
            <a:pPr lvl="0" indent="0">
              <a:buNone/>
            </a:pPr>
            <a:r>
              <a:rPr>
                <a:latin typeface="Courier"/>
              </a:rPr>
              <a:t>### Primary outcome
&lt;user-visible outcome&gt;
Tied to: &lt;NS / KPI from Tier Sheet&gt;
Target movement: &lt;baseline → target&gt; by &lt;timeline&gt;
Leading indicator: &lt;what we'd watch first&gt;
### Supporting outcomes (2–4)
For each: &lt;outcome&gt; / Tied to: ... / Why it matters: ...
### Counter-outcomes (the guardrails)
&lt;outcome we DON'T want — if this happens, we won for the
wrong reasons&gt;
### What this feature explicitly does NOT outcome on
&lt;claims we are NOT making — usually pulled from PRD Section 3 non-goals&gt;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Outcome Map (FieldPulse)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Primary: Median dispatcher reconcile time drops from 45 min
to ≤ 12 min within 30 days of launch.
Tied to: Tier Sheet primary metric.
Leading: % of reconcile-flow runs that complete on
first attempt (target ≥ 80% by week 2).
Supporting:
- Reconcile-flow abandonment drops to ≤ 5%
- Manual override entries per dispatcher drop ≥ 50%
- Mobile reconcile adoption climbs to ≥ 70% of accounts
Counter-outcome: Support tickets about reconcile flow rise
&gt; 20%. (If we won the primary by adding new pain.)
Explicitly NOT outcoming on:
- Tablet adoption (out of scope this iteration)
- Multi-shop manager view metrics (different feature)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Build Your Outcome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20 min: pull primary outcome from NS / Tier Sheet</a:t>
            </a:r>
          </a:p>
          <a:p>
            <a:pPr lvl="0" indent="0" marL="0">
              <a:buNone/>
            </a:pPr>
            <a:r>
              <a:rPr/>
              <a:t>10 min: list supporting outcomes (2–4)</a:t>
            </a:r>
          </a:p>
          <a:p>
            <a:pPr lvl="0" indent="0" marL="0">
              <a:buNone/>
            </a:pPr>
            <a:r>
              <a:rPr/>
              <a:t>10 min: name counter-outcomes</a:t>
            </a:r>
          </a:p>
          <a:p>
            <a:pPr lvl="0" indent="0" marL="0">
              <a:buNone/>
            </a:pPr>
            <a:r>
              <a:rPr/>
              <a:t>5 min: name “explicitly NOT”</a:t>
            </a:r>
          </a:p>
          <a:p>
            <a:pPr lvl="0" indent="0" marL="0">
              <a:buNone/>
            </a:pPr>
            <a:r>
              <a:rPr/>
              <a:t>5 min: each outcome has a Tier Sheet metric attached</a:t>
            </a:r>
          </a:p>
          <a:p>
            <a:pPr lvl="0" indent="0" marL="0">
              <a:buNone/>
            </a:pPr>
            <a:r>
              <a:rPr/>
              <a:t>⏱ 20 + 10 + 10 + 5 + 5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Agile Manifesto as Decision Aid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Values, not ceremony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Four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Individuals and interactions over processes and tools</a:t>
            </a:r>
          </a:p>
          <a:p>
            <a:pPr lvl="0" indent="0" marL="0">
              <a:buNone/>
            </a:pPr>
            <a:r>
              <a:rPr/>
              <a:t>Working software over comprehensive documentation</a:t>
            </a:r>
          </a:p>
          <a:p>
            <a:pPr lvl="0" indent="0" marL="0">
              <a:buNone/>
            </a:pPr>
            <a:r>
              <a:rPr/>
              <a:t>Customer collaboration over contract negotiation</a:t>
            </a:r>
          </a:p>
          <a:p>
            <a:pPr lvl="0" indent="0" marL="0">
              <a:buNone/>
            </a:pPr>
            <a:r>
              <a:rPr/>
              <a:t>Responding to change over following a plan</a:t>
            </a:r>
          </a:p>
          <a:p>
            <a:pPr lvl="0" indent="0" marL="0">
              <a:buNone/>
            </a:pPr>
            <a:r>
              <a:rPr/>
              <a:t>“While there is value in the items on the right, we value the items on the left more.”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❌ What the Manifesto DOESN’T Say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 “no documentation” — the Product Requirements Document (PRD), Technical Concept Document (TCD), Technical Modeling Document (TMD), and Stakeholder Engagement Plan (SEP) are valuable; they support working software</a:t>
            </a:r>
          </a:p>
          <a:p>
            <a:pPr lvl="0" indent="0" marL="0">
              <a:buNone/>
            </a:pPr>
            <a:r>
              <a:rPr/>
              <a:t>Not “no plans” — plans are essential; rigid adherence isn’t</a:t>
            </a:r>
          </a:p>
          <a:p>
            <a:pPr lvl="0" indent="0" marL="0">
              <a:buNone/>
            </a:pPr>
            <a:r>
              <a:rPr/>
              <a:t>Not “no process” — processes serve people; people don’t serve processes</a:t>
            </a:r>
          </a:p>
          <a:p>
            <a:pPr lvl="0" indent="0" marL="0">
              <a:buNone/>
            </a:pPr>
            <a:r>
              <a:rPr/>
              <a:t>Not “stand-ups daily” — the Manifesto says nothing about meetings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6 Principles to Internalize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Satisfy through early/continuous delivery — small frequent shipments</a:t>
            </a:r>
          </a:p>
          <a:p>
            <a:pPr lvl="0" indent="0" marL="0">
              <a:buNone/>
            </a:pPr>
            <a:r>
              <a:rPr/>
              <a:t>Welcome changing requirements, even late — change is information</a:t>
            </a:r>
          </a:p>
          <a:p>
            <a:pPr lvl="0" indent="0" marL="0">
              <a:buNone/>
            </a:pPr>
            <a:r>
              <a:rPr/>
              <a:t>Deliver working software frequently — weeks, not months</a:t>
            </a:r>
          </a:p>
          <a:p>
            <a:pPr lvl="0" indent="0" marL="0">
              <a:buNone/>
            </a:pPr>
            <a:r>
              <a:rPr/>
              <a:t>Business and developers work together daily — the TPM is the bridge</a:t>
            </a:r>
          </a:p>
          <a:p>
            <a:pPr lvl="0" indent="0" marL="0">
              <a:buNone/>
            </a:pPr>
            <a:r>
              <a:rPr/>
              <a:t>Continuous attention to technical excellence — speed without quality is cowardice</a:t>
            </a:r>
          </a:p>
          <a:p>
            <a:pPr lvl="0" indent="0" marL="0">
              <a:buNone/>
            </a:pPr>
            <a:r>
              <a:rPr/>
              <a:t>Self-organizing teams produce best results — top-down task assignment is a smell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Agile Values in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4 trade-off scenarios. For each: name the value, what it implies, what it does NOT imply, your decision.</a:t>
            </a:r>
          </a:p>
          <a:p>
            <a:pPr lvl="0" indent="0" marL="0">
              <a:buNone/>
            </a:pPr>
            <a:r>
              <a:rPr/>
              <a:t>42 min: 4 scenarios × 8 min each</a:t>
            </a:r>
          </a:p>
          <a:p>
            <a:pPr lvl="0" indent="0" marL="0">
              <a:buNone/>
            </a:pPr>
            <a:r>
              <a:rPr/>
              <a:t>8 min: synthesis — which value did your quad invoke most?</a:t>
            </a:r>
          </a:p>
          <a:p>
            <a:pPr lvl="0" indent="0" marL="0">
              <a:buNone/>
            </a:pPr>
            <a:r>
              <a:rPr/>
              <a:t>⏱ 8 × 4 + 8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Cross-Review + AI Sanity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Catch outputs masquerading as outcomes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Cross-Review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 each “outcome” actually an outcome, or a dressed-up output?</a:t>
            </a:r>
          </a:p>
          <a:p>
            <a:pPr lvl="0" indent="0" marL="0">
              <a:buNone/>
            </a:pPr>
            <a:r>
              <a:rPr/>
              <a:t>Do supporting outcomes overlap?</a:t>
            </a:r>
          </a:p>
          <a:p>
            <a:pPr lvl="0" indent="0" marL="0">
              <a:buNone/>
            </a:pPr>
            <a:r>
              <a:rPr/>
              <a:t>Is the counter-outcome specific enough to detect a real cheat?</a:t>
            </a:r>
          </a:p>
          <a:p>
            <a:pPr lvl="0" indent="0" marL="0">
              <a:buNone/>
            </a:pPr>
            <a:r>
              <a:rPr/>
              <a:t>What outcome is missing?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AI Sanity Check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Role: Senior PM coaching outcome thinking.
Context: &lt;paste the outcome map&gt;
Task: Identify where outputs are masquerading as outcomes,
where outcomes are too vague to measure, and any
counter-outcome that could be gamed.
Constraints:
- Be specific to statements given
- Suggest a concrete rewrite
Format: 3 numbered findings.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Cross-Review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 pairs • 55 minutes • Wrap</a:t>
            </a:r>
          </a:p>
          <a:p>
            <a:pPr lvl="0" indent="0" marL="0">
              <a:buNone/>
            </a:pPr>
            <a:r>
              <a:rPr/>
              <a:t>30 min: cross-review with 4 questions</a:t>
            </a:r>
          </a:p>
          <a:p>
            <a:pPr lvl="0" indent="0" marL="0">
              <a:buNone/>
            </a:pPr>
            <a:r>
              <a:rPr/>
              <a:t>15 min: author-quad revisions</a:t>
            </a:r>
          </a:p>
          <a:p>
            <a:pPr lvl="0" indent="0" marL="0">
              <a:buNone/>
            </a:pPr>
            <a:r>
              <a:rPr/>
              <a:t>10 min: AI sanity check + adopt/defer/reject</a:t>
            </a:r>
          </a:p>
          <a:p>
            <a:pPr lvl="0" indent="0" marL="0">
              <a:buNone/>
            </a:pPr>
            <a:r>
              <a:rPr/>
              <a:t>⏱ 30 + 15 + 10 · 15-min wrap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Output/outcome distinction</a:t>
            </a:r>
          </a:p>
          <a:p>
            <a:pPr lvl="0" indent="0" marL="0">
              <a:buNone/>
            </a:pPr>
            <a:r>
              <a:rPr/>
              <a:t>Outcome map (primary + supporting + counter)</a:t>
            </a:r>
          </a:p>
          <a:p>
            <a:pPr lvl="0" indent="0" marL="0">
              <a:buNone/>
            </a:pPr>
            <a:r>
              <a:rPr/>
              <a:t>Agile values as decision aid</a:t>
            </a:r>
          </a:p>
          <a:p>
            <a:pPr lvl="0" indent="0" marL="0">
              <a:buNone/>
            </a:pPr>
            <a:r>
              <a:rPr/>
              <a:t>Cross-reviewed + AI-checked</a:t>
            </a:r>
          </a:p>
          <a:p>
            <a:pPr lvl="0" indent="0" marL="0">
              <a:buNone/>
            </a:pPr>
            <a:r>
              <a:rPr/>
              <a:t>DP Section 1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Azure DevOps (ADO) Usage (hands-on)</a:t>
            </a:r>
          </a:p>
          <a:p>
            <a:pPr lvl="0" indent="0" marL="0">
              <a:buNone/>
            </a:pPr>
            <a:r>
              <a:rPr/>
              <a:t>Epic → Feature → User Story → Task</a:t>
            </a:r>
          </a:p>
          <a:p>
            <a:pPr lvl="0" indent="0" marL="0">
              <a:buNone/>
            </a:pPr>
            <a:r>
              <a:rPr/>
              <a:t>Field discipline; queries; flow charts</a:t>
            </a:r>
          </a:p>
          <a:p>
            <a:pPr lvl="0" indent="0" marL="0">
              <a:buNone/>
            </a:pPr>
            <a:r>
              <a:rPr/>
              <a:t>Bring your laptop</a:t>
            </a:r>
          </a:p>
          <a:p>
            <a:pPr lvl="0" indent="0" marL="0">
              <a:buNone/>
            </a:pPr>
            <a:r>
              <a:rPr/>
              <a:t>Bring to Day 2: DP Section 1 + ADO access. Tomorrow we load the backlog.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output are you currently chasing because it’s measurable, even though it’s not the outcome?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2026-08-28T15:29:05Z</dcterms:created>
  <dcterms:modified xsi:type="dcterms:W3CDTF">2026-08-28T15:29:05Z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