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7. Delivery week. Today we separate outputs from outcomes and use the Agile Manifesto as a decision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distinguish → build → apply Agile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foundational distinction.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outcome is shipping the feature” is an output dressed in outcome’s clothes. Catch this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Velocity-as-success is the trap. Velocity is throughput; it isn’t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“Downloads” (#5) is the trap. “Active dispatchers with definition” (#12) is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primary + supporting + counter-outcomes.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Counter-outcomes inherit from the NS Defense Card (Wk 2 D2).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“Explicitly NOT” line. Catches expectation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8+ supporting outcomes, force a cull. 4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values, not ceremony.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Manifesto is a prioritization aid, not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“Manifesto says no docs” misreading is the most common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total principles; we focus on 6 most relevant for TPM trade-off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discussion drifts to ceremony talk, redirect to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outputs masquerading as 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triads ask these 4. Author triad listens; same Wk-3 review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primary outcome aloud, Manifesto value invoked, output that almost masqueraded.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output they’ll never confuse with an outcome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output are you currently chasing because it’s measurable, even though it’s not the outcome?”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Delivery Outcomes &amp; Agile Principles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1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outputs (what we shipped) from outcomes (what changed for the user/business)</a:t>
            </a:r>
          </a:p>
          <a:p>
            <a:pPr lvl="0" indent="0" marL="0">
              <a:buNone/>
            </a:pPr>
            <a:r>
              <a:rPr/>
              <a:t>Apply the Agile Manifesto values as a decision-making aid — not as ceremony</a:t>
            </a:r>
          </a:p>
          <a:p>
            <a:pPr lvl="0" indent="0" marL="0">
              <a:buNone/>
            </a:pPr>
            <a:r>
              <a:rPr/>
              <a:t>Build an outcome map for your feature, tied to NS / Tier Sheet</a:t>
            </a:r>
          </a:p>
          <a:p>
            <a:pPr lvl="0" indent="0" marL="0">
              <a:buNone/>
            </a:pPr>
            <a:r>
              <a:rPr/>
              <a:t>Name counter-outcomes — the guardrails against winning for the wrong reasons</a:t>
            </a:r>
          </a:p>
          <a:p>
            <a:pPr lvl="0" indent="0" marL="0">
              <a:buNone/>
            </a:pPr>
            <a:r>
              <a:rPr/>
              <a:t>Draft DP §1 — Outcome Map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artifact set (PRD/TCD/TMD/SEP)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sort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your outcome map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Agile values in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foundational distinction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What we built / shipped</a:t>
            </a:r>
          </a:p>
          <a:p>
            <a:pPr lvl="0" indent="0" marL="0">
              <a:buNone/>
            </a:pPr>
            <a:r>
              <a:rPr/>
              <a:t>What changed for user / business</a:t>
            </a:r>
          </a:p>
          <a:p>
            <a:pPr lvl="0" indent="0" marL="0">
              <a:buNone/>
            </a:pPr>
            <a:r>
              <a:rPr/>
              <a:t>“Reconcile flow shipped July 15”</a:t>
            </a:r>
          </a:p>
          <a:p>
            <a:pPr lvl="0" indent="0" marL="0">
              <a:buNone/>
            </a:pPr>
            <a:r>
              <a:rPr/>
              <a:t>“Dispatchers spend 30 min less per shift”</a:t>
            </a:r>
          </a:p>
          <a:p>
            <a:pPr lvl="0" indent="0" marL="0">
              <a:buNone/>
            </a:pPr>
            <a:r>
              <a:rPr/>
              <a:t>Easy to measure</a:t>
            </a:r>
          </a:p>
          <a:p>
            <a:pPr lvl="0" indent="0" marL="0">
              <a:buNone/>
            </a:pPr>
            <a:r>
              <a:rPr/>
              <a:t>Harder to measure</a:t>
            </a:r>
          </a:p>
          <a:p>
            <a:pPr lvl="0" indent="0" marL="0">
              <a:buNone/>
            </a:pPr>
            <a:r>
              <a:rPr/>
              <a:t>Can be hit while losing</a:t>
            </a:r>
          </a:p>
          <a:p>
            <a:pPr lvl="0" indent="0" marL="0">
              <a:buNone/>
            </a:pPr>
            <a:r>
              <a:rPr/>
              <a:t>If hit, you actually won</a:t>
            </a:r>
          </a:p>
          <a:p>
            <a:pPr lvl="0" indent="0" marL="0">
              <a:buNone/>
            </a:pPr>
            <a:r>
              <a:rPr/>
              <a:t>The most common shipping-but-failing pattern: the team can hit all outputs and miss all outcomes.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output maps to one or more outcomes</a:t>
            </a:r>
          </a:p>
          <a:p>
            <a:pPr lvl="0" indent="0" marL="0">
              <a:buNone/>
            </a:pPr>
            <a:r>
              <a:rPr/>
              <a:t>Every outcome has at least one leading indicator (Day 3)</a:t>
            </a:r>
          </a:p>
          <a:p>
            <a:pPr lvl="0" indent="0" marL="0">
              <a:buNone/>
            </a:pPr>
            <a:r>
              <a:rPr/>
              <a:t>If you can hit the outputs but not move any outcome, the work is theatre</a:t>
            </a:r>
          </a:p>
          <a:p>
            <a:pPr lvl="0" indent="0" marL="0">
              <a:buNone/>
            </a:pPr>
            <a:r>
              <a:rPr/>
              <a:t>Watch for: “we delivered all 23 user stories in the sprint.” That’s an output statement. Where’s the outcome?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Output / Outcome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12 statements. Label each: Output / Outcome / Both / Neither. Argue when you disagree. Rewrite the “Both”-labeled ones cleanly.</a:t>
            </a:r>
          </a:p>
          <a:p>
            <a:pPr lvl="0" indent="0" marL="0">
              <a:buNone/>
            </a:pPr>
            <a:r>
              <a:rPr/>
              <a:t>15 min: label all 12</a:t>
            </a:r>
          </a:p>
          <a:p>
            <a:pPr lvl="0" indent="0" marL="0">
              <a:buNone/>
            </a:pPr>
            <a:r>
              <a:rPr/>
              <a:t>15 min: argue + rewrite</a:t>
            </a:r>
          </a:p>
          <a:p>
            <a:pPr lvl="0" indent="0" marL="0">
              <a:buNone/>
            </a:pPr>
            <a:r>
              <a:rPr/>
              <a:t>5 min: readout prep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Primary + supporting + counter-outcomes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Outcome Map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Primary outcome
&lt;user-visible outcome&gt;
Tied to: &lt;NS / KPI from Tier Sheet&gt;
Target movement: &lt;baseline → target&gt; by &lt;timeline&gt;
Leading indicator: &lt;what we'd watch first&gt;
### Supporting outcomes (2–4)
For each: &lt;outcome&gt; / Tied to: ... / Why it matters: ...
### Counter-outcomes (the guardrails)
&lt;outcome we DON'T want — if this happens, we won for the
wrong reasons&gt;
### What this feature explicitly does NOT outcome on
&lt;claims we are NOT making — usually pulled from PRD §3 non-goals&gt;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Outcome Map (FieldPulse)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pull primary outcome from NS / Tier Sheet</a:t>
            </a:r>
          </a:p>
          <a:p>
            <a:pPr lvl="0" indent="0" marL="0">
              <a:buNone/>
            </a:pPr>
            <a:r>
              <a:rPr/>
              <a:t>10 min: list supporting outcomes (2–4)</a:t>
            </a:r>
          </a:p>
          <a:p>
            <a:pPr lvl="0" indent="0" marL="0">
              <a:buNone/>
            </a:pPr>
            <a:r>
              <a:rPr/>
              <a:t>10 min: name counter-outcomes</a:t>
            </a:r>
          </a:p>
          <a:p>
            <a:pPr lvl="0" indent="0" marL="0">
              <a:buNone/>
            </a:pPr>
            <a:r>
              <a:rPr/>
              <a:t>5 min: name “explicitly NOT”</a:t>
            </a:r>
          </a:p>
          <a:p>
            <a:pPr lvl="0" indent="0" marL="0">
              <a:buNone/>
            </a:pPr>
            <a:r>
              <a:rPr/>
              <a:t>5 min: each outcome has a Tier Sheet metric attached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Agile Manifesto as Decision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Values, not ceremony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Individuals and interactions over processes and tools</a:t>
            </a:r>
          </a:p>
          <a:p>
            <a:pPr lvl="0" indent="0" marL="0">
              <a:buNone/>
            </a:pPr>
            <a:r>
              <a:rPr/>
              <a:t>Working software over comprehensive documentation</a:t>
            </a:r>
          </a:p>
          <a:p>
            <a:pPr lvl="0" indent="0" marL="0">
              <a:buNone/>
            </a:pPr>
            <a:r>
              <a:rPr/>
              <a:t>Customer collaboration over contract negotiation</a:t>
            </a:r>
          </a:p>
          <a:p>
            <a:pPr lvl="0" indent="0" marL="0">
              <a:buNone/>
            </a:pPr>
            <a:r>
              <a:rPr/>
              <a:t>Responding to change over following a plan</a:t>
            </a:r>
          </a:p>
          <a:p>
            <a:pPr lvl="0" indent="0" marL="0">
              <a:buNone/>
            </a:pPr>
            <a:r>
              <a:rPr/>
              <a:t>“While there is value in the items on the right, we value the items on the left more.”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What the Manifesto DOESN’T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“no documentation” — PRDs/TCDs/TMDs/SEPs are valuable; they support working software</a:t>
            </a:r>
          </a:p>
          <a:p>
            <a:pPr lvl="0" indent="0" marL="0">
              <a:buNone/>
            </a:pPr>
            <a:r>
              <a:rPr/>
              <a:t>Not “no plans” — plans are essential; rigid adherence isn’t</a:t>
            </a:r>
          </a:p>
          <a:p>
            <a:pPr lvl="0" indent="0" marL="0">
              <a:buNone/>
            </a:pPr>
            <a:r>
              <a:rPr/>
              <a:t>Not “no process” — processes serve people; people don’t serve processes</a:t>
            </a:r>
          </a:p>
          <a:p>
            <a:pPr lvl="0" indent="0" marL="0">
              <a:buNone/>
            </a:pPr>
            <a:r>
              <a:rPr/>
              <a:t>Not “stand-ups daily” — the Manifesto says nothing about meetings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6 Principles to Internalize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Satisfy through early/continuous delivery — small frequent shipments</a:t>
            </a:r>
          </a:p>
          <a:p>
            <a:pPr lvl="0" indent="0" marL="0">
              <a:buNone/>
            </a:pPr>
            <a:r>
              <a:rPr/>
              <a:t>Welcome changing requirements, even late — change is information</a:t>
            </a:r>
          </a:p>
          <a:p>
            <a:pPr lvl="0" indent="0" marL="0">
              <a:buNone/>
            </a:pPr>
            <a:r>
              <a:rPr/>
              <a:t>Deliver working software frequently — weeks, not months</a:t>
            </a:r>
          </a:p>
          <a:p>
            <a:pPr lvl="0" indent="0" marL="0">
              <a:buNone/>
            </a:pPr>
            <a:r>
              <a:rPr/>
              <a:t>Business and developers work together daily — the TPM is the bridge</a:t>
            </a:r>
          </a:p>
          <a:p>
            <a:pPr lvl="0" indent="0" marL="0">
              <a:buNone/>
            </a:pPr>
            <a:r>
              <a:rPr/>
              <a:t>Continuous attention to technical excellence — speed without quality is cowardice</a:t>
            </a:r>
          </a:p>
          <a:p>
            <a:pPr lvl="0" indent="0" marL="0">
              <a:buNone/>
            </a:pPr>
            <a:r>
              <a:rPr/>
              <a:t>Self-organizing teams produce best results — top-down task assignment is a smell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Agile Values in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 trade-off scenarios. For each: name the value, what it implies, what it does NOT imply, your decision.</a:t>
            </a:r>
          </a:p>
          <a:p>
            <a:pPr lvl="0" indent="0" marL="0">
              <a:buNone/>
            </a:pPr>
            <a:r>
              <a:rPr/>
              <a:t>32 min: 4 scenarios × 8 min each</a:t>
            </a:r>
          </a:p>
          <a:p>
            <a:pPr lvl="0" indent="0" marL="0">
              <a:buNone/>
            </a:pPr>
            <a:r>
              <a:rPr/>
              <a:t>8 min: synthesis — which value did your triad invoke most?</a:t>
            </a:r>
          </a:p>
          <a:p>
            <a:pPr lvl="0" indent="0" marL="0">
              <a:buNone/>
            </a:pPr>
            <a:r>
              <a:rPr/>
              <a:t>⏱ 8 × 4 + 8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outputs masquerading as outcomes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“outcome” actually an outcome, or a dressed-up output?</a:t>
            </a:r>
          </a:p>
          <a:p>
            <a:pPr lvl="0" indent="0" marL="0">
              <a:buNone/>
            </a:pPr>
            <a:r>
              <a:rPr/>
              <a:t>Do supporting outcomes overlap?</a:t>
            </a:r>
          </a:p>
          <a:p>
            <a:pPr lvl="0" indent="0" marL="0">
              <a:buNone/>
            </a:pPr>
            <a:r>
              <a:rPr/>
              <a:t>Is the counter-outcome specific enough to detect a real cheat?</a:t>
            </a:r>
          </a:p>
          <a:p>
            <a:pPr lvl="0" indent="0" marL="0">
              <a:buNone/>
            </a:pPr>
            <a:r>
              <a:rPr/>
              <a:t>What outcome is missing?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4 questions</a:t>
            </a:r>
          </a:p>
          <a:p>
            <a:pPr lvl="0" indent="0" marL="0">
              <a:buNone/>
            </a:pPr>
            <a:r>
              <a:rPr/>
              <a:t>15 min: author-triad revisions</a:t>
            </a:r>
          </a:p>
          <a:p>
            <a:pPr lvl="0" indent="0" marL="0">
              <a:buNone/>
            </a:pPr>
            <a:r>
              <a:rPr/>
              <a:t>10 min: AI sanity check + adopt/defer/reject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 distinction</a:t>
            </a:r>
          </a:p>
          <a:p>
            <a:pPr lvl="0" indent="0" marL="0">
              <a:buNone/>
            </a:pPr>
            <a:r>
              <a:rPr/>
              <a:t>Outcome map (primary + supporting + counter)</a:t>
            </a:r>
          </a:p>
          <a:p>
            <a:pPr lvl="0" indent="0" marL="0">
              <a:buNone/>
            </a:pPr>
            <a:r>
              <a:rPr/>
              <a:t>Agile values as decision aid</a:t>
            </a:r>
          </a:p>
          <a:p>
            <a:pPr lvl="0" indent="0" marL="0">
              <a:buNone/>
            </a:pPr>
            <a:r>
              <a:rPr/>
              <a:t>Cross-reviewed + AI-checked</a:t>
            </a:r>
          </a:p>
          <a:p>
            <a:pPr lvl="0" indent="0" marL="0">
              <a:buNone/>
            </a:pPr>
            <a:r>
              <a:rPr/>
              <a:t>DP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ADO Usage (hands-on)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Field discipline; queries; flow charts</a:t>
            </a:r>
          </a:p>
          <a:p>
            <a:pPr lvl="0" indent="0" marL="0">
              <a:buNone/>
            </a:pPr>
            <a:r>
              <a:rPr/>
              <a:t>Bring your laptop</a:t>
            </a:r>
          </a:p>
          <a:p>
            <a:pPr lvl="0" indent="0" marL="0">
              <a:buNone/>
            </a:pPr>
            <a:r>
              <a:rPr/>
              <a:t>Bring to Day 2: DP §1 + ADO access. Tomorrow we load the backlog.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output are you currently chasing because it’s measurable, even though it’s not the outcome?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2026-07-16T20:05:20Z</dcterms:created>
  <dcterms:modified xsi:type="dcterms:W3CDTF">2026-07-16T20:05:20Z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