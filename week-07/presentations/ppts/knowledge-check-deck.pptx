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notesMaster" Target="notesMasters/notesMaster1.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this as a live review game to close the week. Read the question, let triads commit to an answer out loud or on paper, then advance to the answer slide. The goal is retention through retrieval — make them commit before revealing.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commitment before reveal. The retrieval effort is what moves knowledge into long-term memory — passively recognizing the right answer does far less.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 is the trap — an output wearing outcome’s clothes. Listen for that exact phrasing in real backlogs; it’s the tell.</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Hammer the discipline: hitting all outputs while moving no outcome is theatre. Velocity is throughput, not outcome.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“no docs” misreading (A) is the most common rookie error. The Manifesto prioritizes; it doesn’t zero anything out.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Manifesto also says nothing about stand-ups or meeting cadence. Values, not ceremony.</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This tests whether they grasp why the outcome map has a guardrail section at all.</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counter-outcome must be specific enough to detect a real cheat. “Things get worse” is not detectable.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Epic and Task anchor the ends; the middle is the retrieval test. Feature is the deliverable slice; User Story carries user-visible value.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User Stories have user-visible value; Tasks don’t. That’s the line to coach when someone wants a 5th level.</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The number 13 is the top of the standard Fibonacci sequence used here for a reason.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Estimate with planning poker: reveal silently, then discuss — don’t average. The conversation is the value.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All 5 are useful, but the “stale” query is the one that surfaces work everyone forgot — pure TPM leverage.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other four run on their own cadence (standup, daily, sprint review, monthly). Stale is the one rookies never build.</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 is the trap — that’s the outcome (lagging). The whole point of the leading indicator is that it fires early.</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Force “measurable within 7 days.” A leading indicator you can’t read for a month isn’t leading anything.</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This one-liner is the spine of the tracking-cadence table (daily / sprint / monthly / quarterly).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Anchor cadences to real calendar dates, not “monthly-ish.” And every review needs a “decisions” section or it’s just a status meeting.</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 is Little’s Law (cycle time = WIP / throughput) — a strong distractor. Watch who inverts the fraction in A.</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 is Little’s Law for cycle time, not flow efficiency. Keep the two straight — both live in the VSM vocabulary table.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This inverts the real claim — the word “actively worked on” is the tell.</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entry point to VSM — don’t soften it. The queues, not the work, hold the time.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“We’re working on 5 improvements at once” is the anti-pattern this question targets. One constraint governs the system.</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Speeding up coding when code review is the constraint just makes more code wait. Attack the constraint, not the comfortable step.</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 is the trap that kills most improvement efforts. Ownership and dates matter, but measurability is what makes it an experiment.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experiment also needs a decision rule: met → adopt/scale; not met → abandon/iterate/escalate. Design the decision before you run it.</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by asking each triad which single question they got wrong and why. The misses are where Week 8 capstone coaching starts.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Week 7 Knowledge Check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Agile Delivery &amp; ADO Mastery</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How This Works</a:t>
            </a:r>
          </a:p>
        </p:txBody>
      </p:sp>
      <p:sp>
        <p:nvSpPr>
          <p:cNvPr id="3" name="Content Placeholder 2"/>
          <p:cNvSpPr>
            <a:spLocks noGrp="1"/>
          </p:cNvSpPr>
          <p:nvPr>
            <p:ph idx="1"/>
          </p:nvPr>
        </p:nvSpPr>
        <p:spPr/>
        <p:txBody>
          <a:bodyPr/>
          <a:lstStyle/>
          <a:p>
            <a:pPr lvl="0" indent="0" marL="0">
              <a:buNone/>
            </a:pPr>
            <a:r>
              <a:rPr/>
              <a:t>12 questions across the week — outputs vs outcomes, Agile values, ADO discipline, outcome tracking, value stream mapping, bottleneck removal.  Commit to an answer before the reveal. Retrieval is the point.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a:t>
            </a:r>
          </a:p>
        </p:txBody>
      </p:sp>
      <p:sp>
        <p:nvSpPr>
          <p:cNvPr id="3" name="Content Placeholder 2"/>
          <p:cNvSpPr>
            <a:spLocks noGrp="1"/>
          </p:cNvSpPr>
          <p:nvPr>
            <p:ph idx="1"/>
          </p:nvPr>
        </p:nvSpPr>
        <p:spPr/>
        <p:txBody>
          <a:bodyPr/>
          <a:lstStyle/>
          <a:p>
            <a:pPr lvl="0" indent="0" marL="0">
              <a:buNone/>
            </a:pPr>
            <a:r>
              <a:rPr/>
              <a:t>Which of the following is a true outcome rather than an output?</a:t>
            </a:r>
          </a:p>
          <a:p>
            <a:pPr lvl="0" indent="-342900" marL="342900">
              <a:buAutoNum type="alphaUcParenR"/>
            </a:pPr>
            <a:r>
              <a:rPr/>
              <a:t>“Reconcile flow shipped July 15”</a:t>
            </a:r>
          </a:p>
          <a:p>
            <a:pPr lvl="0" indent="-342900" marL="342900">
              <a:buAutoNum type="alphaUcParenR"/>
            </a:pPr>
            <a:r>
              <a:rPr/>
              <a:t>“We delivered all 23 user stories in the sprint”</a:t>
            </a:r>
          </a:p>
          <a:p>
            <a:pPr lvl="0" indent="-342900" marL="342900">
              <a:buAutoNum type="alphaUcParenR"/>
            </a:pPr>
            <a:r>
              <a:rPr/>
              <a:t>“Dispatchers spend 30 minutes less per shift”</a:t>
            </a:r>
          </a:p>
          <a:p>
            <a:pPr lvl="0" indent="-342900" marL="342900">
              <a:buAutoNum type="alphaUcParenR"/>
            </a:pPr>
            <a:r>
              <a:rPr/>
              <a:t>“The outcome is shipping the feature”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 — C</a:t>
            </a:r>
          </a:p>
        </p:txBody>
      </p:sp>
      <p:sp>
        <p:nvSpPr>
          <p:cNvPr id="3" name="Content Placeholder 2"/>
          <p:cNvSpPr>
            <a:spLocks noGrp="1"/>
          </p:cNvSpPr>
          <p:nvPr>
            <p:ph idx="1"/>
          </p:nvPr>
        </p:nvSpPr>
        <p:spPr/>
        <p:txBody>
          <a:bodyPr/>
          <a:lstStyle/>
          <a:p>
            <a:pPr lvl="0" indent="0" marL="0">
              <a:buNone/>
            </a:pPr>
            <a:r>
              <a:rPr/>
              <a:t>“Dispatchers spend 30 minutes less per shift.”</a:t>
            </a:r>
          </a:p>
          <a:p>
            <a:pPr lvl="0" indent="0" marL="0">
              <a:buNone/>
            </a:pPr>
            <a:r>
              <a:rPr/>
              <a:t>That’s what changed for the user. A and B are outputs; D is an output dressed as an outcome.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2</a:t>
            </a:r>
          </a:p>
        </p:txBody>
      </p:sp>
      <p:sp>
        <p:nvSpPr>
          <p:cNvPr id="3" name="Content Placeholder 2"/>
          <p:cNvSpPr>
            <a:spLocks noGrp="1"/>
          </p:cNvSpPr>
          <p:nvPr>
            <p:ph idx="1"/>
          </p:nvPr>
        </p:nvSpPr>
        <p:spPr/>
        <p:txBody>
          <a:bodyPr/>
          <a:lstStyle/>
          <a:p>
            <a:pPr lvl="0" indent="0" marL="0">
              <a:buNone/>
            </a:pPr>
            <a:r>
              <a:rPr/>
              <a:t>The Agile value “working software over comprehensive documentation” most accurately means:</a:t>
            </a:r>
          </a:p>
          <a:p>
            <a:pPr lvl="0" indent="-342900" marL="342900">
              <a:buAutoNum type="alphaUcParenR"/>
            </a:pPr>
            <a:r>
              <a:rPr/>
              <a:t>PRDs, TCDs, and TMDs are waste and should be dropped</a:t>
            </a:r>
          </a:p>
          <a:p>
            <a:pPr lvl="0" indent="-342900" marL="342900">
              <a:buAutoNum type="alphaUcParenR"/>
            </a:pPr>
            <a:r>
              <a:rPr/>
              <a:t>Documentation is valuable, but subordinate to working software</a:t>
            </a:r>
          </a:p>
          <a:p>
            <a:pPr lvl="0" indent="-342900" marL="342900">
              <a:buAutoNum type="alphaUcParenR"/>
            </a:pPr>
            <a:r>
              <a:rPr/>
              <a:t>Teams should stop writing plans</a:t>
            </a:r>
          </a:p>
          <a:p>
            <a:pPr lvl="0" indent="-342900" marL="342900">
              <a:buAutoNum type="alphaUcParenR"/>
            </a:pPr>
            <a:r>
              <a:rPr/>
              <a:t>Daily stand-ups replace written docs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2 — B</a:t>
            </a:r>
          </a:p>
        </p:txBody>
      </p:sp>
      <p:sp>
        <p:nvSpPr>
          <p:cNvPr id="3" name="Content Placeholder 2"/>
          <p:cNvSpPr>
            <a:spLocks noGrp="1"/>
          </p:cNvSpPr>
          <p:nvPr>
            <p:ph idx="1"/>
          </p:nvPr>
        </p:nvSpPr>
        <p:spPr/>
        <p:txBody>
          <a:bodyPr/>
          <a:lstStyle/>
          <a:p>
            <a:pPr lvl="0" indent="0" marL="0">
              <a:buNone/>
            </a:pPr>
            <a:r>
              <a:rPr/>
              <a:t>Documentation is valuable, but subordinate to working software.</a:t>
            </a:r>
          </a:p>
          <a:p>
            <a:pPr lvl="0" indent="0" marL="0">
              <a:buNone/>
            </a:pPr>
            <a:r>
              <a:rPr/>
              <a:t>“While there is value in the items on the right, we value the items on the left more.” The docs support working software — they aren’t waste.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3 — True / False</a:t>
            </a:r>
          </a:p>
        </p:txBody>
      </p:sp>
      <p:sp>
        <p:nvSpPr>
          <p:cNvPr id="3" name="Content Placeholder 2"/>
          <p:cNvSpPr>
            <a:spLocks noGrp="1"/>
          </p:cNvSpPr>
          <p:nvPr>
            <p:ph idx="1"/>
          </p:nvPr>
        </p:nvSpPr>
        <p:spPr/>
        <p:txBody>
          <a:bodyPr/>
          <a:lstStyle/>
          <a:p>
            <a:pPr lvl="0" indent="0" marL="0">
              <a:buNone/>
            </a:pPr>
            <a:r>
              <a:rPr/>
              <a:t>A counter-outcome names a result you don’t want — a guardrail signaling you may have won the primary outcome for the wrong reasons.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3 — True</a:t>
            </a:r>
          </a:p>
        </p:txBody>
      </p:sp>
      <p:sp>
        <p:nvSpPr>
          <p:cNvPr id="3" name="Content Placeholder 2"/>
          <p:cNvSpPr>
            <a:spLocks noGrp="1"/>
          </p:cNvSpPr>
          <p:nvPr>
            <p:ph idx="1"/>
          </p:nvPr>
        </p:nvSpPr>
        <p:spPr/>
        <p:txBody>
          <a:bodyPr/>
          <a:lstStyle/>
          <a:p>
            <a:pPr lvl="0" indent="0" marL="0">
              <a:buNone/>
            </a:pPr>
            <a:r>
              <a:rPr/>
              <a:t>Counter-outcomes are the guardrails (inherited from the NS Defense Card).</a:t>
            </a:r>
          </a:p>
          <a:p>
            <a:pPr lvl="0" indent="0" marL="0">
              <a:buNone/>
            </a:pPr>
            <a:r>
              <a:rPr/>
              <a:t>Example: reconcile time drops, but support tickets rise &gt; 20% — you won the primary by adding new pain.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4</a:t>
            </a:r>
          </a:p>
        </p:txBody>
      </p:sp>
      <p:sp>
        <p:nvSpPr>
          <p:cNvPr id="3" name="Content Placeholder 2"/>
          <p:cNvSpPr>
            <a:spLocks noGrp="1"/>
          </p:cNvSpPr>
          <p:nvPr>
            <p:ph idx="1"/>
          </p:nvPr>
        </p:nvSpPr>
        <p:spPr/>
        <p:txBody>
          <a:bodyPr/>
          <a:lstStyle/>
          <a:p>
            <a:pPr lvl="0" indent="0" marL="0">
              <a:buNone/>
            </a:pPr>
            <a:r>
              <a:rPr/>
              <a:t>The correct ADO 4-level hierarchy, top to bottom, is:</a:t>
            </a:r>
          </a:p>
          <a:p>
            <a:pPr lvl="0" indent="-342900" marL="342900">
              <a:buAutoNum type="alphaUcParenR"/>
            </a:pPr>
            <a:r>
              <a:rPr/>
              <a:t>Feature → Epic → User Story → Task</a:t>
            </a:r>
          </a:p>
          <a:p>
            <a:pPr lvl="0" indent="-342900" marL="342900">
              <a:buAutoNum type="alphaUcParenR"/>
            </a:pPr>
            <a:r>
              <a:rPr/>
              <a:t>Epic → Feature → User Story → Task</a:t>
            </a:r>
          </a:p>
          <a:p>
            <a:pPr lvl="0" indent="-342900" marL="342900">
              <a:buAutoNum type="alphaUcParenR"/>
            </a:pPr>
            <a:r>
              <a:rPr/>
              <a:t>Epic → User Story → Feature → Task</a:t>
            </a:r>
          </a:p>
          <a:p>
            <a:pPr lvl="0" indent="-342900" marL="342900">
              <a:buAutoNum type="alphaUcParenR"/>
            </a:pPr>
            <a:r>
              <a:rPr/>
              <a:t>Epic → Feature → Task → User Story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4 — B</a:t>
            </a:r>
          </a:p>
        </p:txBody>
      </p:sp>
      <p:sp>
        <p:nvSpPr>
          <p:cNvPr id="3" name="Content Placeholder 2"/>
          <p:cNvSpPr>
            <a:spLocks noGrp="1"/>
          </p:cNvSpPr>
          <p:nvPr>
            <p:ph idx="1"/>
          </p:nvPr>
        </p:nvSpPr>
        <p:spPr/>
        <p:txBody>
          <a:bodyPr/>
          <a:lstStyle/>
          <a:p>
            <a:pPr lvl="0" indent="0" marL="0">
              <a:buNone/>
            </a:pPr>
            <a:r>
              <a:rPr/>
              <a:t>Epic → Feature → User Story → Task.</a:t>
            </a:r>
          </a:p>
          <a:p>
            <a:pPr lvl="0" indent="0" marL="0">
              <a:buNone/>
            </a:pPr>
            <a:r>
              <a:rPr/>
              <a:t>Don’t go deeper than 4 levels — and don’t promote a Task to a User Story just to “make it visible.”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5 — True / False</a:t>
            </a:r>
          </a:p>
        </p:txBody>
      </p:sp>
      <p:sp>
        <p:nvSpPr>
          <p:cNvPr id="3" name="Content Placeholder 2"/>
          <p:cNvSpPr>
            <a:spLocks noGrp="1"/>
          </p:cNvSpPr>
          <p:nvPr>
            <p:ph idx="1"/>
          </p:nvPr>
        </p:nvSpPr>
        <p:spPr/>
        <p:txBody>
          <a:bodyPr/>
          <a:lstStyle/>
          <a:p>
            <a:pPr lvl="0" indent="0" marL="0">
              <a:buNone/>
            </a:pPr>
            <a:r>
              <a:rPr/>
              <a:t>A user story estimated at more than 13 story points should be split before it enters a sprint.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5 — True</a:t>
            </a:r>
          </a:p>
        </p:txBody>
      </p:sp>
      <p:sp>
        <p:nvSpPr>
          <p:cNvPr id="3" name="Content Placeholder 2"/>
          <p:cNvSpPr>
            <a:spLocks noGrp="1"/>
          </p:cNvSpPr>
          <p:nvPr>
            <p:ph idx="1"/>
          </p:nvPr>
        </p:nvSpPr>
        <p:spPr/>
        <p:txBody>
          <a:bodyPr/>
          <a:lstStyle/>
          <a:p>
            <a:pPr lvl="0" indent="0" marL="0">
              <a:buNone/>
            </a:pPr>
            <a:r>
              <a:rPr/>
              <a:t>Stories over 13 points are too vague to estimate. Split them.</a:t>
            </a:r>
          </a:p>
          <a:p>
            <a:pPr lvl="0" indent="0" marL="0">
              <a:buNone/>
            </a:pPr>
            <a:r>
              <a:rPr/>
              <a:t>Story points are a learning and calibration tool — even imperfect estimates beat no estimates.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6</a:t>
            </a:r>
          </a:p>
        </p:txBody>
      </p:sp>
      <p:sp>
        <p:nvSpPr>
          <p:cNvPr id="3" name="Content Placeholder 2"/>
          <p:cNvSpPr>
            <a:spLocks noGrp="1"/>
          </p:cNvSpPr>
          <p:nvPr>
            <p:ph idx="1"/>
          </p:nvPr>
        </p:nvSpPr>
        <p:spPr/>
        <p:txBody>
          <a:bodyPr/>
          <a:lstStyle/>
          <a:p>
            <a:pPr lvl="0" indent="0" marL="0">
              <a:buNone/>
            </a:pPr>
            <a:r>
              <a:rPr/>
              <a:t>Which of the 5 essential queries is high-leverage because it catches forgotten work?</a:t>
            </a:r>
          </a:p>
          <a:p>
            <a:pPr lvl="0" indent="-342900" marL="342900">
              <a:buAutoNum type="alphaUcParenR"/>
            </a:pPr>
            <a:r>
              <a:rPr/>
              <a:t>Open in current sprint</a:t>
            </a:r>
          </a:p>
          <a:p>
            <a:pPr lvl="0" indent="-342900" marL="342900">
              <a:buAutoNum type="alphaUcParenR"/>
            </a:pPr>
            <a:r>
              <a:rPr/>
              <a:t>Blocked</a:t>
            </a:r>
          </a:p>
          <a:p>
            <a:pPr lvl="0" indent="-342900" marL="342900">
              <a:buAutoNum type="alphaUcParenR"/>
            </a:pPr>
            <a:r>
              <a:rPr/>
              <a:t>Stale (no movement &gt; N days)</a:t>
            </a:r>
          </a:p>
          <a:p>
            <a:pPr lvl="0" indent="-342900" marL="342900">
              <a:buAutoNum type="alphaUcParenR"/>
            </a:pPr>
            <a:r>
              <a:rPr/>
              <a:t>Done in this sprint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6 — C</a:t>
            </a:r>
          </a:p>
        </p:txBody>
      </p:sp>
      <p:sp>
        <p:nvSpPr>
          <p:cNvPr id="3" name="Content Placeholder 2"/>
          <p:cNvSpPr>
            <a:spLocks noGrp="1"/>
          </p:cNvSpPr>
          <p:nvPr>
            <p:ph idx="1"/>
          </p:nvPr>
        </p:nvSpPr>
        <p:spPr/>
        <p:txBody>
          <a:bodyPr/>
          <a:lstStyle/>
          <a:p>
            <a:pPr lvl="0" indent="0" marL="0">
              <a:buNone/>
            </a:pPr>
            <a:r>
              <a:rPr/>
              <a:t>Stale (no movement &gt; N days).</a:t>
            </a:r>
          </a:p>
          <a:p>
            <a:pPr lvl="0" indent="0" marL="0">
              <a:buNone/>
            </a:pPr>
            <a:r>
              <a:rPr/>
              <a:t>It catches the work that quietly rots in the backlog. Save all 5 queries in a shared folder — they become the team’s heartbeat.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7</a:t>
            </a:r>
          </a:p>
        </p:txBody>
      </p:sp>
      <p:sp>
        <p:nvSpPr>
          <p:cNvPr id="3" name="Content Placeholder 2"/>
          <p:cNvSpPr>
            <a:spLocks noGrp="1"/>
          </p:cNvSpPr>
          <p:nvPr>
            <p:ph idx="1"/>
          </p:nvPr>
        </p:nvSpPr>
        <p:spPr/>
        <p:txBody>
          <a:bodyPr/>
          <a:lstStyle/>
          <a:p>
            <a:pPr lvl="0" indent="0" marL="0">
              <a:buNone/>
            </a:pPr>
            <a:r>
              <a:rPr/>
              <a:t>In the output / outcome / leading-indicator “triple,” the leading indicator is:</a:t>
            </a:r>
          </a:p>
          <a:p>
            <a:pPr lvl="0" indent="-342900" marL="342900">
              <a:buAutoNum type="alphaUcParenR"/>
            </a:pPr>
            <a:r>
              <a:rPr/>
              <a:t>The feature that shipped</a:t>
            </a:r>
          </a:p>
          <a:p>
            <a:pPr lvl="0" indent="-342900" marL="342900">
              <a:buAutoNum type="alphaUcParenR"/>
            </a:pPr>
            <a:r>
              <a:rPr/>
              <a:t>The final business result measured at 30–90 days</a:t>
            </a:r>
          </a:p>
          <a:p>
            <a:pPr lvl="0" indent="-342900" marL="342900">
              <a:buAutoNum type="alphaUcParenR"/>
            </a:pPr>
            <a:r>
              <a:rPr/>
              <a:t>The early signal you can watch before the outcome lands</a:t>
            </a:r>
          </a:p>
          <a:p>
            <a:pPr lvl="0" indent="-342900" marL="342900">
              <a:buAutoNum type="alphaUcParenR"/>
            </a:pPr>
            <a:r>
              <a:rPr/>
              <a:t>The number of stories completed this sprint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7 — C</a:t>
            </a:r>
          </a:p>
        </p:txBody>
      </p:sp>
      <p:sp>
        <p:nvSpPr>
          <p:cNvPr id="3" name="Content Placeholder 2"/>
          <p:cNvSpPr>
            <a:spLocks noGrp="1"/>
          </p:cNvSpPr>
          <p:nvPr>
            <p:ph idx="1"/>
          </p:nvPr>
        </p:nvSpPr>
        <p:spPr/>
        <p:txBody>
          <a:bodyPr/>
          <a:lstStyle/>
          <a:p>
            <a:pPr lvl="0" indent="0" marL="0">
              <a:buNone/>
            </a:pPr>
            <a:r>
              <a:rPr/>
              <a:t>The early signal you can watch before the outcome lands.</a:t>
            </a:r>
          </a:p>
          <a:p>
            <a:pPr lvl="0" indent="0" marL="0">
              <a:buNone/>
            </a:pPr>
            <a:r>
              <a:rPr/>
              <a:t>e.g., first-attempt completion ≥ 80% by week 2. Without it, you wait 30 days to learn the outcome failed.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8 — True / False</a:t>
            </a:r>
          </a:p>
        </p:txBody>
      </p:sp>
      <p:sp>
        <p:nvSpPr>
          <p:cNvPr id="3" name="Content Placeholder 2"/>
          <p:cNvSpPr>
            <a:spLocks noGrp="1"/>
          </p:cNvSpPr>
          <p:nvPr>
            <p:ph idx="1"/>
          </p:nvPr>
        </p:nvSpPr>
        <p:spPr/>
        <p:txBody>
          <a:bodyPr/>
          <a:lstStyle/>
          <a:p>
            <a:pPr lvl="0" indent="0" marL="0">
              <a:buNone/>
            </a:pPr>
            <a:r>
              <a:rPr/>
              <a:t>“If a metric has no cadence, it has no audience.”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8 — True</a:t>
            </a:r>
          </a:p>
        </p:txBody>
      </p:sp>
      <p:sp>
        <p:nvSpPr>
          <p:cNvPr id="3" name="Content Placeholder 2"/>
          <p:cNvSpPr>
            <a:spLocks noGrp="1"/>
          </p:cNvSpPr>
          <p:nvPr>
            <p:ph idx="1"/>
          </p:nvPr>
        </p:nvSpPr>
        <p:spPr/>
        <p:txBody>
          <a:bodyPr/>
          <a:lstStyle/>
          <a:p>
            <a:pPr lvl="0" indent="0" marL="0">
              <a:buNone/>
            </a:pPr>
            <a:r>
              <a:rPr/>
              <a:t>Every metric needs a cadence tied to a real audience.</a:t>
            </a:r>
          </a:p>
          <a:p>
            <a:pPr lvl="0" indent="0" marL="0">
              <a:buNone/>
            </a:pPr>
            <a:r>
              <a:rPr/>
              <a:t>Daily → engineers. Sprint → triad + eng lead. Monthly → TPM + PM director. Quarterly → leadership. No cadence = nobody owns looking.</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9</a:t>
            </a:r>
          </a:p>
        </p:txBody>
      </p:sp>
      <p:sp>
        <p:nvSpPr>
          <p:cNvPr id="3" name="Content Placeholder 2"/>
          <p:cNvSpPr>
            <a:spLocks noGrp="1"/>
          </p:cNvSpPr>
          <p:nvPr>
            <p:ph idx="1"/>
          </p:nvPr>
        </p:nvSpPr>
        <p:spPr/>
        <p:txBody>
          <a:bodyPr/>
          <a:lstStyle/>
          <a:p>
            <a:pPr lvl="0" indent="0" marL="0">
              <a:buNone/>
            </a:pPr>
            <a:r>
              <a:rPr/>
              <a:t>Flow efficiency is calculated as:</a:t>
            </a:r>
          </a:p>
          <a:p>
            <a:pPr lvl="0" indent="-342900" marL="342900">
              <a:buAutoNum type="alphaUcParenR"/>
            </a:pPr>
            <a:r>
              <a:rPr/>
              <a:t>Lead time / process time × 100%</a:t>
            </a:r>
          </a:p>
          <a:p>
            <a:pPr lvl="0" indent="-342900" marL="342900">
              <a:buAutoNum type="alphaUcParenR"/>
            </a:pPr>
            <a:r>
              <a:rPr/>
              <a:t>Process time / lead time × 100%</a:t>
            </a:r>
          </a:p>
          <a:p>
            <a:pPr lvl="0" indent="-342900" marL="342900">
              <a:buAutoNum type="alphaUcParenR"/>
            </a:pPr>
            <a:r>
              <a:rPr/>
              <a:t>WIP / throughput</a:t>
            </a:r>
          </a:p>
          <a:p>
            <a:pPr lvl="0" indent="-342900" marL="342900">
              <a:buAutoNum type="alphaUcParenR"/>
            </a:pPr>
            <a:r>
              <a:rPr/>
              <a:t>Throughput / cycle time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9 — B</a:t>
            </a:r>
          </a:p>
        </p:txBody>
      </p:sp>
      <p:sp>
        <p:nvSpPr>
          <p:cNvPr id="3" name="Content Placeholder 2"/>
          <p:cNvSpPr>
            <a:spLocks noGrp="1"/>
          </p:cNvSpPr>
          <p:nvPr>
            <p:ph idx="1"/>
          </p:nvPr>
        </p:nvSpPr>
        <p:spPr/>
        <p:txBody>
          <a:bodyPr/>
          <a:lstStyle/>
          <a:p>
            <a:pPr lvl="0" indent="0" marL="0">
              <a:buNone/>
            </a:pPr>
            <a:r>
              <a:rPr/>
              <a:t>Process time / lead time × 100%.</a:t>
            </a:r>
          </a:p>
          <a:p>
            <a:pPr lvl="0" indent="0" marL="0">
              <a:buNone/>
            </a:pPr>
            <a:r>
              <a:rPr/>
              <a:t>Hands-on time divided by total time including waiting. Single-digit percentages are typical — that’s the startling number that motivates the whole VSM.</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10 — True / False</a:t>
            </a:r>
          </a:p>
        </p:txBody>
      </p:sp>
      <p:sp>
        <p:nvSpPr>
          <p:cNvPr id="3" name="Content Placeholder 2"/>
          <p:cNvSpPr>
            <a:spLocks noGrp="1"/>
          </p:cNvSpPr>
          <p:nvPr>
            <p:ph idx="1"/>
          </p:nvPr>
        </p:nvSpPr>
        <p:spPr/>
        <p:txBody>
          <a:bodyPr/>
          <a:lstStyle/>
          <a:p>
            <a:pPr lvl="0" indent="0" marL="0">
              <a:buNone/>
            </a:pPr>
            <a:r>
              <a:rPr/>
              <a:t>Lean’s foundational claim is that most of the time work spends in a system is spent being actively worked on, not waiting.</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10 — False</a:t>
            </a:r>
          </a:p>
        </p:txBody>
      </p:sp>
      <p:sp>
        <p:nvSpPr>
          <p:cNvPr id="3" name="Content Placeholder 2"/>
          <p:cNvSpPr>
            <a:spLocks noGrp="1"/>
          </p:cNvSpPr>
          <p:nvPr>
            <p:ph idx="1"/>
          </p:nvPr>
        </p:nvSpPr>
        <p:spPr/>
        <p:txBody>
          <a:bodyPr/>
          <a:lstStyle/>
          <a:p>
            <a:pPr lvl="0" indent="0" marL="0">
              <a:buNone/>
            </a:pPr>
            <a:r>
              <a:rPr/>
              <a:t>The opposite: most time is waiting, not being worked on.</a:t>
            </a:r>
          </a:p>
          <a:p>
            <a:pPr lvl="0" indent="0" marL="0">
              <a:buNone/>
            </a:pPr>
            <a:r>
              <a:rPr/>
              <a:t>A story with 2 hours of coding may sit 3 weeks. Optimize the waiting and you save weeks; optimize coding time and you save minutes.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11</a:t>
            </a:r>
          </a:p>
        </p:txBody>
      </p:sp>
      <p:sp>
        <p:nvSpPr>
          <p:cNvPr id="3" name="Content Placeholder 2"/>
          <p:cNvSpPr>
            <a:spLocks noGrp="1"/>
          </p:cNvSpPr>
          <p:nvPr>
            <p:ph idx="1"/>
          </p:nvPr>
        </p:nvSpPr>
        <p:spPr/>
        <p:txBody>
          <a:bodyPr/>
          <a:lstStyle/>
          <a:p>
            <a:pPr lvl="0" indent="0" marL="0">
              <a:buNone/>
            </a:pPr>
            <a:r>
              <a:rPr/>
              <a:t>Per the Theory of Constraints (Goldratt), a system’s throughput is limited by:</a:t>
            </a:r>
          </a:p>
          <a:p>
            <a:pPr lvl="0" indent="-342900" marL="342900">
              <a:buAutoNum type="alphaUcParenR"/>
            </a:pPr>
            <a:r>
              <a:rPr/>
              <a:t>The sum of all the slow steps</a:t>
            </a:r>
          </a:p>
          <a:p>
            <a:pPr lvl="0" indent="-342900" marL="342900">
              <a:buAutoNum type="alphaUcParenR"/>
            </a:pPr>
            <a:r>
              <a:rPr/>
              <a:t>Exactly one bottleneck at a time</a:t>
            </a:r>
          </a:p>
          <a:p>
            <a:pPr lvl="0" indent="-342900" marL="342900">
              <a:buAutoNum type="alphaUcParenR"/>
            </a:pPr>
            <a:r>
              <a:rPr/>
              <a:t>The team’s average velocity</a:t>
            </a:r>
          </a:p>
          <a:p>
            <a:pPr lvl="0" indent="-342900" marL="342900">
              <a:buAutoNum type="alphaUcParenR"/>
            </a:pPr>
            <a:r>
              <a:rPr/>
              <a:t>The number of code reviewers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11 — B</a:t>
            </a:r>
          </a:p>
        </p:txBody>
      </p:sp>
      <p:sp>
        <p:nvSpPr>
          <p:cNvPr id="3" name="Content Placeholder 2"/>
          <p:cNvSpPr>
            <a:spLocks noGrp="1"/>
          </p:cNvSpPr>
          <p:nvPr>
            <p:ph idx="1"/>
          </p:nvPr>
        </p:nvSpPr>
        <p:spPr/>
        <p:txBody>
          <a:bodyPr/>
          <a:lstStyle/>
          <a:p>
            <a:pPr lvl="0" indent="0" marL="0">
              <a:buNone/>
            </a:pPr>
            <a:r>
              <a:rPr/>
              <a:t>Exactly one bottleneck at a time.</a:t>
            </a:r>
          </a:p>
          <a:p>
            <a:pPr lvl="0" indent="0" marL="0">
              <a:buNone/>
            </a:pPr>
            <a:r>
              <a:rPr/>
              <a:t>Optimize anything else and you just pile inventory in front of the constraint. Find it, move it, then find the next one.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12</a:t>
            </a:r>
          </a:p>
        </p:txBody>
      </p:sp>
      <p:sp>
        <p:nvSpPr>
          <p:cNvPr id="3" name="Content Placeholder 2"/>
          <p:cNvSpPr>
            <a:spLocks noGrp="1"/>
          </p:cNvSpPr>
          <p:nvPr>
            <p:ph idx="1"/>
          </p:nvPr>
        </p:nvSpPr>
        <p:spPr/>
        <p:txBody>
          <a:bodyPr/>
          <a:lstStyle/>
          <a:p>
            <a:pPr lvl="0" indent="0" marL="0">
              <a:buNone/>
            </a:pPr>
            <a:r>
              <a:rPr/>
              <a:t>What separates a real bottleneck-removal experiment from a wish?</a:t>
            </a:r>
          </a:p>
          <a:p>
            <a:pPr lvl="0" indent="-342900" marL="342900">
              <a:buAutoNum type="alphaUcParenR"/>
            </a:pPr>
            <a:r>
              <a:rPr/>
              <a:t>A named owner plus a team-wide announcement</a:t>
            </a:r>
          </a:p>
          <a:p>
            <a:pPr lvl="0" indent="-342900" marL="342900">
              <a:buAutoNum type="alphaUcParenR"/>
            </a:pPr>
            <a:r>
              <a:rPr/>
              <a:t>A hypothesis with a measurable success criterion (baseline → target → window)</a:t>
            </a:r>
          </a:p>
          <a:p>
            <a:pPr lvl="0" indent="-342900" marL="342900">
              <a:buAutoNum type="alphaUcParenR"/>
            </a:pPr>
            <a:r>
              <a:rPr/>
              <a:t>Broad agreement that the change “feels better”</a:t>
            </a:r>
          </a:p>
          <a:p>
            <a:pPr lvl="0" indent="-342900" marL="342900">
              <a:buAutoNum type="alphaUcParenR"/>
            </a:pPr>
            <a:r>
              <a:rPr/>
              <a:t>A longer sprint to give it room</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12 — B</a:t>
            </a:r>
          </a:p>
        </p:txBody>
      </p:sp>
      <p:sp>
        <p:nvSpPr>
          <p:cNvPr id="3" name="Content Placeholder 2"/>
          <p:cNvSpPr>
            <a:spLocks noGrp="1"/>
          </p:cNvSpPr>
          <p:nvPr>
            <p:ph idx="1"/>
          </p:nvPr>
        </p:nvSpPr>
        <p:spPr/>
        <p:txBody>
          <a:bodyPr/>
          <a:lstStyle/>
          <a:p>
            <a:pPr lvl="0" indent="0" marL="0">
              <a:buNone/>
            </a:pPr>
            <a:r>
              <a:rPr/>
              <a:t>A hypothesis with a measurable success criterion (baseline → target → window).</a:t>
            </a:r>
          </a:p>
          <a:p>
            <a:pPr lvl="0" indent="0" marL="0">
              <a:buNone/>
            </a:pPr>
            <a:r>
              <a:rPr/>
              <a:t>“We’ll see if it feels better” is not an experiment. Vibes don’t decide — the number does.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That’s Week 7</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Score yourself — but the real check is whether you can use these on your next sprint.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2026-07-01T16:57:06Z</dcterms:created>
  <dcterms:modified xsi:type="dcterms:W3CDTF">2026-07-01T16:57:06Z</dcterms:modified>
</cp:coreProperties>
</file>

<file path=docProps/custom.xml><?xml version="1.0" encoding="utf-8"?>
<Properties xmlns="http://schemas.openxmlformats.org/officeDocument/2006/custom-properties" xmlns:vt="http://schemas.openxmlformats.org/officeDocument/2006/docPropsVTypes"/>
</file>