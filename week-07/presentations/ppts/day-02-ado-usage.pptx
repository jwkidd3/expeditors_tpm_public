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your laptop. Today: load your feature into ADO with disciplined hierarchy, fields,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§2 with loaded ADO + queries + 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Heaviest hands-on day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epic → feature → user story → task.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aloud. Get the vocabulary in muscle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 Stories have user-visible value; tasks don’t. Coach this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NFRs are the most-skipped category in rookie backlogs.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triads who skip NFRs entirely.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title alone is not enough.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minutes per item to populate.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Estimation produces calibration over time. Even bad estimates beat no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Vague tasks don’t get done. They live forever.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Stories with &gt;13 points get split. Verb-first task titles.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 every team needs.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“stale” query catches forgotten work — high-leverage for TPMs.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Boards without WIP limits become aspirational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WIP limits feel arbitrary, default: 3 per developer. Tune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cfd / burn-down / velocity, then ai as standup aid.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Charts are decision aids, not scorecards. Use them to ask questions, not assign blame.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daily-driver query, WIP limit + why, expected hierarchy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ADO discipline they’ll personally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work item in your backlog is most likely to get forgotten?”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🔥 ADO Usage (Hands-On)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2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4-level hierarchy (Epic → Feature → User Story → Task) without going deeper</a:t>
            </a:r>
          </a:p>
          <a:p>
            <a:pPr lvl="0" indent="0" marL="0">
              <a:buNone/>
            </a:pPr>
            <a:r>
              <a:rPr/>
              <a:t>Apply field discipline to every work item</a:t>
            </a:r>
          </a:p>
          <a:p>
            <a:pPr lvl="0" indent="0" marL="0">
              <a:buNone/>
            </a:pPr>
            <a:r>
              <a:rPr/>
              <a:t>Estimate with story points; split anything &gt;13</a:t>
            </a:r>
          </a:p>
          <a:p>
            <a:pPr lvl="0" indent="0" marL="0">
              <a:buNone/>
            </a:pPr>
            <a:r>
              <a:rPr/>
              <a:t>Build the 5 essential queries + sprint board + Kanban board</a:t>
            </a:r>
          </a:p>
          <a:p>
            <a:pPr lvl="0" indent="0" marL="0">
              <a:buNone/>
            </a:pPr>
            <a:r>
              <a:rPr/>
              <a:t>Read the 3 standard charts: CFD, burn-down, velocity</a:t>
            </a:r>
          </a:p>
          <a:p>
            <a:pPr lvl="0" indent="0" marL="0">
              <a:buNone/>
            </a:pPr>
            <a:r>
              <a:rPr/>
              <a:t>Use AI as a standup-prep aid — with validation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ADO access check; pin DP §1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hierarchy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Field discipline + Tasks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Queries + Boards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Charts + AI standup aid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4-Level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Epic → Feature → User Story → Task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ADO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Work item</a:t>
            </a:r>
          </a:p>
          <a:p>
            <a:pPr lvl="0" indent="0" marL="0">
              <a:buNone/>
            </a:pPr>
            <a:r>
              <a:rPr/>
              <a:t>The atomic unit (Epic, Feature, User Story, Task, Bug)</a:t>
            </a:r>
          </a:p>
          <a:p>
            <a:pPr lvl="0" indent="0" marL="0">
              <a:buNone/>
            </a:pPr>
            <a:r>
              <a:rPr/>
              <a:t>Hierarchy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Logical product area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/ time window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New / Active / Resolved / Closed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Free-form labels for cross-cutting filters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(Fibonacci: 1, 2, 3, 5, 8, 13)</a:t>
            </a:r>
          </a:p>
          <a:p>
            <a:pPr lvl="0" indent="0" marL="0">
              <a:buNone/>
            </a:pPr>
            <a:r>
              <a:rPr/>
              <a:t>WIQL</a:t>
            </a:r>
          </a:p>
          <a:p>
            <a:pPr lvl="0" indent="0" marL="0">
              <a:buNone/>
            </a:pPr>
            <a:r>
              <a:rPr/>
              <a:t>Query language; saves filters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Hierarchy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go deeper than 4 levels. Don’t promote a Task to a User Story to “make it visible.”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For Your Academy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Epic — broader theme (e.g., “Reduce dispatcher after-shift admin load”)</a:t>
            </a:r>
          </a:p>
          <a:p>
            <a:pPr lvl="0" indent="0" marL="0">
              <a:buNone/>
            </a:pPr>
            <a:r>
              <a:rPr/>
              <a:t>1 Feature — your PRD (e.g., “Reconcile flow”)</a:t>
            </a:r>
          </a:p>
          <a:p>
            <a:pPr lvl="0" indent="0" marL="0">
              <a:buNone/>
            </a:pPr>
            <a:r>
              <a:rPr/>
              <a:t>5–10 User Stories — each AC roughly maps to one</a:t>
            </a:r>
          </a:p>
          <a:p>
            <a:pPr lvl="0" indent="0" marL="0">
              <a:buNone/>
            </a:pPr>
            <a:r>
              <a:rPr/>
              <a:t>2–4 Tasks per User Story — Build / Test / Document / Review</a:t>
            </a:r>
          </a:p>
          <a:p>
            <a:pPr lvl="0" indent="0" marL="0">
              <a:buNone/>
            </a:pPr>
            <a:r>
              <a:rPr/>
              <a:t>NFRs from PRD §7 / TCD §3 §4 are work too. They get their own User Stories tagged non-functional.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define the Epic (title + description + tags)</a:t>
            </a:r>
          </a:p>
          <a:p>
            <a:pPr lvl="0" indent="0" marL="0">
              <a:buNone/>
            </a:pPr>
            <a:r>
              <a:rPr/>
              <a:t>5 min: define the Feature (parent: Epic)</a:t>
            </a:r>
          </a:p>
          <a:p>
            <a:pPr lvl="0" indent="0" marL="0">
              <a:buNone/>
            </a:pPr>
            <a:r>
              <a:rPr/>
              <a:t>15 min: 5–10 User Stories from PRD §6 ACs</a:t>
            </a:r>
          </a:p>
          <a:p>
            <a:pPr lvl="0" indent="0" marL="0">
              <a:buNone/>
            </a:pPr>
            <a:r>
              <a:rPr/>
              <a:t>10 min: NFR stories tagged non-functional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Title alone is not enough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Required Fields per Work Item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</a:t>
            </a:r>
          </a:p>
          <a:p>
            <a:pPr lvl="0" indent="0" marL="0">
              <a:buNone/>
            </a:pPr>
            <a:r>
              <a:rPr/>
              <a:t>Why it matters</a:t>
            </a:r>
          </a:p>
          <a:p>
            <a:pPr lvl="0" indent="0" marL="0">
              <a:buNone/>
            </a:pPr>
            <a:r>
              <a:rPr/>
              <a:t>Title</a:t>
            </a:r>
          </a:p>
          <a:p>
            <a:pPr lvl="0" indent="0" marL="0">
              <a:buNone/>
            </a:pPr>
            <a:r>
              <a:rPr/>
              <a:t>Clear, action-oriented</a:t>
            </a:r>
          </a:p>
          <a:p>
            <a:pPr lvl="0" indent="0" marL="0">
              <a:buNone/>
            </a:pPr>
            <a:r>
              <a:rPr/>
              <a:t>Description</a:t>
            </a:r>
          </a:p>
          <a:p>
            <a:pPr lvl="0" indent="0" marL="0">
              <a:buNone/>
            </a:pPr>
            <a:r>
              <a:rPr/>
              <a:t>1-paragraph context</a:t>
            </a:r>
          </a:p>
          <a:p>
            <a:pPr lvl="0" indent="0" marL="0">
              <a:buNone/>
            </a:pPr>
            <a:r>
              <a:rPr/>
              <a:t>Acceptance Criteria</a:t>
            </a:r>
          </a:p>
          <a:p>
            <a:pPr lvl="0" indent="0" marL="0">
              <a:buNone/>
            </a:pPr>
            <a:r>
              <a:rPr/>
              <a:t>From PRD §6; testable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(User Stories only)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Workflow visibility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Reporting hierarchy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scheduling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Cross-cutting filters</a:t>
            </a:r>
          </a:p>
          <a:p>
            <a:pPr lvl="0" indent="0" marL="0">
              <a:buNone/>
            </a:pPr>
            <a:r>
              <a:rPr/>
              <a:t>Linked work items</a:t>
            </a:r>
          </a:p>
          <a:p>
            <a:pPr lvl="0" indent="0" marL="0">
              <a:buNone/>
            </a:pPr>
            <a:r>
              <a:rPr/>
              <a:t>Parent / child / related</a:t>
            </a:r>
          </a:p>
          <a:p>
            <a:pPr lvl="0" indent="0" marL="0">
              <a:buNone/>
            </a:pPr>
            <a:r>
              <a:rPr/>
              <a:t>Cost of skipping fields: sprint review where nobody can find anything.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Story Points (Fibonacci)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1, 2, 3, 5, 8, 13 — standard sequence</a:t>
            </a:r>
          </a:p>
          <a:p>
            <a:pPr lvl="0" indent="0" marL="0">
              <a:buNone/>
            </a:pPr>
            <a:r>
              <a:rPr/>
              <a:t>Use planning poker: each member estimates silently, then reveals. Discuss; don’t average.</a:t>
            </a:r>
          </a:p>
          <a:p>
            <a:pPr lvl="0" indent="0" marL="0">
              <a:buNone/>
            </a:pPr>
            <a:r>
              <a:rPr/>
              <a:t>Stories &gt;13 points are too vague to estimate. Split.</a:t>
            </a:r>
          </a:p>
          <a:p>
            <a:pPr lvl="0" indent="0" marL="0">
              <a:buNone/>
            </a:pPr>
            <a:r>
              <a:rPr/>
              <a:t>Story points are a learning tool even when imperfect. Don’t skip because “we don’t really estimate.”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Tasks — Verb-First, 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User Story, draft 2–4 Tasks. Common pattern:</a:t>
            </a:r>
          </a:p>
          <a:p>
            <a:pPr lvl="0" indent="0" marL="0">
              <a:buNone/>
            </a:pPr>
            <a:r>
              <a:rPr/>
              <a:t>Build — the implementation work</a:t>
            </a:r>
          </a:p>
          <a:p>
            <a:pPr lvl="0" indent="0" marL="0">
              <a:buNone/>
            </a:pPr>
            <a:r>
              <a:rPr/>
              <a:t>Test — automated test coverage</a:t>
            </a:r>
          </a:p>
          <a:p>
            <a:pPr lvl="0" indent="0" marL="0">
              <a:buNone/>
            </a:pPr>
            <a:r>
              <a:rPr/>
              <a:t>Document — release notes, internal docs</a:t>
            </a:r>
          </a:p>
          <a:p>
            <a:pPr lvl="0" indent="0" marL="0">
              <a:buNone/>
            </a:pPr>
            <a:r>
              <a:rPr/>
              <a:t>Review — security, peer, stakeholder sign-off</a:t>
            </a:r>
          </a:p>
          <a:p>
            <a:pPr lvl="0" indent="0" marL="0">
              <a:buNone/>
            </a:pPr>
            <a:r>
              <a:rPr/>
              <a:t>Task title test: “Build Reconcile API endpoint” beats “API work.” Verb-first;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field pass on every work item</a:t>
            </a:r>
          </a:p>
          <a:p>
            <a:pPr lvl="0" indent="0" marL="0">
              <a:buNone/>
            </a:pPr>
            <a:r>
              <a:rPr/>
              <a:t>10 min: story-point estimation (planning poker)</a:t>
            </a:r>
          </a:p>
          <a:p>
            <a:pPr lvl="0" indent="0" marL="0">
              <a:buNone/>
            </a:pPr>
            <a:r>
              <a:rPr/>
              <a:t>15 min: 2–4 Tasks per User Story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 every team needs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5 Essential Queries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Query</a:t>
            </a:r>
          </a:p>
          <a:p>
            <a:pPr lvl="0" indent="0" marL="0">
              <a:buNone/>
            </a:pPr>
            <a:r>
              <a:rPr/>
              <a:t>When to run</a:t>
            </a:r>
          </a:p>
          <a:p>
            <a:pPr lvl="0" indent="0" marL="0">
              <a:buNone/>
            </a:pPr>
            <a:r>
              <a:rPr/>
              <a:t>Open in current sprint</a:t>
            </a:r>
          </a:p>
          <a:p>
            <a:pPr lvl="0" indent="0" marL="0">
              <a:buNone/>
            </a:pPr>
            <a:r>
              <a:rPr/>
              <a:t>Every standup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Done in this sprint</a:t>
            </a:r>
          </a:p>
          <a:p>
            <a:pPr lvl="0" indent="0" marL="0">
              <a:buNone/>
            </a:pPr>
            <a:r>
              <a:rPr/>
              <a:t>End-of-sprint review</a:t>
            </a:r>
          </a:p>
          <a:p>
            <a:pPr lvl="0" indent="0" marL="0">
              <a:buNone/>
            </a:pPr>
            <a:r>
              <a:rPr/>
              <a:t>Stale (no movement &gt; N days)</a:t>
            </a:r>
          </a:p>
          <a:p>
            <a:pPr lvl="0" indent="0" marL="0">
              <a:buNone/>
            </a:pPr>
            <a:r>
              <a:rPr/>
              <a:t>Weekly</a:t>
            </a:r>
          </a:p>
          <a:p>
            <a:pPr lvl="0" indent="0" marL="0">
              <a:buNone/>
            </a:pPr>
            <a:r>
              <a:rPr/>
              <a:t>Open NFRs / quality / compliance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Save them in a shared folder. Name them clearly. They become the team’s heartbeat.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Sprint Board + Kanban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board</a:t>
            </a:r>
          </a:p>
          <a:p>
            <a:pPr lvl="0" indent="0" marL="0">
              <a:buNone/>
            </a:pPr>
            <a:r>
              <a:rPr/>
              <a:t>Filtered to current iteration</a:t>
            </a:r>
          </a:p>
          <a:p>
            <a:pPr lvl="0" indent="0" marL="0">
              <a:buNone/>
            </a:pPr>
            <a:r>
              <a:rPr/>
              <a:t>Daily-standup view</a:t>
            </a:r>
          </a:p>
          <a:p>
            <a:pPr lvl="0" indent="0" marL="0">
              <a:buNone/>
            </a:pPr>
            <a:r>
              <a:rPr/>
              <a:t>Columns: To Do / In Progress / In Review / Done</a:t>
            </a:r>
          </a:p>
          <a:p>
            <a:pPr lvl="0" indent="0" marL="0">
              <a:buNone/>
            </a:pPr>
            <a:r>
              <a:rPr/>
              <a:t>Feature Kanban</a:t>
            </a:r>
          </a:p>
          <a:p>
            <a:pPr lvl="0" indent="0" marL="0">
              <a:buNone/>
            </a:pPr>
            <a:r>
              <a:rPr/>
              <a:t>Whole feature, not one sprint</a:t>
            </a:r>
          </a:p>
          <a:p>
            <a:pPr lvl="0" indent="0" marL="0">
              <a:buNone/>
            </a:pPr>
            <a:r>
              <a:rPr/>
              <a:t>Same columns</a:t>
            </a:r>
          </a:p>
          <a:p>
            <a:pPr lvl="0" indent="0" marL="0">
              <a:buNone/>
            </a:pPr>
            <a:r>
              <a:rPr/>
              <a:t>Used for cross-sprint planning</a:t>
            </a:r>
          </a:p>
          <a:p>
            <a:pPr lvl="0" indent="0" marL="0">
              <a:buNone/>
            </a:pPr>
            <a:r>
              <a:rPr/>
              <a:t>Set WIP limits explicitly (e.g., max 3 In Progress per developer). They are a forcing function.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build all 5 queries</a:t>
            </a:r>
          </a:p>
          <a:p>
            <a:pPr lvl="0" indent="0" marL="0">
              <a:buNone/>
            </a:pPr>
            <a:r>
              <a:rPr/>
              <a:t>10 min: configure sprint board with WIP limits</a:t>
            </a:r>
          </a:p>
          <a:p>
            <a:pPr lvl="0" indent="0" marL="0">
              <a:buNone/>
            </a:pPr>
            <a:r>
              <a:rPr/>
              <a:t>10 min: configure Feature Kanban</a:t>
            </a:r>
          </a:p>
          <a:p>
            <a:pPr lvl="0" indent="0" marL="0">
              <a:buNone/>
            </a:pPr>
            <a:r>
              <a:rPr/>
              <a:t>5 min: identify the daily-driver query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Reading the Charts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CFD / burn-down / velocity, then AI as standup aid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3 Standard Charts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</a:t>
            </a:r>
          </a:p>
          <a:p>
            <a:pPr lvl="0" indent="0" marL="0">
              <a:buNone/>
            </a:pPr>
            <a:r>
              <a:rPr/>
              <a:t>What it tells you</a:t>
            </a:r>
          </a:p>
          <a:p>
            <a:pPr lvl="0" indent="0" marL="0">
              <a:buNone/>
            </a:pPr>
            <a:r>
              <a:rPr/>
              <a:t>Cumulative Flow Diagram</a:t>
            </a:r>
          </a:p>
          <a:p>
            <a:pPr lvl="0" indent="0" marL="0">
              <a:buNone/>
            </a:pPr>
            <a:r>
              <a:rPr/>
              <a:t>Where work is queuing; cycle time; WIP bloat</a:t>
            </a:r>
          </a:p>
          <a:p>
            <a:pPr lvl="0" indent="0" marL="0">
              <a:buNone/>
            </a:pPr>
            <a:r>
              <a:rPr/>
              <a:t>Burn-down</a:t>
            </a:r>
          </a:p>
          <a:p>
            <a:pPr lvl="0" indent="0" marL="0">
              <a:buNone/>
            </a:pPr>
            <a:r>
              <a:rPr/>
              <a:t>On-track for end of sprint; scope creep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Capacity over time; team-health signals</a:t>
            </a:r>
          </a:p>
          <a:p>
            <a:pPr lvl="0" indent="0" marL="0">
              <a:buNone/>
            </a:pPr>
            <a:r>
              <a:rPr/>
              <a:t>Watch: declining velocity is a flag for burnout, blockers, or context-switching. Investigate before pushing harder.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as Standup-Prep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discipline: cross-check claims against actual ADO data. Same Wk 5 D5 rule.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Charts + AI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walk the 3 charts; what would you look for?</a:t>
            </a:r>
          </a:p>
          <a:p>
            <a:pPr lvl="0" indent="0" marL="0">
              <a:buNone/>
            </a:pPr>
            <a:r>
              <a:rPr/>
              <a:t>10 min: run AI standup-prep prompt</a:t>
            </a:r>
          </a:p>
          <a:p>
            <a:pPr lvl="0" indent="0" marL="0">
              <a:buNone/>
            </a:pPr>
            <a:r>
              <a:rPr/>
              <a:t>10 min: validate output</a:t>
            </a:r>
          </a:p>
          <a:p>
            <a:pPr lvl="0" indent="0" marL="0">
              <a:buNone/>
            </a:pPr>
            <a:r>
              <a:rPr/>
              <a:t>10 min: document §2 with links / screenshots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4-level hierarchy (Epic/Feature/Story/Task)</a:t>
            </a:r>
          </a:p>
          <a:p>
            <a:pPr lvl="0" indent="0" marL="0">
              <a:buNone/>
            </a:pPr>
            <a:r>
              <a:rPr/>
              <a:t>Field discipline applied</a:t>
            </a:r>
          </a:p>
          <a:p>
            <a:pPr lvl="0" indent="0" marL="0">
              <a:buNone/>
            </a:pPr>
            <a:r>
              <a:rPr/>
              <a:t>Story points + Tasks</a:t>
            </a:r>
          </a:p>
          <a:p>
            <a:pPr lvl="0" indent="0" marL="0">
              <a:buNone/>
            </a:pPr>
            <a:r>
              <a:rPr/>
              <a:t>5 essential queries</a:t>
            </a:r>
          </a:p>
          <a:p>
            <a:pPr lvl="0" indent="0" marL="0">
              <a:buNone/>
            </a:pPr>
            <a:r>
              <a:rPr/>
              <a:t>Sprint board + Kanban with WIP limits</a:t>
            </a:r>
          </a:p>
          <a:p>
            <a:pPr lvl="0" indent="0" marL="0">
              <a:buNone/>
            </a:pPr>
            <a:r>
              <a:rPr/>
              <a:t>Charts read; AI standup pattern</a:t>
            </a:r>
          </a:p>
          <a:p>
            <a:pPr lvl="0" indent="0" marL="0">
              <a:buNone/>
            </a:pPr>
            <a:r>
              <a:rPr/>
              <a:t>DP §2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Outcome-based vs output-based tracking</a:t>
            </a:r>
          </a:p>
          <a:p>
            <a:pPr lvl="0" indent="0" marL="0">
              <a:buNone/>
            </a:pPr>
            <a:r>
              <a:rPr/>
              <a:t>Tracking plan: output / outcome / leading indicator</a:t>
            </a:r>
          </a:p>
          <a:p>
            <a:pPr lvl="0" indent="0" marL="0">
              <a:buNone/>
            </a:pPr>
            <a:r>
              <a:rPr/>
              <a:t>Sprint cadence; dashboards</a:t>
            </a:r>
          </a:p>
          <a:p>
            <a:pPr lvl="0" indent="0" marL="0">
              <a:buNone/>
            </a:pPr>
            <a:r>
              <a:rPr/>
              <a:t>Bring to Day 3: Loaded ADO + DP §2. Tomorrow we wire tracking on top.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work item in your backlog is most likely to get forgotten?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2026-07-01T17:22:38Z</dcterms:created>
  <dcterms:modified xsi:type="dcterms:W3CDTF">2026-07-01T17:22:38Z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