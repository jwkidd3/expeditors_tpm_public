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Bring your laptop. Today: load your feature into ADO with disciplined hierarchy, fields,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DP Section 2 with loaded ADO + queries +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Heaviest hands-on day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epic → feature → user story → task.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aloud. Get the vocabulary in muscle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Stories have user-visible value; tasks don’t. Coach this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NFRs are the most-skipped category in rookie backlogs.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for quads who skip NFRs entirely. Coach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title alone is not enough.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minutes per item to populate. 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Estimation produces calibration over time. Even bad estimates beat no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Vague tasks don’t get done. They live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Stories with &gt;13 points get split. Verb-first task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the 5 every team needs.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“stale” query catches forgotten work — high-leverage for TPMs.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Boards without WIP limits become aspirational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WIP limits feel arbitrary, default: 3 per developer. Tune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cfd / burn-down / velocity, then ai as standup aid.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Charts are decision aids, not scorecards. Use them to ask questions, not assign blame.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daily-driver query, WIP limit + why, expected hierarchy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ADO discipline they’ll personally enforce.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work item in your backlog is most likely to get forgotten?”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🔥 ADO Usage (Hands-On)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 • Day 2 • Agile Delivery &amp; ADO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4-level hierarchy (Epic → Feature → User Story → Task) without going deeper</a:t>
            </a:r>
          </a:p>
          <a:p>
            <a:pPr lvl="0" indent="0" marL="0">
              <a:buNone/>
            </a:pPr>
            <a:r>
              <a:rPr/>
              <a:t>Apply field discipline to every work item</a:t>
            </a:r>
          </a:p>
          <a:p>
            <a:pPr lvl="0" indent="0" marL="0">
              <a:buNone/>
            </a:pPr>
            <a:r>
              <a:rPr/>
              <a:t>Estimate with story points; split anything &gt;13</a:t>
            </a:r>
          </a:p>
          <a:p>
            <a:pPr lvl="0" indent="0" marL="0">
              <a:buNone/>
            </a:pPr>
            <a:r>
              <a:rPr/>
              <a:t>Build the 5 essential queries + sprint board + Kanban board</a:t>
            </a:r>
          </a:p>
          <a:p>
            <a:pPr lvl="0" indent="0" marL="0">
              <a:buNone/>
            </a:pPr>
            <a:r>
              <a:rPr/>
              <a:t>Read the 3 standard charts: cumulative flow diagram (CFD), burn-down, velocity</a:t>
            </a:r>
          </a:p>
          <a:p>
            <a:pPr lvl="0" indent="0" marL="0">
              <a:buNone/>
            </a:pPr>
            <a:r>
              <a:rPr/>
              <a:t>Use AI as a standup-prep aid — with validation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ADO access check; pin DP Section 1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Build the hierarchy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Field discipline + Tasks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Queries + Boards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Charts + AI standup aid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4-Level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Epic → Feature → User Story → Task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ADO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terms recur all day — including Work Item Query Language (WIQL), the query syntax.</a:t>
            </a:r>
          </a:p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is</a:t>
            </a:r>
          </a:p>
          <a:p>
            <a:pPr lvl="0" indent="0" marL="0">
              <a:buNone/>
            </a:pPr>
            <a:r>
              <a:rPr/>
              <a:t>Work item</a:t>
            </a:r>
          </a:p>
          <a:p>
            <a:pPr lvl="0" indent="0" marL="0">
              <a:buNone/>
            </a:pPr>
            <a:r>
              <a:rPr/>
              <a:t>The atomic unit (Epic, Feature, User Story, Task, Bug)</a:t>
            </a:r>
          </a:p>
          <a:p>
            <a:pPr lvl="0" indent="0" marL="0">
              <a:buNone/>
            </a:pPr>
            <a:r>
              <a:rPr/>
              <a:t>Hierarchy</a:t>
            </a:r>
          </a:p>
          <a:p>
            <a:pPr lvl="0" indent="0" marL="0">
              <a:buNone/>
            </a:pPr>
            <a:r>
              <a:rPr/>
              <a:t>Epic → Feature → User Story → Task</a:t>
            </a:r>
          </a:p>
          <a:p>
            <a:pPr lvl="0" indent="0" marL="0">
              <a:buNone/>
            </a:pPr>
            <a:r>
              <a:rPr/>
              <a:t>Area path</a:t>
            </a:r>
          </a:p>
          <a:p>
            <a:pPr lvl="0" indent="0" marL="0">
              <a:buNone/>
            </a:pPr>
            <a:r>
              <a:rPr/>
              <a:t>Logical product area</a:t>
            </a:r>
          </a:p>
          <a:p>
            <a:pPr lvl="0" indent="0" marL="0">
              <a:buNone/>
            </a:pPr>
            <a:r>
              <a:rPr/>
              <a:t>Iteration path</a:t>
            </a:r>
          </a:p>
          <a:p>
            <a:pPr lvl="0" indent="0" marL="0">
              <a:buNone/>
            </a:pPr>
            <a:r>
              <a:rPr/>
              <a:t>Sprint / time window</a:t>
            </a:r>
          </a:p>
          <a:p>
            <a:pPr lvl="0" indent="0" marL="0">
              <a:buNone/>
            </a:pPr>
            <a:r>
              <a:rPr/>
              <a:t>State</a:t>
            </a:r>
          </a:p>
          <a:p>
            <a:pPr lvl="0" indent="0" marL="0">
              <a:buNone/>
            </a:pPr>
            <a:r>
              <a:rPr/>
              <a:t>New / Active / Resolved / Closed</a:t>
            </a:r>
          </a:p>
          <a:p>
            <a:pPr lvl="0" indent="0" marL="0">
              <a:buNone/>
            </a:pPr>
            <a:r>
              <a:rPr/>
              <a:t>Tags</a:t>
            </a:r>
          </a:p>
          <a:p>
            <a:pPr lvl="0" indent="0" marL="0">
              <a:buNone/>
            </a:pPr>
            <a:r>
              <a:rPr/>
              <a:t>Free-form labels for cross-cutting filters</a:t>
            </a:r>
          </a:p>
          <a:p>
            <a:pPr lvl="0" indent="0" marL="0">
              <a:buNone/>
            </a:pPr>
            <a:r>
              <a:rPr/>
              <a:t>Story points</a:t>
            </a:r>
          </a:p>
          <a:p>
            <a:pPr lvl="0" indent="0" marL="0">
              <a:buNone/>
            </a:pPr>
            <a:r>
              <a:rPr/>
              <a:t>Effort estimate (Fibonacci: 1, 2, 3, 5, 8, 13)</a:t>
            </a:r>
          </a:p>
          <a:p>
            <a:pPr lvl="0" indent="0" marL="0">
              <a:buNone/>
            </a:pPr>
            <a:r>
              <a:rPr/>
              <a:t>WIQL</a:t>
            </a:r>
          </a:p>
          <a:p>
            <a:pPr lvl="0" indent="0" marL="0">
              <a:buNone/>
            </a:pPr>
            <a:r>
              <a:rPr/>
              <a:t>Query language; saves filters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Hierarchy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Epic — strategic theme; ~1 per quarterly initiative
├── Feature — deliverable slice; 1–3 per Epic
│   ├── User Story — user-visible value
│   │   └── Task — engineering / design / TPM work
│   └── User Story
│       └── Task
└── Feature</a:t>
            </a:r>
          </a:p>
          <a:p>
            <a:pPr lvl="0" indent="0" marL="0">
              <a:buNone/>
            </a:pPr>
            <a:r>
              <a:rPr/>
              <a:t>Don’t go deeper than 4 levels. Don’t promote a Task to a User Story to “make it visible.”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For Your Academy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Epic — broader theme (e.g., “Reduce dispatcher after-shift admin load”)</a:t>
            </a:r>
          </a:p>
          <a:p>
            <a:pPr lvl="0" indent="0" marL="0">
              <a:buNone/>
            </a:pPr>
            <a:r>
              <a:rPr/>
              <a:t>1 Feature — your Product Requirements Document (PRD) (e.g., “Reconcile flow”)</a:t>
            </a:r>
          </a:p>
          <a:p>
            <a:pPr lvl="0" indent="0" marL="0">
              <a:buNone/>
            </a:pPr>
            <a:r>
              <a:rPr/>
              <a:t>5–10 User Stories — each acceptance criteria (AC) roughly maps to one</a:t>
            </a:r>
          </a:p>
          <a:p>
            <a:pPr lvl="0" indent="0" marL="0">
              <a:buNone/>
            </a:pPr>
            <a:r>
              <a:rPr/>
              <a:t>2–4 Tasks per User Story — Build / Test / Document / Review</a:t>
            </a:r>
          </a:p>
          <a:p>
            <a:pPr lvl="0" indent="0" marL="0">
              <a:buNone/>
            </a:pPr>
            <a:r>
              <a:rPr/>
              <a:t>Non-functional requirements (NFRs) from PRD Section 7 / Technical Concept Document (TCD) Section 3 Section 4 are work too. They get their own User Stories tagged non-functional.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Build the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5 min: define the Epic (title + description + tags)</a:t>
            </a:r>
          </a:p>
          <a:p>
            <a:pPr lvl="0" indent="0" marL="0">
              <a:buNone/>
            </a:pPr>
            <a:r>
              <a:rPr/>
              <a:t>5 min: define the Feature (parent: Epic)</a:t>
            </a:r>
          </a:p>
          <a:p>
            <a:pPr lvl="0" indent="0" marL="0">
              <a:buNone/>
            </a:pPr>
            <a:r>
              <a:rPr/>
              <a:t>25 min: 5–10 User Stories from PRD Section 6 ACs</a:t>
            </a:r>
          </a:p>
          <a:p>
            <a:pPr lvl="0" indent="0" marL="0">
              <a:buNone/>
            </a:pPr>
            <a:r>
              <a:rPr/>
              <a:t>10 min: NFR stories tagged non-functional</a:t>
            </a:r>
          </a:p>
          <a:p>
            <a:pPr lvl="0" indent="0" marL="0">
              <a:buNone/>
            </a:pPr>
            <a:r>
              <a:rPr/>
              <a:t>⏱ 5 + 5 + 25 + 10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Field Discipline +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Title alone is not enough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Required Fields per Work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</a:t>
            </a:r>
          </a:p>
          <a:p>
            <a:pPr lvl="0" indent="0" marL="0">
              <a:buNone/>
            </a:pPr>
            <a:r>
              <a:rPr/>
              <a:t>Why it matters</a:t>
            </a:r>
          </a:p>
          <a:p>
            <a:pPr lvl="0" indent="0" marL="0">
              <a:buNone/>
            </a:pPr>
            <a:r>
              <a:rPr/>
              <a:t>Title</a:t>
            </a:r>
          </a:p>
          <a:p>
            <a:pPr lvl="0" indent="0" marL="0">
              <a:buNone/>
            </a:pPr>
            <a:r>
              <a:rPr/>
              <a:t>Clear, action-oriented</a:t>
            </a:r>
          </a:p>
          <a:p>
            <a:pPr lvl="0" indent="0" marL="0">
              <a:buNone/>
            </a:pPr>
            <a:r>
              <a:rPr/>
              <a:t>Description</a:t>
            </a:r>
          </a:p>
          <a:p>
            <a:pPr lvl="0" indent="0" marL="0">
              <a:buNone/>
            </a:pPr>
            <a:r>
              <a:rPr/>
              <a:t>1-paragraph context</a:t>
            </a:r>
          </a:p>
          <a:p>
            <a:pPr lvl="0" indent="0" marL="0">
              <a:buNone/>
            </a:pPr>
            <a:r>
              <a:rPr/>
              <a:t>Acceptance Criteria</a:t>
            </a:r>
          </a:p>
          <a:p>
            <a:pPr lvl="0" indent="0" marL="0">
              <a:buNone/>
            </a:pPr>
            <a:r>
              <a:rPr/>
              <a:t>From PRD Section 6; testable</a:t>
            </a:r>
          </a:p>
          <a:p>
            <a:pPr lvl="0" indent="0" marL="0">
              <a:buNone/>
            </a:pPr>
            <a:r>
              <a:rPr/>
              <a:t>Story Points</a:t>
            </a:r>
          </a:p>
          <a:p>
            <a:pPr lvl="0" indent="0" marL="0">
              <a:buNone/>
            </a:pPr>
            <a:r>
              <a:rPr/>
              <a:t>Effort estimate (User Stories only)</a:t>
            </a:r>
          </a:p>
          <a:p>
            <a:pPr lvl="0" indent="0" marL="0">
              <a:buNone/>
            </a:pPr>
            <a:r>
              <a:rPr/>
              <a:t>State</a:t>
            </a:r>
          </a:p>
          <a:p>
            <a:pPr lvl="0" indent="0" marL="0">
              <a:buNone/>
            </a:pPr>
            <a:r>
              <a:rPr/>
              <a:t>Workflow visibility</a:t>
            </a:r>
          </a:p>
          <a:p>
            <a:pPr lvl="0" indent="0" marL="0">
              <a:buNone/>
            </a:pPr>
            <a:r>
              <a:rPr/>
              <a:t>Area path</a:t>
            </a:r>
          </a:p>
          <a:p>
            <a:pPr lvl="0" indent="0" marL="0">
              <a:buNone/>
            </a:pPr>
            <a:r>
              <a:rPr/>
              <a:t>Reporting hierarchy</a:t>
            </a:r>
          </a:p>
          <a:p>
            <a:pPr lvl="0" indent="0" marL="0">
              <a:buNone/>
            </a:pPr>
            <a:r>
              <a:rPr/>
              <a:t>Iteration path</a:t>
            </a:r>
          </a:p>
          <a:p>
            <a:pPr lvl="0" indent="0" marL="0">
              <a:buNone/>
            </a:pPr>
            <a:r>
              <a:rPr/>
              <a:t>Sprint scheduling</a:t>
            </a:r>
          </a:p>
          <a:p>
            <a:pPr lvl="0" indent="0" marL="0">
              <a:buNone/>
            </a:pPr>
            <a:r>
              <a:rPr/>
              <a:t>Tags</a:t>
            </a:r>
          </a:p>
          <a:p>
            <a:pPr lvl="0" indent="0" marL="0">
              <a:buNone/>
            </a:pPr>
            <a:r>
              <a:rPr/>
              <a:t>Cross-cutting filters</a:t>
            </a:r>
          </a:p>
          <a:p>
            <a:pPr lvl="0" indent="0" marL="0">
              <a:buNone/>
            </a:pPr>
            <a:r>
              <a:rPr/>
              <a:t>Linked work items</a:t>
            </a:r>
          </a:p>
          <a:p>
            <a:pPr lvl="0" indent="0" marL="0">
              <a:buNone/>
            </a:pPr>
            <a:r>
              <a:rPr/>
              <a:t>Parent / child / related</a:t>
            </a:r>
          </a:p>
          <a:p>
            <a:pPr lvl="0" indent="0" marL="0">
              <a:buNone/>
            </a:pPr>
            <a:r>
              <a:rPr/>
              <a:t>Cost of skipping fields: sprint review where nobody can find anything.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Story Points (Fibonacci)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1, 2, 3, 5, 8, 13 — standard sequence</a:t>
            </a:r>
          </a:p>
          <a:p>
            <a:pPr lvl="0" indent="0" marL="0">
              <a:buNone/>
            </a:pPr>
            <a:r>
              <a:rPr/>
              <a:t>Use planning poker: each member estimates silently, then reveals. Discuss; don’t average.</a:t>
            </a:r>
          </a:p>
          <a:p>
            <a:pPr lvl="0" indent="0" marL="0">
              <a:buNone/>
            </a:pPr>
            <a:r>
              <a:rPr/>
              <a:t>Stories &gt;13 points are too vague to estimate. Split.</a:t>
            </a:r>
          </a:p>
          <a:p>
            <a:pPr lvl="0" indent="0" marL="0">
              <a:buNone/>
            </a:pPr>
            <a:r>
              <a:rPr/>
              <a:t>Story points are a learning tool even when imperfect. Don’t skip because “we don’t really estimate.”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Tasks — Verb-First, Specific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User Story, draft 2–4 Tasks. Common pattern:</a:t>
            </a:r>
          </a:p>
          <a:p>
            <a:pPr lvl="0" indent="0" marL="0">
              <a:buNone/>
            </a:pPr>
            <a:r>
              <a:rPr/>
              <a:t>Build — the implementation work</a:t>
            </a:r>
          </a:p>
          <a:p>
            <a:pPr lvl="0" indent="0" marL="0">
              <a:buNone/>
            </a:pPr>
            <a:r>
              <a:rPr/>
              <a:t>Test — automated test coverage</a:t>
            </a:r>
          </a:p>
          <a:p>
            <a:pPr lvl="0" indent="0" marL="0">
              <a:buNone/>
            </a:pPr>
            <a:r>
              <a:rPr/>
              <a:t>Document — release notes, internal docs</a:t>
            </a:r>
          </a:p>
          <a:p>
            <a:pPr lvl="0" indent="0" marL="0">
              <a:buNone/>
            </a:pPr>
            <a:r>
              <a:rPr/>
              <a:t>Review — security, peer, stakeholder sign-off</a:t>
            </a:r>
          </a:p>
          <a:p>
            <a:pPr lvl="0" indent="0" marL="0">
              <a:buNone/>
            </a:pPr>
            <a:r>
              <a:rPr/>
              <a:t>Task title test: “Build Reconcile API endpoint” beats “API work.” Verb-first; specific.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Field Discipline +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25 min: field pass on every work item</a:t>
            </a:r>
          </a:p>
          <a:p>
            <a:pPr lvl="0" indent="0" marL="0">
              <a:buNone/>
            </a:pPr>
            <a:r>
              <a:rPr/>
              <a:t>10 min: story-point estimation (planning poker)</a:t>
            </a:r>
          </a:p>
          <a:p>
            <a:pPr lvl="0" indent="0" marL="0">
              <a:buNone/>
            </a:pPr>
            <a:r>
              <a:rPr/>
              <a:t>15 min: 2–4 Tasks per User Story</a:t>
            </a:r>
          </a:p>
          <a:p>
            <a:pPr lvl="0" indent="0" marL="0">
              <a:buNone/>
            </a:pPr>
            <a:r>
              <a:rPr/>
              <a:t>⏱ 25 + 10 + 15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Queries +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5 every team needs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5 Essential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</a:t>
            </a:r>
          </a:p>
          <a:p>
            <a:pPr lvl="0" indent="0" marL="0">
              <a:buNone/>
            </a:pPr>
            <a:r>
              <a:rPr/>
              <a:t>When to run</a:t>
            </a:r>
          </a:p>
          <a:p>
            <a:pPr lvl="0" indent="0" marL="0">
              <a:buNone/>
            </a:pPr>
            <a:r>
              <a:rPr/>
              <a:t>Open in current sprint</a:t>
            </a:r>
          </a:p>
          <a:p>
            <a:pPr lvl="0" indent="0" marL="0">
              <a:buNone/>
            </a:pPr>
            <a:r>
              <a:rPr/>
              <a:t>Every standup</a:t>
            </a:r>
          </a:p>
          <a:p>
            <a:pPr lvl="0" indent="0" marL="0">
              <a:buNone/>
            </a:pPr>
            <a:r>
              <a:rPr/>
              <a:t>Blocked</a:t>
            </a:r>
          </a:p>
          <a:p>
            <a:pPr lvl="0" indent="0" marL="0">
              <a:buNone/>
            </a:pPr>
            <a:r>
              <a:rPr/>
              <a:t>Daily</a:t>
            </a:r>
          </a:p>
          <a:p>
            <a:pPr lvl="0" indent="0" marL="0">
              <a:buNone/>
            </a:pPr>
            <a:r>
              <a:rPr/>
              <a:t>Done in this sprint</a:t>
            </a:r>
          </a:p>
          <a:p>
            <a:pPr lvl="0" indent="0" marL="0">
              <a:buNone/>
            </a:pPr>
            <a:r>
              <a:rPr/>
              <a:t>End-of-sprint review</a:t>
            </a:r>
          </a:p>
          <a:p>
            <a:pPr lvl="0" indent="0" marL="0">
              <a:buNone/>
            </a:pPr>
            <a:r>
              <a:rPr/>
              <a:t>Stale (no movement &gt; N days)</a:t>
            </a:r>
          </a:p>
          <a:p>
            <a:pPr lvl="0" indent="0" marL="0">
              <a:buNone/>
            </a:pPr>
            <a:r>
              <a:rPr/>
              <a:t>Weekly</a:t>
            </a:r>
          </a:p>
          <a:p>
            <a:pPr lvl="0" indent="0" marL="0">
              <a:buNone/>
            </a:pPr>
            <a:r>
              <a:rPr/>
              <a:t>Open NFRs / quality / compliance</a:t>
            </a:r>
          </a:p>
          <a:p>
            <a:pPr lvl="0" indent="0" marL="0">
              <a:buNone/>
            </a:pPr>
            <a:r>
              <a:rPr/>
              <a:t>Monthly</a:t>
            </a:r>
          </a:p>
          <a:p>
            <a:pPr lvl="0" indent="0" marL="0">
              <a:buNone/>
            </a:pPr>
            <a:r>
              <a:rPr/>
              <a:t>Save them in a shared folder. Name them clearly. They become the team’s heartbeat.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Sprint Board + Kanban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Sprint board</a:t>
            </a:r>
          </a:p>
          <a:p>
            <a:pPr lvl="0" indent="0" marL="0">
              <a:buNone/>
            </a:pPr>
            <a:r>
              <a:rPr/>
              <a:t>Filtered to current iteration</a:t>
            </a:r>
          </a:p>
          <a:p>
            <a:pPr lvl="0" indent="0" marL="0">
              <a:buNone/>
            </a:pPr>
            <a:r>
              <a:rPr/>
              <a:t>Daily-standup view</a:t>
            </a:r>
          </a:p>
          <a:p>
            <a:pPr lvl="0" indent="0" marL="0">
              <a:buNone/>
            </a:pPr>
            <a:r>
              <a:rPr/>
              <a:t>Columns: To Do / In Progress / In Review / Done</a:t>
            </a:r>
          </a:p>
          <a:p>
            <a:pPr lvl="0" indent="0" marL="0">
              <a:buNone/>
            </a:pPr>
            <a:r>
              <a:rPr/>
              <a:t>Feature Kanban</a:t>
            </a:r>
          </a:p>
          <a:p>
            <a:pPr lvl="0" indent="0" marL="0">
              <a:buNone/>
            </a:pPr>
            <a:r>
              <a:rPr/>
              <a:t>Whole feature, not one sprint</a:t>
            </a:r>
          </a:p>
          <a:p>
            <a:pPr lvl="0" indent="0" marL="0">
              <a:buNone/>
            </a:pPr>
            <a:r>
              <a:rPr/>
              <a:t>Same columns</a:t>
            </a:r>
          </a:p>
          <a:p>
            <a:pPr lvl="0" indent="0" marL="0">
              <a:buNone/>
            </a:pPr>
            <a:r>
              <a:rPr/>
              <a:t>Used for cross-sprint planning</a:t>
            </a:r>
          </a:p>
          <a:p>
            <a:pPr lvl="0" indent="0" marL="0">
              <a:buNone/>
            </a:pPr>
            <a:r>
              <a:rPr/>
              <a:t>Set WIP limits explicitly (e.g., max 3 In Progress per developer). They are a forcing function.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Queries +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25 min: build all 5 queries</a:t>
            </a:r>
          </a:p>
          <a:p>
            <a:pPr lvl="0" indent="0" marL="0">
              <a:buNone/>
            </a:pPr>
            <a:r>
              <a:rPr/>
              <a:t>10 min: configure sprint board with WIP limits</a:t>
            </a:r>
          </a:p>
          <a:p>
            <a:pPr lvl="0" indent="0" marL="0">
              <a:buNone/>
            </a:pPr>
            <a:r>
              <a:rPr/>
              <a:t>10 min: configure Feature Kanban</a:t>
            </a:r>
          </a:p>
          <a:p>
            <a:pPr lvl="0" indent="0" marL="0">
              <a:buNone/>
            </a:pPr>
            <a:r>
              <a:rPr/>
              <a:t>5 min: identify the daily-driver query</a:t>
            </a:r>
          </a:p>
          <a:p>
            <a:pPr lvl="0" indent="0" marL="0">
              <a:buNone/>
            </a:pPr>
            <a:r>
              <a:rPr/>
              <a:t>⏱ 25 + 10 + 10 + 5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Reading the Charts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CFD / burn-down / velocity, then AI as standup aid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3 Standard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Chart</a:t>
            </a:r>
          </a:p>
          <a:p>
            <a:pPr lvl="0" indent="0" marL="0">
              <a:buNone/>
            </a:pPr>
            <a:r>
              <a:rPr/>
              <a:t>What it tells you</a:t>
            </a:r>
          </a:p>
          <a:p>
            <a:pPr lvl="0" indent="0" marL="0">
              <a:buNone/>
            </a:pPr>
            <a:r>
              <a:rPr/>
              <a:t>Cumulative Flow Diagram</a:t>
            </a:r>
          </a:p>
          <a:p>
            <a:pPr lvl="0" indent="0" marL="0">
              <a:buNone/>
            </a:pPr>
            <a:r>
              <a:rPr/>
              <a:t>Where work is queuing; cycle time; WIP bloat</a:t>
            </a:r>
          </a:p>
          <a:p>
            <a:pPr lvl="0" indent="0" marL="0">
              <a:buNone/>
            </a:pPr>
            <a:r>
              <a:rPr/>
              <a:t>Burn-down</a:t>
            </a:r>
          </a:p>
          <a:p>
            <a:pPr lvl="0" indent="0" marL="0">
              <a:buNone/>
            </a:pPr>
            <a:r>
              <a:rPr/>
              <a:t>On-track for end of sprint; scope creep</a:t>
            </a:r>
          </a:p>
          <a:p>
            <a:pPr lvl="0" indent="0" marL="0">
              <a:buNone/>
            </a:pPr>
            <a:r>
              <a:rPr/>
              <a:t>Velocity</a:t>
            </a:r>
          </a:p>
          <a:p>
            <a:pPr lvl="0" indent="0" marL="0">
              <a:buNone/>
            </a:pPr>
            <a:r>
              <a:rPr/>
              <a:t>Capacity over time; team-health signals</a:t>
            </a:r>
          </a:p>
          <a:p>
            <a:pPr lvl="0" indent="0" marL="0">
              <a:buNone/>
            </a:pPr>
            <a:r>
              <a:rPr/>
              <a:t>Watch: declining velocity is a flag for burnout, blockers, or context-switching. Investigate before pushing harder.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as Standup-Prep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Standup-prep assistant for a TPM.
Context: &lt;yesterday's ADO query results — items moved state,
items added, items closed, comments added&gt;
Task: Produce a 5-bullet standup summary:
1. Top 2 things shipped
2. Top 2 things blocked or stuck (&gt;2 days no movement)
3. 1 anomaly (pattern unusual for this team)
Constraints:
- Use only the provided data
- Flag anything you can't determine
Format: 5 numbered bullets, each &lt;15 words.</a:t>
            </a:r>
          </a:p>
          <a:p>
            <a:pPr lvl="0" indent="0" marL="0">
              <a:buNone/>
            </a:pPr>
            <a:r>
              <a:rPr/>
              <a:t>Validation discipline: cross-check claims against actual Azure DevOps (ADO) data. Same Wk 5 D5 rule.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Charts + AI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25 min: walk the 3 charts; what would you look for?</a:t>
            </a:r>
          </a:p>
          <a:p>
            <a:pPr lvl="0" indent="0" marL="0">
              <a:buNone/>
            </a:pPr>
            <a:r>
              <a:rPr/>
              <a:t>10 min: run AI standup-prep prompt</a:t>
            </a:r>
          </a:p>
          <a:p>
            <a:pPr lvl="0" indent="0" marL="0">
              <a:buNone/>
            </a:pPr>
            <a:r>
              <a:rPr/>
              <a:t>10 min: validate output</a:t>
            </a:r>
          </a:p>
          <a:p>
            <a:pPr lvl="0" indent="0" marL="0">
              <a:buNone/>
            </a:pPr>
            <a:r>
              <a:rPr/>
              <a:t>10 min: document Section 2 with links / screenshots</a:t>
            </a:r>
          </a:p>
          <a:p>
            <a:pPr lvl="0" indent="0" marL="0">
              <a:buNone/>
            </a:pPr>
            <a:r>
              <a:rPr/>
              <a:t>⏱ 25 + 10 + 10 + 10 · 15-min wrap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4-level hierarchy (Epic/Feature/Story/Task)</a:t>
            </a:r>
          </a:p>
          <a:p>
            <a:pPr lvl="0" indent="0" marL="0">
              <a:buNone/>
            </a:pPr>
            <a:r>
              <a:rPr/>
              <a:t>Field discipline applied</a:t>
            </a:r>
          </a:p>
          <a:p>
            <a:pPr lvl="0" indent="0" marL="0">
              <a:buNone/>
            </a:pPr>
            <a:r>
              <a:rPr/>
              <a:t>Story points + Tasks</a:t>
            </a:r>
          </a:p>
          <a:p>
            <a:pPr lvl="0" indent="0" marL="0">
              <a:buNone/>
            </a:pPr>
            <a:r>
              <a:rPr/>
              <a:t>5 essential queries</a:t>
            </a:r>
          </a:p>
          <a:p>
            <a:pPr lvl="0" indent="0" marL="0">
              <a:buNone/>
            </a:pPr>
            <a:r>
              <a:rPr/>
              <a:t>Sprint board + Kanban with WIP limits</a:t>
            </a:r>
          </a:p>
          <a:p>
            <a:pPr lvl="0" indent="0" marL="0">
              <a:buNone/>
            </a:pPr>
            <a:r>
              <a:rPr/>
              <a:t>Charts read; AI standup pattern</a:t>
            </a:r>
          </a:p>
          <a:p>
            <a:pPr lvl="0" indent="0" marL="0">
              <a:buNone/>
            </a:pPr>
            <a:r>
              <a:rPr/>
              <a:t>Delivery Plan (DP) Section 2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Outcome-based vs output-based tracking</a:t>
            </a:r>
          </a:p>
          <a:p>
            <a:pPr lvl="0" indent="0" marL="0">
              <a:buNone/>
            </a:pPr>
            <a:r>
              <a:rPr/>
              <a:t>Tracking plan: output / outcome / leading indicator</a:t>
            </a:r>
          </a:p>
          <a:p>
            <a:pPr lvl="0" indent="0" marL="0">
              <a:buNone/>
            </a:pPr>
            <a:r>
              <a:rPr/>
              <a:t>Sprint cadence; dashboards</a:t>
            </a:r>
          </a:p>
          <a:p>
            <a:pPr lvl="0" indent="0" marL="0">
              <a:buNone/>
            </a:pPr>
            <a:r>
              <a:rPr/>
              <a:t>Bring to Day 3: Loaded ADO + DP Section 2. Tomorrow we wire tracking on top.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work item in your backlog is most likely to get forgotten?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2026-08-23T18:36:42Z</dcterms:created>
  <dcterms:modified xsi:type="dcterms:W3CDTF">2026-08-23T18:36:42Z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