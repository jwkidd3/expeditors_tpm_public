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2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notesMaster" Target="notesMasters/notesMaster1.xml" /><Relationship Id="rId26" Type="http://schemas.openxmlformats.org/officeDocument/2006/relationships/viewProps" Target="viewProps.xml" /><Relationship Id="rId2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8" Type="http://schemas.openxmlformats.org/officeDocument/2006/relationships/tableStyles" Target="tableStyles.xml" /><Relationship Id="rId27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18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19.xml" /><Relationship Id="rId1" Type="http://schemas.openxmlformats.org/officeDocument/2006/relationships/notesMaster" Target="../notesMasters/notesMaster1.xml" /></Relationships>
</file>

<file path=ppt/notesSlides/_rels/notesSlide19.xml.rels><?xml version="1.0" encoding="UTF-8"?><Relationships xmlns="http://schemas.openxmlformats.org/package/2006/relationships"><Relationship Id="rId2" Type="http://schemas.openxmlformats.org/officeDocument/2006/relationships/slide" Target="../slides/slide20.xml" /><Relationship Id="rId1" Type="http://schemas.openxmlformats.org/officeDocument/2006/relationships/notesMaster" Target="../notesMasters/notesMaster1.xml" /></Relationships>
</file>

<file path=ppt/notesSlides/_rels/notesSlide20.xml.rels><?xml version="1.0" encoding="UTF-8"?><Relationships xmlns="http://schemas.openxmlformats.org/package/2006/relationships"><Relationship Id="rId2" Type="http://schemas.openxmlformats.org/officeDocument/2006/relationships/slide" Target="../slides/slide21.xml" /><Relationship Id="rId1" Type="http://schemas.openxmlformats.org/officeDocument/2006/relationships/notesMaster" Target="../notesMasters/notesMaster1.xml" /></Relationships>
</file>

<file path=ppt/notesSlides/_rels/notesSlide21.xml.rels><?xml version="1.0" encoding="UTF-8"?><Relationships xmlns="http://schemas.openxmlformats.org/package/2006/relationships"><Relationship Id="rId2" Type="http://schemas.openxmlformats.org/officeDocument/2006/relationships/slide" Target="../slides/slide22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Today: wire tracking on top of yesterday’s backlog so the team learns whether features actually worked.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By 16:00, every triad has DP §3.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Arc: triples → sprint → monthly/quarterly → integrate.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Frame the block: output / outcome / leading indicator. Set context briefly, then move into the teaching content.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mature tracking plan avoids all five.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Leading indicators are the muscle. Force “measurable within 7 days.”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Push specificity. “We’ll watch some metrics” is not a leading indicator.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Frame the block: outputs and outcomes inspected together. Set context briefly, then move into the teaching content.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Calendar-anchored. Not “monthly-ish.”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the sprint review is all output, push back.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Dashboards with 10+ charts get ignored. Cap at 5.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Frame the block: outcome reviews + ns roll-up. Set context briefly, then move into the teaching content.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a triad skips “decisions,” it’s a status meeting, not a review.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“This feature alone moved the NS” is rare. Be honest about coupling.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Real names for author + audience. Calendar dates for cadence.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Frame the block: combine sections; add the anomaly-spotting prompt. Set context briefly, then move into the teaching content.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All four cadences + AI in one §3.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18</a:t>
            </a:fld>
            <a:endParaRPr lang="en-US"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Validation: cross-check claims against ADO data. Same Wk 5 D5 rule.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19</a:t>
            </a:fld>
            <a:endParaRPr lang="en-US"/>
          </a:p>
        </p:txBody>
      </p:sp>
    </p:spTree>
  </p:cSld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Wrap-share: leading indicator proudest, expected anomaly, decision imagined for monthly review.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20</a:t>
            </a:fld>
            <a:endParaRPr lang="en-US"/>
          </a:p>
        </p:txBody>
      </p:sp>
    </p:spTree>
  </p:cSld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Round-robin close: each person says one leading indicator they’re betting 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21</a:t>
            </a:fld>
            <a:endParaRPr lang="en-US"/>
          </a:p>
        </p:txBody>
      </p:sp>
    </p:spTree>
  </p:cSld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Open the floor. Use the prompt — “What outcome will you know is failing within 7 days of launch?” — to invite one short reflection per voice. Keep it tight; this is closure, not new content.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22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7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8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9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0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1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📊 Outcome vs Output Tracking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Week 7 • Day 3 • Agile Delivery &amp; ADO Mastery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TPM Academy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🎯 Day 3 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Build output / outcome / leading-indicator triples for each meaningful output</a:t>
            </a:r>
          </a:p>
          <a:p>
            <a:pPr lvl="0" indent="0" marL="0">
              <a:buNone/>
            </a:pPr>
            <a:r>
              <a:rPr/>
              <a:t>Design the sprint-level tracking with a leading-indicator dashboard</a:t>
            </a:r>
          </a:p>
          <a:p>
            <a:pPr lvl="0" indent="0" marL="0">
              <a:buNone/>
            </a:pPr>
            <a:r>
              <a:rPr/>
              <a:t>Design the monthly outcome review with named author + audience</a:t>
            </a:r>
          </a:p>
          <a:p>
            <a:pPr lvl="0" indent="0" marL="0">
              <a:buNone/>
            </a:pPr>
            <a:r>
              <a:rPr/>
              <a:t>Design the quarterly NS roll-up</a:t>
            </a:r>
          </a:p>
          <a:p>
            <a:pPr lvl="0" indent="0" marL="0">
              <a:buNone/>
            </a:pPr>
            <a:r>
              <a:rPr/>
              <a:t>Add AI pattern detection as a sprint-review aid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🕑 Today’s Shape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Clock</a:t>
            </a:r>
          </a:p>
          <a:p>
            <a:pPr lvl="0" indent="0" marL="0">
              <a:buNone/>
            </a:pPr>
            <a:r>
              <a:rPr/>
              <a:t>Block</a:t>
            </a:r>
          </a:p>
          <a:p>
            <a:pPr lvl="0" indent="0" marL="0">
              <a:buNone/>
            </a:pPr>
            <a:r>
              <a:rPr/>
              <a:t>Outcome</a:t>
            </a:r>
          </a:p>
          <a:p>
            <a:pPr lvl="0" indent="0" marL="0">
              <a:buNone/>
            </a:pPr>
            <a:r>
              <a:rPr/>
              <a:t>09:00 – 09:15</a:t>
            </a:r>
          </a:p>
          <a:p>
            <a:pPr lvl="0" indent="0" marL="0">
              <a:buNone/>
            </a:pPr>
            <a:r>
              <a:rPr/>
              <a:t>Opening</a:t>
            </a:r>
          </a:p>
          <a:p>
            <a:pPr lvl="0" indent="0" marL="0">
              <a:buNone/>
            </a:pPr>
            <a:r>
              <a:rPr/>
              <a:t>Pin DP §§1–2</a:t>
            </a:r>
          </a:p>
          <a:p>
            <a:pPr lvl="0" indent="0" marL="0">
              <a:buNone/>
            </a:pPr>
            <a:r>
              <a:rPr/>
              <a:t>09:15 – 10:30</a:t>
            </a:r>
          </a:p>
          <a:p>
            <a:pPr lvl="0" indent="0" marL="0">
              <a:buNone/>
            </a:pPr>
            <a:r>
              <a:rPr/>
              <a:t>Block 1 + Activity 1</a:t>
            </a:r>
          </a:p>
          <a:p>
            <a:pPr lvl="0" indent="0" marL="0">
              <a:buNone/>
            </a:pPr>
            <a:r>
              <a:rPr/>
              <a:t>Output / outcome / leading-indicator triples</a:t>
            </a:r>
          </a:p>
          <a:p>
            <a:pPr lvl="0" indent="0" marL="0">
              <a:buNone/>
            </a:pPr>
            <a:r>
              <a:rPr/>
              <a:t>10:45 – 12:00</a:t>
            </a:r>
          </a:p>
          <a:p>
            <a:pPr lvl="0" indent="0" marL="0">
              <a:buNone/>
            </a:pPr>
            <a:r>
              <a:rPr/>
              <a:t>Block 2 + Activity 2</a:t>
            </a:r>
          </a:p>
          <a:p>
            <a:pPr lvl="0" indent="0" marL="0">
              <a:buNone/>
            </a:pPr>
            <a:r>
              <a:rPr/>
              <a:t>Sprint-level tracking</a:t>
            </a:r>
          </a:p>
          <a:p>
            <a:pPr lvl="0" indent="0" marL="0">
              <a:buNone/>
            </a:pPr>
            <a:r>
              <a:rPr/>
              <a:t>13:00 – 14:15</a:t>
            </a:r>
          </a:p>
          <a:p>
            <a:pPr lvl="0" indent="0" marL="0">
              <a:buNone/>
            </a:pPr>
            <a:r>
              <a:rPr/>
              <a:t>Block 3 + Activity 3</a:t>
            </a:r>
          </a:p>
          <a:p>
            <a:pPr lvl="0" indent="0" marL="0">
              <a:buNone/>
            </a:pPr>
            <a:r>
              <a:rPr/>
              <a:t>Monthly + quarterly templates</a:t>
            </a:r>
          </a:p>
          <a:p>
            <a:pPr lvl="0" indent="0" marL="0">
              <a:buNone/>
            </a:pPr>
            <a:r>
              <a:rPr/>
              <a:t>14:30 – 16:00</a:t>
            </a:r>
          </a:p>
          <a:p>
            <a:pPr lvl="0" indent="0" marL="0">
              <a:buNone/>
            </a:pPr>
            <a:r>
              <a:rPr/>
              <a:t>Block 4 + Activity 4 + Wrap</a:t>
            </a:r>
          </a:p>
          <a:p>
            <a:pPr lvl="0" indent="0" marL="0">
              <a:buNone/>
            </a:pPr>
            <a:r>
              <a:rPr/>
              <a:t>Build §3 + AI pattern detection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1 — The Triple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Output / Outcome / Leading indicator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⚠️ 5 Tracking-Plan Failures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Failure</a:t>
            </a:r>
          </a:p>
          <a:p>
            <a:pPr lvl="0" indent="0" marL="0">
              <a:buNone/>
            </a:pPr>
            <a:r>
              <a:rPr/>
              <a:t>Symptom</a:t>
            </a:r>
          </a:p>
          <a:p>
            <a:pPr lvl="0" indent="0" marL="0">
              <a:buNone/>
            </a:pPr>
            <a:r>
              <a:rPr/>
              <a:t>Output-only</a:t>
            </a:r>
          </a:p>
          <a:p>
            <a:pPr lvl="0" indent="0" marL="0">
              <a:buNone/>
            </a:pPr>
            <a:r>
              <a:rPr/>
              <a:t>“12 stories shipped.” Nobody asks if anything moved.</a:t>
            </a:r>
          </a:p>
          <a:p>
            <a:pPr lvl="0" indent="0" marL="0">
              <a:buNone/>
            </a:pPr>
            <a:r>
              <a:rPr/>
              <a:t>Lagging-only</a:t>
            </a:r>
          </a:p>
          <a:p>
            <a:pPr lvl="0" indent="0" marL="0">
              <a:buNone/>
            </a:pPr>
            <a:r>
              <a:rPr/>
              <a:t>First feedback at 90 days — too late.</a:t>
            </a:r>
          </a:p>
          <a:p>
            <a:pPr lvl="0" indent="0" marL="0">
              <a:buNone/>
            </a:pPr>
            <a:r>
              <a:rPr/>
              <a:t>Vanity-only</a:t>
            </a:r>
          </a:p>
          <a:p>
            <a:pPr lvl="0" indent="0" marL="0">
              <a:buNone/>
            </a:pPr>
            <a:r>
              <a:rPr/>
              <a:t>DAU went up — from what?</a:t>
            </a:r>
          </a:p>
          <a:p>
            <a:pPr lvl="0" indent="0" marL="0">
              <a:buNone/>
            </a:pPr>
            <a:r>
              <a:rPr/>
              <a:t>No counter-metric</a:t>
            </a:r>
          </a:p>
          <a:p>
            <a:pPr lvl="0" indent="0" marL="0">
              <a:buNone/>
            </a:pPr>
            <a:r>
              <a:rPr/>
              <a:t>Metric moved up the wrong way (gaming).</a:t>
            </a:r>
          </a:p>
          <a:p>
            <a:pPr lvl="0" indent="0" marL="0">
              <a:buNone/>
            </a:pPr>
            <a:r>
              <a:rPr/>
              <a:t>Dashboard-without-action</a:t>
            </a:r>
          </a:p>
          <a:p>
            <a:pPr lvl="0" indent="0" marL="0">
              <a:buNone/>
            </a:pPr>
            <a:r>
              <a:rPr/>
              <a:t>Beautiful charts; no decisions change.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📚 The Triple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Output</a:t>
            </a:r>
          </a:p>
          <a:p>
            <a:pPr lvl="0" indent="0" marL="0">
              <a:buNone/>
            </a:pPr>
            <a:r>
              <a:rPr/>
              <a:t>Outcome</a:t>
            </a:r>
          </a:p>
          <a:p>
            <a:pPr lvl="0" indent="0" marL="0">
              <a:buNone/>
            </a:pPr>
            <a:r>
              <a:rPr/>
              <a:t>Leading indicator</a:t>
            </a:r>
          </a:p>
          <a:p>
            <a:pPr lvl="0" indent="0" marL="0">
              <a:buNone/>
            </a:pPr>
            <a:r>
              <a:rPr/>
              <a:t>Reconcile mobile flow</a:t>
            </a:r>
          </a:p>
          <a:p>
            <a:pPr lvl="0" indent="0" marL="0">
              <a:buNone/>
            </a:pPr>
            <a:r>
              <a:rPr/>
              <a:t>Median reconcile 45→12 min in 30d</a:t>
            </a:r>
          </a:p>
          <a:p>
            <a:pPr lvl="0" indent="0" marL="0">
              <a:buNone/>
            </a:pPr>
            <a:r>
              <a:rPr/>
              <a:t>First-attempt completion ≥ 80% by week 2</a:t>
            </a:r>
          </a:p>
          <a:p>
            <a:pPr lvl="0" indent="0" marL="0">
              <a:buNone/>
            </a:pPr>
            <a:r>
              <a:rPr/>
              <a:t>Auto-suggest top 5</a:t>
            </a:r>
          </a:p>
          <a:p>
            <a:pPr lvl="0" indent="0" marL="0">
              <a:buNone/>
            </a:pPr>
            <a:r>
              <a:rPr/>
              <a:t>Time-to-select 30→10s</a:t>
            </a:r>
          </a:p>
          <a:p>
            <a:pPr lvl="0" indent="0" marL="0">
              <a:buNone/>
            </a:pPr>
            <a:r>
              <a:rPr/>
              <a:t>% using suggestion ≥ 50% by week 4</a:t>
            </a:r>
          </a:p>
          <a:p>
            <a:pPr lvl="0" indent="0" marL="0">
              <a:buNone/>
            </a:pPr>
            <a:r>
              <a:rPr/>
              <a:t>Audit publishing</a:t>
            </a:r>
          </a:p>
          <a:p>
            <a:pPr lvl="0" indent="0" marL="0">
              <a:buNone/>
            </a:pPr>
            <a:r>
              <a:rPr/>
              <a:t>SOC 2 Q3 review passes</a:t>
            </a:r>
          </a:p>
          <a:p>
            <a:pPr lvl="0" indent="0" marL="0">
              <a:buNone/>
            </a:pPr>
            <a:r>
              <a:rPr/>
              <a:t>Event volume + DLQ depth steady through week 4</a:t>
            </a:r>
          </a:p>
          <a:p>
            <a:pPr lvl="0" indent="0" marL="0">
              <a:buNone/>
            </a:pPr>
            <a:r>
              <a:rPr/>
              <a:t>Leading indicator = the early signal. Without it, you wait 30 days to learn the outcome failed.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1 — Build Triples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35 minutes</a:t>
            </a:r>
          </a:p>
          <a:p>
            <a:pPr lvl="0" indent="0" marL="0">
              <a:buNone/>
            </a:pPr>
            <a:r>
              <a:rPr/>
              <a:t>10 min: list 5–8 outputs from DP §2</a:t>
            </a:r>
          </a:p>
          <a:p>
            <a:pPr lvl="0" indent="0" marL="0">
              <a:buNone/>
            </a:pPr>
            <a:r>
              <a:rPr/>
              <a:t>10 min: name outcome per output</a:t>
            </a:r>
          </a:p>
          <a:p>
            <a:pPr lvl="0" indent="0" marL="0">
              <a:buNone/>
            </a:pPr>
            <a:r>
              <a:rPr/>
              <a:t>10 min: name leading indicator per outcome</a:t>
            </a:r>
          </a:p>
          <a:p>
            <a:pPr lvl="0" indent="0" marL="0">
              <a:buNone/>
            </a:pPr>
            <a:r>
              <a:rPr/>
              <a:t>5 min: each leading indicator measurable within 7 days?</a:t>
            </a:r>
          </a:p>
          <a:p>
            <a:pPr lvl="0" indent="0" marL="0">
              <a:buNone/>
            </a:pPr>
            <a:r>
              <a:rPr/>
              <a:t>⏱ 10 + 10 + 10 + 5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2 — Sprint-Level Tracking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Outputs and outcomes inspected together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📚 Tracking Cadence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Cadence</a:t>
            </a:r>
          </a:p>
          <a:p>
            <a:pPr lvl="0" indent="0" marL="0">
              <a:buNone/>
            </a:pPr>
            <a:r>
              <a:rPr/>
              <a:t>Audience</a:t>
            </a:r>
          </a:p>
          <a:p>
            <a:pPr lvl="0" indent="0" marL="0">
              <a:buNone/>
            </a:pPr>
            <a:r>
              <a:rPr/>
              <a:t>What’s reviewed</a:t>
            </a:r>
          </a:p>
          <a:p>
            <a:pPr lvl="0" indent="0" marL="0">
              <a:buNone/>
            </a:pPr>
            <a:r>
              <a:rPr/>
              <a:t>Daily</a:t>
            </a:r>
          </a:p>
          <a:p>
            <a:pPr lvl="0" indent="0" marL="0">
              <a:buNone/>
            </a:pPr>
            <a:r>
              <a:rPr/>
              <a:t>Engineers / on-call</a:t>
            </a:r>
          </a:p>
          <a:p>
            <a:pPr lvl="0" indent="0" marL="0">
              <a:buNone/>
            </a:pPr>
            <a:r>
              <a:rPr/>
              <a:t>Alerts; error budget; immediate breaks</a:t>
            </a:r>
          </a:p>
          <a:p>
            <a:pPr lvl="0" indent="0" marL="0">
              <a:buNone/>
            </a:pPr>
            <a:r>
              <a:rPr/>
              <a:t>Sprint (2w)</a:t>
            </a:r>
          </a:p>
          <a:p>
            <a:pPr lvl="0" indent="0" marL="0">
              <a:buNone/>
            </a:pPr>
            <a:r>
              <a:rPr/>
              <a:t>Triad + eng lead</a:t>
            </a:r>
          </a:p>
          <a:p>
            <a:pPr lvl="0" indent="0" marL="0">
              <a:buNone/>
            </a:pPr>
            <a:r>
              <a:rPr/>
              <a:t>Velocity + leading indicators</a:t>
            </a:r>
          </a:p>
          <a:p>
            <a:pPr lvl="0" indent="0" marL="0">
              <a:buNone/>
            </a:pPr>
            <a:r>
              <a:rPr/>
              <a:t>Monthly</a:t>
            </a:r>
          </a:p>
          <a:p>
            <a:pPr lvl="0" indent="0" marL="0">
              <a:buNone/>
            </a:pPr>
            <a:r>
              <a:rPr/>
              <a:t>TPM + PM director</a:t>
            </a:r>
          </a:p>
          <a:p>
            <a:pPr lvl="0" indent="0" marL="0">
              <a:buNone/>
            </a:pPr>
            <a:r>
              <a:rPr/>
              <a:t>Outcome metrics</a:t>
            </a:r>
          </a:p>
          <a:p>
            <a:pPr lvl="0" indent="0" marL="0">
              <a:buNone/>
            </a:pPr>
            <a:r>
              <a:rPr/>
              <a:t>Quarterly</a:t>
            </a:r>
          </a:p>
          <a:p>
            <a:pPr lvl="0" indent="0" marL="0">
              <a:buNone/>
            </a:pPr>
            <a:r>
              <a:rPr/>
              <a:t>Triad + leadership</a:t>
            </a:r>
          </a:p>
          <a:p>
            <a:pPr lvl="0" indent="0" marL="0">
              <a:buNone/>
            </a:pPr>
            <a:r>
              <a:rPr/>
              <a:t>NS movement; KPI roll-up</a:t>
            </a:r>
          </a:p>
          <a:p>
            <a:pPr lvl="0" indent="0" marL="0">
              <a:buNone/>
            </a:pPr>
            <a:r>
              <a:rPr/>
              <a:t>If a metric has no cadence, it has no audience.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📝 Sprint Review Structure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shipped (outputs)</a:t>
            </a:r>
          </a:p>
          <a:p>
            <a:pPr lvl="0" indent="0" marL="0">
              <a:buNone/>
            </a:pPr>
            <a:r>
              <a:rPr/>
              <a:t>What’s still open</a:t>
            </a:r>
          </a:p>
          <a:p>
            <a:pPr lvl="0" indent="0" marL="0">
              <a:buNone/>
            </a:pPr>
            <a:r>
              <a:rPr/>
              <a:t>Velocity</a:t>
            </a:r>
          </a:p>
          <a:p>
            <a:pPr lvl="0" indent="0" marL="0">
              <a:buNone/>
            </a:pPr>
            <a:r>
              <a:rPr/>
              <a:t>Leading indicators — which moved, which didn’t</a:t>
            </a:r>
          </a:p>
          <a:p>
            <a:pPr lvl="0" indent="0" marL="0">
              <a:buNone/>
            </a:pPr>
            <a:r>
              <a:rPr/>
              <a:t>Anomalies</a:t>
            </a:r>
          </a:p>
          <a:p>
            <a:pPr lvl="0" indent="0" marL="0">
              <a:buNone/>
            </a:pPr>
            <a:r>
              <a:rPr/>
              <a:t>Adjustments for next sprint</a:t>
            </a:r>
          </a:p>
          <a:p>
            <a:pPr lvl="0" indent="0" marL="0">
              <a:buNone/>
            </a:pPr>
            <a:r>
              <a:rPr/>
              <a:t>The TPM-owned twist: at least one segment is about outcome, not output.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2 — Sprint-Level Tracking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40 minutes</a:t>
            </a:r>
          </a:p>
          <a:p>
            <a:pPr lvl="0" indent="0" marL="0">
              <a:buNone/>
            </a:pPr>
            <a:r>
              <a:rPr/>
              <a:t>15 min: design sprint review template (6 sections)</a:t>
            </a:r>
          </a:p>
          <a:p>
            <a:pPr lvl="0" indent="0" marL="0">
              <a:buNone/>
            </a:pPr>
            <a:r>
              <a:rPr/>
              <a:t>5 min: cadence anchor (day, time, recurring)</a:t>
            </a:r>
          </a:p>
          <a:p>
            <a:pPr lvl="0" indent="0" marL="0">
              <a:buNone/>
            </a:pPr>
            <a:r>
              <a:rPr/>
              <a:t>15 min: leading indicator dashboard (3–5 charts)</a:t>
            </a:r>
          </a:p>
          <a:p>
            <a:pPr lvl="0" indent="0" marL="0">
              <a:buNone/>
            </a:pPr>
            <a:r>
              <a:rPr/>
              <a:t>5 min: thresholds + actions per chart</a:t>
            </a:r>
          </a:p>
          <a:p>
            <a:pPr lvl="0" indent="0" marL="0">
              <a:buNone/>
            </a:pPr>
            <a:r>
              <a:rPr/>
              <a:t>⏱ 15 + 5 + 15 + 5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3 — Monthly + Quarterly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Outcome reviews + NS roll-up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📝 Monthly Outcome Review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“Decisions for next month” is what makes the review actionable rather than ceremonial.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📝 Quarterly NS Roll-Up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Did the feature contribute to the NS?</a:t>
            </a:r>
          </a:p>
          <a:p>
            <a:pPr lvl="0" indent="0" marL="0">
              <a:buNone/>
            </a:pPr>
            <a:r>
              <a:rPr/>
              <a:t>Did the primary outcome move?</a:t>
            </a:r>
          </a:p>
          <a:p>
            <a:pPr lvl="0" indent="0" marL="0">
              <a:buNone/>
            </a:pPr>
            <a:r>
              <a:rPr/>
              <a:t>Did supporting outcomes contribute?</a:t>
            </a:r>
          </a:p>
          <a:p>
            <a:pPr lvl="0" indent="0" marL="0">
              <a:buNone/>
            </a:pPr>
            <a:r>
              <a:rPr/>
              <a:t>Did counter-outcomes stay flat?</a:t>
            </a:r>
          </a:p>
          <a:p>
            <a:pPr lvl="0" indent="0" marL="0">
              <a:buNone/>
            </a:pPr>
            <a:r>
              <a:rPr/>
              <a:t>Did the NS itself move? (Often hard to attribute to one feature; that’s fine — name what you can.)</a:t>
            </a:r>
          </a:p>
          <a:p>
            <a:pPr lvl="0" indent="0" marL="0">
              <a:buNone/>
            </a:pPr>
            <a:r>
              <a:rPr/>
              <a:t>Honest attribution beats over-claiming.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3 — Monthly + Quarterly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40 minutes</a:t>
            </a:r>
          </a:p>
          <a:p>
            <a:pPr lvl="0" indent="0" marL="0">
              <a:buNone/>
            </a:pPr>
            <a:r>
              <a:rPr/>
              <a:t>15 min: monthly review template</a:t>
            </a:r>
          </a:p>
          <a:p>
            <a:pPr lvl="0" indent="0" marL="0">
              <a:buNone/>
            </a:pPr>
            <a:r>
              <a:rPr/>
              <a:t>15 min: quarterly roll-up template</a:t>
            </a:r>
          </a:p>
          <a:p>
            <a:pPr lvl="0" indent="0" marL="0">
              <a:buNone/>
            </a:pPr>
            <a:r>
              <a:rPr/>
              <a:t>5 min: author + audience per template</a:t>
            </a:r>
          </a:p>
          <a:p>
            <a:pPr lvl="0" indent="0" marL="0">
              <a:buNone/>
            </a:pPr>
            <a:r>
              <a:rPr/>
              <a:t>5 min: cadence anchor per template</a:t>
            </a:r>
          </a:p>
          <a:p>
            <a:pPr lvl="0" indent="0" marL="0">
              <a:buNone/>
            </a:pPr>
            <a:r>
              <a:rPr/>
              <a:t>⏱ 15 + 15 + 5 + 5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4 — §3 + AI Pattern Detection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Combine sections; add the anomaly-spotting prompt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📝 DP §3 Structure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🧿 AI Pattern Detection Prompt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4 — §3 + AI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45 minutes • Wrap</a:t>
            </a:r>
          </a:p>
          <a:p>
            <a:pPr lvl="0" indent="0" marL="0">
              <a:buNone/>
            </a:pPr>
            <a:r>
              <a:rPr/>
              <a:t>15 min: combine into §3</a:t>
            </a:r>
          </a:p>
          <a:p>
            <a:pPr lvl="0" indent="0" marL="0">
              <a:buNone/>
            </a:pPr>
            <a:r>
              <a:rPr/>
              <a:t>10 min: AI prompt on synthetic sprint</a:t>
            </a:r>
          </a:p>
          <a:p>
            <a:pPr lvl="0" indent="0" marL="0">
              <a:buNone/>
            </a:pPr>
            <a:r>
              <a:rPr/>
              <a:t>10 min: validate</a:t>
            </a:r>
          </a:p>
          <a:p>
            <a:pPr lvl="0" indent="0" marL="0">
              <a:buNone/>
            </a:pPr>
            <a:r>
              <a:rPr/>
              <a:t>10 min: cross-review with another triad</a:t>
            </a:r>
          </a:p>
          <a:p>
            <a:pPr lvl="0" indent="0" marL="0">
              <a:buNone/>
            </a:pPr>
            <a:r>
              <a:rPr/>
              <a:t>⏱ 15 + 10 + 10 + 10 · 15-min wrap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🎉 Day 3 Wrap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we built</a:t>
            </a:r>
          </a:p>
          <a:p>
            <a:pPr lvl="0" indent="0" marL="0">
              <a:buNone/>
            </a:pPr>
            <a:r>
              <a:rPr/>
              <a:t>Output/outcome/leading-indicator triples</a:t>
            </a:r>
          </a:p>
          <a:p>
            <a:pPr lvl="0" indent="0" marL="0">
              <a:buNone/>
            </a:pPr>
            <a:r>
              <a:rPr/>
              <a:t>Sprint-level tracking + dashboard</a:t>
            </a:r>
          </a:p>
          <a:p>
            <a:pPr lvl="0" indent="0" marL="0">
              <a:buNone/>
            </a:pPr>
            <a:r>
              <a:rPr/>
              <a:t>Monthly outcome review template</a:t>
            </a:r>
          </a:p>
          <a:p>
            <a:pPr lvl="0" indent="0" marL="0">
              <a:buNone/>
            </a:pPr>
            <a:r>
              <a:rPr/>
              <a:t>Quarterly NS roll-up template</a:t>
            </a:r>
          </a:p>
          <a:p>
            <a:pPr lvl="0" indent="0" marL="0">
              <a:buNone/>
            </a:pPr>
            <a:r>
              <a:rPr/>
              <a:t>AI pattern-detection pattern</a:t>
            </a:r>
          </a:p>
          <a:p>
            <a:pPr lvl="0" indent="0" marL="0">
              <a:buNone/>
            </a:pPr>
            <a:r>
              <a:rPr/>
              <a:t>DP §3 drafted</a:t>
            </a:r>
          </a:p>
          <a:p>
            <a:pPr lvl="0" indent="0" marL="0">
              <a:buNone/>
            </a:pPr>
            <a:r>
              <a:rPr/>
              <a:t>What opens tomorrow</a:t>
            </a:r>
          </a:p>
          <a:p>
            <a:pPr lvl="0" indent="0" marL="0">
              <a:buNone/>
            </a:pPr>
            <a:r>
              <a:rPr/>
              <a:t>Lean delivery + value stream mapping</a:t>
            </a:r>
          </a:p>
          <a:p>
            <a:pPr lvl="0" indent="0" marL="0">
              <a:buNone/>
            </a:pPr>
            <a:r>
              <a:rPr/>
              <a:t>Lead time / process time / flow efficiency</a:t>
            </a:r>
          </a:p>
          <a:p>
            <a:pPr lvl="0" indent="0" marL="0">
              <a:buNone/>
            </a:pPr>
            <a:r>
              <a:rPr/>
              <a:t>VSM canvas for the feature delivery</a:t>
            </a:r>
          </a:p>
          <a:p>
            <a:pPr lvl="0" indent="0" marL="0">
              <a:buNone/>
            </a:pPr>
            <a:r>
              <a:rPr/>
              <a:t>Bring to Day 4: DP §§1–3. Tomorrow we map the flow.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💬 Questions &amp; Reflection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 outcome will you know is failing within 7 days of launch?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2026-07-16T12:30:40Z</dcterms:created>
  <dcterms:modified xsi:type="dcterms:W3CDTF">2026-07-16T12:30:40Z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