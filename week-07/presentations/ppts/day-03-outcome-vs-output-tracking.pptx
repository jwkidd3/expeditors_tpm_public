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wire tracking on top of yesterday’s backlog so the team learns whether features actually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DP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triples → sprint → monthly/quarterly → integrate.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 / outcome / leading indicator.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mature tracking plan avoids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Leading indicators are the muscle. Force “measurable within 7 days.”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specificity. “We’ll watch some metrics” is not a leading indicator.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outputs and outcomes inspected together.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Calendar-anchored. Not “monthly-ish.”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sprint review is all output,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Dashboards with 10+ charts get ignored. Cap at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outcome reviews + ns roll-up.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skips “decisions,” it’s a status meeting, not a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feature alone moved the NS” is rare. Be honest about coupling.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 for author + audience. Calendar dates for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combine sections; add the anomaly-spotting prompt.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cadences + AI in one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cross-check claims against ADO data. Same Wk 5 D5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leading indicator proudest, expected anomaly, decision imagined for monthly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leading indicator they’re betting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outcome will you know is failing within 7 days of launch?”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Outcome vs Output Tracking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3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output / outcome / leading-indicator triples for each meaningful output</a:t>
            </a:r>
          </a:p>
          <a:p>
            <a:pPr lvl="0" indent="0" marL="0">
              <a:buNone/>
            </a:pPr>
            <a:r>
              <a:rPr/>
              <a:t>Design the sprint-level tracking with a leading-indicator dashboard</a:t>
            </a:r>
          </a:p>
          <a:p>
            <a:pPr lvl="0" indent="0" marL="0">
              <a:buNone/>
            </a:pPr>
            <a:r>
              <a:rPr/>
              <a:t>Design the monthly outcome review with named author + audience</a:t>
            </a:r>
          </a:p>
          <a:p>
            <a:pPr lvl="0" indent="0" marL="0">
              <a:buNone/>
            </a:pPr>
            <a:r>
              <a:rPr/>
              <a:t>Design the quarterly NS roll-up</a:t>
            </a:r>
          </a:p>
          <a:p>
            <a:pPr lvl="0" indent="0" marL="0">
              <a:buNone/>
            </a:pPr>
            <a:r>
              <a:rPr/>
              <a:t>Add AI pattern detection as a sprint-review aid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1–2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/ leading-indicator triples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Sprint-level tracking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Monthly + quarterly templates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Build Section 3 + AI pattern detection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 / Outcome / Leading indicator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5 Tracking-Plan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Output-only</a:t>
            </a:r>
          </a:p>
          <a:p>
            <a:pPr lvl="0" indent="0" marL="0">
              <a:buNone/>
            </a:pPr>
            <a:r>
              <a:rPr/>
              <a:t>“12 stories shipped.” Nobody asks if anything moved.</a:t>
            </a:r>
          </a:p>
          <a:p>
            <a:pPr lvl="0" indent="0" marL="0">
              <a:buNone/>
            </a:pPr>
            <a:r>
              <a:rPr/>
              <a:t>Lagging-only</a:t>
            </a:r>
          </a:p>
          <a:p>
            <a:pPr lvl="0" indent="0" marL="0">
              <a:buNone/>
            </a:pPr>
            <a:r>
              <a:rPr/>
              <a:t>First feedback at 90 days — too late.</a:t>
            </a:r>
          </a:p>
          <a:p>
            <a:pPr lvl="0" indent="0" marL="0">
              <a:buNone/>
            </a:pPr>
            <a:r>
              <a:rPr/>
              <a:t>Vanity-only</a:t>
            </a:r>
          </a:p>
          <a:p>
            <a:pPr lvl="0" indent="0" marL="0">
              <a:buNone/>
            </a:pPr>
            <a:r>
              <a:rPr/>
              <a:t>DAU went up — from what?</a:t>
            </a:r>
          </a:p>
          <a:p>
            <a:pPr lvl="0" indent="0" marL="0">
              <a:buNone/>
            </a:pPr>
            <a:r>
              <a:rPr/>
              <a:t>No counter-metric</a:t>
            </a:r>
          </a:p>
          <a:p>
            <a:pPr lvl="0" indent="0" marL="0">
              <a:buNone/>
            </a:pPr>
            <a:r>
              <a:rPr/>
              <a:t>Metric moved up the wrong way (gaming).</a:t>
            </a:r>
          </a:p>
          <a:p>
            <a:pPr lvl="0" indent="0" marL="0">
              <a:buNone/>
            </a:pPr>
            <a:r>
              <a:rPr/>
              <a:t>Dashboard-without-action</a:t>
            </a:r>
          </a:p>
          <a:p>
            <a:pPr lvl="0" indent="0" marL="0">
              <a:buNone/>
            </a:pPr>
            <a:r>
              <a:rPr/>
              <a:t>Beautiful charts; no decisions change.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Leading indicator</a:t>
            </a:r>
          </a:p>
          <a:p>
            <a:pPr lvl="0" indent="0" marL="0">
              <a:buNone/>
            </a:pPr>
            <a:r>
              <a:rPr/>
              <a:t>Reconcile mobile flow</a:t>
            </a:r>
          </a:p>
          <a:p>
            <a:pPr lvl="0" indent="0" marL="0">
              <a:buNone/>
            </a:pPr>
            <a:r>
              <a:rPr/>
              <a:t>Median reconcile 45→12 min in 30d</a:t>
            </a:r>
          </a:p>
          <a:p>
            <a:pPr lvl="0" indent="0" marL="0">
              <a:buNone/>
            </a:pPr>
            <a:r>
              <a:rPr/>
              <a:t>First-attempt completion ≥ 80% by week 2</a:t>
            </a:r>
          </a:p>
          <a:p>
            <a:pPr lvl="0" indent="0" marL="0">
              <a:buNone/>
            </a:pPr>
            <a:r>
              <a:rPr/>
              <a:t>Auto-suggest top 5</a:t>
            </a:r>
          </a:p>
          <a:p>
            <a:pPr lvl="0" indent="0" marL="0">
              <a:buNone/>
            </a:pPr>
            <a:r>
              <a:rPr/>
              <a:t>Time-to-select 30→10s</a:t>
            </a:r>
          </a:p>
          <a:p>
            <a:pPr lvl="0" indent="0" marL="0">
              <a:buNone/>
            </a:pPr>
            <a:r>
              <a:rPr/>
              <a:t>% using suggestion ≥ 50% by week 4</a:t>
            </a:r>
          </a:p>
          <a:p>
            <a:pPr lvl="0" indent="0" marL="0">
              <a:buNone/>
            </a:pPr>
            <a:r>
              <a:rPr/>
              <a:t>Audit publishing</a:t>
            </a:r>
          </a:p>
          <a:p>
            <a:pPr lvl="0" indent="0" marL="0">
              <a:buNone/>
            </a:pPr>
            <a:r>
              <a:rPr/>
              <a:t>SOC 2 Q3 review passes</a:t>
            </a:r>
          </a:p>
          <a:p>
            <a:pPr lvl="0" indent="0" marL="0">
              <a:buNone/>
            </a:pPr>
            <a:r>
              <a:rPr/>
              <a:t>Event volume + DLQ depth steady through week 4</a:t>
            </a:r>
          </a:p>
          <a:p>
            <a:pPr lvl="0" indent="0" marL="0">
              <a:buNone/>
            </a:pPr>
            <a:r>
              <a:rPr/>
              <a:t>Leading indicator = the early signal. Without it, you wait 30 days to learn the outcome failed. A dead-letter queue (DLQ) depth reading is one such early signal.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Triples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10 min: list 5–8 outputs from Delivery Plan (DP) Section 2</a:t>
            </a:r>
          </a:p>
          <a:p>
            <a:pPr lvl="0" indent="0" marL="0">
              <a:buNone/>
            </a:pPr>
            <a:r>
              <a:rPr/>
              <a:t>10 min: name outcome per output</a:t>
            </a:r>
          </a:p>
          <a:p>
            <a:pPr lvl="0" indent="0" marL="0">
              <a:buNone/>
            </a:pPr>
            <a:r>
              <a:rPr/>
              <a:t>10 min: name leading indicator per outcome</a:t>
            </a:r>
          </a:p>
          <a:p>
            <a:pPr lvl="0" indent="0" marL="0">
              <a:buNone/>
            </a:pPr>
            <a:r>
              <a:rPr/>
              <a:t>5 min: each leading indicator measurable within 7 days?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Outputs and outcomes inspected together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Tracking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What’s reviewed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Engineers / on-call</a:t>
            </a:r>
          </a:p>
          <a:p>
            <a:pPr lvl="0" indent="0" marL="0">
              <a:buNone/>
            </a:pPr>
            <a:r>
              <a:rPr/>
              <a:t>Alerts; error budget; immediate breaks</a:t>
            </a:r>
          </a:p>
          <a:p>
            <a:pPr lvl="0" indent="0" marL="0">
              <a:buNone/>
            </a:pPr>
            <a:r>
              <a:rPr/>
              <a:t>Sprint (2w)</a:t>
            </a:r>
          </a:p>
          <a:p>
            <a:pPr lvl="0" indent="0" marL="0">
              <a:buNone/>
            </a:pPr>
            <a:r>
              <a:rPr/>
              <a:t>Quad + eng lead</a:t>
            </a:r>
          </a:p>
          <a:p>
            <a:pPr lvl="0" indent="0" marL="0">
              <a:buNone/>
            </a:pPr>
            <a:r>
              <a:rPr/>
              <a:t>Velocity + leading indicators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TPM + PM director</a:t>
            </a:r>
          </a:p>
          <a:p>
            <a:pPr lvl="0" indent="0" marL="0">
              <a:buNone/>
            </a:pPr>
            <a:r>
              <a:rPr/>
              <a:t>Outcome metrics</a:t>
            </a:r>
          </a:p>
          <a:p>
            <a:pPr lvl="0" indent="0" marL="0">
              <a:buNone/>
            </a:pPr>
            <a:r>
              <a:rPr/>
              <a:t>Quarterly</a:t>
            </a:r>
          </a:p>
          <a:p>
            <a:pPr lvl="0" indent="0" marL="0">
              <a:buNone/>
            </a:pPr>
            <a:r>
              <a:rPr/>
              <a:t>Quad + leadership</a:t>
            </a:r>
          </a:p>
          <a:p>
            <a:pPr lvl="0" indent="0" marL="0">
              <a:buNone/>
            </a:pPr>
            <a:r>
              <a:rPr/>
              <a:t>NS movement; KPI roll-up</a:t>
            </a:r>
          </a:p>
          <a:p>
            <a:pPr lvl="0" indent="0" marL="0">
              <a:buNone/>
            </a:pPr>
            <a:r>
              <a:rPr/>
              <a:t>If a metric has no cadence, it has no audience. The quarterly key performance indicator (KPI) roll-up is one such metric.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Sprint Review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shipped (outputs)</a:t>
            </a:r>
          </a:p>
          <a:p>
            <a:pPr lvl="0" indent="0" marL="0">
              <a:buNone/>
            </a:pPr>
            <a:r>
              <a:rPr/>
              <a:t>What’s still open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Leading indicators — which moved, which didn’t</a:t>
            </a:r>
          </a:p>
          <a:p>
            <a:pPr lvl="0" indent="0" marL="0">
              <a:buNone/>
            </a:pPr>
            <a:r>
              <a:rPr/>
              <a:t>Anomalies</a:t>
            </a:r>
          </a:p>
          <a:p>
            <a:pPr lvl="0" indent="0" marL="0">
              <a:buNone/>
            </a:pPr>
            <a:r>
              <a:rPr/>
              <a:t>Adjustments for next sprint</a:t>
            </a:r>
          </a:p>
          <a:p>
            <a:pPr lvl="0" indent="0" marL="0">
              <a:buNone/>
            </a:pPr>
            <a:r>
              <a:rPr/>
              <a:t>The TPM-owned twist: at least one segment is about outcome, not output.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15 min: design sprint review template (6 sections)</a:t>
            </a:r>
          </a:p>
          <a:p>
            <a:pPr lvl="0" indent="0" marL="0">
              <a:buNone/>
            </a:pPr>
            <a:r>
              <a:rPr/>
              <a:t>5 min: cadence anchor (day, time, recurring)</a:t>
            </a:r>
          </a:p>
          <a:p>
            <a:pPr lvl="0" indent="0" marL="0">
              <a:buNone/>
            </a:pPr>
            <a:r>
              <a:rPr/>
              <a:t>15 min: leading indicator dashboard (3–5 charts)</a:t>
            </a:r>
          </a:p>
          <a:p>
            <a:pPr lvl="0" indent="0" marL="0">
              <a:buNone/>
            </a:pPr>
            <a:r>
              <a:rPr/>
              <a:t>5 min: thresholds + actions per chart</a:t>
            </a:r>
          </a:p>
          <a:p>
            <a:pPr lvl="0" indent="0" marL="0">
              <a:buNone/>
            </a:pPr>
            <a:r>
              <a:rPr/>
              <a:t>⏱ 15 + 5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Outcome reviews + NS roll-up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Monthly Outcome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Monthly Outcome Review — &lt;feature&gt;
### The primary outcome
Baseline / Current / Target / Status (🟢/🟡/🔴)
### Supporting outcomes
[same table]
### Counter-outcomes (the guardrails)
[same table]
### What we learned this month
2–3 bullets — surprises, model changes
### Decisions for next month
3–5 specific decisions: invest more / pivot / stop</a:t>
            </a:r>
          </a:p>
          <a:p>
            <a:pPr lvl="0" indent="0" marL="0">
              <a:buNone/>
            </a:pPr>
            <a:r>
              <a:rPr/>
              <a:t>“Decisions for next month” is what makes the review actionable rather than ceremonial.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Quarterly NS Roll-Up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feature contribute to the NS?</a:t>
            </a:r>
          </a:p>
          <a:p>
            <a:pPr lvl="0" indent="0" marL="0">
              <a:buNone/>
            </a:pPr>
            <a:r>
              <a:rPr/>
              <a:t>Did the primary outcome move?</a:t>
            </a:r>
          </a:p>
          <a:p>
            <a:pPr lvl="0" indent="0" marL="0">
              <a:buNone/>
            </a:pPr>
            <a:r>
              <a:rPr/>
              <a:t>Did supporting outcomes contribute?</a:t>
            </a:r>
          </a:p>
          <a:p>
            <a:pPr lvl="0" indent="0" marL="0">
              <a:buNone/>
            </a:pPr>
            <a:r>
              <a:rPr/>
              <a:t>Did counter-outcomes stay flat?</a:t>
            </a:r>
          </a:p>
          <a:p>
            <a:pPr lvl="0" indent="0" marL="0">
              <a:buNone/>
            </a:pPr>
            <a:r>
              <a:rPr/>
              <a:t>Did the NS itself move? (Often hard to attribute to one feature; that’s fine — name what you can.)</a:t>
            </a:r>
          </a:p>
          <a:p>
            <a:pPr lvl="0" indent="0" marL="0">
              <a:buNone/>
            </a:pPr>
            <a:r>
              <a:rPr/>
              <a:t>Honest attribution beats over-claiming.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15 min: monthly review template</a:t>
            </a:r>
          </a:p>
          <a:p>
            <a:pPr lvl="0" indent="0" marL="0">
              <a:buNone/>
            </a:pPr>
            <a:r>
              <a:rPr/>
              <a:t>15 min: quarterly roll-up template</a:t>
            </a:r>
          </a:p>
          <a:p>
            <a:pPr lvl="0" indent="0" marL="0">
              <a:buNone/>
            </a:pPr>
            <a:r>
              <a:rPr/>
              <a:t>5 min: author + audience per template</a:t>
            </a:r>
          </a:p>
          <a:p>
            <a:pPr lvl="0" indent="0" marL="0">
              <a:buNone/>
            </a:pPr>
            <a:r>
              <a:rPr/>
              <a:t>5 min: cadence anchor per template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Section 3 + AI Pattern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 sections; add the anomaly-spotting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 Section 3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3. Tracking plan
### Output / Outcome / Leading-Indicator triples
[Activity 1 table]
### Counter-metrics
[from NS Defense Card]
### Sprint-level tracking
- Cadence; template link; dashboard link; thresholds
### Monthly outcome review
- Cadence; template link; author/audience
### Quarterly NS roll-up
- Cadence; template link
### AI pattern detection
- Prompt link; frequency; validation rule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Pattern Detection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 the prompt your Azure DevOps (ADO) query results.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Senior PM doing pattern detection across a sprint.
Context: &lt;ADO query results — items shipped, blocked,
leading indicator readings&gt;
Task: Identify top 3 patterns:
1. Leading indicator moving wrong direction (or flat)
2. Category over- or under-represented this sprint
3. Anomaly worth investigating
Constraints:
- Use only provided data
- Name specific items / numbers
- Suggest one investigation step per pattern
Format: 3 numbered — pattern / evidence / suggested investigation.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3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15 min: combine into Section 3</a:t>
            </a:r>
          </a:p>
          <a:p>
            <a:pPr lvl="0" indent="0" marL="0">
              <a:buNone/>
            </a:pPr>
            <a:r>
              <a:rPr/>
              <a:t>10 min: AI prompt on synthetic sprint</a:t>
            </a:r>
          </a:p>
          <a:p>
            <a:pPr lvl="0" indent="0" marL="0">
              <a:buNone/>
            </a:pPr>
            <a:r>
              <a:rPr/>
              <a:t>10 min: validate</a:t>
            </a:r>
          </a:p>
          <a:p>
            <a:pPr lvl="0" indent="0" marL="0">
              <a:buNone/>
            </a:pPr>
            <a:r>
              <a:rPr/>
              <a:t>10 min: cross-review with another quad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Output/outcome/leading-indicator triples</a:t>
            </a:r>
          </a:p>
          <a:p>
            <a:pPr lvl="0" indent="0" marL="0">
              <a:buNone/>
            </a:pPr>
            <a:r>
              <a:rPr/>
              <a:t>Sprint-level tracking + dashboard</a:t>
            </a:r>
          </a:p>
          <a:p>
            <a:pPr lvl="0" indent="0" marL="0">
              <a:buNone/>
            </a:pPr>
            <a:r>
              <a:rPr/>
              <a:t>Monthly outcome review template</a:t>
            </a:r>
          </a:p>
          <a:p>
            <a:pPr lvl="0" indent="0" marL="0">
              <a:buNone/>
            </a:pPr>
            <a:r>
              <a:rPr/>
              <a:t>Quarterly NS roll-up template</a:t>
            </a:r>
          </a:p>
          <a:p>
            <a:pPr lvl="0" indent="0" marL="0">
              <a:buNone/>
            </a:pPr>
            <a:r>
              <a:rPr/>
              <a:t>AI pattern-detection pattern</a:t>
            </a:r>
          </a:p>
          <a:p>
            <a:pPr lvl="0" indent="0" marL="0">
              <a:buNone/>
            </a:pPr>
            <a:r>
              <a:rPr/>
              <a:t>DP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Lean delivery + value stream mapping</a:t>
            </a:r>
          </a:p>
          <a:p>
            <a:pPr lvl="0" indent="0" marL="0">
              <a:buNone/>
            </a:pPr>
            <a:r>
              <a:rPr/>
              <a:t>Lead time / process time / flow efficiency</a:t>
            </a:r>
          </a:p>
          <a:p>
            <a:pPr lvl="0" indent="0" marL="0">
              <a:buNone/>
            </a:pPr>
            <a:r>
              <a:rPr/>
              <a:t>value stream mapping (VSM) canvas for the feature delivery</a:t>
            </a:r>
          </a:p>
          <a:p>
            <a:pPr lvl="0" indent="0" marL="0">
              <a:buNone/>
            </a:pPr>
            <a:r>
              <a:rPr/>
              <a:t>Bring to Day 4: DP Sections 1–3. Tomorrow we map the flow.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outcome will you know is failing within 7 days of launch?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2026-08-10T21:38:57Z</dcterms:created>
  <dcterms:modified xsi:type="dcterms:W3CDTF">2026-08-10T21:38:57Z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