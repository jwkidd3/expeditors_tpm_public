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look at the system that produces the work. Most teams optimize the wrong step because they’ve never seen the whole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DP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identify → measure → queue-find →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most of the time, work is waiting.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entry point. Don’t soften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Flow efficiency is the most-startling number. Single-digit % is typical.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queues hide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for 7–10 steps. Owner per step is a role (sometimes a name).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process time / lead time / flow efficiency.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 refuses to estimate, push: “honest guess beats no number.” Calibrate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numbers. Label estimates as estimates. Compute flow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find where the time hides.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specificity. Vague queues don’t get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candidate intervention is an experiment for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“Necessary delay” (e.g., 30 days for outcome data) ≠ queue waste. Distinguish.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one page; the queues hit emotionally.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page. Whiteboard or paper. The visual makes the queues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flow efficiency, biggest queue, non-obvious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queue they’d attack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“Where does your team’s time hide that nobody talks about?”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Lean Delivery &amp; Value Stream Mapping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7 • Day 4 • Agile Delivery &amp; ADO Mastery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  <a:p>
            <a:pPr lvl="0" indent="0" marL="0">
              <a:buNone/>
            </a:pPr>
            <a:r>
              <a:rPr/>
              <a:t>Week 7 builds Agile delivery and Azure DevOps (ADO) mastery.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the value stream from idea to value-realized (7–10 steps)</a:t>
            </a:r>
          </a:p>
          <a:p>
            <a:pPr lvl="0" indent="0" marL="0">
              <a:buNone/>
            </a:pPr>
            <a:r>
              <a:rPr/>
              <a:t>Measure or estimate process time, lead time, and flow efficiency per step</a:t>
            </a:r>
          </a:p>
          <a:p>
            <a:pPr lvl="0" indent="0" marL="0">
              <a:buNone/>
            </a:pPr>
            <a:r>
              <a:rPr/>
              <a:t>Find the top 3 queues with named cause + candidate intervention</a:t>
            </a:r>
          </a:p>
          <a:p>
            <a:pPr lvl="0" indent="0" marL="0">
              <a:buNone/>
            </a:pPr>
            <a:r>
              <a:rPr/>
              <a:t>Draw the visual VSM</a:t>
            </a:r>
          </a:p>
          <a:p>
            <a:pPr lvl="0" indent="0" marL="0">
              <a:buNone/>
            </a:pPr>
            <a:r>
              <a:rPr/>
              <a:t>Use AI to surface non-obvious queues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DP Sections 1–3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Identify your value stream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Measure or estimate each step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Top 3 queues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VSM + AI critique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Lean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Most of the time, work is waiting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Lean’s Foundational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of the time work spends in a system is waiting, not being worked on. Reduce waiting; reduce total time.</a:t>
            </a:r>
          </a:p>
          <a:p>
            <a:pPr lvl="0" indent="0" marL="0">
              <a:buNone/>
            </a:pPr>
            <a:r>
              <a:rPr/>
              <a:t>Typical software example: a story with 2 hours of actual coding may spend 3 weeks in the system — waiting for spec, review, QA, deploy slot, merge.</a:t>
            </a:r>
          </a:p>
          <a:p>
            <a:pPr lvl="0" indent="0" marL="0">
              <a:buNone/>
            </a:pPr>
            <a:r>
              <a:rPr/>
              <a:t>A TPM who optimizes coding time saves minutes. A TPM who reduces the waiting saves weeks.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VSM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Meaning</a:t>
            </a:r>
          </a:p>
          <a:p>
            <a:pPr lvl="0" indent="0" marL="0">
              <a:buNone/>
            </a:pPr>
            <a:r>
              <a:rPr/>
              <a:t>Value stream</a:t>
            </a:r>
          </a:p>
          <a:p>
            <a:pPr lvl="0" indent="0" marL="0">
              <a:buNone/>
            </a:pPr>
            <a:r>
              <a:rPr/>
              <a:t>Whole flow from idea to value-realized</a:t>
            </a:r>
          </a:p>
          <a:p>
            <a:pPr lvl="0" indent="0" marL="0">
              <a:buNone/>
            </a:pPr>
            <a:r>
              <a:rPr/>
              <a:t>Process time (PT)</a:t>
            </a:r>
          </a:p>
          <a:p>
            <a:pPr lvl="0" indent="0" marL="0">
              <a:buNone/>
            </a:pPr>
            <a:r>
              <a:rPr/>
              <a:t>Hands-on-work time at a step</a:t>
            </a:r>
          </a:p>
          <a:p>
            <a:pPr lvl="0" indent="0" marL="0">
              <a:buNone/>
            </a:pPr>
            <a:r>
              <a:rPr/>
              <a:t>Lead time (LT)</a:t>
            </a:r>
          </a:p>
          <a:p>
            <a:pPr lvl="0" indent="0" marL="0">
              <a:buNone/>
            </a:pPr>
            <a:r>
              <a:rPr/>
              <a:t>Total time at a step including waiting</a:t>
            </a:r>
          </a:p>
          <a:p>
            <a:pPr lvl="0" indent="0" marL="0">
              <a:buNone/>
            </a:pPr>
            <a:r>
              <a:rPr/>
              <a:t>Flow efficiency</a:t>
            </a:r>
          </a:p>
          <a:p>
            <a:pPr lvl="0" indent="0" marL="0">
              <a:buNone/>
            </a:pPr>
            <a:r>
              <a:rPr/>
              <a:t>PT / LT × 100%</a:t>
            </a:r>
          </a:p>
          <a:p>
            <a:pPr lvl="0" indent="0" marL="0">
              <a:buNone/>
            </a:pPr>
            <a:r>
              <a:rPr/>
              <a:t>Queue</a:t>
            </a:r>
          </a:p>
          <a:p>
            <a:pPr lvl="0" indent="0" marL="0">
              <a:buNone/>
            </a:pPr>
            <a:r>
              <a:rPr/>
              <a:t>Work waiting between steps</a:t>
            </a:r>
          </a:p>
          <a:p>
            <a:pPr lvl="0" indent="0" marL="0">
              <a:buNone/>
            </a:pPr>
            <a:r>
              <a:rPr/>
              <a:t>Cycle time</a:t>
            </a:r>
          </a:p>
          <a:p>
            <a:pPr lvl="0" indent="0" marL="0">
              <a:buNone/>
            </a:pPr>
            <a:r>
              <a:rPr/>
              <a:t>Lead time across the whole stream</a:t>
            </a:r>
          </a:p>
          <a:p>
            <a:pPr lvl="0" indent="0" marL="0">
              <a:buNone/>
            </a:pPr>
            <a:r>
              <a:rPr/>
              <a:t>Throughput</a:t>
            </a:r>
          </a:p>
          <a:p>
            <a:pPr lvl="0" indent="0" marL="0">
              <a:buNone/>
            </a:pPr>
            <a:r>
              <a:rPr/>
              <a:t>Completed items per unit time</a:t>
            </a:r>
          </a:p>
          <a:p>
            <a:pPr lvl="0" indent="0" marL="0">
              <a:buNone/>
            </a:pPr>
            <a:r>
              <a:rPr/>
              <a:t>WIP</a:t>
            </a:r>
          </a:p>
          <a:p>
            <a:pPr lvl="0" indent="0" marL="0">
              <a:buNone/>
            </a:pPr>
            <a:r>
              <a:rPr/>
              <a:t>Items currently being worked</a:t>
            </a:r>
          </a:p>
          <a:p>
            <a:pPr lvl="0" indent="0" marL="0">
              <a:buNone/>
            </a:pPr>
            <a:r>
              <a:rPr/>
              <a:t>Little’s Law</a:t>
            </a:r>
          </a:p>
          <a:p>
            <a:pPr lvl="0" indent="0" marL="0">
              <a:buNone/>
            </a:pPr>
            <a:r>
              <a:rPr/>
              <a:t>Cycle time = WIP / throughput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Typical Software Value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Idea → Discovery → Spec → Build → Ship → Measure → Iterate
│       │         │       │       │        │         │
▼       ▼         ▼       ▼       ▼        ▼         ▼
Q1      Q2        Q3      Q4      Q5       Q6        Q7</a:t>
            </a:r>
          </a:p>
          <a:p>
            <a:pPr lvl="0" indent="0" marL="0">
              <a:buNone/>
            </a:pPr>
            <a:r>
              <a:rPr/>
              <a:t>Worst queues for most teams:</a:t>
            </a:r>
          </a:p>
          <a:p>
            <a:pPr lvl="0" indent="0" marL="0">
              <a:buNone/>
            </a:pPr>
            <a:r>
              <a:rPr/>
              <a:t>Spec → Build (waiting for engineering capacity)</a:t>
            </a:r>
          </a:p>
          <a:p>
            <a:pPr lvl="0" indent="0" marL="0">
              <a:buNone/>
            </a:pPr>
            <a:r>
              <a:rPr/>
              <a:t>Build → Ship (review, QA, deploy slot)</a:t>
            </a:r>
          </a:p>
          <a:p>
            <a:pPr lvl="0" indent="0" marL="0">
              <a:buNone/>
            </a:pPr>
            <a:r>
              <a:rPr/>
              <a:t>Ship → Measure (data accumulation; nobody looks)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Identify Your 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15 min: walk steps idea → value-realized</a:t>
            </a:r>
          </a:p>
          <a:p>
            <a:pPr lvl="0" indent="0" marL="0">
              <a:buNone/>
            </a:pPr>
            <a:r>
              <a:rPr/>
              <a:t>10 min: identify queues between steps</a:t>
            </a:r>
          </a:p>
          <a:p>
            <a:pPr lvl="0" indent="0" marL="0">
              <a:buNone/>
            </a:pPr>
            <a:r>
              <a:rPr/>
              <a:t>10 min: mark step boundaries explicitly</a:t>
            </a:r>
          </a:p>
          <a:p>
            <a:pPr lvl="0" indent="0" marL="0">
              <a:buNone/>
            </a:pPr>
            <a:r>
              <a:rPr/>
              <a:t>⏱ 15 + 10 + 10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Measure or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Process time / lead time / flow efficiency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Worked Numbers (FieldPulse)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</a:t>
            </a:r>
          </a:p>
          <a:p>
            <a:pPr lvl="0" indent="0" marL="0">
              <a:buNone/>
            </a:pPr>
            <a:r>
              <a:rPr/>
              <a:t>PT</a:t>
            </a:r>
          </a:p>
          <a:p>
            <a:pPr lvl="0" indent="0" marL="0">
              <a:buNone/>
            </a:pPr>
            <a:r>
              <a:rPr/>
              <a:t>LT</a:t>
            </a:r>
          </a:p>
          <a:p>
            <a:pPr lvl="0" indent="0" marL="0">
              <a:buNone/>
            </a:pPr>
            <a:r>
              <a:rPr/>
              <a:t>Flow eff</a:t>
            </a:r>
          </a:p>
          <a:p>
            <a:pPr lvl="0" indent="0" marL="0">
              <a:buNone/>
            </a:pPr>
            <a:r>
              <a:rPr/>
              <a:t>Idea</a:t>
            </a:r>
          </a:p>
          <a:p>
            <a:pPr lvl="0" indent="0" marL="0">
              <a:buNone/>
            </a:pPr>
            <a:r>
              <a:rPr/>
              <a:t>1 hr</a:t>
            </a:r>
          </a:p>
          <a:p>
            <a:pPr lvl="0" indent="0" marL="0">
              <a:buNone/>
            </a:pPr>
            <a:r>
              <a:rPr/>
              <a:t>3 days</a:t>
            </a:r>
          </a:p>
          <a:p>
            <a:pPr lvl="0" indent="0" marL="0">
              <a:buNone/>
            </a:pPr>
            <a:r>
              <a:rPr/>
              <a:t>5%</a:t>
            </a:r>
          </a:p>
          <a:p>
            <a:pPr lvl="0" indent="0" marL="0">
              <a:buNone/>
            </a:pPr>
            <a:r>
              <a:rPr/>
              <a:t>Discovery</a:t>
            </a:r>
          </a:p>
          <a:p>
            <a:pPr lvl="0" indent="0" marL="0">
              <a:buNone/>
            </a:pPr>
            <a:r>
              <a:rPr/>
              <a:t>4 hrs</a:t>
            </a:r>
          </a:p>
          <a:p>
            <a:pPr lvl="0" indent="0" marL="0">
              <a:buNone/>
            </a:pPr>
            <a:r>
              <a:rPr/>
              <a:t>2 days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Spec</a:t>
            </a:r>
          </a:p>
          <a:p>
            <a:pPr lvl="0" indent="0" marL="0">
              <a:buNone/>
            </a:pPr>
            <a:r>
              <a:rPr/>
              <a:t>16 hrs</a:t>
            </a:r>
          </a:p>
          <a:p>
            <a:pPr lvl="0" indent="0" marL="0">
              <a:buNone/>
            </a:pPr>
            <a:r>
              <a:rPr/>
              <a:t>2 weeks</a:t>
            </a:r>
          </a:p>
          <a:p>
            <a:pPr lvl="0" indent="0" marL="0">
              <a:buNone/>
            </a:pPr>
            <a:r>
              <a:rPr/>
              <a:t>22%</a:t>
            </a:r>
          </a:p>
          <a:p>
            <a:pPr lvl="0" indent="0" marL="0">
              <a:buNone/>
            </a:pPr>
            <a:r>
              <a:rPr/>
              <a:t>Estimate + accept</a:t>
            </a:r>
          </a:p>
          <a:p>
            <a:pPr lvl="0" indent="0" marL="0">
              <a:buNone/>
            </a:pPr>
            <a:r>
              <a:rPr/>
              <a:t>1 hr</a:t>
            </a:r>
          </a:p>
          <a:p>
            <a:pPr lvl="0" indent="0" marL="0">
              <a:buNone/>
            </a:pPr>
            <a:r>
              <a:rPr/>
              <a:t>1 week</a:t>
            </a:r>
          </a:p>
          <a:p>
            <a:pPr lvl="0" indent="0" marL="0">
              <a:buNone/>
            </a:pPr>
            <a:r>
              <a:rPr/>
              <a:t>3%</a:t>
            </a:r>
          </a:p>
          <a:p>
            <a:pPr lvl="0" indent="0" marL="0">
              <a:buNone/>
            </a:pPr>
            <a:r>
              <a:rPr/>
              <a:t>Build</a:t>
            </a:r>
          </a:p>
          <a:p>
            <a:pPr lvl="0" indent="0" marL="0">
              <a:buNone/>
            </a:pPr>
            <a:r>
              <a:rPr/>
              <a:t>8 hrs/story</a:t>
            </a:r>
          </a:p>
          <a:p>
            <a:pPr lvl="0" indent="0" marL="0">
              <a:buNone/>
            </a:pPr>
            <a:r>
              <a:rPr/>
              <a:t>1 week/story</a:t>
            </a:r>
          </a:p>
          <a:p>
            <a:pPr lvl="0" indent="0" marL="0">
              <a:buNone/>
            </a:pPr>
            <a:r>
              <a:rPr/>
              <a:t>14%</a:t>
            </a:r>
          </a:p>
          <a:p>
            <a:pPr lvl="0" indent="0" marL="0">
              <a:buNone/>
            </a:pPr>
            <a:r>
              <a:rPr/>
              <a:t>Code review</a:t>
            </a:r>
          </a:p>
          <a:p>
            <a:pPr lvl="0" indent="0" marL="0">
              <a:buNone/>
            </a:pPr>
            <a:r>
              <a:rPr/>
              <a:t>30 min</a:t>
            </a:r>
          </a:p>
          <a:p>
            <a:pPr lvl="0" indent="0" marL="0">
              <a:buNone/>
            </a:pPr>
            <a:r>
              <a:rPr/>
              <a:t>1.5 days</a:t>
            </a:r>
          </a:p>
          <a:p>
            <a:pPr lvl="0" indent="0" marL="0">
              <a:buNone/>
            </a:pPr>
            <a:r>
              <a:rPr/>
              <a:t>4%</a:t>
            </a:r>
          </a:p>
          <a:p>
            <a:pPr lvl="0" indent="0" marL="0">
              <a:buNone/>
            </a:pPr>
            <a:r>
              <a:rPr/>
              <a:t>QA + integration</a:t>
            </a:r>
          </a:p>
          <a:p>
            <a:pPr lvl="0" indent="0" marL="0">
              <a:buNone/>
            </a:pPr>
            <a:r>
              <a:rPr/>
              <a:t>4 hrs</a:t>
            </a:r>
          </a:p>
          <a:p>
            <a:pPr lvl="0" indent="0" marL="0">
              <a:buNone/>
            </a:pPr>
            <a:r>
              <a:rPr/>
              <a:t>2 days</a:t>
            </a:r>
          </a:p>
          <a:p>
            <a:pPr lvl="0" indent="0" marL="0">
              <a:buNone/>
            </a:pPr>
            <a:r>
              <a:rPr/>
              <a:t>12%</a:t>
            </a:r>
          </a:p>
          <a:p>
            <a:pPr lvl="0" indent="0" marL="0">
              <a:buNone/>
            </a:pPr>
            <a:r>
              <a:rPr/>
              <a:t>Deploy</a:t>
            </a:r>
          </a:p>
          <a:p>
            <a:pPr lvl="0" indent="0" marL="0">
              <a:buNone/>
            </a:pPr>
            <a:r>
              <a:rPr/>
              <a:t>30 min</a:t>
            </a:r>
          </a:p>
          <a:p>
            <a:pPr lvl="0" indent="0" marL="0">
              <a:buNone/>
            </a:pPr>
            <a:r>
              <a:rPr/>
              <a:t>6 hrs</a:t>
            </a:r>
          </a:p>
          <a:p>
            <a:pPr lvl="0" indent="0" marL="0">
              <a:buNone/>
            </a:pPr>
            <a:r>
              <a:rPr/>
              <a:t>8%</a:t>
            </a:r>
          </a:p>
          <a:p>
            <a:pPr lvl="0" indent="0" marL="0">
              <a:buNone/>
            </a:pPr>
            <a:r>
              <a:rPr/>
              <a:t>Total cycle time: 6–8 weeks. Total flow efficiency: 5–15% typical.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Measure / Estimate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40 min: PT + LT + flow eff per step</a:t>
            </a:r>
          </a:p>
          <a:p>
            <a:pPr lvl="0" indent="0" marL="0">
              <a:buNone/>
            </a:pPr>
            <a:r>
              <a:rPr/>
              <a:t>⏱ 50 min straight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Top 3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Find where the time hides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Queue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top queue:</a:t>
            </a:r>
          </a:p>
          <a:p>
            <a:pPr lvl="0" indent="0" marL="0">
              <a:buNone/>
            </a:pPr>
            <a:r>
              <a:rPr/>
              <a:t>Why does this queue exist? (capacity, policy, inertia, hidden dependency)</a:t>
            </a:r>
          </a:p>
          <a:p>
            <a:pPr lvl="0" indent="0" marL="0">
              <a:buNone/>
            </a:pPr>
            <a:r>
              <a:rPr/>
              <a:t>What would shrink it? (capacity, policy change, parallel work, dependency removal)</a:t>
            </a:r>
          </a:p>
          <a:p>
            <a:pPr lvl="0" indent="0" marL="0">
              <a:buNone/>
            </a:pPr>
            <a:r>
              <a:rPr/>
              <a:t>Cost of shrinking? (people-time, money, organizational change)</a:t>
            </a:r>
          </a:p>
          <a:p>
            <a:pPr lvl="0" indent="0" marL="0">
              <a:buNone/>
            </a:pPr>
            <a:r>
              <a:rPr/>
              <a:t>“We’re slow in code review” is not specific. “PRs wait 2 days for first review because we have 8 reviewers and 40 PRs/week” is.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Top 3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Queue</a:t>
            </a:r>
          </a:p>
          <a:p>
            <a:pPr lvl="0" indent="0" marL="0">
              <a:buNone/>
            </a:pPr>
            <a:r>
              <a:rPr/>
              <a:t>Cause</a:t>
            </a:r>
          </a:p>
          <a:p>
            <a:pPr lvl="0" indent="0" marL="0">
              <a:buNone/>
            </a:pPr>
            <a:r>
              <a:rPr/>
              <a:t>Intervention candidate</a:t>
            </a:r>
          </a:p>
          <a:p>
            <a:pPr lvl="0" indent="0" marL="0">
              <a:buNone/>
            </a:pPr>
            <a:r>
              <a:rPr/>
              <a:t>Spec → Estimate (1 wk)</a:t>
            </a:r>
          </a:p>
          <a:p>
            <a:pPr lvl="0" indent="0" marL="0">
              <a:buNone/>
            </a:pPr>
            <a:r>
              <a:rPr/>
              <a:t>Sprint planning bi-weekly</a:t>
            </a:r>
          </a:p>
          <a:p>
            <a:pPr lvl="0" indent="0" marL="0">
              <a:buNone/>
            </a:pPr>
            <a:r>
              <a:rPr/>
              <a:t>Mid-cycle sync; mid-sprint pull</a:t>
            </a:r>
          </a:p>
          <a:p>
            <a:pPr lvl="0" indent="0" marL="0">
              <a:buNone/>
            </a:pPr>
            <a:r>
              <a:rPr/>
              <a:t>Build → Code review (1.5 d)</a:t>
            </a:r>
          </a:p>
          <a:p>
            <a:pPr lvl="0" indent="0" marL="0">
              <a:buNone/>
            </a:pPr>
            <a:r>
              <a:rPr/>
              <a:t>5 reviewers; PRs wait</a:t>
            </a:r>
          </a:p>
          <a:p>
            <a:pPr lvl="0" indent="0" marL="0">
              <a:buNone/>
            </a:pPr>
            <a:r>
              <a:rPr/>
              <a:t>Pair-review during dev; auto-assign</a:t>
            </a:r>
          </a:p>
          <a:p>
            <a:pPr lvl="0" indent="0" marL="0">
              <a:buNone/>
            </a:pPr>
            <a:r>
              <a:rPr/>
              <a:t>Discovery → Spec (varies)</a:t>
            </a:r>
          </a:p>
          <a:p>
            <a:pPr lvl="0" indent="0" marL="0">
              <a:buNone/>
            </a:pPr>
            <a:r>
              <a:rPr/>
              <a:t>Customer interview scheduling</a:t>
            </a:r>
          </a:p>
          <a:p>
            <a:pPr lvl="0" indent="0" marL="0">
              <a:buNone/>
            </a:pPr>
            <a:r>
              <a:rPr/>
              <a:t>Async cycles; lighter-weight discovery for known patterns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Top 3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5 min: sum total queue time</a:t>
            </a:r>
          </a:p>
          <a:p>
            <a:pPr lvl="0" indent="0" marL="0">
              <a:buNone/>
            </a:pPr>
            <a:r>
              <a:rPr/>
              <a:t>10 min: identify top 3 queues</a:t>
            </a:r>
          </a:p>
          <a:p>
            <a:pPr lvl="0" indent="0" marL="0">
              <a:buNone/>
            </a:pPr>
            <a:r>
              <a:rPr/>
              <a:t>15 min: investigate each (cause / intervention / cost)</a:t>
            </a:r>
          </a:p>
          <a:p>
            <a:pPr lvl="0" indent="0" marL="0">
              <a:buNone/>
            </a:pPr>
            <a:r>
              <a:rPr/>
              <a:t>10 min: rank by impact / effort / risk</a:t>
            </a:r>
          </a:p>
          <a:p>
            <a:pPr lvl="0" indent="0" marL="0">
              <a:buNone/>
            </a:pPr>
            <a:r>
              <a:rPr/>
              <a:t>⏱ 5 + 10 + 15 + 10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Visual VSM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 page; the queues hit emotionally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VSM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[Step 1]──→[Step 2]──→[Step 3]──→...
│           │           │
PT: __      PT: __      PT: __
LT: __      LT: __      LT: __
QUEUE       QUEUE       QUEUE
__ items    __ items    __ items
__ days     __ days     __ days
═════════════════════════════════════
Total cycle time: __ days
Total process time: __ days
Total flow efficiency: __%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Critique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Lean coach reviewing a software value stream.
Context: &lt;description of the VSM with PT/LT/flow eff numbers
and identified queues&gt;
Task: Identify 3 queues likely missing or under-counted:
1. A queue between two steps not yet shown
2. A step where PT and LT seem out of line with team reality
3. An invisible queue (e.g., approvals, "ping someone")
Constraints:
- Use only the data given
- Be specific
Format: 3 numbered findings — what's missing / why suspect /
how to verify.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VSM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20 min: draw the VSM</a:t>
            </a:r>
          </a:p>
          <a:p>
            <a:pPr lvl="0" indent="0" marL="0">
              <a:buNone/>
            </a:pPr>
            <a:r>
              <a:rPr/>
              <a:t>10 min: AI critique</a:t>
            </a:r>
          </a:p>
          <a:p>
            <a:pPr lvl="0" indent="0" marL="0">
              <a:buNone/>
            </a:pPr>
            <a:r>
              <a:rPr/>
              <a:t>10 min: update VSM; recompute flow efficiency</a:t>
            </a:r>
          </a:p>
          <a:p>
            <a:pPr lvl="0" indent="0" marL="0">
              <a:buNone/>
            </a:pPr>
            <a:r>
              <a:rPr/>
              <a:t>5 min: document in Section 4</a:t>
            </a:r>
          </a:p>
          <a:p>
            <a:pPr lvl="0" indent="0" marL="0">
              <a:buNone/>
            </a:pPr>
            <a:r>
              <a:rPr/>
              <a:t>⏱ 20 + 10 + 10 + 5 · 15-min wrap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Value stream identified</a:t>
            </a:r>
          </a:p>
          <a:p>
            <a:pPr lvl="0" indent="0" marL="0">
              <a:buNone/>
            </a:pPr>
            <a:r>
              <a:rPr/>
              <a:t>PT / LT / flow efficiency per step</a:t>
            </a:r>
          </a:p>
          <a:p>
            <a:pPr lvl="0" indent="0" marL="0">
              <a:buNone/>
            </a:pPr>
            <a:r>
              <a:rPr/>
              <a:t>Top 3 queues with cause + intervention</a:t>
            </a:r>
          </a:p>
          <a:p>
            <a:pPr lvl="0" indent="0" marL="0">
              <a:buNone/>
            </a:pPr>
            <a:r>
              <a:rPr/>
              <a:t>Visual VSM</a:t>
            </a:r>
          </a:p>
          <a:p>
            <a:pPr lvl="0" indent="0" marL="0">
              <a:buNone/>
            </a:pPr>
            <a:r>
              <a:rPr/>
              <a:t>Delivery Plan (DP) Section 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Bottleneck removal experiments</a:t>
            </a:r>
          </a:p>
          <a:p>
            <a:pPr lvl="0" indent="0" marL="0">
              <a:buNone/>
            </a:pPr>
            <a:r>
              <a:rPr/>
              <a:t>Hypothesis / test / success criterion</a:t>
            </a:r>
          </a:p>
          <a:p>
            <a:pPr lvl="0" indent="0" marL="0">
              <a:buNone/>
            </a:pPr>
            <a:r>
              <a:rPr/>
              <a:t>Friday: full DP integration + sign-off</a:t>
            </a:r>
          </a:p>
          <a:p>
            <a:pPr lvl="0" indent="0" marL="0">
              <a:buNone/>
            </a:pPr>
            <a:r>
              <a:rPr/>
              <a:t>Bring to Day 5: DP Sections 1–4 + your top 3 queues. Tomorrow we design the experiments.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does your team’s time hide that nobody talks about?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2026-08-10T21:38:59Z</dcterms:created>
  <dcterms:modified xsi:type="dcterms:W3CDTF">2026-08-10T21:38:59Z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