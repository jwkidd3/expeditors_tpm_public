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notesMaster" Target="notesMasters/notesMaster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Top queues become experiments. Full DP integrates and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DP is approved (or with gaps) and capstone candidate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day of Week 7. Tight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bottleneck at a time.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“We’re working on 5 improvements simultaneously” rarely works. Pick the constraint.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measurable success criteria. Vibes don’t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Specific change + duration + measurable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1–5 reads coherently top to bottom.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discipline as prior Friday assemblies.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Coherence beats prose. Fix the cross-section consistency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friday dp rubric.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4 / 5 / 6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Wk-3 review discipline. Specific findings; cite sections.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5-artifact set ships; capstone candidate declared.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Bring the discipline; pick a fresh subject.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triads to declare. Vague candidates produce vague capstones.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experiment most excited about, sharpest DP insight, capstone candidate.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experiment from each triad.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bottleneck have you been living with that you no longer accept?”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Removing Delivery Bottlenecks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5 • DP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Convert top 3 queues into 3 experiments with hypothesis / test / success criterion</a:t>
            </a:r>
          </a:p>
          <a:p>
            <a:pPr lvl="0" indent="0" marL="0">
              <a:buNone/>
            </a:pPr>
            <a:r>
              <a:rPr/>
              <a:t>Apply the Theory of Constraints: one bottleneck at a time</a:t>
            </a:r>
          </a:p>
          <a:p>
            <a:pPr lvl="0" indent="0" marL="0">
              <a:buNone/>
            </a:pPr>
            <a:r>
              <a:rPr/>
              <a:t>Run the integration pass across Delivery Plan (DP) Sections 1–5</a:t>
            </a:r>
          </a:p>
          <a:p>
            <a:pPr lvl="0" indent="0" marL="0">
              <a:buNone/>
            </a:pPr>
            <a:r>
              <a:rPr/>
              <a:t>Cross-review + sign off the DP — the 5th sibling artifact</a:t>
            </a:r>
          </a:p>
          <a:p>
            <a:pPr lvl="0" indent="0" marL="0">
              <a:buNone/>
            </a:pPr>
            <a:r>
              <a:rPr/>
              <a:t>Declare the Week-8 capstone candidate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1–4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Design 3 experiments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DP integration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Cross-review with rubric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Sign-off + Week-8 candidate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Theory of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bottleneck at a time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Goldratt’s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system’s throughput is constrained by exactly one bottleneck at a time. Not many. One. Optimize anything else and you don’t speed up the system — you add inventory in front of the constraint.</a:t>
            </a:r>
          </a:p>
          <a:p>
            <a:pPr lvl="0" indent="0" marL="0">
              <a:buNone/>
            </a:pPr>
            <a:r>
              <a:rPr/>
              <a:t>Software example: if your slowest step is “code review takes 2 days,” speeding up coding doesn’t help — it creates more code waiting for review.</a:t>
            </a:r>
          </a:p>
          <a:p>
            <a:pPr lvl="0" indent="0" marL="0">
              <a:buNone/>
            </a:pPr>
            <a:r>
              <a:rPr/>
              <a:t>Find the bottleneck. Move it. Then find the next 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Experiment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“We’ll see if it feels better” is not an experiment.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Design 3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re-read top 3 queues</a:t>
            </a:r>
          </a:p>
          <a:p>
            <a:pPr lvl="0" indent="0" marL="0">
              <a:buNone/>
            </a:pPr>
            <a:r>
              <a:rPr/>
              <a:t>25 min: draft 3 experiments (template)</a:t>
            </a:r>
          </a:p>
          <a:p>
            <a:pPr lvl="0" indent="0" marL="0">
              <a:buNone/>
            </a:pPr>
            <a:r>
              <a:rPr/>
              <a:t>5 min: would your team actually try these in 60 days?</a:t>
            </a:r>
          </a:p>
          <a:p>
            <a:pPr lvl="0" indent="0" marL="0">
              <a:buNone/>
            </a:pPr>
            <a:r>
              <a:rPr/>
              <a:t>⏱ 5 + 25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DP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1–5 reads coherently top to bottom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Integration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pass verifies Sections 1–5 cohere, including the value stream mapping (VSM).</a:t>
            </a:r>
          </a:p>
          <a:p>
            <a:pPr lvl="0" indent="0" marL="0">
              <a:buNone/>
            </a:pPr>
            <a:r>
              <a:rPr/>
              <a:t>Check</a:t>
            </a:r>
          </a:p>
          <a:p>
            <a:pPr lvl="0" indent="0" marL="0">
              <a:buNone/>
            </a:pPr>
            <a:r>
              <a:rPr/>
              <a:t>Pass criterion</a:t>
            </a:r>
          </a:p>
          <a:p>
            <a:pPr lvl="0" indent="0" marL="0">
              <a:buNone/>
            </a:pPr>
            <a:r>
              <a:rPr/>
              <a:t>Section 1 outcomes ↔ Section 2 backlog</a:t>
            </a:r>
          </a:p>
          <a:p>
            <a:pPr lvl="0" indent="0" marL="0">
              <a:buNone/>
            </a:pPr>
            <a:r>
              <a:rPr/>
              <a:t>Every output in Section 2 maps to an outcome in Section 1</a:t>
            </a:r>
          </a:p>
          <a:p>
            <a:pPr lvl="0" indent="0" marL="0">
              <a:buNone/>
            </a:pPr>
            <a:r>
              <a:rPr/>
              <a:t>Section 2 backlog ↔ Section 3 tracking</a:t>
            </a:r>
          </a:p>
          <a:p>
            <a:pPr lvl="0" indent="0" marL="0">
              <a:buNone/>
            </a:pPr>
            <a:r>
              <a:rPr/>
              <a:t>Every leading indicator corresponds to backlog</a:t>
            </a:r>
          </a:p>
          <a:p>
            <a:pPr lvl="0" indent="0" marL="0">
              <a:buNone/>
            </a:pPr>
            <a:r>
              <a:rPr/>
              <a:t>Section 3 tracking ↔ Section 4 VSM</a:t>
            </a:r>
          </a:p>
          <a:p>
            <a:pPr lvl="0" indent="0" marL="0">
              <a:buNone/>
            </a:pPr>
            <a:r>
              <a:rPr/>
              <a:t>Cycle-time leading indicators consistent with VSM</a:t>
            </a:r>
          </a:p>
          <a:p>
            <a:pPr lvl="0" indent="0" marL="0">
              <a:buNone/>
            </a:pPr>
            <a:r>
              <a:rPr/>
              <a:t>Section 4 queues ↔ Section 5 experiments</a:t>
            </a:r>
          </a:p>
          <a:p>
            <a:pPr lvl="0" indent="0" marL="0">
              <a:buNone/>
            </a:pPr>
            <a:r>
              <a:rPr/>
              <a:t>Every top queue has an experiment</a:t>
            </a:r>
          </a:p>
          <a:p>
            <a:pPr lvl="0" indent="0" marL="0">
              <a:buNone/>
            </a:pPr>
            <a:r>
              <a:rPr/>
              <a:t>References to PRD/TCD/TMD/SEP</a:t>
            </a:r>
          </a:p>
          <a:p>
            <a:pPr lvl="0" indent="0" marL="0">
              <a:buNone/>
            </a:pPr>
            <a:r>
              <a:rPr/>
              <a:t>DP cites prior artifacts by section</a:t>
            </a:r>
          </a:p>
          <a:p>
            <a:pPr lvl="0" indent="0" marL="0">
              <a:buNone/>
            </a:pPr>
            <a:r>
              <a:rPr/>
              <a:t>No fortune-cookie prose</a:t>
            </a:r>
          </a:p>
          <a:p>
            <a:pPr lvl="0" indent="0" marL="0">
              <a:buNone/>
            </a:pPr>
            <a:r>
              <a:rPr/>
              <a:t>Specific to this feature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Integration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solo read-through</a:t>
            </a:r>
          </a:p>
          <a:p>
            <a:pPr lvl="0" indent="0" marL="0">
              <a:buNone/>
            </a:pPr>
            <a:r>
              <a:rPr/>
              <a:t>10 min: pool issues</a:t>
            </a:r>
          </a:p>
          <a:p>
            <a:pPr lvl="0" indent="0" marL="0">
              <a:buNone/>
            </a:pPr>
            <a:r>
              <a:rPr/>
              <a:t>15 min: fix in priority order (coherence first)</a:t>
            </a:r>
          </a:p>
          <a:p>
            <a:pPr lvl="0" indent="0" marL="0">
              <a:buNone/>
            </a:pPr>
            <a:r>
              <a:rPr/>
              <a:t>⏱ 15 + 10 + 15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Friday DP Rubric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DP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Outcome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ADO discipline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Output ↔ outcome pairing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Value stream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Bottleneck experiments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Integration with prior artifacts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ships. 2.0–2.9 with named gaps. &lt;2.0 → facilitator review.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cross-read with rubric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5 min: capture final score</a:t>
            </a:r>
          </a:p>
          <a:p>
            <a:pPr lvl="0" indent="0" marL="0">
              <a:buNone/>
            </a:pPr>
            <a:r>
              <a:rPr/>
              <a:t>⏱ 5 + 20 + 10 + 5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Sign-Off + Week-8 Bridge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5-artifact set ships; capstone candidate declared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 Carries to Week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Carries forward</a:t>
            </a:r>
          </a:p>
          <a:p>
            <a:pPr lvl="0" indent="0" marL="0">
              <a:buNone/>
            </a:pPr>
            <a:r>
              <a:rPr/>
              <a:t>Artifact templates — Product Requirements Document (PRD), Technical Concept Document (TCD), Technical Modeling Document (TMD), Stakeholder Engagement Plan (SEP), DP — in shorter form</a:t>
            </a:r>
          </a:p>
          <a:p>
            <a:pPr lvl="0" indent="0" marL="0">
              <a:buNone/>
            </a:pPr>
            <a:r>
              <a:rPr/>
              <a:t>AI provenance discipline</a:t>
            </a:r>
          </a:p>
          <a:p>
            <a:pPr lvl="0" indent="0" marL="0">
              <a:buNone/>
            </a:pPr>
            <a:r>
              <a:rPr/>
              <a:t>Negotiation / outcome / tracking muscles</a:t>
            </a:r>
          </a:p>
          <a:p>
            <a:pPr lvl="0" indent="0" marL="0">
              <a:buNone/>
            </a:pPr>
            <a:r>
              <a:rPr/>
              <a:t>Cumulative AI-validation log</a:t>
            </a:r>
          </a:p>
          <a:p>
            <a:pPr lvl="0" indent="0" marL="0">
              <a:buNone/>
            </a:pPr>
            <a:r>
              <a:rPr/>
              <a:t>New in Week 8</a:t>
            </a:r>
          </a:p>
          <a:p>
            <a:pPr lvl="0" indent="0" marL="0">
              <a:buNone/>
            </a:pPr>
            <a:r>
              <a:rPr/>
              <a:t>AI Spec Development — using AI to draft technical specs that integrate the artifact set</a:t>
            </a:r>
          </a:p>
          <a:p>
            <a:pPr lvl="0" indent="0" marL="0">
              <a:buNone/>
            </a:pPr>
            <a:r>
              <a:rPr/>
              <a:t>A capstone subject (FieldPulse or your own project)</a:t>
            </a:r>
          </a:p>
          <a:p>
            <a:pPr lvl="0" indent="0" marL="0">
              <a:buNone/>
            </a:pPr>
            <a:r>
              <a:rPr/>
              <a:t>Final artifact presentations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Your Capstone Candidate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picks 3–5 candidates and declares a preferred one for Monday.</a:t>
            </a:r>
          </a:p>
          <a:p>
            <a:pPr lvl="0" indent="0" marL="0">
              <a:buNone/>
            </a:pPr>
            <a:r>
              <a:rPr/>
              <a:t>Real product / feature from work, school, hobby, public</a:t>
            </a:r>
          </a:p>
          <a:p>
            <a:pPr lvl="0" indent="0" marL="0">
              <a:buNone/>
            </a:pPr>
            <a:r>
              <a:rPr/>
              <a:t>Substantive enough for a week of work</a:t>
            </a:r>
          </a:p>
          <a:p>
            <a:pPr lvl="0" indent="0" marL="0">
              <a:buNone/>
            </a:pPr>
            <a:r>
              <a:rPr/>
              <a:t>Clear problem you can state in one sentence</a:t>
            </a:r>
          </a:p>
          <a:p>
            <a:pPr lvl="0" indent="0" marL="0">
              <a:buNone/>
            </a:pPr>
            <a:r>
              <a:rPr/>
              <a:t>Public-discussable (no non-disclosure agreement (NDA) conflicts)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Sign-Off + Capstone Candidate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adopt / defer / reject reviewer findings; sign off</a:t>
            </a:r>
          </a:p>
          <a:p>
            <a:pPr lvl="0" indent="0" marL="0">
              <a:buNone/>
            </a:pPr>
            <a:r>
              <a:rPr/>
              <a:t>15 min: brainstorm 3–5 capstone candidates</a:t>
            </a:r>
          </a:p>
          <a:p>
            <a:pPr lvl="0" indent="0" marL="0">
              <a:buNone/>
            </a:pPr>
            <a:r>
              <a:rPr/>
              <a:t>10 min: pre-flight (inputs needed; people to ask)</a:t>
            </a:r>
          </a:p>
          <a:p>
            <a:pPr lvl="0" indent="0" marL="0">
              <a:buNone/>
            </a:pPr>
            <a:r>
              <a:rPr/>
              <a:t>5 min: declare preferred candidate</a:t>
            </a:r>
          </a:p>
          <a:p>
            <a:pPr lvl="0" indent="0" marL="0">
              <a:buNone/>
            </a:pPr>
            <a:r>
              <a:rPr/>
              <a:t>⏱ 10 + 15 + 10 + 5 · 15-min wrap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7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 this week</a:t>
            </a:r>
          </a:p>
          <a:p>
            <a:pPr lvl="0" indent="0" marL="0">
              <a:buNone/>
            </a:pPr>
            <a:r>
              <a:rPr/>
              <a:t>Outcome map (DP Section 1)</a:t>
            </a:r>
          </a:p>
          <a:p>
            <a:pPr lvl="0" indent="0" marL="0">
              <a:buNone/>
            </a:pPr>
            <a:r>
              <a:rPr/>
              <a:t>Loaded Azure DevOps (ADO) backlog (Section 2)</a:t>
            </a:r>
          </a:p>
          <a:p>
            <a:pPr lvl="0" indent="0" marL="0">
              <a:buNone/>
            </a:pPr>
            <a:r>
              <a:rPr/>
              <a:t>Tracking plan (Section 3)</a:t>
            </a:r>
          </a:p>
          <a:p>
            <a:pPr lvl="0" indent="0" marL="0">
              <a:buNone/>
            </a:pPr>
            <a:r>
              <a:rPr/>
              <a:t>Value stream map (Section 4)</a:t>
            </a:r>
          </a:p>
          <a:p>
            <a:pPr lvl="0" indent="0" marL="0">
              <a:buNone/>
            </a:pPr>
            <a:r>
              <a:rPr/>
              <a:t>Bottleneck experiments (Section 5)</a:t>
            </a:r>
          </a:p>
          <a:p>
            <a:pPr lvl="0" indent="0" marL="0">
              <a:buNone/>
            </a:pPr>
            <a:r>
              <a:rPr/>
              <a:t>Integrated DP — 5th sibling artifact</a:t>
            </a:r>
          </a:p>
          <a:p>
            <a:pPr lvl="0" indent="0" marL="0">
              <a:buNone/>
            </a:pPr>
            <a:r>
              <a:rPr/>
              <a:t>What opens Week 8</a:t>
            </a:r>
          </a:p>
          <a:p>
            <a:pPr lvl="0" indent="0" marL="0">
              <a:buNone/>
            </a:pPr>
            <a:r>
              <a:rPr/>
              <a:t>AI Spec Development &amp; Capstone</a:t>
            </a:r>
          </a:p>
          <a:p>
            <a:pPr lvl="0" indent="0" marL="0">
              <a:buNone/>
            </a:pPr>
            <a:r>
              <a:rPr/>
              <a:t>Capstone subject (FieldPulse or your own)</a:t>
            </a:r>
          </a:p>
          <a:p>
            <a:pPr lvl="0" indent="0" marL="0">
              <a:buNone/>
            </a:pPr>
            <a:r>
              <a:rPr/>
              <a:t>AI Spec dev integrated with artifact set</a:t>
            </a:r>
          </a:p>
          <a:p>
            <a:pPr lvl="0" indent="0" marL="0">
              <a:buNone/>
            </a:pPr>
            <a:r>
              <a:rPr/>
              <a:t>Final artifact presentations Friday</a:t>
            </a:r>
          </a:p>
          <a:p>
            <a:pPr lvl="0" indent="0" marL="0">
              <a:buNone/>
            </a:pPr>
            <a:r>
              <a:rPr/>
              <a:t>Bring to Monday: All 5 sibling artifacts (PRD/TCD/TMD/SEP/DP) + your declared capstone candidate.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bottleneck have you been living with that you no longer accept?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2026-07-22T12:59:37Z</dcterms:created>
  <dcterms:modified xsi:type="dcterms:W3CDTF">2026-07-22T12:59:37Z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