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Top queues become experiments. Full DP integrates and 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DP is approved (or with gaps) and the Holocron brief is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day of Week 7. Tight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one bottleneck at a time.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“We’re working on 5 improvements simultaneously” rarely works. Pick the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measurable success criteria. Vibes don’t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specificity. Specific change + duration + measurable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1–5 reads coherently top to bottom.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discipline as prior Friday assemblies.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Coherence beats prose. Fix the cross-section consistency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the friday dp rubric.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convention as Week 3 / 4 / 5 / 6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Wk-3 review discipline. Specific findings; cite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the 5-artifact set ships; the Holocron brief is issued.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Bring the discipline; the subject is handed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triads to read closely, not to start solving. A vague read Friday becomes a vague PRD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experiment most excited about, sharpest DP insight, one-sentence Holocron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read-aloud: facilitator names one experiment from each triad.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bottleneck have you been living with that you no longer accept?”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🔧 Removing Delivery Bottlenecks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 • Day 5 • DP ships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Convert top 3 queues into 3 experiments with hypothesis / test / success criterion</a:t>
            </a:r>
          </a:p>
          <a:p>
            <a:pPr lvl="0" indent="0" marL="0">
              <a:buNone/>
            </a:pPr>
            <a:r>
              <a:rPr/>
              <a:t>Apply the Theory of Constraints: one bottleneck at a time</a:t>
            </a:r>
          </a:p>
          <a:p>
            <a:pPr lvl="0" indent="0" marL="0">
              <a:buNone/>
            </a:pPr>
            <a:r>
              <a:rPr/>
              <a:t>Run the integration pass across Delivery Plan (DP) Sections 1–5</a:t>
            </a:r>
          </a:p>
          <a:p>
            <a:pPr lvl="0" indent="0" marL="0">
              <a:buNone/>
            </a:pPr>
            <a:r>
              <a:rPr/>
              <a:t>Cross-review + sign off the DP — the 5th sibling artifact</a:t>
            </a:r>
          </a:p>
          <a:p>
            <a:pPr lvl="0" indent="0" marL="0">
              <a:buNone/>
            </a:pPr>
            <a:r>
              <a:rPr/>
              <a:t>Receive the Holocron capstone brief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DP Sections 1–4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Design 3 experiments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DP integration pass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Cross-review with rubric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Sign-off + Holocron brief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Theory of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bottleneck at a time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Goldratt’s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system’s throughput is constrained by exactly one bottleneck at a time. Not many. One. Optimize anything else and you don’t speed up the system — you add inventory in front of the constraint.</a:t>
            </a:r>
          </a:p>
          <a:p>
            <a:pPr lvl="0" indent="0" marL="0">
              <a:buNone/>
            </a:pPr>
            <a:r>
              <a:rPr/>
              <a:t>Software example: if your slowest step is “code review takes 2 days,” speeding up coding doesn’t help — it creates more code waiting for review.</a:t>
            </a:r>
          </a:p>
          <a:p>
            <a:pPr lvl="0" indent="0" marL="0">
              <a:buNone/>
            </a:pPr>
            <a:r>
              <a:rPr/>
              <a:t>Find the bottleneck. Move it. Then find the next 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Experiment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“We’ll see if it feels better” is not an experiment.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Design 3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5 min: re-read top 3 queues</a:t>
            </a:r>
          </a:p>
          <a:p>
            <a:pPr lvl="0" indent="0" marL="0">
              <a:buNone/>
            </a:pPr>
            <a:r>
              <a:rPr/>
              <a:t>25 min: draft 3 experiments (template)</a:t>
            </a:r>
          </a:p>
          <a:p>
            <a:pPr lvl="0" indent="0" marL="0">
              <a:buNone/>
            </a:pPr>
            <a:r>
              <a:rPr/>
              <a:t>5 min: would your team actually try these in 60 days?</a:t>
            </a:r>
          </a:p>
          <a:p>
            <a:pPr lvl="0" indent="0" marL="0">
              <a:buNone/>
            </a:pPr>
            <a:r>
              <a:rPr/>
              <a:t>⏱ 5 + 25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DP Integration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Sections 1–5 reads coherently top to bottom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Integration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integration pass verifies Sections 1–5 cohere, including the value stream mapping (VSM).</a:t>
            </a:r>
          </a:p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Pass criterion</a:t>
            </a:r>
          </a:p>
          <a:p>
            <a:pPr lvl="0" indent="0" marL="0">
              <a:buNone/>
            </a:pPr>
            <a:r>
              <a:rPr/>
              <a:t>Section 1 outcomes ↔ Section 2 backlog</a:t>
            </a:r>
          </a:p>
          <a:p>
            <a:pPr lvl="0" indent="0" marL="0">
              <a:buNone/>
            </a:pPr>
            <a:r>
              <a:rPr/>
              <a:t>Every output in Section 2 maps to an outcome in Section 1</a:t>
            </a:r>
          </a:p>
          <a:p>
            <a:pPr lvl="0" indent="0" marL="0">
              <a:buNone/>
            </a:pPr>
            <a:r>
              <a:rPr/>
              <a:t>Section 2 backlog ↔ Section 3 tracking</a:t>
            </a:r>
          </a:p>
          <a:p>
            <a:pPr lvl="0" indent="0" marL="0">
              <a:buNone/>
            </a:pPr>
            <a:r>
              <a:rPr/>
              <a:t>Every leading indicator corresponds to backlog</a:t>
            </a:r>
          </a:p>
          <a:p>
            <a:pPr lvl="0" indent="0" marL="0">
              <a:buNone/>
            </a:pPr>
            <a:r>
              <a:rPr/>
              <a:t>Section 3 tracking ↔ Section 4 VSM</a:t>
            </a:r>
          </a:p>
          <a:p>
            <a:pPr lvl="0" indent="0" marL="0">
              <a:buNone/>
            </a:pPr>
            <a:r>
              <a:rPr/>
              <a:t>Cycle-time leading indicators consistent with VSM</a:t>
            </a:r>
          </a:p>
          <a:p>
            <a:pPr lvl="0" indent="0" marL="0">
              <a:buNone/>
            </a:pPr>
            <a:r>
              <a:rPr/>
              <a:t>Section 4 queues ↔ Section 5 experiments</a:t>
            </a:r>
          </a:p>
          <a:p>
            <a:pPr lvl="0" indent="0" marL="0">
              <a:buNone/>
            </a:pPr>
            <a:r>
              <a:rPr/>
              <a:t>Every top queue has an experiment</a:t>
            </a:r>
          </a:p>
          <a:p>
            <a:pPr lvl="0" indent="0" marL="0">
              <a:buNone/>
            </a:pPr>
            <a:r>
              <a:rPr/>
              <a:t>References to PRD/TCD/TMD/SEP</a:t>
            </a:r>
          </a:p>
          <a:p>
            <a:pPr lvl="0" indent="0" marL="0">
              <a:buNone/>
            </a:pPr>
            <a:r>
              <a:rPr/>
              <a:t>DP cites prior artifacts by section</a:t>
            </a:r>
          </a:p>
          <a:p>
            <a:pPr lvl="0" indent="0" marL="0">
              <a:buNone/>
            </a:pPr>
            <a:r>
              <a:rPr/>
              <a:t>No fortune-cookie prose</a:t>
            </a:r>
          </a:p>
          <a:p>
            <a:pPr lvl="0" indent="0" marL="0">
              <a:buNone/>
            </a:pPr>
            <a:r>
              <a:rPr/>
              <a:t>Specific to this feature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Integration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solo read-through</a:t>
            </a:r>
          </a:p>
          <a:p>
            <a:pPr lvl="0" indent="0" marL="0">
              <a:buNone/>
            </a:pPr>
            <a:r>
              <a:rPr/>
              <a:t>10 min: pool issues</a:t>
            </a:r>
          </a:p>
          <a:p>
            <a:pPr lvl="0" indent="0" marL="0">
              <a:buNone/>
            </a:pPr>
            <a:r>
              <a:rPr/>
              <a:t>15 min: fix in priority order (coherence first)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Friday DP Rubric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DP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Outcome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ADO discipline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Output ↔ outcome pairing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Value stream realism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Bottleneck experiments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Integration with prior artifacts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Score thresholds: ≥3.0 ships. 2.0–2.9 with named gaps. &lt;2.0 → facilitator review.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40 minutes</a:t>
            </a:r>
          </a:p>
          <a:p>
            <a:pPr lvl="0" indent="0" marL="0">
              <a:buNone/>
            </a:pPr>
            <a:r>
              <a:rPr/>
              <a:t>5 min: pair set-up</a:t>
            </a:r>
          </a:p>
          <a:p>
            <a:pPr lvl="0" indent="0" marL="0">
              <a:buNone/>
            </a:pPr>
            <a:r>
              <a:rPr/>
              <a:t>20 min: cross-read with rubric</a:t>
            </a:r>
          </a:p>
          <a:p>
            <a:pPr lvl="0" indent="0" marL="0">
              <a:buNone/>
            </a:pPr>
            <a:r>
              <a:rPr/>
              <a:t>10 min: author triad responds</a:t>
            </a:r>
          </a:p>
          <a:p>
            <a:pPr lvl="0" indent="0" marL="0">
              <a:buNone/>
            </a:pPr>
            <a:r>
              <a:rPr/>
              <a:t>5 min: capture final score</a:t>
            </a:r>
          </a:p>
          <a:p>
            <a:pPr lvl="0" indent="0" marL="0">
              <a:buNone/>
            </a:pPr>
            <a:r>
              <a:rPr/>
              <a:t>⏱ 5 + 20 + 10 + 5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Sign-Off + Week-8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5-artifact set ships; Holocron brief issued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What Carries to Week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Carries forward</a:t>
            </a:r>
          </a:p>
          <a:p>
            <a:pPr lvl="0" indent="0" marL="0">
              <a:buNone/>
            </a:pPr>
            <a:r>
              <a:rPr/>
              <a:t>Artifact templates — Product Requirements Document (PRD), Technical Concept Document (TCD), Technical Modeling Document (TMD), Stakeholder Engagement Plan (SEP), DP — in shorter form</a:t>
            </a:r>
          </a:p>
          <a:p>
            <a:pPr lvl="0" indent="0" marL="0">
              <a:buNone/>
            </a:pPr>
            <a:r>
              <a:rPr/>
              <a:t>AI provenance discipline</a:t>
            </a:r>
          </a:p>
          <a:p>
            <a:pPr lvl="0" indent="0" marL="0">
              <a:buNone/>
            </a:pPr>
            <a:r>
              <a:rPr/>
              <a:t>Negotiation / outcome / tracking muscles</a:t>
            </a:r>
          </a:p>
          <a:p>
            <a:pPr lvl="0" indent="0" marL="0">
              <a:buNone/>
            </a:pPr>
            <a:r>
              <a:rPr/>
              <a:t>Cumulative AI-validation log</a:t>
            </a:r>
          </a:p>
          <a:p>
            <a:pPr lvl="0" indent="0" marL="0">
              <a:buNone/>
            </a:pPr>
            <a:r>
              <a:rPr/>
              <a:t>New in Week 8</a:t>
            </a:r>
          </a:p>
          <a:p>
            <a:pPr lvl="0" indent="0" marL="0">
              <a:buNone/>
            </a:pPr>
            <a:r>
              <a:rPr/>
              <a:t>AI Spec Development — using AI to draft technical specs that integrate the artifact set</a:t>
            </a:r>
          </a:p>
          <a:p>
            <a:pPr lvl="0" indent="0" marL="0">
              <a:buNone/>
            </a:pPr>
            <a:r>
              <a:rPr/>
              <a:t>The Holocron problem brief</a:t>
            </a:r>
          </a:p>
          <a:p>
            <a:pPr lvl="0" indent="0" marL="0">
              <a:buNone/>
            </a:pPr>
            <a:r>
              <a:rPr/>
              <a:t>Final artifact presentations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Read the Holocron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triad gets the same problem. Read it Friday; do not start solving.</a:t>
            </a:r>
          </a:p>
          <a:p>
            <a:pPr lvl="0" indent="0" marL="0">
              <a:buNone/>
            </a:pPr>
            <a:r>
              <a:rPr/>
              <a:t>The problem in one sentence, in your own words</a:t>
            </a:r>
          </a:p>
          <a:p>
            <a:pPr lvl="0" indent="0" marL="0">
              <a:buNone/>
            </a:pPr>
            <a:r>
              <a:rPr/>
              <a:t>Who you think the primary user is</a:t>
            </a:r>
          </a:p>
          <a:p>
            <a:pPr lvl="0" indent="0" marL="0">
              <a:buNone/>
            </a:pPr>
            <a:r>
              <a:rPr/>
              <a:t>Clear problem you can state in one sentence</a:t>
            </a:r>
          </a:p>
          <a:p>
            <a:pPr lvl="0" indent="0" marL="0">
              <a:buNone/>
            </a:pPr>
            <a:r>
              <a:rPr/>
              <a:t>Public-discussable (no non-disclosure agreement (NDA) conflicts)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Sign-Off + Holocron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adopt / defer / reject reviewer findings; sign off</a:t>
            </a:r>
          </a:p>
          <a:p>
            <a:pPr lvl="0" indent="0" marL="0">
              <a:buNone/>
            </a:pPr>
            <a:r>
              <a:rPr/>
              <a:t>15 min: read the Holocron brief — problem, primary user, first questions</a:t>
            </a:r>
          </a:p>
          <a:p>
            <a:pPr lvl="0" indent="0" marL="0">
              <a:buNone/>
            </a:pPr>
            <a:r>
              <a:rPr/>
              <a:t>10 min: pre-flight (inputs needed; people to ask)</a:t>
            </a:r>
          </a:p>
          <a:p>
            <a:pPr lvl="0" indent="0" marL="0">
              <a:buNone/>
            </a:pPr>
            <a:r>
              <a:rPr/>
              <a:t>5 min: declare preferred candidate</a:t>
            </a:r>
          </a:p>
          <a:p>
            <a:pPr lvl="0" indent="0" marL="0">
              <a:buNone/>
            </a:pPr>
            <a:r>
              <a:rPr/>
              <a:t>⏱ 10 + 15 + 10 + 5 · 15-min wrap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7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 this week</a:t>
            </a:r>
          </a:p>
          <a:p>
            <a:pPr lvl="0" indent="0" marL="0">
              <a:buNone/>
            </a:pPr>
            <a:r>
              <a:rPr/>
              <a:t>Outcome map (DP Section 1)</a:t>
            </a:r>
          </a:p>
          <a:p>
            <a:pPr lvl="0" indent="0" marL="0">
              <a:buNone/>
            </a:pPr>
            <a:r>
              <a:rPr/>
              <a:t>Loaded Azure DevOps (ADO) backlog (Section 2)</a:t>
            </a:r>
          </a:p>
          <a:p>
            <a:pPr lvl="0" indent="0" marL="0">
              <a:buNone/>
            </a:pPr>
            <a:r>
              <a:rPr/>
              <a:t>Tracking plan (Section 3)</a:t>
            </a:r>
          </a:p>
          <a:p>
            <a:pPr lvl="0" indent="0" marL="0">
              <a:buNone/>
            </a:pPr>
            <a:r>
              <a:rPr/>
              <a:t>Value stream map (Section 4)</a:t>
            </a:r>
          </a:p>
          <a:p>
            <a:pPr lvl="0" indent="0" marL="0">
              <a:buNone/>
            </a:pPr>
            <a:r>
              <a:rPr/>
              <a:t>Bottleneck experiments (Section 5)</a:t>
            </a:r>
          </a:p>
          <a:p>
            <a:pPr lvl="0" indent="0" marL="0">
              <a:buNone/>
            </a:pPr>
            <a:r>
              <a:rPr/>
              <a:t>Integrated DP — 5th sibling artifact</a:t>
            </a:r>
          </a:p>
          <a:p>
            <a:pPr lvl="0" indent="0" marL="0">
              <a:buNone/>
            </a:pPr>
            <a:r>
              <a:rPr/>
              <a:t>What opens Week 8</a:t>
            </a:r>
          </a:p>
          <a:p>
            <a:pPr lvl="0" indent="0" marL="0">
              <a:buNone/>
            </a:pPr>
            <a:r>
              <a:rPr/>
              <a:t>AI Spec Development &amp; Capstone</a:t>
            </a:r>
          </a:p>
          <a:p>
            <a:pPr lvl="0" indent="0" marL="0">
              <a:buNone/>
            </a:pPr>
            <a:r>
              <a:rPr/>
              <a:t>Holocron problem brief</a:t>
            </a:r>
          </a:p>
          <a:p>
            <a:pPr lvl="0" indent="0" marL="0">
              <a:buNone/>
            </a:pPr>
            <a:r>
              <a:rPr/>
              <a:t>AI Spec dev integrated with artifact set</a:t>
            </a:r>
          </a:p>
          <a:p>
            <a:pPr lvl="0" indent="0" marL="0">
              <a:buNone/>
            </a:pPr>
            <a:r>
              <a:rPr/>
              <a:t>Final artifact presentations Friday</a:t>
            </a:r>
          </a:p>
          <a:p>
            <a:pPr lvl="0" indent="0" marL="0">
              <a:buNone/>
            </a:pPr>
            <a:r>
              <a:rPr/>
              <a:t>Bring to Monday: All 5 sibling artifacts (PRD/TCD/TMD/SEP/DP) + your one-sentence read of the Holocron problem.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bottleneck have you been living with that you no longer accept?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2026-07-27T15:20:17Z</dcterms:created>
  <dcterms:modified xsi:type="dcterms:W3CDTF">2026-07-27T15:20:17Z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