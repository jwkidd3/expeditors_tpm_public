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back. Week 1 ended with a problem statement; Week 2 turns it into something we can measure. Today is a vocabulary day — install three terms the cohort will use every day for the next 6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Tier Sheet from today is the spine of every other artifact this week. Treat it as load-bearing.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day reads bottom-up: signals → KPIs → placeholder NS. Day 2 does the NS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vocabulary install. Every later block depends on the cohort holding the NS / KPI / operational-signal distinction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someone says “metric,” ask “to whom?” The CEO does not want operational signals; the squad cannot act on a North 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TPMs spend 80% of their measurement attention at the operational-signal layer. That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session-length question is the most useful for FieldPulse: a dispatcher who </a:t>
            </a:r>
            <a:r>
              <a:rPr i="1"/>
              <a:t>hates</a:t>
            </a:r>
            <a:r>
              <a:rPr/>
              <a:t> the app would have low session lengths because they finished fast. Length is not a value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space for productive arguments. Disagreement here is the learning. Don’t pre-answer.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Drop down to where most TPM measurement attention lives. Frame: a signal a squad cannot act on tomorrow is not yet an operational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Often, half of a good signal list is “we don’t have this data yet.” That feeds Weeks 4–5.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the override-entries gap. That’s a signal we </a:t>
            </a:r>
            <a:r>
              <a:rPr i="1"/>
              <a:t>should</a:t>
            </a:r>
            <a:r>
              <a:rPr/>
              <a:t> have but don’t. Surface gaps openly — they become Week 5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The most common failure is signals that are leading and unmeasurable today, both equally hand-waved.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Move from squad-level to org-level. The TPM job is laddering — proving that the squad’s signal moves something leadership pays attention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KPI fails any of the four, it’s either an op-signal in disguise or a vanity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 two operational signals ladder to one KPI. That’s a strong signal cluster. One signal that ladders to nothing should make you suspicious.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three-sentence chain is the most useful single artifact you’ll teach this week. Have triads rehearse theirs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signals will resist clustering. That’s fine — flag them. Sometimes those are the most valuable signals; sometimes they’re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defense block teaches the three challenges every TPM should rehearse before bringing metrics to leadership. They recur in Weeks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three challenges show up again in Week 5 (technical infrastructure) and Week 6 (stakeholder negotiation). They are durable.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placeholder is a target to react to. Tomorrow we’ll prove or disprove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 Tier Sheets at end of day. They become wallpaper for the rest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operational signal they’ll never trust again as a KPI. Crystallizes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The “customer wants this to drop” framing surfaces whether the Tier Sheet really centers on customer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Operational Signals &amp; KPIs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1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operational signals, KPIs, and a North Star — three different audiences, three different rhythms</a:t>
            </a:r>
          </a:p>
          <a:p>
            <a:pPr lvl="0" indent="0" marL="0">
              <a:buNone/>
            </a:pPr>
            <a:r>
              <a:rPr/>
              <a:t>Spot vanity metrics by their two telltale signs: easy to move, hard to attribute</a:t>
            </a:r>
          </a:p>
          <a:p>
            <a:pPr lvl="0" indent="0" marL="0">
              <a:buNone/>
            </a:pPr>
            <a:r>
              <a:rPr/>
              <a:t>Build a believable causal chain from operational signal → KPI → NS</a:t>
            </a:r>
          </a:p>
          <a:p>
            <a:pPr lvl="0" indent="0" marL="0">
              <a:buNone/>
            </a:pPr>
            <a:r>
              <a:rPr/>
              <a:t>Identify the instrumentation gaps that block your strategy from being measurable today</a:t>
            </a:r>
          </a:p>
          <a:p>
            <a:pPr lvl="0" indent="0" marL="0">
              <a:buNone/>
            </a:pPr>
            <a:r>
              <a:rPr/>
              <a:t>Produce a triad Metrics Tier Sheet for your Week-1 problem statement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Reground in your Week-1 problem statement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“Metric or Vanity?”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Operational signal sprint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KPI laddering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Tier Sheet defense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Three Tiers, Three Audiences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we say “metric” too loosely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🏠 The Metrics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North Star — “Are we winning?”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KPIs — “Is the business healthy?”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Operational signals — “What do we do today?”</a:t>
            </a:r>
          </a:p>
          <a:p>
            <a:pPr lvl="0" indent="0" marL="0">
              <a:buNone/>
            </a:pPr>
            <a:r>
              <a:rPr/>
              <a:t>The shape matters: few NSs (1), few KPIs (2–4), many operational signals (4–10). A team that has 10 KPIs has 0 KPIs.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Definitions That Hold Up Under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</a:t>
            </a:r>
          </a:p>
          <a:p>
            <a:pPr lvl="0" indent="0" marL="0">
              <a:buNone/>
            </a:pPr>
            <a:r>
              <a:rPr/>
              <a:t>Definition</a:t>
            </a:r>
          </a:p>
          <a:p>
            <a:pPr lvl="0" indent="0" marL="0">
              <a:buNone/>
            </a:pPr>
            <a:r>
              <a:rPr/>
              <a:t>Rhythm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North Star</a:t>
            </a:r>
          </a:p>
          <a:p>
            <a:pPr lvl="0" indent="0" marL="0">
              <a:buNone/>
            </a:pPr>
            <a:r>
              <a:rPr/>
              <a:t>The single number that says “the customer is winning AND the business is winning”</a:t>
            </a:r>
          </a:p>
          <a:p>
            <a:pPr lvl="0" indent="0" marL="0">
              <a:buNone/>
            </a:pPr>
            <a:r>
              <a:rPr/>
              <a:t>Quarterly to annual</a:t>
            </a:r>
          </a:p>
          <a:p>
            <a:pPr lvl="0" indent="0" marL="0">
              <a:buNone/>
            </a:pPr>
            <a:r>
              <a:rPr/>
              <a:t>Whole company</a:t>
            </a:r>
          </a:p>
          <a:p>
            <a:pPr lvl="0" indent="0" marL="0">
              <a:buNone/>
            </a:pPr>
            <a:r>
              <a:rPr/>
              <a:t>KPI</a:t>
            </a:r>
          </a:p>
          <a:p>
            <a:pPr lvl="0" indent="0" marL="0">
              <a:buNone/>
            </a:pPr>
            <a:r>
              <a:rPr/>
              <a:t>Business outcome that the NS rolls up to or directly signals</a:t>
            </a:r>
          </a:p>
          <a:p>
            <a:pPr lvl="0" indent="0" marL="0">
              <a:buNone/>
            </a:pPr>
            <a:r>
              <a:rPr/>
              <a:t>Weekly to monthly</a:t>
            </a:r>
          </a:p>
          <a:p>
            <a:pPr lvl="0" indent="0" marL="0">
              <a:buNone/>
            </a:pPr>
            <a:r>
              <a:rPr/>
              <a:t>Leadership / board</a:t>
            </a:r>
          </a:p>
          <a:p>
            <a:pPr lvl="0" indent="0" marL="0">
              <a:buNone/>
            </a:pPr>
            <a:r>
              <a:rPr/>
              <a:t>Operational signal</a:t>
            </a:r>
          </a:p>
          <a:p>
            <a:pPr lvl="0" indent="0" marL="0">
              <a:buNone/>
            </a:pPr>
            <a:r>
              <a:rPr/>
              <a:t>Daily/hourly leading indicator a squad can act on</a:t>
            </a:r>
          </a:p>
          <a:p>
            <a:pPr lvl="0" indent="0" marL="0">
              <a:buNone/>
            </a:pPr>
            <a:r>
              <a:rPr/>
              <a:t>Real-time to daily</a:t>
            </a:r>
          </a:p>
          <a:p>
            <a:pPr lvl="0" indent="0" marL="0">
              <a:buNone/>
            </a:pPr>
            <a:r>
              <a:rPr/>
              <a:t>Squad / TPM</a:t>
            </a:r>
          </a:p>
          <a:p>
            <a:pPr lvl="0" indent="0" marL="0">
              <a:buNone/>
            </a:pPr>
            <a:r>
              <a:rPr/>
              <a:t>The TPM job: own the operational signals, defend the KPIs, contribute to the North Star.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🤯 The Vanity Metric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vanity metric is one that goes up when something happens that doesn’t actually matter, and can’t be moved by a deliberate decision.</a:t>
            </a:r>
          </a:p>
          <a:p>
            <a:pPr lvl="0" indent="0" marL="0">
              <a:buNone/>
            </a:pPr>
            <a:r>
              <a:rPr/>
              <a:t>❌ Vanity</a:t>
            </a:r>
          </a:p>
          <a:p>
            <a:pPr lvl="0" indent="0" marL="0">
              <a:buNone/>
            </a:pPr>
            <a:r>
              <a:rPr/>
              <a:t>Total signups (no churn signal)</a:t>
            </a:r>
          </a:p>
          <a:p>
            <a:pPr lvl="0" indent="0" marL="0">
              <a:buNone/>
            </a:pPr>
            <a:r>
              <a:rPr/>
              <a:t>Page views</a:t>
            </a:r>
          </a:p>
          <a:p>
            <a:pPr lvl="0" indent="0" marL="0">
              <a:buNone/>
            </a:pPr>
            <a:r>
              <a:rPr/>
              <a:t>Features shipped</a:t>
            </a:r>
          </a:p>
          <a:p>
            <a:pPr lvl="0" indent="0" marL="0">
              <a:buNone/>
            </a:pPr>
            <a:r>
              <a:rPr/>
              <a:t>Average session length</a:t>
            </a:r>
          </a:p>
          <a:p>
            <a:pPr lvl="0" indent="0" marL="0">
              <a:buNone/>
            </a:pPr>
            <a:r>
              <a:rPr/>
              <a:t>✅ Actionable</a:t>
            </a:r>
          </a:p>
          <a:p>
            <a:pPr lvl="0" indent="0" marL="0">
              <a:buNone/>
            </a:pPr>
            <a:r>
              <a:rPr/>
              <a:t>Activated accounts in week 1</a:t>
            </a:r>
          </a:p>
          <a:p>
            <a:pPr lvl="0" indent="0" marL="0">
              <a:buNone/>
            </a:pPr>
            <a:r>
              <a:rPr/>
              <a:t>Time-to-first-value</a:t>
            </a:r>
          </a:p>
          <a:p>
            <a:pPr lvl="0" indent="0" marL="0">
              <a:buNone/>
            </a:pPr>
            <a:r>
              <a:rPr/>
              <a:t>% of intended workflows completed</a:t>
            </a:r>
          </a:p>
          <a:p>
            <a:pPr lvl="0" indent="0" marL="0">
              <a:buNone/>
            </a:pPr>
            <a:r>
              <a:rPr/>
              <a:t>Repeat-use within 7 days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“Metric or Vanity?”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Each triad receives the Vanity-Metric Card Pack (12 cards from FieldPulse-adjacent SaaS). Place each on a 2x2 of Easy-to-game vs Lagging/Leading.</a:t>
            </a:r>
          </a:p>
          <a:p>
            <a:pPr lvl="0" indent="0" marL="0">
              <a:buNone/>
            </a:pPr>
            <a:r>
              <a:rPr/>
              <a:t>Pick 2 cards your triad would bet on for FieldPulse</a:t>
            </a:r>
          </a:p>
          <a:p>
            <a:pPr lvl="0" indent="0" marL="0">
              <a:buNone/>
            </a:pPr>
            <a:r>
              <a:rPr/>
              <a:t>Pick 2 cards your triad would never report up</a:t>
            </a:r>
          </a:p>
          <a:p>
            <a:pPr lvl="0" indent="0" marL="0">
              <a:buNone/>
            </a:pPr>
            <a:r>
              <a:rPr/>
              <a:t>Be ready with one sentence on each pick</a:t>
            </a:r>
          </a:p>
          <a:p>
            <a:pPr lvl="0" indent="0" marL="0">
              <a:buNone/>
            </a:pPr>
            <a:r>
              <a:rPr/>
              <a:t>⏱ 10 min sort · 15 min discuss · 10 min readout prep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Operational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metrics a squad watches in standup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A Good Operational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Latency: moves within a day or less</a:t>
            </a:r>
          </a:p>
          <a:p>
            <a:pPr lvl="0" indent="0" marL="0">
              <a:buNone/>
            </a:pPr>
            <a:r>
              <a:rPr/>
              <a:t>Specificity: changes when one thing in the product changes</a:t>
            </a:r>
          </a:p>
          <a:p>
            <a:pPr lvl="0" indent="0" marL="0">
              <a:buNone/>
            </a:pPr>
            <a:r>
              <a:rPr/>
              <a:t>Actionability: if it drops 30%, the team has a meeting tomorrow</a:t>
            </a:r>
          </a:p>
          <a:p>
            <a:pPr lvl="0" indent="0" marL="0">
              <a:buNone/>
            </a:pPr>
            <a:r>
              <a:rPr/>
              <a:t>Causal: plausibly rolls up to a KPI</a:t>
            </a:r>
          </a:p>
          <a:p>
            <a:pPr lvl="0" indent="0" marL="0">
              <a:buNone/>
            </a:pPr>
            <a:r>
              <a:rPr/>
              <a:t>Measurable today — or honestly named as an instrumentation gap</a:t>
            </a:r>
          </a:p>
          <a:p>
            <a:pPr lvl="0" indent="0" marL="0">
              <a:buNone/>
            </a:pPr>
            <a:r>
              <a:rPr/>
              <a:t>Coach’s note: “We don’t measure that today” is not a failure — it’s a finding. Surface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FieldPulse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 (Week 1): “Dispatchers spend 45 minutes after-shift reconciling tickets, truck stock, and timecards.”</a:t>
            </a:r>
          </a:p>
          <a:p>
            <a:pPr lvl="0" indent="0" marL="0">
              <a:buNone/>
            </a:pPr>
            <a:r>
              <a:rPr/>
              <a:t>Operational signal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Action if it dips</a:t>
            </a:r>
          </a:p>
          <a:p>
            <a:pPr lvl="0" indent="0" marL="0">
              <a:buNone/>
            </a:pPr>
            <a:r>
              <a:rPr/>
              <a:t>Median reconcile-flow duration</a:t>
            </a:r>
          </a:p>
          <a:p>
            <a:pPr lvl="0" indent="0" marL="0">
              <a:buNone/>
            </a:pPr>
            <a:r>
              <a:rPr/>
              <a:t>App instrumentation</a:t>
            </a:r>
          </a:p>
          <a:p>
            <a:pPr lvl="0" indent="0" marL="0">
              <a:buNone/>
            </a:pPr>
            <a:r>
              <a:rPr/>
              <a:t>Inspect last release for regressions</a:t>
            </a:r>
          </a:p>
          <a:p>
            <a:pPr lvl="0" indent="0" marL="0">
              <a:buNone/>
            </a:pPr>
            <a:r>
              <a:rPr/>
              <a:t>% of dispatchers using mobile reconcile vs paper</a:t>
            </a:r>
          </a:p>
          <a:p>
            <a:pPr lvl="0" indent="0" marL="0">
              <a:buNone/>
            </a:pPr>
            <a:r>
              <a:rPr/>
              <a:t>Backend events</a:t>
            </a:r>
          </a:p>
          <a:p>
            <a:pPr lvl="0" indent="0" marL="0">
              <a:buNone/>
            </a:pPr>
            <a:r>
              <a:rPr/>
              <a:t>Re-investigate adoption blockers</a:t>
            </a:r>
          </a:p>
          <a:p>
            <a:pPr lvl="0" indent="0" marL="0">
              <a:buNone/>
            </a:pPr>
            <a:r>
              <a:rPr/>
              <a:t>Reconcile-flow abandonment rate</a:t>
            </a:r>
          </a:p>
          <a:p>
            <a:pPr lvl="0" indent="0" marL="0">
              <a:buNone/>
            </a:pPr>
            <a:r>
              <a:rPr/>
              <a:t>Funnel analytics</a:t>
            </a:r>
          </a:p>
          <a:p>
            <a:pPr lvl="0" indent="0" marL="0">
              <a:buNone/>
            </a:pPr>
            <a:r>
              <a:rPr/>
              <a:t>UX review of last drop-off step</a:t>
            </a:r>
          </a:p>
          <a:p>
            <a:pPr lvl="0" indent="0" marL="0">
              <a:buNone/>
            </a:pPr>
            <a:r>
              <a:rPr/>
              <a:t>Manual override entries per dispatcher per day</a:t>
            </a:r>
          </a:p>
          <a:p>
            <a:pPr lvl="0" indent="0" marL="0">
              <a:buNone/>
            </a:pPr>
            <a:r>
              <a:rPr/>
              <a:t>Instrumentation gap</a:t>
            </a:r>
          </a:p>
          <a:p>
            <a:pPr lvl="0" indent="0" marL="0">
              <a:buNone/>
            </a:pPr>
            <a:r>
              <a:rPr/>
              <a:t>Indicates trust loss in automation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Operational Signal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For your triad’s Week-1 problem statement: brainstorm 12 candidate signals (4 per person), then cull to 6 finalists.</a:t>
            </a:r>
          </a:p>
          <a:p>
            <a:pPr lvl="0" indent="0" marL="0">
              <a:buNone/>
            </a:pPr>
            <a:r>
              <a:rPr/>
              <a:t>For each: what it measures, where the data comes from, how fast it moves, what action you’d take</a:t>
            </a:r>
          </a:p>
          <a:p>
            <a:pPr lvl="0" indent="0" marL="0">
              <a:buNone/>
            </a:pPr>
            <a:r>
              <a:rPr/>
              <a:t>Mark at least 2 in red as instrumentation gaps</a:t>
            </a:r>
          </a:p>
          <a:p>
            <a:pPr lvl="0" indent="0" marL="0">
              <a:buNone/>
            </a:pPr>
            <a:r>
              <a:rPr/>
              <a:t>Add the 6 to your triad’s Metrics Tier Sheet (bottom row)</a:t>
            </a:r>
          </a:p>
          <a:p>
            <a:pPr lvl="0" indent="0" marL="0">
              <a:buNone/>
            </a:pPr>
            <a:r>
              <a:rPr/>
              <a:t>⏱ 10 min solo · 15 min cull · 15 min annotate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the squad’s work shows up in business outcomes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Four-Question KPI Quality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well-formed KPI passes all four:</a:t>
            </a:r>
          </a:p>
          <a:p>
            <a:pPr lvl="0" indent="0" marL="0">
              <a:buNone/>
            </a:pPr>
            <a:r>
              <a:rPr/>
              <a:t>Spoken in business terms (revenue, retention, time-to-value, NPS) — not feature terms</a:t>
            </a:r>
          </a:p>
          <a:p>
            <a:pPr lvl="0" indent="0" marL="0">
              <a:buNone/>
            </a:pPr>
            <a:r>
              <a:rPr/>
              <a:t>A senior leader cares about it without translation</a:t>
            </a:r>
          </a:p>
          <a:p>
            <a:pPr lvl="0" indent="0" marL="0">
              <a:buNone/>
            </a:pPr>
            <a:r>
              <a:rPr/>
              <a:t>You can imagine a single chart that shows it weekly</a:t>
            </a:r>
          </a:p>
          <a:p>
            <a:pPr lvl="0" indent="0" marL="0">
              <a:buNone/>
            </a:pPr>
            <a:r>
              <a:rPr/>
              <a:t>You can name what’s “good” without inventing a number — direction is fine, the number is set later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🧮 Laddering: Signals Up to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</a:t>
            </a:r>
          </a:p>
          <a:p>
            <a:pPr lvl="0" indent="0" marL="0">
              <a:buNone/>
            </a:pPr>
            <a:r>
              <a:rPr/>
              <a:t>Take each operational signal</a:t>
            </a:r>
          </a:p>
          <a:p>
            <a:pPr lvl="0" indent="0" marL="0">
              <a:buNone/>
            </a:pPr>
            <a:r>
              <a:rPr/>
              <a:t>Ask: “If this moves 30% for a quarter, which business outcome shifts?”</a:t>
            </a:r>
          </a:p>
          <a:p>
            <a:pPr lvl="0" indent="0" marL="0">
              <a:buNone/>
            </a:pPr>
            <a:r>
              <a:rPr/>
              <a:t>Cluster signals that ladder to the same outcome</a:t>
            </a:r>
          </a:p>
          <a:p>
            <a:pPr lvl="0" indent="0" marL="0">
              <a:buNone/>
            </a:pPr>
            <a:r>
              <a:rPr/>
              <a:t>Each cluster → candidate KPI</a:t>
            </a:r>
          </a:p>
          <a:p>
            <a:pPr lvl="0" indent="0" marL="0">
              <a:buNone/>
            </a:pPr>
            <a:r>
              <a:rPr/>
              <a:t>Worked: FieldPulse</a:t>
            </a:r>
          </a:p>
          <a:p>
            <a:pPr lvl="0" indent="0" marL="0">
              <a:buNone/>
            </a:pPr>
            <a:r>
              <a:rPr/>
              <a:t>Reconcile-duration + abandonment + manual-overrides → “Dispatcher hours returned per week”</a:t>
            </a:r>
          </a:p>
          <a:p>
            <a:pPr lvl="0" indent="0" marL="0">
              <a:buNone/>
            </a:pPr>
            <a:r>
              <a:rPr/>
              <a:t>Mobile-reconcile adoption → “% of accounts on the new workflow”</a:t>
            </a:r>
          </a:p>
          <a:p>
            <a:pPr lvl="0" indent="0" marL="0">
              <a:buNone/>
            </a:pPr>
            <a:r>
              <a:rPr/>
              <a:t>Both ladder to NRR retention long-term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Believable Causal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Tier Sheet is only as strong as its narrative: operational signal → KPI → North Star. If you can’t tell that story in three sentences, the chain is broken.</a:t>
            </a:r>
          </a:p>
          <a:p>
            <a:pPr lvl="0" indent="0" marL="0">
              <a:buNone/>
            </a:pPr>
            <a:r>
              <a:rPr/>
              <a:t>FieldPulse three-sentence chain: “Median reconcile-flow duration drops → dispatchers spend less time on after-shift admin (operational). Hours-returned-per-week climbs → account-level retention conversations get easier (KPI). Net retention rate climbs → FieldPulse is winning (North Star).”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KPI Laddering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Cluster your 6 operational signals into 2–3 KPI clusters. Stress-test each KPI against the four-question quality bar.</a:t>
            </a:r>
          </a:p>
          <a:p>
            <a:pPr lvl="0" indent="0" marL="0">
              <a:buNone/>
            </a:pPr>
            <a:r>
              <a:rPr/>
              <a:t>Write the three-sentence causal chain for each cluster</a:t>
            </a:r>
          </a:p>
          <a:p>
            <a:pPr lvl="0" indent="0" marL="0">
              <a:buNone/>
            </a:pPr>
            <a:r>
              <a:rPr/>
              <a:t>Name one signal that doesn’t ladder to anything — and decide whether to keep or drop it</a:t>
            </a:r>
          </a:p>
          <a:p>
            <a:pPr lvl="0" indent="0" marL="0">
              <a:buNone/>
            </a:pPr>
            <a:r>
              <a:rPr/>
              <a:t>Add KPIs to your Metrics Tier Sheet (middle row)</a:t>
            </a:r>
          </a:p>
          <a:p>
            <a:pPr lvl="0" indent="0" marL="0">
              <a:buNone/>
            </a:pPr>
            <a:r>
              <a:rPr/>
              <a:t>⏱ 15 min cluster · 15 min stress-test · 10 min chain narration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Tier Sheet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the squad ships, the metrics get challenged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Three Standard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What it surfaces</a:t>
            </a:r>
          </a:p>
          <a:p>
            <a:pPr lvl="0" indent="0" marL="0">
              <a:buNone/>
            </a:pPr>
            <a:r>
              <a:rPr/>
              <a:t>Causal chain</a:t>
            </a:r>
          </a:p>
          <a:p>
            <a:pPr lvl="0" indent="0" marL="0">
              <a:buNone/>
            </a:pPr>
            <a:r>
              <a:rPr/>
              <a:t>“Show me how a change in op-signal #3 plausibly moves your KPI”</a:t>
            </a:r>
          </a:p>
          <a:p>
            <a:pPr lvl="0" indent="0" marL="0">
              <a:buNone/>
            </a:pPr>
            <a:r>
              <a:rPr/>
              <a:t>Hand-waved laddering</a:t>
            </a:r>
          </a:p>
          <a:p>
            <a:pPr lvl="0" indent="0" marL="0">
              <a:buNone/>
            </a:pPr>
            <a:r>
              <a:rPr/>
              <a:t>Gameability</a:t>
            </a:r>
          </a:p>
          <a:p>
            <a:pPr lvl="0" indent="0" marL="0">
              <a:buNone/>
            </a:pPr>
            <a:r>
              <a:rPr/>
              <a:t>“Pick the easiest of these to game. How would a sales-incentivized team game it?”</a:t>
            </a:r>
          </a:p>
          <a:p>
            <a:pPr lvl="0" indent="0" marL="0">
              <a:buNone/>
            </a:pPr>
            <a:r>
              <a:rPr/>
              <a:t>Metrics that reward bad behavior</a:t>
            </a:r>
          </a:p>
          <a:p>
            <a:pPr lvl="0" indent="0" marL="0">
              <a:buNone/>
            </a:pPr>
            <a:r>
              <a:rPr/>
              <a:t>Instrumentation</a:t>
            </a:r>
          </a:p>
          <a:p>
            <a:pPr lvl="0" indent="0" marL="0">
              <a:buNone/>
            </a:pPr>
            <a:r>
              <a:rPr/>
              <a:t>“Which two of these can you actually measure today, in production?”</a:t>
            </a:r>
          </a:p>
          <a:p>
            <a:pPr lvl="0" indent="0" marL="0">
              <a:buNone/>
            </a:pPr>
            <a:r>
              <a:rPr/>
              <a:t>Strategy that depends on data we don’t have</a:t>
            </a:r>
          </a:p>
          <a:p>
            <a:pPr lvl="0" indent="0" marL="0">
              <a:buNone/>
            </a:pPr>
            <a:r>
              <a:rPr/>
              <a:t>Watch for: “We’ll instrument it” — a real answer also says by when and at what cost.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⭐ The North Star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You’re not going to nail your North Star today. Tomorrow is its full treatment. Today: write a placeholder.</a:t>
            </a:r>
          </a:p>
          <a:p>
            <a:pPr lvl="0" indent="0" marL="0">
              <a:buNone/>
            </a:pPr>
            <a:r>
              <a:rPr/>
              <a:t>FieldPulse example placeholder:</a:t>
            </a:r>
          </a:p>
          <a:p>
            <a:pPr lvl="0" indent="0" marL="0">
              <a:buNone/>
            </a:pPr>
            <a:r>
              <a:rPr/>
              <a:t>“We are winning when after-shift reconcile time drops for HVAC dispatchers in mid-sized shops, measured by median minutes from clock-out to ticket-closeout.”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Tier Sheet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Readouts</a:t>
            </a:r>
          </a:p>
          <a:p>
            <a:pPr lvl="0" indent="0" marL="0">
              <a:buNone/>
            </a:pPr>
            <a:r>
              <a:rPr/>
              <a:t>Pair-defense round: each triad pairs with another. Defender presents the Tier Sheet (4 min). Challenger uses the Three Standard Challenges.</a:t>
            </a:r>
          </a:p>
          <a:p>
            <a:pPr lvl="0" indent="0" marL="0">
              <a:buNone/>
            </a:pPr>
            <a:r>
              <a:rPr/>
              <a:t>15 min: draft your North Star placeholder using the template</a:t>
            </a:r>
          </a:p>
          <a:p>
            <a:pPr lvl="0" indent="0" marL="0">
              <a:buNone/>
            </a:pPr>
            <a:r>
              <a:rPr/>
              <a:t>20 min: pair-defense (4 min present, 4 min challenge per direction)</a:t>
            </a:r>
          </a:p>
          <a:p>
            <a:pPr lvl="0" indent="0" marL="0">
              <a:buNone/>
            </a:pPr>
            <a:r>
              <a:rPr/>
              <a:t>10 min: capture the strongest challenge as a “known weakness” line</a:t>
            </a:r>
          </a:p>
          <a:p>
            <a:pPr lvl="0" indent="0" marL="0">
              <a:buNone/>
            </a:pPr>
            <a:r>
              <a:rPr/>
              <a:t>⏱ 15 min NS · 20 min defense · 10 min refine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Vocabulary: NS / KPI / Operational signal</a:t>
            </a:r>
          </a:p>
          <a:p>
            <a:pPr lvl="0" indent="0" marL="0">
              <a:buNone/>
            </a:pPr>
            <a:r>
              <a:rPr/>
              <a:t>Vanity-metric detector</a:t>
            </a:r>
          </a:p>
          <a:p>
            <a:pPr lvl="0" indent="0" marL="0">
              <a:buNone/>
            </a:pPr>
            <a:r>
              <a:rPr/>
              <a:t>Three-sentence causal chain</a:t>
            </a:r>
          </a:p>
          <a:p>
            <a:pPr lvl="0" indent="0" marL="0">
              <a:buNone/>
            </a:pPr>
            <a:r>
              <a:rPr/>
              <a:t>Triad Metrics Tier Sheet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The North Star metric — done properly, with three pitfalls</a:t>
            </a:r>
          </a:p>
          <a:p>
            <a:pPr lvl="0" indent="0" marL="0">
              <a:buNone/>
            </a:pPr>
            <a:r>
              <a:rPr/>
              <a:t>Your placeholder NS will be challenged. Bring an alternative.</a:t>
            </a:r>
          </a:p>
          <a:p>
            <a:pPr lvl="0" indent="0" marL="0">
              <a:buNone/>
            </a:pPr>
            <a:r>
              <a:rPr/>
              <a:t>Bring to Day 2: Your Tier Sheet, your NS placeholder, and one alternative NS your triad debated and rejected.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metric on your Tier Sheet would your customer most want to see drop?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2026-05-15T23:21:16Z</dcterms:created>
  <dcterms:modified xsi:type="dcterms:W3CDTF">2026-05-15T23:21:16Z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