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notesMasters/notesMaster1.xml" ContentType="application/vnd.openxmlformats-officedocument.presentationml.notesMaster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notesMasterIdLst>
    <p:notesMasterId r:id="rId25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0" Type="http://schemas.openxmlformats.org/officeDocument/2006/relationships/slide" Target="slides/slide9.xml" /><Relationship Id="rId11" Type="http://schemas.openxmlformats.org/officeDocument/2006/relationships/slide" Target="slides/slide10.xml" /><Relationship Id="rId12" Type="http://schemas.openxmlformats.org/officeDocument/2006/relationships/slide" Target="slides/slide11.xml" /><Relationship Id="rId13" Type="http://schemas.openxmlformats.org/officeDocument/2006/relationships/slide" Target="slides/slide12.xml" /><Relationship Id="rId14" Type="http://schemas.openxmlformats.org/officeDocument/2006/relationships/slide" Target="slides/slide13.xml" /><Relationship Id="rId15" Type="http://schemas.openxmlformats.org/officeDocument/2006/relationships/slide" Target="slides/slide14.xml" /><Relationship Id="rId16" Type="http://schemas.openxmlformats.org/officeDocument/2006/relationships/slide" Target="slides/slide15.xml" /><Relationship Id="rId17" Type="http://schemas.openxmlformats.org/officeDocument/2006/relationships/slide" Target="slides/slide16.xml" /><Relationship Id="rId18" Type="http://schemas.openxmlformats.org/officeDocument/2006/relationships/slide" Target="slides/slide17.xml" /><Relationship Id="rId19" Type="http://schemas.openxmlformats.org/officeDocument/2006/relationships/slide" Target="slides/slide18.xml" /><Relationship Id="rId20" Type="http://schemas.openxmlformats.org/officeDocument/2006/relationships/slide" Target="slides/slide19.xml" /><Relationship Id="rId21" Type="http://schemas.openxmlformats.org/officeDocument/2006/relationships/slide" Target="slides/slide20.xml" /><Relationship Id="rId22" Type="http://schemas.openxmlformats.org/officeDocument/2006/relationships/slide" Target="slides/slide21.xml" /><Relationship Id="rId23" Type="http://schemas.openxmlformats.org/officeDocument/2006/relationships/slide" Target="slides/slide22.xml" /><Relationship Id="rId24" Type="http://schemas.openxmlformats.org/officeDocument/2006/relationships/slide" Target="slides/slide23.xml" /><Relationship Id="rId25" Type="http://schemas.openxmlformats.org/officeDocument/2006/relationships/notesMaster" Target="notesMasters/notesMaster1.xml" /><Relationship Id="rId27" Type="http://schemas.openxmlformats.org/officeDocument/2006/relationships/viewProps" Target="viewProps.xml" /><Relationship Id="rId26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29" Type="http://schemas.openxmlformats.org/officeDocument/2006/relationships/tableStyles" Target="tableStyles.xml" /><Relationship Id="rId28" Type="http://schemas.openxmlformats.org/officeDocument/2006/relationships/theme" Target="theme/theme1.xml" 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C1CCF-B725-44A7-AA57-5E433BD85C9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8BDFEC3-8487-43E8-A154-7C12CBC1FFF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8270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?><Relationships xmlns="http://schemas.openxmlformats.org/package/2006/relationships"><Relationship Id="rId2" Type="http://schemas.openxmlformats.org/officeDocument/2006/relationships/slide" Target="../slides/slide2.xml" /><Relationship Id="rId1" Type="http://schemas.openxmlformats.org/officeDocument/2006/relationships/notesMaster" Target="../notesMasters/notesMaster1.xml" /></Relationships>
</file>

<file path=ppt/notesSlides/_rels/notesSlide2.xml.rels><?xml version="1.0" encoding="UTF-8"?><Relationships xmlns="http://schemas.openxmlformats.org/package/2006/relationships"><Relationship Id="rId2" Type="http://schemas.openxmlformats.org/officeDocument/2006/relationships/slide" Target="../slides/slide3.xml" /><Relationship Id="rId1" Type="http://schemas.openxmlformats.org/officeDocument/2006/relationships/notesMaster" Target="../notesMasters/notesMaster1.xml" /></Relationships>
</file>

<file path=ppt/notesSlides/_rels/notesSlide3.xml.rels><?xml version="1.0" encoding="UTF-8"?><Relationships xmlns="http://schemas.openxmlformats.org/package/2006/relationships"><Relationship Id="rId2" Type="http://schemas.openxmlformats.org/officeDocument/2006/relationships/slide" Target="../slides/slide4.xml" /><Relationship Id="rId1" Type="http://schemas.openxmlformats.org/officeDocument/2006/relationships/notesMaster" Target="../notesMasters/notesMaster1.xml" /></Relationships>
</file>

<file path=ppt/notesSlides/_rels/notesSlide4.xml.rels><?xml version="1.0" encoding="UTF-8"?><Relationships xmlns="http://schemas.openxmlformats.org/package/2006/relationships"><Relationship Id="rId2" Type="http://schemas.openxmlformats.org/officeDocument/2006/relationships/slide" Target="../slides/slide5.xml" /><Relationship Id="rId1" Type="http://schemas.openxmlformats.org/officeDocument/2006/relationships/notesMaster" Target="../notesMasters/notesMaster1.xml" /></Relationships>
</file>

<file path=ppt/notesSlides/_rels/notesSlide5.xml.rels><?xml version="1.0" encoding="UTF-8"?><Relationships xmlns="http://schemas.openxmlformats.org/package/2006/relationships"><Relationship Id="rId2" Type="http://schemas.openxmlformats.org/officeDocument/2006/relationships/slide" Target="../slides/slide6.xml" /><Relationship Id="rId1" Type="http://schemas.openxmlformats.org/officeDocument/2006/relationships/notesMaster" Target="../notesMasters/notesMaster1.xml" /></Relationships>
</file>

<file path=ppt/notesSlides/_rels/notesSlide6.xml.rels><?xml version="1.0" encoding="UTF-8"?><Relationships xmlns="http://schemas.openxmlformats.org/package/2006/relationships"><Relationship Id="rId2" Type="http://schemas.openxmlformats.org/officeDocument/2006/relationships/slide" Target="../slides/slide7.xml" /><Relationship Id="rId1" Type="http://schemas.openxmlformats.org/officeDocument/2006/relationships/notesMaster" Target="../notesMasters/notesMaster1.xml" /></Relationships>
</file>

<file path=ppt/notesSlides/_rels/notesSlide7.xml.rels><?xml version="1.0" encoding="UTF-8"?><Relationships xmlns="http://schemas.openxmlformats.org/package/2006/relationships"><Relationship Id="rId2" Type="http://schemas.openxmlformats.org/officeDocument/2006/relationships/slide" Target="../slides/slide8.xml" /><Relationship Id="rId1" Type="http://schemas.openxmlformats.org/officeDocument/2006/relationships/notesMaster" Target="../notesMasters/notesMaster1.xml" /></Relationships>
</file>

<file path=ppt/notesSlides/_rels/notesSlide8.xml.rels><?xml version="1.0" encoding="UTF-8"?><Relationships xmlns="http://schemas.openxmlformats.org/package/2006/relationships"><Relationship Id="rId2" Type="http://schemas.openxmlformats.org/officeDocument/2006/relationships/slide" Target="../slides/slide9.xml" /><Relationship Id="rId1" Type="http://schemas.openxmlformats.org/officeDocument/2006/relationships/notesMaster" Target="../notesMasters/notesMaster1.xml" /></Relationships>
</file>

<file path=ppt/notesSlides/_rels/notesSlide9.xml.rels><?xml version="1.0" encoding="UTF-8"?><Relationships xmlns="http://schemas.openxmlformats.org/package/2006/relationships"><Relationship Id="rId2" Type="http://schemas.openxmlformats.org/officeDocument/2006/relationships/slide" Target="../slides/slide10.xml" /><Relationship Id="rId1" Type="http://schemas.openxmlformats.org/officeDocument/2006/relationships/notesMaster" Target="../notesMasters/notesMaster1.xml" /></Relationships>
</file>

<file path=ppt/notesSlides/_rels/notesSlide10.xml.rels><?xml version="1.0" encoding="UTF-8"?><Relationships xmlns="http://schemas.openxmlformats.org/package/2006/relationships"><Relationship Id="rId2" Type="http://schemas.openxmlformats.org/officeDocument/2006/relationships/slide" Target="../slides/slide11.xml" /><Relationship Id="rId1" Type="http://schemas.openxmlformats.org/officeDocument/2006/relationships/notesMaster" Target="../notesMasters/notesMaster1.xml" /></Relationships>
</file>

<file path=ppt/notesSlides/_rels/notesSlide11.xml.rels><?xml version="1.0" encoding="UTF-8"?><Relationships xmlns="http://schemas.openxmlformats.org/package/2006/relationships"><Relationship Id="rId2" Type="http://schemas.openxmlformats.org/officeDocument/2006/relationships/slide" Target="../slides/slide12.xml" /><Relationship Id="rId1" Type="http://schemas.openxmlformats.org/officeDocument/2006/relationships/notesMaster" Target="../notesMasters/notesMaster1.xml" /></Relationships>
</file>

<file path=ppt/notesSlides/_rels/notesSlide12.xml.rels><?xml version="1.0" encoding="UTF-8"?><Relationships xmlns="http://schemas.openxmlformats.org/package/2006/relationships"><Relationship Id="rId2" Type="http://schemas.openxmlformats.org/officeDocument/2006/relationships/slide" Target="../slides/slide13.xml" /><Relationship Id="rId1" Type="http://schemas.openxmlformats.org/officeDocument/2006/relationships/notesMaster" Target="../notesMasters/notesMaster1.xml" /></Relationships>
</file>

<file path=ppt/notesSlides/_rels/notesSlide13.xml.rels><?xml version="1.0" encoding="UTF-8"?><Relationships xmlns="http://schemas.openxmlformats.org/package/2006/relationships"><Relationship Id="rId2" Type="http://schemas.openxmlformats.org/officeDocument/2006/relationships/slide" Target="../slides/slide14.xml" /><Relationship Id="rId1" Type="http://schemas.openxmlformats.org/officeDocument/2006/relationships/notesMaster" Target="../notesMasters/notesMaster1.xml" /></Relationships>
</file>

<file path=ppt/notesSlides/_rels/notesSlide14.xml.rels><?xml version="1.0" encoding="UTF-8"?><Relationships xmlns="http://schemas.openxmlformats.org/package/2006/relationships"><Relationship Id="rId2" Type="http://schemas.openxmlformats.org/officeDocument/2006/relationships/slide" Target="../slides/slide15.xml" /><Relationship Id="rId1" Type="http://schemas.openxmlformats.org/officeDocument/2006/relationships/notesMaster" Target="../notesMasters/notesMaster1.xml" /></Relationships>
</file>

<file path=ppt/notesSlides/_rels/notesSlide15.xml.rels><?xml version="1.0" encoding="UTF-8"?><Relationships xmlns="http://schemas.openxmlformats.org/package/2006/relationships"><Relationship Id="rId2" Type="http://schemas.openxmlformats.org/officeDocument/2006/relationships/slide" Target="../slides/slide16.xml" /><Relationship Id="rId1" Type="http://schemas.openxmlformats.org/officeDocument/2006/relationships/notesMaster" Target="../notesMasters/notesMaster1.xml" /></Relationships>
</file>

<file path=ppt/notesSlides/_rels/notesSlide16.xml.rels><?xml version="1.0" encoding="UTF-8"?><Relationships xmlns="http://schemas.openxmlformats.org/package/2006/relationships"><Relationship Id="rId2" Type="http://schemas.openxmlformats.org/officeDocument/2006/relationships/slide" Target="../slides/slide17.xml" /><Relationship Id="rId1" Type="http://schemas.openxmlformats.org/officeDocument/2006/relationships/notesMaster" Target="../notesMasters/notesMaster1.xml" /></Relationships>
</file>

<file path=ppt/notesSlides/_rels/notesSlide17.xml.rels><?xml version="1.0" encoding="UTF-8"?><Relationships xmlns="http://schemas.openxmlformats.org/package/2006/relationships"><Relationship Id="rId2" Type="http://schemas.openxmlformats.org/officeDocument/2006/relationships/slide" Target="../slides/slide18.xml" /><Relationship Id="rId1" Type="http://schemas.openxmlformats.org/officeDocument/2006/relationships/notesMaster" Target="../notesMasters/notesMaster1.xml" /></Relationships>
</file>

<file path=ppt/notesSlides/_rels/notesSlide18.xml.rels><?xml version="1.0" encoding="UTF-8"?><Relationships xmlns="http://schemas.openxmlformats.org/package/2006/relationships"><Relationship Id="rId2" Type="http://schemas.openxmlformats.org/officeDocument/2006/relationships/slide" Target="../slides/slide19.xml" /><Relationship Id="rId1" Type="http://schemas.openxmlformats.org/officeDocument/2006/relationships/notesMaster" Target="../notesMasters/notesMaster1.xml" /></Relationships>
</file>

<file path=ppt/notesSlides/_rels/notesSlide19.xml.rels><?xml version="1.0" encoding="UTF-8"?><Relationships xmlns="http://schemas.openxmlformats.org/package/2006/relationships"><Relationship Id="rId2" Type="http://schemas.openxmlformats.org/officeDocument/2006/relationships/slide" Target="../slides/slide20.xml" /><Relationship Id="rId1" Type="http://schemas.openxmlformats.org/officeDocument/2006/relationships/notesMaster" Target="../notesMasters/notesMaster1.xml" /></Relationships>
</file>

<file path=ppt/notesSlides/_rels/notesSlide20.xml.rels><?xml version="1.0" encoding="UTF-8"?><Relationships xmlns="http://schemas.openxmlformats.org/package/2006/relationships"><Relationship Id="rId2" Type="http://schemas.openxmlformats.org/officeDocument/2006/relationships/slide" Target="../slides/slide21.xml" /><Relationship Id="rId1" Type="http://schemas.openxmlformats.org/officeDocument/2006/relationships/notesMaster" Target="../notesMasters/notesMaster1.xml" /></Relationships>
</file>

<file path=ppt/notesSlides/_rels/notesSlide21.xml.rels><?xml version="1.0" encoding="UTF-8"?><Relationships xmlns="http://schemas.openxmlformats.org/package/2006/relationships"><Relationship Id="rId2" Type="http://schemas.openxmlformats.org/officeDocument/2006/relationships/slide" Target="../slides/slide22.xml" /><Relationship Id="rId1" Type="http://schemas.openxmlformats.org/officeDocument/2006/relationships/notesMaster" Target="../notesMasters/notesMaster1.xml" /></Relationships>
</file>

<file path=ppt/notesSlides/_rels/notesSlide22.xml.rels><?xml version="1.0" encoding="UTF-8"?><Relationships xmlns="http://schemas.openxmlformats.org/package/2006/relationships"><Relationship Id="rId2" Type="http://schemas.openxmlformats.org/officeDocument/2006/relationships/slide" Target="../slides/slide23.xml" /><Relationship Id="rId1" Type="http://schemas.openxmlformats.org/officeDocument/2006/relationships/notesMaster" Target="../notesMasters/notesMaster1.xml" 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Friday. Today’s job: connect the strategy work of Days 1–4 into a journey map and 3 features. Then present. Set the energy: this is the dress rehearsal for Week 3.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</a:t>
            </a:fld>
            <a:endParaRPr lang="en-US"/>
          </a:p>
        </p:txBody>
      </p:sp>
    </p:spTree>
  </p:cSld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“non-product touchpoints” objective is the bridge to Week 4. Surface it explicitly.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3</a:t>
            </a:fld>
            <a:endParaRPr lang="en-US"/>
          </a:p>
        </p:txBody>
      </p:sp>
    </p:spTree>
  </p:cSld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Friday cadence is tighter — readouts eat the last 90 minutes. Hold the time.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4</a:t>
            </a:fld>
            <a:endParaRPr lang="en-US"/>
          </a:p>
        </p:txBody>
      </p:sp>
    </p:spTree>
  </p:cSld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triads will be tempted to map the product, not the user. Coach against it from this slide forward.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5</a:t>
            </a:fld>
            <a:endParaRPr lang="en-US"/>
          </a:p>
        </p:txBody>
      </p:sp>
    </p:spTree>
  </p:cSld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common rookie mistake is mapping the product, not the user. Every triad will be tempted. Coach against 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6</a:t>
            </a:fld>
            <a:endParaRPr lang="en-US"/>
          </a:p>
        </p:txBody>
      </p:sp>
    </p:spTree>
  </p:cSld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Use stickies if possible — physical mapping forces decisions and surfaces disagreements.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7</a:t>
            </a:fld>
            <a:endParaRPr lang="en-US"/>
          </a:p>
        </p:txBody>
      </p:sp>
    </p:spTree>
  </p:cSld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picks “all journeys” — push back hard. Specificity is where insight lives.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8</a:t>
            </a:fld>
            <a:endParaRPr lang="en-US"/>
          </a:p>
        </p:txBody>
      </p:sp>
    </p:spTree>
  </p:cSld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most common stumbling block: stages that are feature names, not user-task names. “Login” is not a stage; “Arriving at the office” is.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9</a:t>
            </a:fld>
            <a:endParaRPr lang="en-US"/>
          </a:p>
        </p:txBody>
      </p:sp>
    </p:spTree>
  </p:cSld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non-product touchpoints are the bridge to Week 4. Surface them as load-bearing, not decorative.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10</a:t>
            </a:fld>
            <a:endParaRPr lang="en-US"/>
          </a:p>
        </p:txBody>
      </p:sp>
    </p:spTree>
  </p:cSld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Most triads will want to map only their own product. Force the question: “What else is in their hand?”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11</a:t>
            </a:fld>
            <a:endParaRPr lang="en-US"/>
          </a:p>
        </p:txBody>
      </p:sp>
    </p:spTree>
  </p:cSld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clustering check is simple but high-yield. Walk the room and call it out where missing.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12</a:t>
            </a:fld>
            <a:endParaRPr lang="en-US"/>
          </a:p>
        </p:txBody>
      </p:sp>
    </p:spTree>
  </p:cSld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Hand each triad a marker for friction stars. Physicality of starring forces commitment.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13</a:t>
            </a:fld>
            <a:endParaRPr lang="en-US"/>
          </a:p>
        </p:txBody>
      </p:sp>
    </p:spTree>
  </p:cSld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This block produces the direct input to next week’s PRD work. Hold the three-test bar firmly — features without metric links die in Week 6.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14</a:t>
            </a:fld>
            <a:endParaRPr lang="en-US"/>
          </a:p>
        </p:txBody>
      </p:sp>
    </p:spTree>
  </p:cSld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feature with no metric link cannot be defended in Week 6 stakeholder negotiation. Plant the discipline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15</a:t>
            </a:fld>
            <a:endParaRPr lang="en-US"/>
          </a:p>
        </p:txBody>
      </p:sp>
    </p:spTree>
  </p:cSld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validation row is the bridge to Week 7 (Agile delivery). Plant it now.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16</a:t>
            </a:fld>
            <a:endParaRPr lang="en-US"/>
          </a:p>
        </p:txBody>
      </p:sp>
    </p:spTree>
  </p:cSld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triad’s 3 features all hit the same stage, ask whether that stage really is 80% of the friction. Force a defense.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17</a:t>
            </a:fld>
            <a:endParaRPr lang="en-US"/>
          </a:p>
        </p:txBody>
      </p:sp>
    </p:spTree>
  </p:cSld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The integrated readout. The 12-minute clock is enforced; coherence is the most-weighted criterion in scoring.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18</a:t>
            </a:fld>
            <a:endParaRPr lang="en-US"/>
          </a:p>
        </p:txBody>
      </p:sp>
    </p:spTree>
  </p:cSld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 is enforced. The clock matters. Triads who blow their time get docked on coherence.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19</a:t>
            </a:fld>
            <a:endParaRPr lang="en-US"/>
          </a:p>
        </p:txBody>
      </p:sp>
    </p:spTree>
  </p:cSld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Peers score on a paper sheet, anonymous, averaged. Instructor adds a separate score.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20</a:t>
            </a:fld>
            <a:endParaRPr lang="en-US"/>
          </a:p>
        </p:txBody>
      </p:sp>
    </p:spTree>
  </p:cSld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If a triad is way under-rehearsed, give them an extra 10 minutes by trimming the predict step. Rehearsal is the most-skipped step and the most predictive of readout quality.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21</a:t>
            </a:fld>
            <a:endParaRPr lang="en-US"/>
          </a:p>
        </p:txBody>
      </p:sp>
    </p:spTree>
  </p:cSld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Round-robin close: each triad names the </a:t>
            </a:r>
            <a:r>
              <a:rPr i="1"/>
              <a:t>one</a:t>
            </a:r>
            <a:r>
              <a:rPr/>
              <a:t> feature concept they’d take into a Week-3 PRD if they could only pick one.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22</a:t>
            </a:fld>
            <a:endParaRPr lang="en-US"/>
          </a:p>
        </p:txBody>
      </p:sp>
    </p:spTree>
  </p:cSld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Closing reflection for the week. The disagreement between the journey and the existing product is the seed of the Week-3 PRD.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8BDFEC3-8487-43E8-A154-7C12CBC1FFF2}" type="slidenum">
              <a:rPr lang="en-US"/>
              <a:t>23</a:t>
            </a:fld>
            <a:endParaRPr lang="en-US"/>
          </a:p>
        </p:txBody>
      </p:sp>
    </p:spTree>
  </p:cSld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3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3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4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5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6.xm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7.xml" /></Relationships>
</file>

<file path=ppt/slides/_rels/slide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8.xml" /></Relationships>
</file>

<file path=ppt/slides/_rels/slide1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9.xml" /></Relationships>
</file>

<file path=ppt/slides/_rels/slide1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0.xml" /></Relationships>
</file>

<file path=ppt/slides/_rels/slide1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1.xml" /></Relationships>
</file>

<file path=ppt/slides/_rels/slide1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2.xml" /></Relationships>
</file>

<file path=ppt/slides/_rels/slide1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3.xml" /></Relationships>
</file>

<file path=ppt/slides/_rels/slide1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4.xml" /></Relationships>
</file>

<file path=ppt/slides/_rels/slide1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5.xml" /></Relationships>
</file>

<file path=ppt/slides/_rels/slide1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6.xml" /></Relationships>
</file>

<file path=ppt/slides/_rels/slide1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7.xml" /></Relationships>
</file>

<file path=ppt/slides/_rels/slide19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8.xml" /></Relationships>
</file>

<file path=ppt/slides/_rels/slide20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19.xml" /></Relationships>
</file>

<file path=ppt/slides/_rels/slide2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0.xml" /></Relationships>
</file>

<file path=ppt/slides/_rels/slide2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1.xml" /></Relationships>
</file>

<file path=ppt/slides/_rels/slide2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notesSlide" Target="../notesSlides/notesSlide2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/>
          <a:lstStyle/>
          <a:p>
            <a:pPr lvl="0" indent="0" marL="0">
              <a:buNone/>
            </a:pPr>
            <a:r>
              <a:rPr/>
              <a:t>🗽️ Mapping Customer Journeys to Features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Week 2 • Day 5 • Strategic Design &amp; Metrics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TPM Academy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Day 5 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Build a customer journey map that is grounded in observed evidence, not aspirational fiction</a:t>
            </a:r>
          </a:p>
          <a:p>
            <a:pPr lvl="0" indent="0" marL="0">
              <a:buNone/>
            </a:pPr>
            <a:r>
              <a:rPr/>
              <a:t>Surface non-product touchpoints (paper, phone, other systems) — the parts most journey maps miss</a:t>
            </a:r>
          </a:p>
          <a:p>
            <a:pPr lvl="0" indent="0" marL="0">
              <a:buNone/>
            </a:pPr>
            <a:r>
              <a:rPr/>
              <a:t>Convert friction stars into 3 feature concepts that link friction → metric → principle</a:t>
            </a:r>
          </a:p>
          <a:p>
            <a:pPr lvl="0" indent="0" marL="0">
              <a:buNone/>
            </a:pPr>
            <a:r>
              <a:rPr/>
              <a:t>Defend each feature concept with trade-offs and validation criteria — not just upside</a:t>
            </a:r>
          </a:p>
          <a:p>
            <a:pPr lvl="0" indent="0" marL="0">
              <a:buNone/>
            </a:pPr>
            <a:r>
              <a:rPr/>
              <a:t>Deliver a 12-minute Week-2 readout that ties the whole week into one strategy package</a:t>
            </a:r>
          </a:p>
        </p:txBody>
      </p:sp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🕑 Today’s Shape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Clock</a:t>
            </a:r>
          </a:p>
          <a:p>
            <a:pPr lvl="0" indent="0" marL="0">
              <a:buNone/>
            </a:pPr>
            <a:r>
              <a:rPr/>
              <a:t>Block</a:t>
            </a:r>
          </a:p>
          <a:p>
            <a:pPr lvl="0" indent="0" marL="0">
              <a:buNone/>
            </a:pPr>
            <a:r>
              <a:rPr/>
              <a:t>Outcome</a:t>
            </a:r>
          </a:p>
          <a:p>
            <a:pPr lvl="0" indent="0" marL="0">
              <a:buNone/>
            </a:pPr>
            <a:r>
              <a:rPr/>
              <a:t>09:00 – 09:15</a:t>
            </a:r>
          </a:p>
          <a:p>
            <a:pPr lvl="0" indent="0" marL="0">
              <a:buNone/>
            </a:pPr>
            <a:r>
              <a:rPr/>
              <a:t>Opening</a:t>
            </a:r>
          </a:p>
          <a:p>
            <a:pPr lvl="0" indent="0" marL="0">
              <a:buNone/>
            </a:pPr>
            <a:r>
              <a:rPr/>
              <a:t>Pin all Week-2 artifacts on the wall</a:t>
            </a:r>
          </a:p>
          <a:p>
            <a:pPr lvl="0" indent="0" marL="0">
              <a:buNone/>
            </a:pPr>
            <a:r>
              <a:rPr/>
              <a:t>09:15 – 10:30</a:t>
            </a:r>
          </a:p>
          <a:p>
            <a:pPr lvl="0" indent="0" marL="0">
              <a:buNone/>
            </a:pPr>
            <a:r>
              <a:rPr/>
              <a:t>Block 1 + Activity 1</a:t>
            </a:r>
          </a:p>
          <a:p>
            <a:pPr lvl="0" indent="0" marL="0">
              <a:buNone/>
            </a:pPr>
            <a:r>
              <a:rPr/>
              <a:t>Anchor the journey</a:t>
            </a:r>
          </a:p>
          <a:p>
            <a:pPr lvl="0" indent="0" marL="0">
              <a:buNone/>
            </a:pPr>
            <a:r>
              <a:rPr/>
              <a:t>10:45 – 12:00</a:t>
            </a:r>
          </a:p>
          <a:p>
            <a:pPr lvl="0" indent="0" marL="0">
              <a:buNone/>
            </a:pPr>
            <a:r>
              <a:rPr/>
              <a:t>Block 2 + Activity 2</a:t>
            </a:r>
          </a:p>
          <a:p>
            <a:pPr lvl="0" indent="0" marL="0">
              <a:buNone/>
            </a:pPr>
            <a:r>
              <a:rPr/>
              <a:t>Fill the lanes</a:t>
            </a:r>
          </a:p>
          <a:p>
            <a:pPr lvl="0" indent="0" marL="0">
              <a:buNone/>
            </a:pPr>
            <a:r>
              <a:rPr/>
              <a:t>13:00 – 14:15</a:t>
            </a:r>
          </a:p>
          <a:p>
            <a:pPr lvl="0" indent="0" marL="0">
              <a:buNone/>
            </a:pPr>
            <a:r>
              <a:rPr/>
              <a:t>Block 3 + Activity 3</a:t>
            </a:r>
          </a:p>
          <a:p>
            <a:pPr lvl="0" indent="0" marL="0">
              <a:buNone/>
            </a:pPr>
            <a:r>
              <a:rPr/>
              <a:t>From friction to features</a:t>
            </a:r>
          </a:p>
          <a:p>
            <a:pPr lvl="0" indent="0" marL="0">
              <a:buNone/>
            </a:pPr>
            <a:r>
              <a:rPr/>
              <a:t>14:30 – 16:00</a:t>
            </a:r>
          </a:p>
          <a:p>
            <a:pPr lvl="0" indent="0" marL="0">
              <a:buNone/>
            </a:pPr>
            <a:r>
              <a:rPr/>
              <a:t>Block 4 + Readouts</a:t>
            </a:r>
          </a:p>
          <a:p>
            <a:pPr lvl="0" indent="0" marL="0">
              <a:buNone/>
            </a:pPr>
            <a:r>
              <a:rPr/>
              <a:t>12-min Week-2 readouts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1 — What a Journey Map Is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Anchor in evidence before debating fixes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✅❌ Is / Is Not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Is</a:t>
            </a:r>
          </a:p>
          <a:p>
            <a:pPr lvl="0" indent="0" marL="0">
              <a:buNone/>
            </a:pPr>
            <a:r>
              <a:rPr/>
              <a:t>Is not</a:t>
            </a:r>
          </a:p>
          <a:p>
            <a:pPr lvl="0" indent="0" marL="0">
              <a:buNone/>
            </a:pPr>
            <a:r>
              <a:rPr/>
              <a:t>Timeline of user actions, thoughts, emotions</a:t>
            </a:r>
          </a:p>
          <a:p>
            <a:pPr lvl="0" indent="0" marL="0">
              <a:buNone/>
            </a:pPr>
            <a:r>
              <a:rPr/>
              <a:t>Flowchart of your product’s screens</a:t>
            </a:r>
          </a:p>
          <a:p>
            <a:pPr lvl="0" indent="0" marL="0">
              <a:buNone/>
            </a:pPr>
            <a:r>
              <a:rPr/>
              <a:t>Grounded in observed + reported behavior</a:t>
            </a:r>
          </a:p>
          <a:p>
            <a:pPr lvl="0" indent="0" marL="0">
              <a:buNone/>
            </a:pPr>
            <a:r>
              <a:rPr/>
              <a:t>How you wish people used your product</a:t>
            </a:r>
          </a:p>
          <a:p>
            <a:pPr lvl="0" indent="0" marL="0">
              <a:buNone/>
            </a:pPr>
            <a:r>
              <a:rPr/>
              <a:t>Specific to one persona, one job</a:t>
            </a:r>
          </a:p>
          <a:p>
            <a:pPr lvl="0" indent="0" marL="0">
              <a:buNone/>
            </a:pPr>
            <a:r>
              <a:rPr/>
              <a:t>“General user” map</a:t>
            </a:r>
          </a:p>
          <a:p>
            <a:pPr lvl="0" indent="0" marL="0">
              <a:buNone/>
            </a:pPr>
            <a:r>
              <a:rPr/>
              <a:t>A tool to find friction and leverage</a:t>
            </a:r>
          </a:p>
          <a:p>
            <a:pPr lvl="0" indent="0" marL="0">
              <a:buNone/>
            </a:pPr>
            <a:r>
              <a:rPr/>
              <a:t>An end-state living in a wiki</a:t>
            </a:r>
          </a:p>
          <a:p>
            <a:pPr lvl="0" indent="0" marL="0">
              <a:buNone/>
            </a:pPr>
            <a:r>
              <a:rPr/>
              <a:t>The TPM job: not the prettiest map. Find where friction is highest, then connect those points to features that move metrics.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📋 The Five Swim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1. Stage — Phases of the journey (5–8 stages)</a:t>
            </a:r>
          </a:p>
          <a:p>
            <a:pPr lvl="0" indent="0" marL="0">
              <a:buNone/>
            </a:pPr>
            <a:r>
              <a:rPr/>
              <a:t>2. Actions — Concrete verbs the user is doing</a:t>
            </a:r>
          </a:p>
          <a:p>
            <a:pPr lvl="0" indent="0" marL="0">
              <a:buNone/>
            </a:pPr>
            <a:r>
              <a:rPr/>
              <a:t>3. Thoughts — Quotes from interviews where possible</a:t>
            </a:r>
          </a:p>
          <a:p>
            <a:pPr lvl="0" indent="0" marL="0">
              <a:buNone/>
            </a:pPr>
            <a:r>
              <a:rPr/>
              <a:t>4. Emotions — 4-point curve, plotted</a:t>
            </a:r>
          </a:p>
          <a:p>
            <a:pPr lvl="0" indent="0" marL="0">
              <a:buNone/>
            </a:pPr>
            <a:r>
              <a:rPr/>
              <a:t>5. Touchpoints — Every system &amp; person; star the friction</a:t>
            </a:r>
          </a:p>
          <a:p>
            <a:pPr lvl="0" indent="0" marL="0">
              <a:buNone/>
            </a:pPr>
            <a:r>
              <a:rPr/>
              <a:t>Watch: the emotions curve must not be flat. A flat curve means the triad is sanitizing.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🎯 Pick One Persona, Pick One Scope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Pre-shift → end-of-shift</a:t>
            </a:r>
          </a:p>
          <a:p>
            <a:pPr lvl="0" indent="0" marL="0">
              <a:buNone/>
            </a:pPr>
            <a:r>
              <a:rPr/>
              <a:t>A single workday. Best for journeys where time-of-day matters.</a:t>
            </a:r>
          </a:p>
          <a:p>
            <a:pPr lvl="0" indent="0" marL="0">
              <a:buNone/>
            </a:pPr>
            <a:r>
              <a:rPr/>
              <a:t>First-30-days</a:t>
            </a:r>
          </a:p>
          <a:p>
            <a:pPr lvl="0" indent="0" marL="0">
              <a:buNone/>
            </a:pPr>
            <a:r>
              <a:rPr/>
              <a:t>Onboarding-heavy. Best for surfacing time-to-first-value friction.</a:t>
            </a:r>
          </a:p>
          <a:p>
            <a:pPr lvl="0" indent="0" marL="0">
              <a:buNone/>
            </a:pPr>
            <a:r>
              <a:rPr/>
              <a:t>Mid-shift exception</a:t>
            </a:r>
          </a:p>
          <a:p>
            <a:pPr lvl="0" indent="0" marL="0">
              <a:buNone/>
            </a:pPr>
            <a:r>
              <a:rPr/>
              <a:t>“Tech calls out sick.” The canonical disruption. High-fidelity friction.</a:t>
            </a:r>
          </a:p>
          <a:p>
            <a:pPr lvl="0" indent="0" marL="0">
              <a:buNone/>
            </a:pPr>
            <a:r>
              <a:rPr/>
              <a:t>One persona, one scope. Not “all users, all situations.” That’s the difference between strategy and a wishlist.</a:t>
            </a:r>
          </a:p>
        </p:txBody>
      </p:sp>
    </p:spTree>
  </p:cSld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1 — Anchor the Journey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35 minutes</a:t>
            </a:r>
          </a:p>
          <a:p>
            <a:pPr lvl="0" indent="0" marL="0">
              <a:buNone/>
            </a:pPr>
            <a:r>
              <a:rPr/>
              <a:t>Pick one persona, one scope. Stage the journey (5–8 stages). Sanity-check against Week-1 evidence.</a:t>
            </a:r>
          </a:p>
          <a:p>
            <a:pPr lvl="0" indent="0" marL="0">
              <a:buNone/>
            </a:pPr>
            <a:r>
              <a:rPr/>
              <a:t>5 min: confirm persona</a:t>
            </a:r>
          </a:p>
          <a:p>
            <a:pPr lvl="0" indent="0" marL="0">
              <a:buNone/>
            </a:pPr>
            <a:r>
              <a:rPr/>
              <a:t>10 min: pick scope</a:t>
            </a:r>
          </a:p>
          <a:p>
            <a:pPr lvl="0" indent="0" marL="0">
              <a:buNone/>
            </a:pPr>
            <a:r>
              <a:rPr/>
              <a:t>15 min: stage the journey on the canvas</a:t>
            </a:r>
          </a:p>
          <a:p>
            <a:pPr lvl="0" indent="0" marL="0">
              <a:buNone/>
            </a:pPr>
            <a:r>
              <a:rPr/>
              <a:t>5 min: tag any inferred stage</a:t>
            </a:r>
          </a:p>
          <a:p>
            <a:pPr lvl="0" indent="0" marL="0">
              <a:buNone/>
            </a:pPr>
            <a:r>
              <a:rPr/>
              <a:t>⏱ 5 persona · 10 scope · 15 stage · 5 evidence-check</a:t>
            </a:r>
          </a:p>
        </p:txBody>
      </p:sp>
    </p:spTree>
  </p:cSld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2 — Fill the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Thoughts, emotions, touchpoints, friction stars</a:t>
            </a:r>
          </a:p>
        </p:txBody>
      </p:sp>
    </p:spTree>
  </p:cSld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🌐 Non-Product Touchpoints (the part most maps miss)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For every stage, list every system or person the user interacts with — including paper, phone, other software, manager, customer.</a:t>
            </a:r>
          </a:p>
          <a:p>
            <a:pPr lvl="0" indent="0" marL="0">
              <a:buNone/>
            </a:pPr>
            <a:r>
              <a:rPr/>
              <a:t>❌ Incomplete map</a:t>
            </a:r>
          </a:p>
          <a:p>
            <a:pPr lvl="0" indent="0" marL="0">
              <a:buNone/>
            </a:pPr>
            <a:r>
              <a:rPr/>
              <a:t>Stage: “Reconcile”</a:t>
            </a:r>
          </a:p>
          <a:p>
            <a:pPr lvl="0" indent="0" marL="0">
              <a:buNone/>
            </a:pPr>
            <a:r>
              <a:rPr/>
              <a:t>Touchpoint: “FieldPulse mobile”</a:t>
            </a:r>
          </a:p>
          <a:p>
            <a:pPr lvl="0" indent="0" marL="0">
              <a:buNone/>
            </a:pPr>
            <a:r>
              <a:rPr/>
              <a:t>Misses the actual journey.</a:t>
            </a:r>
          </a:p>
          <a:p>
            <a:pPr lvl="0" indent="0" marL="0">
              <a:buNone/>
            </a:pPr>
            <a:r>
              <a:rPr/>
              <a:t>✅ Honest map</a:t>
            </a:r>
          </a:p>
          <a:p>
            <a:pPr lvl="0" indent="0" marL="0">
              <a:buNone/>
            </a:pPr>
            <a:r>
              <a:rPr/>
              <a:t>Stage: “Reconcile”</a:t>
            </a:r>
          </a:p>
          <a:p>
            <a:pPr lvl="0" indent="0" marL="0">
              <a:buNone/>
            </a:pPr>
            <a:r>
              <a:rPr/>
              <a:t>Touchpoints: FieldPulse mobile, paper ticket book, tech’s phone, owner’s spreadsheet, the printer that jammed</a:t>
            </a:r>
          </a:p>
          <a:p>
            <a:pPr lvl="0" indent="0" marL="0">
              <a:buNone/>
            </a:pPr>
            <a:r>
              <a:rPr/>
              <a:t>Surfaces the integration story.</a:t>
            </a:r>
          </a:p>
          <a:p>
            <a:pPr lvl="0" indent="0" marL="0">
              <a:buNone/>
            </a:pPr>
            <a:r>
              <a:rPr/>
              <a:t>Bridge to Week 4: non-product touchpoints become the input to system-component mapping in Week 4.</a:t>
            </a:r>
          </a:p>
        </p:txBody>
      </p:sp>
    </p:spTree>
  </p:cSld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⭐ The Friction Star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Place a star on every stage where the user is fighting the journey. Friction stars should cluster. If everything is friction, nothing is.</a:t>
            </a:r>
          </a:p>
          <a:p>
            <a:pPr lvl="0" indent="0" marL="0">
              <a:buNone/>
            </a:pPr>
            <a:r>
              <a:rPr/>
              <a:t>2–3 stages with stars → healthy map</a:t>
            </a:r>
          </a:p>
          <a:p>
            <a:pPr lvl="0" indent="0" marL="0">
              <a:buNone/>
            </a:pPr>
            <a:r>
              <a:rPr/>
              <a:t>5+ stages with stars → you’re not discriminating; re-rank by severity</a:t>
            </a:r>
          </a:p>
          <a:p>
            <a:pPr lvl="0" indent="0" marL="0">
              <a:buNone/>
            </a:pPr>
            <a:r>
              <a:rPr/>
              <a:t>0 stages with stars → you sanitized the journey; re-listen to interviews</a:t>
            </a:r>
          </a:p>
        </p:txBody>
      </p:sp>
    </p:spTree>
  </p:cSld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2 — Fill the Lanes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Populate Thoughts, Emotions, Touchpoints. Star the friction. Walk-through review by one member.</a:t>
            </a:r>
          </a:p>
          <a:p>
            <a:pPr lvl="0" indent="0" marL="0">
              <a:buNone/>
            </a:pPr>
            <a:r>
              <a:rPr/>
              <a:t>10 min: thoughts (use real interview quotes when possible)</a:t>
            </a:r>
          </a:p>
          <a:p>
            <a:pPr lvl="0" indent="0" marL="0">
              <a:buNone/>
            </a:pPr>
            <a:r>
              <a:rPr/>
              <a:t>10 min: emotions curve (must vary)</a:t>
            </a:r>
          </a:p>
          <a:p>
            <a:pPr lvl="0" indent="0" marL="0">
              <a:buNone/>
            </a:pPr>
            <a:r>
              <a:rPr/>
              <a:t>15 min: touchpoints (include non-product)</a:t>
            </a:r>
          </a:p>
          <a:p>
            <a:pPr lvl="0" indent="0" marL="0">
              <a:buNone/>
            </a:pPr>
            <a:r>
              <a:rPr/>
              <a:t>5 min: walk-through narration</a:t>
            </a:r>
          </a:p>
          <a:p>
            <a:pPr lvl="0" indent="0" marL="0">
              <a:buNone/>
            </a:pPr>
            <a:r>
              <a:rPr/>
              <a:t>⏱ 10 thoughts · 10 emo · 15 touch · 5 walk</a:t>
            </a:r>
          </a:p>
        </p:txBody>
      </p:sp>
    </p:spTree>
  </p:cSld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3 — From Friction to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Three feature concepts that pass the strategy test</a:t>
            </a:r>
          </a:p>
        </p:txBody>
      </p:sp>
    </p:spTree>
  </p:cSld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✅ The Three-Test Bar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A feature concept earns a place if it passes all three:</a:t>
            </a:r>
          </a:p>
          <a:p>
            <a:pPr lvl="0" indent="0" marL="0">
              <a:buNone/>
            </a:pPr>
            <a:r>
              <a:rPr/>
              <a:t>Test</a:t>
            </a:r>
          </a:p>
          <a:p>
            <a:pPr lvl="0" indent="0" marL="0">
              <a:buNone/>
            </a:pPr>
            <a:r>
              <a:rPr/>
              <a:t>Question</a:t>
            </a:r>
          </a:p>
          <a:p>
            <a:pPr lvl="0" indent="0" marL="0">
              <a:buNone/>
            </a:pPr>
            <a:r>
              <a:rPr/>
              <a:t>Friction link</a:t>
            </a:r>
          </a:p>
          <a:p>
            <a:pPr lvl="0" indent="0" marL="0">
              <a:buNone/>
            </a:pPr>
            <a:r>
              <a:rPr/>
              <a:t>Which specific stage and friction does it reduce?</a:t>
            </a:r>
          </a:p>
          <a:p>
            <a:pPr lvl="0" indent="0" marL="0">
              <a:buNone/>
            </a:pPr>
            <a:r>
              <a:rPr/>
              <a:t>Metric link</a:t>
            </a:r>
          </a:p>
          <a:p>
            <a:pPr lvl="0" indent="0" marL="0">
              <a:buNone/>
            </a:pPr>
            <a:r>
              <a:rPr/>
              <a:t>Which operational signal or KPI from your Tier Sheet does it move?</a:t>
            </a:r>
          </a:p>
          <a:p>
            <a:pPr lvl="0" indent="0" marL="0">
              <a:buNone/>
            </a:pPr>
            <a:r>
              <a:rPr/>
              <a:t>Principle link</a:t>
            </a:r>
          </a:p>
          <a:p>
            <a:pPr lvl="0" indent="0" marL="0">
              <a:buNone/>
            </a:pPr>
            <a:r>
              <a:rPr/>
              <a:t>Which of your 3 design principles does it align with (or which does it deliberately trade off against)?</a:t>
            </a:r>
          </a:p>
          <a:p>
            <a:pPr lvl="0" indent="0" marL="0">
              <a:buNone/>
            </a:pPr>
            <a:r>
              <a:rPr/>
              <a:t>The recurring failure: features without metric links. Force the link or kill the feature.</a:t>
            </a:r>
          </a:p>
        </p:txBody>
      </p:sp>
    </p:spTree>
  </p:cSld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📄 The Feature Card Template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Trade-off / risk is non-negotiable. “No downside” is a failed answer. Every choice forecloses another.</a:t>
            </a:r>
          </a:p>
        </p:txBody>
      </p:sp>
    </p:spTree>
  </p:cSld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3 — From Friction to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40 minutes</a:t>
            </a:r>
          </a:p>
          <a:p>
            <a:pPr lvl="0" indent="0" marL="0">
              <a:buNone/>
            </a:pPr>
            <a:r>
              <a:rPr/>
              <a:t>Brainstorm 8 candidates. Apply the three-test bar. Cull to 3 with full feature cards.</a:t>
            </a:r>
          </a:p>
          <a:p>
            <a:pPr lvl="0" indent="0" marL="0">
              <a:buNone/>
            </a:pPr>
            <a:r>
              <a:rPr/>
              <a:t>15 min: brainstorm (volume first)</a:t>
            </a:r>
          </a:p>
          <a:p>
            <a:pPr lvl="0" indent="0" marL="0">
              <a:buNone/>
            </a:pPr>
            <a:r>
              <a:rPr/>
              <a:t>15 min: three-test scoring</a:t>
            </a:r>
          </a:p>
          <a:p>
            <a:pPr lvl="0" indent="0" marL="0">
              <a:buNone/>
            </a:pPr>
            <a:r>
              <a:rPr/>
              <a:t>10 min: cull to 3 + complete cards</a:t>
            </a:r>
          </a:p>
          <a:p>
            <a:pPr lvl="0" indent="0" marL="0">
              <a:buNone/>
            </a:pPr>
            <a:r>
              <a:rPr/>
              <a:t>⏱ 15 brainstorm · 15 score · 10 cull</a:t>
            </a:r>
          </a:p>
        </p:txBody>
      </p:sp>
    </p:spTree>
  </p:cSld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Block 4 — Friday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The full Week-2 strategy package, 12 minutes</a:t>
            </a:r>
          </a:p>
        </p:txBody>
      </p:sp>
    </p:spTree>
  </p:cSld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🎤 The 12-Minute Package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Time</a:t>
            </a:r>
          </a:p>
          <a:p>
            <a:pPr lvl="0" indent="0" marL="0">
              <a:buNone/>
            </a:pPr>
            <a:r>
              <a:rPr/>
              <a:t>Section</a:t>
            </a:r>
          </a:p>
          <a:p>
            <a:pPr lvl="0" indent="0" marL="0">
              <a:buNone/>
            </a:pPr>
            <a:r>
              <a:rPr/>
              <a:t>What you cover</a:t>
            </a:r>
          </a:p>
          <a:p>
            <a:pPr lvl="0" indent="0" marL="0">
              <a:buNone/>
            </a:pPr>
            <a:r>
              <a:rPr/>
              <a:t>1 min</a:t>
            </a:r>
          </a:p>
          <a:p>
            <a:pPr lvl="0" indent="0" marL="0">
              <a:buNone/>
            </a:pPr>
            <a:r>
              <a:rPr/>
              <a:t>NS + counter-metric</a:t>
            </a:r>
          </a:p>
          <a:p>
            <a:pPr lvl="0" indent="0" marL="0">
              <a:buNone/>
            </a:pPr>
            <a:r>
              <a:rPr/>
              <a:t>Statement, segment, number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Tier Sheet causal chain</a:t>
            </a:r>
          </a:p>
          <a:p>
            <a:pPr lvl="0" indent="0" marL="0">
              <a:buNone/>
            </a:pPr>
            <a:r>
              <a:rPr/>
              <a:t>Three sentences, op-signal → KPI → NS</a:t>
            </a:r>
          </a:p>
          <a:p>
            <a:pPr lvl="0" indent="0" marL="0">
              <a:buNone/>
            </a:pPr>
            <a:r>
              <a:rPr/>
              <a:t>2 min</a:t>
            </a:r>
          </a:p>
          <a:p>
            <a:pPr lvl="0" indent="0" marL="0">
              <a:buNone/>
            </a:pPr>
            <a:r>
              <a:rPr/>
              <a:t>One design principle in detail</a:t>
            </a:r>
          </a:p>
          <a:p>
            <a:pPr lvl="0" indent="0" marL="0">
              <a:buNone/>
            </a:pPr>
            <a:r>
              <a:rPr/>
              <a:t>The one with most expected pushback</a:t>
            </a:r>
          </a:p>
          <a:p>
            <a:pPr lvl="0" indent="0" marL="0">
              <a:buNone/>
            </a:pPr>
            <a:r>
              <a:rPr/>
              <a:t>4 min</a:t>
            </a:r>
          </a:p>
          <a:p>
            <a:pPr lvl="0" indent="0" marL="0">
              <a:buNone/>
            </a:pPr>
            <a:r>
              <a:rPr/>
              <a:t>Journey map walk-through</a:t>
            </a:r>
          </a:p>
          <a:p>
            <a:pPr lvl="0" indent="0" marL="0">
              <a:buNone/>
            </a:pPr>
            <a:r>
              <a:rPr/>
              <a:t>Persona, scope, friction stars</a:t>
            </a:r>
          </a:p>
          <a:p>
            <a:pPr lvl="0" indent="0" marL="0">
              <a:buNone/>
            </a:pPr>
            <a:r>
              <a:rPr/>
              <a:t>3 min</a:t>
            </a:r>
          </a:p>
          <a:p>
            <a:pPr lvl="0" indent="0" marL="0">
              <a:buNone/>
            </a:pPr>
            <a:r>
              <a:rPr/>
              <a:t>3 feature concepts</a:t>
            </a:r>
          </a:p>
          <a:p>
            <a:pPr lvl="0" indent="0" marL="0">
              <a:buNone/>
            </a:pPr>
            <a:r>
              <a:rPr/>
              <a:t>Each: stage / friction / metric / principle</a:t>
            </a:r>
          </a:p>
          <a:p>
            <a:pPr lvl="0" indent="0" marL="0">
              <a:buNone/>
            </a:pPr>
            <a:r>
              <a:rPr/>
              <a:t>All three voices speak. No single triad-spokesperson. Engineering judges lecturers harshly.</a:t>
            </a:r>
          </a:p>
        </p:txBody>
      </p:sp>
    </p:spTree>
  </p:cSld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📊 Scoring Rubric (Live)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Dimension</a:t>
            </a:r>
          </a:p>
          <a:p>
            <a:pPr lvl="0" indent="0" marL="0">
              <a:buNone/>
            </a:pPr>
            <a:r>
              <a:rPr/>
              <a:t>Weight</a:t>
            </a:r>
          </a:p>
          <a:p>
            <a:pPr lvl="0" indent="0" marL="0">
              <a:buNone/>
            </a:pPr>
            <a:r>
              <a:rPr/>
              <a:t>Exemplary</a:t>
            </a:r>
          </a:p>
          <a:p>
            <a:pPr lvl="0" indent="0" marL="0">
              <a:buNone/>
            </a:pPr>
            <a:r>
              <a:rPr/>
              <a:t>Metric coherence</a:t>
            </a:r>
          </a:p>
          <a:p>
            <a:pPr lvl="0" indent="0" marL="0">
              <a:buNone/>
            </a:pPr>
            <a:r>
              <a:rPr/>
              <a:t>25%</a:t>
            </a:r>
          </a:p>
          <a:p>
            <a:pPr lvl="0" indent="0" marL="0">
              <a:buNone/>
            </a:pPr>
            <a:r>
              <a:rPr/>
              <a:t>Believable causal chain through Tier Sheet</a:t>
            </a:r>
          </a:p>
          <a:p>
            <a:pPr lvl="0" indent="0" marL="0">
              <a:buNone/>
            </a:pPr>
            <a:r>
              <a:rPr/>
              <a:t>NS defense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Three pitfall rebuttals named &amp; defended</a:t>
            </a:r>
          </a:p>
          <a:p>
            <a:pPr lvl="0" indent="0" marL="0">
              <a:buNone/>
            </a:pPr>
            <a:r>
              <a:rPr/>
              <a:t>Journey realism</a:t>
            </a:r>
          </a:p>
          <a:p>
            <a:pPr lvl="0" indent="0" marL="0">
              <a:buNone/>
            </a:pPr>
            <a:r>
              <a:rPr/>
              <a:t>20%</a:t>
            </a:r>
          </a:p>
          <a:p>
            <a:pPr lvl="0" indent="0" marL="0">
              <a:buNone/>
            </a:pPr>
            <a:r>
              <a:rPr/>
              <a:t>References Week-1 evidence; non-product touchpoints present</a:t>
            </a:r>
          </a:p>
          <a:p>
            <a:pPr lvl="0" indent="0" marL="0">
              <a:buNone/>
            </a:pPr>
            <a:r>
              <a:rPr/>
              <a:t>Feature linkage</a:t>
            </a:r>
          </a:p>
          <a:p>
            <a:pPr lvl="0" indent="0" marL="0">
              <a:buNone/>
            </a:pPr>
            <a:r>
              <a:rPr/>
              <a:t>15%</a:t>
            </a:r>
          </a:p>
          <a:p>
            <a:pPr lvl="0" indent="0" marL="0">
              <a:buNone/>
            </a:pPr>
            <a:r>
              <a:rPr/>
              <a:t>Each feature ties to journey friction AND a metric</a:t>
            </a:r>
          </a:p>
          <a:p>
            <a:pPr lvl="0" indent="0" marL="0">
              <a:buNone/>
            </a:pPr>
            <a:r>
              <a:rPr/>
              <a:t>AI-use transparency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Provenance log surfaced when relevant</a:t>
            </a:r>
          </a:p>
          <a:p>
            <a:pPr lvl="0" indent="0" marL="0">
              <a:buNone/>
            </a:pPr>
            <a:r>
              <a:rPr/>
              <a:t>Design awareness</a:t>
            </a:r>
          </a:p>
          <a:p>
            <a:pPr lvl="0" indent="0" marL="0">
              <a:buNone/>
            </a:pPr>
            <a:r>
              <a:rPr/>
              <a:t>10%</a:t>
            </a:r>
          </a:p>
          <a:p>
            <a:pPr lvl="0" indent="0" marL="0">
              <a:buNone/>
            </a:pPr>
            <a:r>
              <a:rPr/>
              <a:t>Principle named with trade-off acknowledged</a:t>
            </a:r>
          </a:p>
        </p:txBody>
      </p:sp>
    </p:spTree>
  </p:cSld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👥 Activity 4 — Readouts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Triads • 12 min present + 3 min Q&amp;A each</a:t>
            </a:r>
          </a:p>
          <a:p>
            <a:pPr lvl="0" indent="0" marL="0">
              <a:buNone/>
            </a:pPr>
            <a:r>
              <a:rPr/>
              <a:t>Assemble the package. Rehearse with the clock. All three voices on stage.</a:t>
            </a:r>
          </a:p>
          <a:p>
            <a:pPr lvl="0" indent="0" marL="0">
              <a:buNone/>
            </a:pPr>
            <a:r>
              <a:rPr/>
              <a:t>15 min: assemble &amp; order artifacts</a:t>
            </a:r>
          </a:p>
          <a:p>
            <a:pPr lvl="0" indent="0" marL="0">
              <a:buNone/>
            </a:pPr>
            <a:r>
              <a:rPr/>
              <a:t>15 min: rehearse with timer</a:t>
            </a:r>
          </a:p>
          <a:p>
            <a:pPr lvl="0" indent="0" marL="0">
              <a:buNone/>
            </a:pPr>
            <a:r>
              <a:rPr/>
              <a:t>5 min: assign speakers</a:t>
            </a:r>
          </a:p>
          <a:p>
            <a:pPr lvl="0" indent="0" marL="0">
              <a:buNone/>
            </a:pPr>
            <a:r>
              <a:rPr/>
              <a:t>10 min: predict the toughest peer challenge</a:t>
            </a:r>
          </a:p>
          <a:p>
            <a:pPr lvl="0" indent="0" marL="0">
              <a:buNone/>
            </a:pPr>
            <a:r>
              <a:rPr/>
              <a:t>⏱ 15 assemble · 15 rehearse · 5 speakers · 10 predict</a:t>
            </a:r>
          </a:p>
        </p:txBody>
      </p:sp>
    </p:spTree>
  </p:cSld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🎉 Week 2 Wrap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What we built this week</a:t>
            </a:r>
          </a:p>
          <a:p>
            <a:pPr lvl="0" indent="0" marL="0">
              <a:buNone/>
            </a:pPr>
            <a:r>
              <a:rPr/>
              <a:t>Defensible North Star + counter-metric</a:t>
            </a:r>
          </a:p>
          <a:p>
            <a:pPr lvl="0" indent="0" marL="0">
              <a:buNone/>
            </a:pPr>
            <a:r>
              <a:rPr/>
              <a:t>Refreshed Metrics Tier Sheet</a:t>
            </a:r>
          </a:p>
          <a:p>
            <a:pPr lvl="0" indent="0" marL="0">
              <a:buNone/>
            </a:pPr>
            <a:r>
              <a:rPr/>
              <a:t>3 design principles per triad</a:t>
            </a:r>
          </a:p>
          <a:p>
            <a:pPr lvl="0" indent="0" marL="0">
              <a:buNone/>
            </a:pPr>
            <a:r>
              <a:rPr/>
              <a:t>AI-Assembled Strategy Brief with provenance</a:t>
            </a:r>
          </a:p>
          <a:p>
            <a:pPr lvl="0" indent="0" marL="0">
              <a:buNone/>
            </a:pPr>
            <a:r>
              <a:rPr/>
              <a:t>Customer journey map + 3 feature concepts</a:t>
            </a:r>
          </a:p>
          <a:p>
            <a:pPr lvl="0" indent="0" marL="0">
              <a:buNone/>
            </a:pPr>
            <a:r>
              <a:rPr/>
              <a:t>What opens Week 3</a:t>
            </a:r>
          </a:p>
          <a:p>
            <a:pPr lvl="0" indent="0" marL="0">
              <a:buNone/>
            </a:pPr>
            <a:r>
              <a:rPr/>
              <a:t>Requirements Engineering &amp; Mini-Capstone</a:t>
            </a:r>
          </a:p>
          <a:p>
            <a:pPr lvl="0" indent="0" marL="0">
              <a:buNone/>
            </a:pPr>
            <a:r>
              <a:rPr/>
              <a:t>Convert your top feature concept → full Technical PRD (non-AI)</a:t>
            </a:r>
          </a:p>
          <a:p>
            <a:pPr lvl="0" indent="0" marL="0">
              <a:buNone/>
            </a:pPr>
            <a:r>
              <a:rPr/>
              <a:t>Acceptance Criteria, NFRs, peer-review cycle</a:t>
            </a:r>
          </a:p>
          <a:p>
            <a:pPr lvl="0" indent="0" marL="0">
              <a:buNone/>
            </a:pPr>
            <a:r>
              <a:rPr/>
              <a:t>Mini-capstone delivers Friday Week 3</a:t>
            </a:r>
          </a:p>
          <a:p>
            <a:pPr lvl="0" indent="0" marL="0">
              <a:buNone/>
            </a:pPr>
            <a:r>
              <a:rPr/>
              <a:t>Bring to Monday: All six Week-2 artifacts in shareable form. The journey map and feature cards are direct PRD inputs.</a:t>
            </a:r>
          </a:p>
        </p:txBody>
      </p:sp>
    </p:spTree>
  </p:cSld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💬 Questions &amp; Reflection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Where does your map disagree with how your product was designed?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2026-05-15T23:21:30Z</dcterms:created>
  <dcterms:modified xsi:type="dcterms:W3CDTF">2026-05-15T23:21:30Z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