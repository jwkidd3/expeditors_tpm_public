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notesMaster" Target="notesMasters/notesMaster1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is the second AI-heavy day. Week 1 taught prompting; today we apply it at scale and learn to defend the output. Frame: AI is a fast junior analyst — supervise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provenance log is the trust-building artifact of the day. Every team that ships AI-augmented work needs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block escalates the stakes — warm-up, real research, competitive (highest fabrication risk), brief.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Scaling up from Week 1’s single-prompt work. Frame: the unit of work is now prompt + validation, not prompt alone.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participants will under-validate by default. The Provenance Log is the forcing function.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four failure modes appeared in the prior cohort’s first attempt. Surface them as inevitable, not as judgments of the 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the single most-reused prompt of Week 2. Quads should add it to their Pattern Library after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quad’s first attempt looks “fine,” ask them to verify three specific citations. Most will fail the verification.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Apply the warm-up technique to messy, contradictory real materials. The pack is intentionally noisy — sanitization would defeat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Slack export is the most tempting source — it’s high-volume and easy to summarize. It’s also the most biased source. Coach for that bias.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the moment most TPMs skip in real work. Today is the rehearsal of the discipline.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Surface in the room: “How many themes did your quad cut?” Normalize cutting. Quads who cut nothing didn’t actually verify.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single highest-cost mistake TPMs make with AI is fabricated competitive intelligence. This block draws the line clearly.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“unsafe” prompts will all return confident, plausible, fabricated answers. They are the single highest-cost mistake a TPM makes with 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Prompt 2 is the highest-leverage prompt of the day. It converts AI from a “knowledge generator” to a “research planner.”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the room. If any quad asks AI “what is the market size” — pause and use it as a teaching moment for the whole cohort.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provenance log is the trust artifact. Without it the brief is fiction, no matter how good the AI output looked.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quad submits an all-AI brief, push back hard. The hand-written sections are non-negotiable.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brief without a Provenance Log is fiction. The log is what allows the brief to be reviewed by a skeptical engineer or director.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Pin all briefs in the shared space. Tomorrow’s journey-mapping references them directly.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names one AI failure they caught today and one they think they probably missed.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Closing reflection. Hearing each quad name a specific over-confidence anchor calibrates the cohort for the rest of the academy’s AI 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🧠 AI for Strategy &amp; Research Summaries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2 • Day 4 • Strategic Design &amp;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4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AI to synthesize multi-source research with traceable evidence</a:t>
            </a:r>
          </a:p>
          <a:p>
            <a:pPr lvl="0" indent="0" marL="0">
              <a:buNone/>
            </a:pPr>
            <a:r>
              <a:rPr/>
              <a:t>Detect and correct the four summarization failure modes: theme inflation, citation invention, premature confidence, source bias</a:t>
            </a:r>
          </a:p>
          <a:p>
            <a:pPr lvl="0" indent="0" marL="0">
              <a:buNone/>
            </a:pPr>
            <a:r>
              <a:rPr/>
              <a:t>Stay on the safe side of the bright line: structure source material, never ask AI to invent market facts</a:t>
            </a:r>
          </a:p>
          <a:p>
            <a:pPr lvl="0" indent="0" marL="0">
              <a:buNone/>
            </a:pPr>
            <a:r>
              <a:rPr/>
              <a:t>Produce a provenance log that makes your AI use auditable</a:t>
            </a:r>
          </a:p>
          <a:p>
            <a:pPr lvl="0" indent="0" marL="0">
              <a:buNone/>
            </a:pPr>
            <a:r>
              <a:rPr/>
              <a:t>Assemble an AI-Assembled Strategy Brief for your quad’s problem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Re-ground in your Day-3 audit + design principles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Multi-source synthesis drill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The Research Pack pass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Competitive snapshot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Readouts</a:t>
            </a:r>
          </a:p>
          <a:p>
            <a:pPr lvl="0" indent="0" marL="0">
              <a:buNone/>
            </a:pPr>
            <a:r>
              <a:rPr/>
              <a:t>Brief assembly + provenance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Strategy-Scale Summarization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Beyond a single document, beyond a single prompt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What’s Different at Strategy Scale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1 prompting</a:t>
            </a:r>
          </a:p>
          <a:p>
            <a:pPr lvl="0" indent="0" marL="0">
              <a:buNone/>
            </a:pPr>
            <a:r>
              <a:rPr/>
              <a:t>Strategy-scale prompting</a:t>
            </a:r>
          </a:p>
          <a:p>
            <a:pPr lvl="0" indent="0" marL="0">
              <a:buNone/>
            </a:pPr>
            <a:r>
              <a:rPr/>
              <a:t>Single document or short brief</a:t>
            </a:r>
          </a:p>
          <a:p>
            <a:pPr lvl="0" indent="0" marL="0">
              <a:buNone/>
            </a:pPr>
            <a:r>
              <a:rPr/>
              <a:t>5–15 documents, often contradictory</a:t>
            </a:r>
          </a:p>
          <a:p>
            <a:pPr lvl="0" indent="0" marL="0">
              <a:buNone/>
            </a:pPr>
            <a:r>
              <a:rPr/>
              <a:t>One prompt, one output</a:t>
            </a:r>
          </a:p>
          <a:p>
            <a:pPr lvl="0" indent="0" marL="0">
              <a:buNone/>
            </a:pPr>
            <a:r>
              <a:rPr/>
              <a:t>Iterated prompts, validated output</a:t>
            </a:r>
          </a:p>
          <a:p>
            <a:pPr lvl="0" indent="0" marL="0">
              <a:buNone/>
            </a:pPr>
            <a:r>
              <a:rPr/>
              <a:t>“Summarize this”</a:t>
            </a:r>
          </a:p>
          <a:p>
            <a:pPr lvl="0" indent="0" marL="0">
              <a:buNone/>
            </a:pPr>
            <a:r>
              <a:rPr/>
              <a:t>“Synthesize across these, tag evidence”</a:t>
            </a:r>
          </a:p>
          <a:p>
            <a:pPr lvl="0" indent="0" marL="0">
              <a:buNone/>
            </a:pPr>
            <a:r>
              <a:rPr/>
              <a:t>You verify confidently in 5 minutes</a:t>
            </a:r>
          </a:p>
          <a:p>
            <a:pPr lvl="0" indent="0" marL="0">
              <a:buNone/>
            </a:pPr>
            <a:r>
              <a:rPr/>
              <a:t>You only catch fabrication if you’re looking</a:t>
            </a:r>
          </a:p>
          <a:p>
            <a:pPr lvl="0" indent="0" marL="0">
              <a:buNone/>
            </a:pPr>
            <a:r>
              <a:rPr/>
              <a:t>Mindset shift: at strategy scale, you are not consuming the AI’s output — you are auditing it. The unit of work is the prompt + the validation pass.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⚠️ Four Failure Modes (the ones that bite)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Failure</a:t>
            </a:r>
          </a:p>
          <a:p>
            <a:pPr lvl="0" indent="0" marL="0">
              <a:buNone/>
            </a:pPr>
            <a:r>
              <a:rPr/>
              <a:t>What it looks like</a:t>
            </a:r>
          </a:p>
          <a:p>
            <a:pPr lvl="0" indent="0" marL="0">
              <a:buNone/>
            </a:pPr>
            <a:r>
              <a:rPr/>
              <a:t>Fix</a:t>
            </a:r>
          </a:p>
          <a:p>
            <a:pPr lvl="0" indent="0" marL="0">
              <a:buNone/>
            </a:pPr>
            <a:r>
              <a:rPr/>
              <a:t>Theme inflation</a:t>
            </a:r>
          </a:p>
          <a:p>
            <a:pPr lvl="0" indent="0" marL="0">
              <a:buNone/>
            </a:pPr>
            <a:r>
              <a:rPr/>
              <a:t>3 distinct complaints lumped under “usability”</a:t>
            </a:r>
          </a:p>
          <a:p>
            <a:pPr lvl="0" indent="0" marL="0">
              <a:buNone/>
            </a:pPr>
            <a:r>
              <a:rPr/>
              <a:t>Demand verbs, not categories; cap themes at 5</a:t>
            </a:r>
          </a:p>
          <a:p>
            <a:pPr lvl="0" indent="0" marL="0">
              <a:buNone/>
            </a:pPr>
            <a:r>
              <a:rPr/>
              <a:t>Citation invention</a:t>
            </a:r>
          </a:p>
          <a:p>
            <a:pPr lvl="0" indent="0" marL="0">
              <a:buNone/>
            </a:pPr>
            <a:r>
              <a:rPr/>
              <a:t>“Ticket T-16” doesn’t exist (pack stops at T-14)</a:t>
            </a:r>
          </a:p>
          <a:p>
            <a:pPr lvl="0" indent="0" marL="0">
              <a:buNone/>
            </a:pPr>
            <a:r>
              <a:rPr/>
              <a:t>Verify every cited source exists; demote uncited claims</a:t>
            </a:r>
          </a:p>
          <a:p>
            <a:pPr lvl="0" indent="0" marL="0">
              <a:buNone/>
            </a:pPr>
            <a:r>
              <a:rPr/>
              <a:t>Premature confidence</a:t>
            </a:r>
          </a:p>
          <a:p>
            <a:pPr lvl="0" indent="0" marL="0">
              <a:buNone/>
            </a:pPr>
            <a:r>
              <a:rPr/>
              <a:t>Plausible synthesis with no acknowledgment of gaps</a:t>
            </a:r>
          </a:p>
          <a:p>
            <a:pPr lvl="0" indent="0" marL="0">
              <a:buNone/>
            </a:pPr>
            <a:r>
              <a:rPr/>
              <a:t>Force a “what’s missing” prompt as second turn</a:t>
            </a:r>
          </a:p>
          <a:p>
            <a:pPr lvl="0" indent="0" marL="0">
              <a:buNone/>
            </a:pPr>
            <a:r>
              <a:rPr/>
              <a:t>Source bias</a:t>
            </a:r>
          </a:p>
          <a:p>
            <a:pPr lvl="0" indent="0" marL="0">
              <a:buNone/>
            </a:pPr>
            <a:r>
              <a:rPr/>
              <a:t>The AI weights the loudest source highest, regardless of accuracy</a:t>
            </a:r>
          </a:p>
          <a:p>
            <a:pPr lvl="0" indent="0" marL="0">
              <a:buNone/>
            </a:pPr>
            <a:r>
              <a:rPr/>
              <a:t>Ask: “How would your synthesis change if I removed Source X?”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The Validated Synthesis Prompt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Role: Research analyst supporting a TPM.
Context: Below are [N] interview transcripts and [M] support tickets
from [user segment]. I am investigating [problem statement].
Task: Extract the top 5 recurring pain themes.
Constraints:
- Each theme must cite 2+ specific source identifiers (e.g., "Interview A3, Ticket T-04")
- Themes must be verbs, not categories
- Flag any theme you inferred without direct evidence
- At the bottom, list 3 questions the sources do NOT answer
Format: Markdown list; each entry: Theme / Evidence / Confidence (H/M/L) /
Inferred? (Y/N). End with "What's missing" section.
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Multi-source Synthesis Drill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45 minutes</a:t>
            </a:r>
          </a:p>
          <a:p>
            <a:pPr lvl="0" indent="0" marL="0">
              <a:buNone/>
            </a:pPr>
            <a:r>
              <a:rPr/>
              <a:t>Warm-up: a small healthcare-scheduling pack (different domain). Single-prompt attempt, then iterate after observing failure modes.</a:t>
            </a:r>
          </a:p>
          <a:p>
            <a:pPr lvl="0" indent="0" marL="0">
              <a:buNone/>
            </a:pPr>
            <a:r>
              <a:rPr/>
              <a:t>10 min: single-prompt attempt + run</a:t>
            </a:r>
          </a:p>
          <a:p>
            <a:pPr lvl="0" indent="0" marL="0">
              <a:buNone/>
            </a:pPr>
            <a:r>
              <a:rPr/>
              <a:t>10 min: inspect — which of the 4 failure modes appeared?</a:t>
            </a:r>
          </a:p>
          <a:p>
            <a:pPr lvl="0" indent="0" marL="0">
              <a:buNone/>
            </a:pPr>
            <a:r>
              <a:rPr/>
              <a:t>25 min: iterate the prompt; re-run; compare</a:t>
            </a:r>
          </a:p>
          <a:p>
            <a:pPr lvl="0" indent="0" marL="0">
              <a:buNone/>
            </a:pPr>
            <a:r>
              <a:rPr/>
              <a:t>⏱ 10 attempt · 10 inspect · 15 iterate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The FieldPulse Research Pack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Real materials, real noise, real strategy implications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📁 What’s in the Pack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 anonymized dispatcher interview transcripts (~5 pages each)</a:t>
            </a:r>
          </a:p>
          <a:p>
            <a:pPr lvl="0" indent="0" marL="0">
              <a:buNone/>
            </a:pPr>
            <a:r>
              <a:rPr/>
              <a:t>14 support tickets (already familiar from Week 1 Day 4)</a:t>
            </a:r>
          </a:p>
          <a:p>
            <a:pPr lvl="0" indent="0" marL="0">
              <a:buNone/>
            </a:pPr>
            <a:r>
              <a:rPr/>
              <a:t>1 industry analyst report (5 pages)</a:t>
            </a:r>
          </a:p>
          <a:p>
            <a:pPr lvl="0" indent="0" marL="0">
              <a:buNone/>
            </a:pPr>
            <a:r>
              <a:rPr/>
              <a:t>2 competitor product tour transcripts</a:t>
            </a:r>
          </a:p>
          <a:p>
            <a:pPr lvl="0" indent="0" marL="0">
              <a:buNone/>
            </a:pPr>
            <a:r>
              <a:rPr/>
              <a:t>1 internal “voice of customer” Slack export (33 messages)</a:t>
            </a:r>
          </a:p>
          <a:p>
            <a:pPr lvl="0" indent="0" marL="0">
              <a:buNone/>
            </a:pPr>
            <a:r>
              <a:rPr/>
              <a:t>Be honest: the pack is noisy, partly contradictory, and has gaps. That’s the point. Real strategy work feels like this.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🧑‍🔬 The Cross-Validation Step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quad member takes a different theme produced by the AI and verifies every citation against the source. Mark any that fail.</a:t>
            </a:r>
          </a:p>
          <a:p>
            <a:pPr lvl="0" indent="0" marL="0">
              <a:buNone/>
            </a:pPr>
            <a:r>
              <a:rPr/>
              <a:t>If a citation can’t be verified → cut the citation, lower theme confidence to L</a:t>
            </a:r>
          </a:p>
          <a:p>
            <a:pPr lvl="0" indent="0" marL="0">
              <a:buNone/>
            </a:pPr>
            <a:r>
              <a:rPr/>
              <a:t>If 2+ citations cut from one theme → cut the theme or relabel as “hypothesis to validate”</a:t>
            </a:r>
          </a:p>
          <a:p>
            <a:pPr lvl="0" indent="0" marL="0">
              <a:buNone/>
            </a:pPr>
            <a:r>
              <a:rPr/>
              <a:t>If a quote is paraphrased misleadingly → flag in provenance log</a:t>
            </a:r>
          </a:p>
          <a:p>
            <a:pPr lvl="0" indent="0" marL="0">
              <a:buNone/>
            </a:pPr>
            <a:r>
              <a:rPr/>
              <a:t>Don’t trust: the AI’s confidence rating about its own output. Independent verification is the only signal.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The Research Pack Pass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50 minutes</a:t>
            </a:r>
          </a:p>
          <a:p>
            <a:pPr lvl="0" indent="0" marL="0">
              <a:buNone/>
            </a:pPr>
            <a:r>
              <a:rPr/>
              <a:t>Use your iterated prompt on the real FieldPulse Research Pack. Cross-validate every citation.</a:t>
            </a:r>
          </a:p>
          <a:p>
            <a:pPr lvl="0" indent="0" marL="0">
              <a:buNone/>
            </a:pPr>
            <a:r>
              <a:rPr/>
              <a:t>5 min pre-flight (confirm prompt has constraints)</a:t>
            </a:r>
          </a:p>
          <a:p>
            <a:pPr lvl="0" indent="0" marL="0">
              <a:buNone/>
            </a:pPr>
            <a:r>
              <a:rPr/>
              <a:t>25 min run (split pack across 2–3 calls if needed)</a:t>
            </a:r>
          </a:p>
          <a:p>
            <a:pPr lvl="0" indent="0" marL="0">
              <a:buNone/>
            </a:pPr>
            <a:r>
              <a:rPr/>
              <a:t>15 min cross-validate (one theme per member)</a:t>
            </a:r>
          </a:p>
          <a:p>
            <a:pPr lvl="0" indent="0" marL="0">
              <a:buNone/>
            </a:pPr>
            <a:r>
              <a:rPr/>
              <a:t>5 min edit (cut failed themes; lower confidence)</a:t>
            </a:r>
          </a:p>
          <a:p>
            <a:pPr lvl="0" indent="0" marL="0">
              <a:buNone/>
            </a:pPr>
            <a:r>
              <a:rPr/>
              <a:t>⏱ 5 prep · 15 run · 15 verify · 5 edit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The Competitive Snapshot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brightest line in AI-assisted research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🚫 The Bright 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 can summarize and structure source material you provide.AI cannot tell you what your competitors actually do.</a:t>
            </a:r>
          </a:p>
          <a:p>
            <a:pPr lvl="0" indent="0" marL="0">
              <a:buNone/>
            </a:pPr>
            <a:r>
              <a:rPr/>
              <a:t>✅ Safe (you provide source)</a:t>
            </a:r>
          </a:p>
          <a:p>
            <a:pPr lvl="0" indent="0" marL="0">
              <a:buNone/>
            </a:pPr>
            <a:r>
              <a:rPr/>
              <a:t>“Structure these tour transcripts into a matrix”</a:t>
            </a:r>
          </a:p>
          <a:p>
            <a:pPr lvl="0" indent="0" marL="0">
              <a:buNone/>
            </a:pPr>
            <a:r>
              <a:rPr/>
              <a:t>“What 3 questions do these not answer?”</a:t>
            </a:r>
          </a:p>
          <a:p>
            <a:pPr lvl="0" indent="0" marL="0">
              <a:buNone/>
            </a:pPr>
            <a:r>
              <a:rPr/>
              <a:t>“What’s missing vs. our product?”</a:t>
            </a:r>
          </a:p>
          <a:p>
            <a:pPr lvl="0" indent="0" marL="0">
              <a:buNone/>
            </a:pPr>
            <a:r>
              <a:rPr/>
              <a:t>❌ Unsafe (AI invents)</a:t>
            </a:r>
          </a:p>
          <a:p>
            <a:pPr lvl="0" indent="0" marL="0">
              <a:buNone/>
            </a:pPr>
            <a:r>
              <a:rPr/>
              <a:t>“What is ServiceTitan’s market share?”</a:t>
            </a:r>
          </a:p>
          <a:p>
            <a:pPr lvl="0" indent="0" marL="0">
              <a:buNone/>
            </a:pPr>
            <a:r>
              <a:rPr/>
              <a:t>“Who is the leader in dispatch SaaS?”</a:t>
            </a:r>
          </a:p>
          <a:p>
            <a:pPr lvl="0" indent="0" marL="0">
              <a:buNone/>
            </a:pPr>
            <a:r>
              <a:rPr/>
              <a:t>“Cite a study on dispatcher productivity”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🔗 The Two-Prompt Pattern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Prompt 1 — Structure what we know:</a:t>
            </a:r>
          </a:p>
          <a:p>
            <a:pPr lvl="0" indent="0">
              <a:buNone/>
            </a:pPr>
            <a:r>
              <a:rPr>
                <a:latin typeface="Courier"/>
              </a:rPr>
              <a:t>Role: Competitive analyst.
Context: Pasting in 2 competitor product tour transcripts plus
their public pricing pages.
Task: Build a comparison matrix.
Constraints:
- Use only facts from the materials I pasted
- Do NOT pull from your training data
- Flag any cell where the source is silent
Format: Markdown table, with citation column.</a:t>
            </a:r>
          </a:p>
          <a:p>
            <a:pPr lvl="0" indent="0" marL="0">
              <a:buNone/>
            </a:pPr>
            <a:r>
              <a:rPr/>
              <a:t>Prompt 2 — Tell us what’s missing:</a:t>
            </a:r>
          </a:p>
          <a:p>
            <a:pPr lvl="0" indent="0">
              <a:buNone/>
            </a:pPr>
            <a:r>
              <a:rPr>
                <a:latin typeface="Courier"/>
              </a:rPr>
              <a:t>From the matrix above, what 3 questions about these competitors
do the source materials NOT answer? For each, suggest where a
TPM should look (analyst reports, customer interviews, public
earnings calls).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Competitive Snapshot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50 minutes</a:t>
            </a:r>
          </a:p>
          <a:p>
            <a:pPr lvl="0" indent="0" marL="0">
              <a:buNone/>
            </a:pPr>
            <a:r>
              <a:rPr/>
              <a:t>Use the two-prompt pattern on the competitor materials in the Research Pack. Build a matrix and a list of unanswered questions.</a:t>
            </a:r>
          </a:p>
          <a:p>
            <a:pPr lvl="0" indent="0" marL="0">
              <a:buNone/>
            </a:pPr>
            <a:r>
              <a:rPr/>
              <a:t>25 min: structure-what-we-know prompt + verify cells</a:t>
            </a:r>
          </a:p>
          <a:p>
            <a:pPr lvl="0" indent="0" marL="0">
              <a:buNone/>
            </a:pPr>
            <a:r>
              <a:rPr/>
              <a:t>15 min: what’s-missing prompt + decide which gaps matter</a:t>
            </a:r>
          </a:p>
          <a:p>
            <a:pPr lvl="0" indent="0" marL="0">
              <a:buNone/>
            </a:pPr>
            <a:r>
              <a:rPr/>
              <a:t>10 min: write the Competitive Snapshot section of your brief</a:t>
            </a:r>
          </a:p>
          <a:p>
            <a:pPr lvl="0" indent="0" marL="0">
              <a:buNone/>
            </a:pPr>
            <a:r>
              <a:rPr/>
              <a:t>⏱ 15 structure · 15 missing · 10 write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Brief Assembly + Provenance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Stitch into a brief, write the parts AI cannot, log the parts AI did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The Strategy Brief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Executive summary — hand-written, 5 bullets max</a:t>
            </a:r>
          </a:p>
          <a:p>
            <a:pPr lvl="0" indent="0" marL="0">
              <a:buNone/>
            </a:pPr>
            <a:r>
              <a:rPr/>
              <a:t>Top 5 user pain themes — AI-summarized, evidence-tagged, cross-validated</a:t>
            </a:r>
          </a:p>
          <a:p>
            <a:pPr lvl="0" indent="0" marL="0">
              <a:buNone/>
            </a:pPr>
            <a:r>
              <a:rPr/>
              <a:t>Competitive snapshot — AI-drafted from your materials, hand-edited</a:t>
            </a:r>
          </a:p>
          <a:p>
            <a:pPr lvl="0" indent="0" marL="0">
              <a:buNone/>
            </a:pPr>
            <a:r>
              <a:rPr/>
              <a:t>Strategy implications — hand-written; ties themes to NS and design principles</a:t>
            </a:r>
          </a:p>
          <a:p>
            <a:pPr lvl="0" indent="0" marL="0">
              <a:buNone/>
            </a:pPr>
            <a:r>
              <a:rPr/>
              <a:t>Provenance log — mandatory; documents every AI use and validation step</a:t>
            </a:r>
          </a:p>
          <a:p>
            <a:pPr lvl="0" indent="0" marL="0">
              <a:buNone/>
            </a:pPr>
            <a:r>
              <a:rPr/>
              <a:t>Hand-written sections matter most: they are where the TPM’s judgment shows. AI does the volume; you do the meaning.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The Provenance Log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trust-building artifact: documents where AI was used, which prompts, what validation was done, and where the AI was wrong.</a:t>
            </a:r>
          </a:p>
          <a:p>
            <a:pPr lvl="0" indent="0">
              <a:buNone/>
            </a:pPr>
            <a:r>
              <a:rPr>
                <a:latin typeface="Courier"/>
              </a:rPr>
              <a:t>## Provenance log
### AI-generated sections
| Section | Prompts (link) | Validation | Findings |
|---------|----------------|------------|----------|
| Pain themes | Pattern Library #3 | All citations verified | Cut 1 hallucinated theme |
| Competitive matrix | Pattern Library #5 | Manual check vs source | Flagged 2 silent cells |
| Missing questions | Pattern Library #6 | Quad consensus | Adopted 2 of 3 |
### Where AI was wrong
- Lumped "reconcile" and "timecard" into single theme; we split them
- Inferred a "training" pain theme with no source; cut entirely
- Cited "Ticket T-16" — does not exist; replaced with T-11
### Manual hand-written sections
- Executive summary
- Strategy implications
- This log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Brief Assembly + Provenance Log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55 minutes • Readouts</a:t>
            </a:r>
          </a:p>
          <a:p>
            <a:pPr lvl="0" indent="0" marL="0">
              <a:buNone/>
            </a:pPr>
            <a:r>
              <a:rPr/>
              <a:t>Stitch the day’s outputs into a single brief. Hand-write the executive summary and strategy implications. Complete the provenance log.</a:t>
            </a:r>
          </a:p>
          <a:p>
            <a:pPr lvl="0" indent="0" marL="0">
              <a:buNone/>
            </a:pPr>
            <a:r>
              <a:rPr/>
              <a:t>25 min: hand-write executive summary</a:t>
            </a:r>
          </a:p>
          <a:p>
            <a:pPr lvl="0" indent="0" marL="0">
              <a:buNone/>
            </a:pPr>
            <a:r>
              <a:rPr/>
              <a:t>10 min: hand-write strategy implications</a:t>
            </a:r>
          </a:p>
          <a:p>
            <a:pPr lvl="0" indent="0" marL="0">
              <a:buNone/>
            </a:pPr>
            <a:r>
              <a:rPr/>
              <a:t>10 min: complete provenance log</a:t>
            </a:r>
          </a:p>
          <a:p>
            <a:pPr lvl="0" indent="0" marL="0">
              <a:buNone/>
            </a:pPr>
            <a:r>
              <a:rPr/>
              <a:t>10 min: polish for sharing</a:t>
            </a:r>
          </a:p>
          <a:p>
            <a:pPr lvl="0" indent="0" marL="0">
              <a:buNone/>
            </a:pPr>
            <a:r>
              <a:rPr/>
              <a:t>⏱ 15 exec · 10 strategy · 10 log · 10 polish · 90s readouts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4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Validated synthesis prompt (Pattern Library entry)</a:t>
            </a:r>
          </a:p>
          <a:p>
            <a:pPr lvl="0" indent="0" marL="0">
              <a:buNone/>
            </a:pPr>
            <a:r>
              <a:rPr/>
              <a:t>Two-prompt competitive pattern</a:t>
            </a:r>
          </a:p>
          <a:p>
            <a:pPr lvl="0" indent="0" marL="0">
              <a:buNone/>
            </a:pPr>
            <a:r>
              <a:rPr/>
              <a:t>Cross-validation discipline</a:t>
            </a:r>
          </a:p>
          <a:p>
            <a:pPr lvl="0" indent="0" marL="0">
              <a:buNone/>
            </a:pPr>
            <a:r>
              <a:rPr/>
              <a:t>AI-Assembled Strategy Brief with provenance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Mapping customer journeys to features</a:t>
            </a:r>
          </a:p>
          <a:p>
            <a:pPr lvl="0" indent="0" marL="0">
              <a:buNone/>
            </a:pPr>
            <a:r>
              <a:rPr/>
              <a:t>Friday readouts: full Week-2 strategy package</a:t>
            </a:r>
          </a:p>
          <a:p>
            <a:pPr lvl="0" indent="0" marL="0">
              <a:buNone/>
            </a:pPr>
            <a:r>
              <a:rPr/>
              <a:t>Bridge to Week 3 Product Requirements Documents (PRDs)</a:t>
            </a:r>
          </a:p>
          <a:p>
            <a:pPr lvl="0" indent="0" marL="0">
              <a:buNone/>
            </a:pPr>
            <a:r>
              <a:rPr/>
              <a:t>Bring to Day 5: Your Strategy Brief, NS, and 3 design principles. All three feed the journey map directly.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in your brief did the AI’s confidence exceed your evidence?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2026-08-28T15:28:19Z</dcterms:created>
  <dcterms:modified xsi:type="dcterms:W3CDTF">2026-08-28T15:28:19Z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