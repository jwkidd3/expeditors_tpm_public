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Today’s job: connect the strategy work of Days 1–4 into a journey map and 3 features. Then present. Set the energy: this is the dress rehearsal for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“non-product touchpoints” objective is the bridge to Week 4. Surface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tighter — readouts eat the last 90 minutes. Hold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triads will be tempted to map the product, not the user. Coach against it from this slide 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rookie mistake is mapping the product, not the user. Every triad will be tempted. Coach against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stickies if possible — physical mapping forces decisions and surfaces disagreements.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picks “all journeys” — push back hard. Specificity is where insight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stumbling block: stages that are feature names, not user-task names. “Login” is not a stage; “Arriving at the office”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non-product touchpoints are the bridge to Week 4. Surface them as load-bearing, not decorative.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triads will want to map only their own product. Force the question: “What else is in their hand?”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clustering check is simple but high-yield. Walk the room and call it out where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 each triad a marker for friction stars. Physicality of starring forces commitment.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produces the direct input to next week’s PRD work. Hold the three-test bar firmly — features without metric links die in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with no metric link cannot be defended in Week 6 stakeholder negotiation.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validation row is the bridge to Week 7 (Agile delivery). Plant it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3 features all hit the same stage, ask whether that stage really is 80% of the friction. Force a defense.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integrated readout. The 12-minute clock is enforced; coherence is the most-weighted criterion in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 is enforced. The clock matters. Triads who blow their time get docked on coherence.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Peers score on a paper sheet, anonymous, averaged. Instructor adds a separate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is way under-rehearsed, give them an extra 10 minutes by trimming the predict step. Rehearsal is the most-skipped step and the most predictive of readout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the </a:t>
            </a:r>
            <a:r>
              <a:rPr i="1"/>
              <a:t>one</a:t>
            </a:r>
            <a:r>
              <a:rPr/>
              <a:t> feature concept they’d take into a Week-3 PRD if they could only pick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 for the week. The disagreement between the journey and the existing product is the seed of the Week-3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🗺️ Mapping Customer Journeys to Features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5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customer journey map that is grounded in observed evidence, not aspirational fiction</a:t>
            </a:r>
          </a:p>
          <a:p>
            <a:pPr lvl="0" indent="0" marL="0">
              <a:buNone/>
            </a:pPr>
            <a:r>
              <a:rPr/>
              <a:t>Surface non-product touchpoints (paper, phone, other systems) — the parts most journey maps miss</a:t>
            </a:r>
          </a:p>
          <a:p>
            <a:pPr lvl="0" indent="0" marL="0">
              <a:buNone/>
            </a:pPr>
            <a:r>
              <a:rPr/>
              <a:t>Convert friction stars into 3 feature concepts that link friction → metric → principle</a:t>
            </a:r>
          </a:p>
          <a:p>
            <a:pPr lvl="0" indent="0" marL="0">
              <a:buNone/>
            </a:pPr>
            <a:r>
              <a:rPr/>
              <a:t>Defend each feature concept with trade-offs and validation criteria — not just upside</a:t>
            </a:r>
          </a:p>
          <a:p>
            <a:pPr lvl="0" indent="0" marL="0">
              <a:buNone/>
            </a:pPr>
            <a:r>
              <a:rPr/>
              <a:t>Deliver a 12-minute Week-2 readout that ties the whole week into one strategy package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all Week-2 artifacts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Anchor the journey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Fill the lanes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From friction to features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</a:t>
            </a:r>
          </a:p>
          <a:p>
            <a:pPr lvl="0" indent="0" marL="0">
              <a:buNone/>
            </a:pPr>
            <a:r>
              <a:rPr/>
              <a:t>12-min Week-2 readouts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Journey Map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Anchor in evidence before debating fixes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Is /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Timeline of user actions, thoughts, emotions</a:t>
            </a:r>
          </a:p>
          <a:p>
            <a:pPr lvl="0" indent="0" marL="0">
              <a:buNone/>
            </a:pPr>
            <a:r>
              <a:rPr/>
              <a:t>Flowchart of your product’s screens</a:t>
            </a:r>
          </a:p>
          <a:p>
            <a:pPr lvl="0" indent="0" marL="0">
              <a:buNone/>
            </a:pPr>
            <a:r>
              <a:rPr/>
              <a:t>Grounded in observed + reported behavior</a:t>
            </a:r>
          </a:p>
          <a:p>
            <a:pPr lvl="0" indent="0" marL="0">
              <a:buNone/>
            </a:pPr>
            <a:r>
              <a:rPr/>
              <a:t>How you wish people used your product</a:t>
            </a:r>
          </a:p>
          <a:p>
            <a:pPr lvl="0" indent="0" marL="0">
              <a:buNone/>
            </a:pPr>
            <a:r>
              <a:rPr/>
              <a:t>Specific to one persona, one job</a:t>
            </a:r>
          </a:p>
          <a:p>
            <a:pPr lvl="0" indent="0" marL="0">
              <a:buNone/>
            </a:pPr>
            <a:r>
              <a:rPr/>
              <a:t>“General user” map</a:t>
            </a:r>
          </a:p>
          <a:p>
            <a:pPr lvl="0" indent="0" marL="0">
              <a:buNone/>
            </a:pPr>
            <a:r>
              <a:rPr/>
              <a:t>A tool to find friction and leverage</a:t>
            </a:r>
          </a:p>
          <a:p>
            <a:pPr lvl="0" indent="0" marL="0">
              <a:buNone/>
            </a:pPr>
            <a:r>
              <a:rPr/>
              <a:t>An end-state living in a wiki</a:t>
            </a:r>
          </a:p>
          <a:p>
            <a:pPr lvl="0" indent="0" marL="0">
              <a:buNone/>
            </a:pPr>
            <a:r>
              <a:rPr/>
              <a:t>The TPM job: not the prettiest map. Find where friction is highest, then connect those points to features that move metrics.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Five Swim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Stage — Phases of the journey (5–8 stages) 2. Actions — Concrete verbs the user is doing 3. Thoughts — Quotes from interviews where possible 4. Emotions — 4-point curve, plotted 5. Touchpoints — Every system &amp; person; star the friction</a:t>
            </a:r>
          </a:p>
          <a:p>
            <a:pPr lvl="0" indent="0" marL="0">
              <a:buNone/>
            </a:pPr>
            <a:r>
              <a:rPr/>
              <a:t>Watch: the emotions curve must not be flat. A flat curve means the triad is sanitizing.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Persona, Pick One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Pre-shift → end-of-shift</a:t>
            </a:r>
          </a:p>
          <a:p>
            <a:pPr lvl="0" indent="0" marL="0">
              <a:buNone/>
            </a:pPr>
            <a:r>
              <a:rPr/>
              <a:t>A single workday. Best for journeys where time-of-day matters.</a:t>
            </a:r>
          </a:p>
          <a:p>
            <a:pPr lvl="0" indent="0" marL="0">
              <a:buNone/>
            </a:pPr>
            <a:r>
              <a:rPr/>
              <a:t>First-30-days</a:t>
            </a:r>
          </a:p>
          <a:p>
            <a:pPr lvl="0" indent="0" marL="0">
              <a:buNone/>
            </a:pPr>
            <a:r>
              <a:rPr/>
              <a:t>Onboarding-heavy. Best for surfacing time-to-first-value friction.</a:t>
            </a:r>
          </a:p>
          <a:p>
            <a:pPr lvl="0" indent="0" marL="0">
              <a:buNone/>
            </a:pPr>
            <a:r>
              <a:rPr/>
              <a:t>Mid-shift exception</a:t>
            </a:r>
          </a:p>
          <a:p>
            <a:pPr lvl="0" indent="0" marL="0">
              <a:buNone/>
            </a:pPr>
            <a:r>
              <a:rPr/>
              <a:t>“Tech calls out sick.” The canonical disruption. High-fidelity friction.</a:t>
            </a:r>
          </a:p>
          <a:p>
            <a:pPr lvl="0" indent="0" marL="0">
              <a:buNone/>
            </a:pPr>
            <a:r>
              <a:rPr/>
              <a:t>One persona, one scope. Not “all users, all situations.” That’s the difference between strategy and a wishlist.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Anchor the Journey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Pick one persona, one scope. Stage the journey (5–8 stages). Sanity-check against Week-1 evidence.</a:t>
            </a:r>
          </a:p>
          <a:p>
            <a:pPr lvl="0" indent="0" marL="0">
              <a:buNone/>
            </a:pPr>
            <a:r>
              <a:rPr/>
              <a:t>5 min: confirm persona</a:t>
            </a:r>
          </a:p>
          <a:p>
            <a:pPr lvl="0" indent="0" marL="0">
              <a:buNone/>
            </a:pPr>
            <a:r>
              <a:rPr/>
              <a:t>10 min: pick scope</a:t>
            </a:r>
          </a:p>
          <a:p>
            <a:pPr lvl="0" indent="0" marL="0">
              <a:buNone/>
            </a:pPr>
            <a:r>
              <a:rPr/>
              <a:t>15 min: stage the journey on the canvas</a:t>
            </a:r>
          </a:p>
          <a:p>
            <a:pPr lvl="0" indent="0" marL="0">
              <a:buNone/>
            </a:pPr>
            <a:r>
              <a:rPr/>
              <a:t>5 min: tag any inferred stage</a:t>
            </a:r>
          </a:p>
          <a:p>
            <a:pPr lvl="0" indent="0" marL="0">
              <a:buNone/>
            </a:pPr>
            <a:r>
              <a:rPr/>
              <a:t>⏱ 5 persona · 10 scope · 15 stage · 5 evidence-check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Thoughts, emotions, touchpoints, friction stars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Non-Product Touchpoints (the part most maps miss)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stage, list every system or person involved — paper, phone, other software, manager, customer.</a:t>
            </a:r>
          </a:p>
          <a:p>
            <a:pPr lvl="0" indent="0" marL="0">
              <a:buNone/>
            </a:pPr>
            <a:r>
              <a:rPr/>
              <a:t>❌ Incomplete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Touchpoint: “FieldPulse mobile”</a:t>
            </a:r>
          </a:p>
          <a:p>
            <a:pPr lvl="0" indent="0" marL="0">
              <a:buNone/>
            </a:pPr>
            <a:r>
              <a:rPr/>
              <a:t>✅ Honest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Touchpoints: FieldPulse mobile, paper tickets, tech’s phone, owner’s spreadsheet, the jammed printer</a:t>
            </a:r>
          </a:p>
          <a:p>
            <a:pPr lvl="0" indent="0" marL="0">
              <a:buNone/>
            </a:pPr>
            <a:r>
              <a:rPr/>
              <a:t>Bridge to Week 4: these touchpoints feed system-component mapping.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Friction Star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Place a star on every stage where the user is fighting the journey. Friction stars should cluster. If everything is friction, nothing is.</a:t>
            </a:r>
          </a:p>
          <a:p>
            <a:pPr lvl="0" indent="0" marL="0">
              <a:buNone/>
            </a:pPr>
            <a:r>
              <a:rPr/>
              <a:t>2–3 stages with stars → healthy map</a:t>
            </a:r>
          </a:p>
          <a:p>
            <a:pPr lvl="0" indent="0" marL="0">
              <a:buNone/>
            </a:pPr>
            <a:r>
              <a:rPr/>
              <a:t>5+ stages with stars → you’re not discriminating; re-rank by severity</a:t>
            </a:r>
          </a:p>
          <a:p>
            <a:pPr lvl="0" indent="0" marL="0">
              <a:buNone/>
            </a:pPr>
            <a:r>
              <a:rPr/>
              <a:t>0 stages with stars → you sanitized the journey; re-listen to interviews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Populate Thoughts, Emotions, Touchpoints. Star the friction. Walk-through review by one member.</a:t>
            </a:r>
          </a:p>
          <a:p>
            <a:pPr lvl="0" indent="0" marL="0">
              <a:buNone/>
            </a:pPr>
            <a:r>
              <a:rPr/>
              <a:t>10 min: thoughts (use real interview quotes when possible)</a:t>
            </a:r>
          </a:p>
          <a:p>
            <a:pPr lvl="0" indent="0" marL="0">
              <a:buNone/>
            </a:pPr>
            <a:r>
              <a:rPr/>
              <a:t>10 min: emotions curve (must vary)</a:t>
            </a:r>
          </a:p>
          <a:p>
            <a:pPr lvl="0" indent="0" marL="0">
              <a:buNone/>
            </a:pPr>
            <a:r>
              <a:rPr/>
              <a:t>15 min: touchpoints (include non-product)</a:t>
            </a:r>
          </a:p>
          <a:p>
            <a:pPr lvl="0" indent="0" marL="0">
              <a:buNone/>
            </a:pPr>
            <a:r>
              <a:rPr/>
              <a:t>5 min: walk-through narration</a:t>
            </a:r>
          </a:p>
          <a:p>
            <a:pPr lvl="0" indent="0" marL="0">
              <a:buNone/>
            </a:pPr>
            <a:r>
              <a:rPr/>
              <a:t>⏱ 10 thoughts · 10 emo · 15 touch · 5 walk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feature concepts that pass the strategy test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Three-Test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concept earns a place if it passes all three: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Friction link</a:t>
            </a:r>
          </a:p>
          <a:p>
            <a:pPr lvl="0" indent="0" marL="0">
              <a:buNone/>
            </a:pPr>
            <a:r>
              <a:rPr/>
              <a:t>Which specific stage and friction does it reduce?</a:t>
            </a:r>
          </a:p>
          <a:p>
            <a:pPr lvl="0" indent="0" marL="0">
              <a:buNone/>
            </a:pPr>
            <a:r>
              <a:rPr/>
              <a:t>Metric link</a:t>
            </a:r>
          </a:p>
          <a:p>
            <a:pPr lvl="0" indent="0" marL="0">
              <a:buNone/>
            </a:pPr>
            <a:r>
              <a:rPr/>
              <a:t>Which operational signal or KPI from your Tier Sheet does it move?</a:t>
            </a:r>
          </a:p>
          <a:p>
            <a:pPr lvl="0" indent="0" marL="0">
              <a:buNone/>
            </a:pPr>
            <a:r>
              <a:rPr/>
              <a:t>Principle link</a:t>
            </a:r>
          </a:p>
          <a:p>
            <a:pPr lvl="0" indent="0" marL="0">
              <a:buNone/>
            </a:pPr>
            <a:r>
              <a:rPr/>
              <a:t>Which of your 3 design principles does it align with (or which does it deliberately trade off against)?</a:t>
            </a:r>
          </a:p>
          <a:p>
            <a:pPr lvl="0" indent="0" marL="0">
              <a:buNone/>
            </a:pPr>
            <a:r>
              <a:rPr/>
              <a:t>The recurring failure: features without metric links — no key performance indicator (KPI) or operational signal moved. Force the link or kill the feature.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The Feature Card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 / risk is non-negotiable. “No downside” is a failed answer. Every choice forecloses another.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Brainstorm 8 candidates. Apply the three-test bar. Cull to 3 with full feature cards.</a:t>
            </a:r>
          </a:p>
          <a:p>
            <a:pPr lvl="0" indent="0" marL="0">
              <a:buNone/>
            </a:pPr>
            <a:r>
              <a:rPr/>
              <a:t>15 min: brainstorm (volume first)</a:t>
            </a:r>
          </a:p>
          <a:p>
            <a:pPr lvl="0" indent="0" marL="0">
              <a:buNone/>
            </a:pPr>
            <a:r>
              <a:rPr/>
              <a:t>15 min: three-test scoring</a:t>
            </a:r>
          </a:p>
          <a:p>
            <a:pPr lvl="0" indent="0" marL="0">
              <a:buNone/>
            </a:pPr>
            <a:r>
              <a:rPr/>
              <a:t>10 min: cull to 3 + complete cards</a:t>
            </a:r>
          </a:p>
          <a:p>
            <a:pPr lvl="0" indent="0" marL="0">
              <a:buNone/>
            </a:pPr>
            <a:r>
              <a:rPr/>
              <a:t>⏱ 15 brainstorm · 15 score · 10 cull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Friday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full Week-2 strategy package, 12 minutes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12-Minute 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What you cover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NS + counter-metric</a:t>
            </a:r>
          </a:p>
          <a:p>
            <a:pPr lvl="0" indent="0" marL="0">
              <a:buNone/>
            </a:pPr>
            <a:r>
              <a:rPr/>
              <a:t>Statement, segment, number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Tier Sheet causal chain</a:t>
            </a:r>
          </a:p>
          <a:p>
            <a:pPr lvl="0" indent="0" marL="0">
              <a:buNone/>
            </a:pPr>
            <a:r>
              <a:rPr/>
              <a:t>Three sentences, op-signal → KPI → NS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One design principle in detail</a:t>
            </a:r>
          </a:p>
          <a:p>
            <a:pPr lvl="0" indent="0" marL="0">
              <a:buNone/>
            </a:pPr>
            <a:r>
              <a:rPr/>
              <a:t>The one with most expected pushback</a:t>
            </a:r>
          </a:p>
          <a:p>
            <a:pPr lvl="0" indent="0" marL="0">
              <a:buNone/>
            </a:pPr>
            <a:r>
              <a:rPr/>
              <a:t>4 min</a:t>
            </a:r>
          </a:p>
          <a:p>
            <a:pPr lvl="0" indent="0" marL="0">
              <a:buNone/>
            </a:pPr>
            <a:r>
              <a:rPr/>
              <a:t>Journey map walk-through</a:t>
            </a:r>
          </a:p>
          <a:p>
            <a:pPr lvl="0" indent="0" marL="0">
              <a:buNone/>
            </a:pPr>
            <a:r>
              <a:rPr/>
              <a:t>Persona, scope, friction stars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3 feature concepts</a:t>
            </a:r>
          </a:p>
          <a:p>
            <a:pPr lvl="0" indent="0" marL="0">
              <a:buNone/>
            </a:pPr>
            <a:r>
              <a:rPr/>
              <a:t>Each: stage / friction / metric / principle</a:t>
            </a:r>
          </a:p>
          <a:p>
            <a:pPr lvl="0" indent="0" marL="0">
              <a:buNone/>
            </a:pPr>
            <a:r>
              <a:rPr/>
              <a:t>All three voices speak. No single triad-spokesperson. Engineering judges lecturers harshly.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Scoring Rubric (Live)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</a:t>
            </a:r>
          </a:p>
          <a:p>
            <a:pPr lvl="0" indent="0" marL="0">
              <a:buNone/>
            </a:pPr>
            <a:r>
              <a:rPr/>
              <a:t>Metric coherence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Believable causal chain through Tier Sheet</a:t>
            </a:r>
          </a:p>
          <a:p>
            <a:pPr lvl="0" indent="0" marL="0">
              <a:buNone/>
            </a:pPr>
            <a:r>
              <a:rPr/>
              <a:t>NS defense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Three pitfall rebuttals named &amp; defended</a:t>
            </a:r>
          </a:p>
          <a:p>
            <a:pPr lvl="0" indent="0" marL="0">
              <a:buNone/>
            </a:pPr>
            <a:r>
              <a:rPr/>
              <a:t>Journey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References Week-1 evidence; non-product touchpoints present</a:t>
            </a:r>
          </a:p>
          <a:p>
            <a:pPr lvl="0" indent="0" marL="0">
              <a:buNone/>
            </a:pPr>
            <a:r>
              <a:rPr/>
              <a:t>Feature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Each feature ties to journey friction AND a metric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Provenance log surfaced when relevant</a:t>
            </a:r>
          </a:p>
          <a:p>
            <a:pPr lvl="0" indent="0" marL="0">
              <a:buNone/>
            </a:pPr>
            <a:r>
              <a:rPr/>
              <a:t>Design awareness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Principle named with trade-off acknowledged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12 min present + 3 min Q&amp;A each</a:t>
            </a:r>
          </a:p>
          <a:p>
            <a:pPr lvl="0" indent="0" marL="0">
              <a:buNone/>
            </a:pPr>
            <a:r>
              <a:rPr/>
              <a:t>Assemble the package. Rehearse with the clock. All three voices on stage.</a:t>
            </a:r>
          </a:p>
          <a:p>
            <a:pPr lvl="0" indent="0" marL="0">
              <a:buNone/>
            </a:pPr>
            <a:r>
              <a:rPr/>
              <a:t>15 min: assemble &amp; order artifacts</a:t>
            </a:r>
          </a:p>
          <a:p>
            <a:pPr lvl="0" indent="0" marL="0">
              <a:buNone/>
            </a:pPr>
            <a:r>
              <a:rPr/>
              <a:t>15 min: rehearse with timer</a:t>
            </a:r>
          </a:p>
          <a:p>
            <a:pPr lvl="0" indent="0" marL="0">
              <a:buNone/>
            </a:pPr>
            <a:r>
              <a:rPr/>
              <a:t>5 min: assign speakers</a:t>
            </a:r>
          </a:p>
          <a:p>
            <a:pPr lvl="0" indent="0" marL="0">
              <a:buNone/>
            </a:pPr>
            <a:r>
              <a:rPr/>
              <a:t>10 min: predict the toughest peer challenge</a:t>
            </a:r>
          </a:p>
          <a:p>
            <a:pPr lvl="0" indent="0" marL="0">
              <a:buNone/>
            </a:pPr>
            <a:r>
              <a:rPr/>
              <a:t>⏱ 15 assemble · 15 rehearse · 5 speakers · 10 predict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this week</a:t>
            </a:r>
          </a:p>
          <a:p>
            <a:pPr lvl="0" indent="0" marL="0">
              <a:buNone/>
            </a:pPr>
            <a:r>
              <a:rPr/>
              <a:t>Defensible North Star + counter-metric</a:t>
            </a:r>
          </a:p>
          <a:p>
            <a:pPr lvl="0" indent="0" marL="0">
              <a:buNone/>
            </a:pPr>
            <a:r>
              <a:rPr/>
              <a:t>Refreshed Metrics Tier Sheet</a:t>
            </a:r>
          </a:p>
          <a:p>
            <a:pPr lvl="0" indent="0" marL="0">
              <a:buNone/>
            </a:pPr>
            <a:r>
              <a:rPr/>
              <a:t>3 design principles per triad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Customer journey map + 3 feature concepts</a:t>
            </a:r>
          </a:p>
          <a:p>
            <a:pPr lvl="0" indent="0" marL="0">
              <a:buNone/>
            </a:pPr>
            <a:r>
              <a:rPr/>
              <a:t>What opens Week 3</a:t>
            </a:r>
          </a:p>
          <a:p>
            <a:pPr lvl="0" indent="0" marL="0">
              <a:buNone/>
            </a:pPr>
            <a:r>
              <a:rPr/>
              <a:t>Requirements Engineering &amp; Mini-Capstone</a:t>
            </a:r>
          </a:p>
          <a:p>
            <a:pPr lvl="0" indent="0" marL="0">
              <a:buNone/>
            </a:pPr>
            <a:r>
              <a:rPr/>
              <a:t>Convert your top feature concept → full Product Requirements Document (PRD) (non-AI)</a:t>
            </a:r>
          </a:p>
          <a:p>
            <a:pPr lvl="0" indent="0" marL="0">
              <a:buNone/>
            </a:pPr>
            <a:r>
              <a:rPr/>
              <a:t>Acceptance Criteria, non-functional requirements (NFRs), peer-review cycle</a:t>
            </a:r>
          </a:p>
          <a:p>
            <a:pPr lvl="0" indent="0" marL="0">
              <a:buNone/>
            </a:pPr>
            <a:r>
              <a:rPr/>
              <a:t>Mini-capstone delivers Friday Week 3</a:t>
            </a:r>
          </a:p>
          <a:p>
            <a:pPr lvl="0" indent="0" marL="0">
              <a:buNone/>
            </a:pPr>
            <a:r>
              <a:rPr/>
              <a:t>Bring to Monday: All six Week-2 artifacts in shareable form. The journey map and feature cards are direct PRD inputs.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map disagree with how your product was designed?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2026-07-22T12:58:48Z</dcterms:created>
  <dcterms:modified xsi:type="dcterms:W3CDTF">2026-07-22T12:58:48Z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