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Yesterday’s placeholder NS gets replaced today. Frame: a North Star is not a slogan. It’s a load-bearing decision that shapes a quarter of squad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is the highest-stakes day of Week 2. The NS chosen here is the spine of every Friday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 is recognize → draft → defend → lock. Don’t let quads lock too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vocabulary work is sharper than Day 1’s. The three pitfalls are the toolkit quads will run against their own 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NS lacks any of three, the team will fight about which version they meant. Force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FieldPulse: “ARR” is fine as a financial KPI; it is </a:t>
            </a:r>
            <a:r>
              <a:rPr i="1"/>
              <a:t>not</a:t>
            </a:r>
            <a:r>
              <a:rPr/>
              <a:t> an NS because dispatchers don’t feel ARR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Spotify’s NS is the cleanest pedagogical example — note the deliberate rejection of “songs saved” as the 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“Songs Saved” and “Successful Deliveries per Active Customer” are the trickiest. Both reward close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yesterday’s placeholder and turn it into something a quad would put their name on. The counter-metric concept is the new tool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it slowly. Each blank failing is a different bug. Quads should call out each blank as they fill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counter-metric is the single most useful new concept today. It survives every challenge season after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back on quads who agree too quickly. Disagreement here is healthy and produces sharper NSs.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defensibility check. A good NS lands with both the CEO and the customer without translation — anything less is a KPI in disguise.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NS only lands with one audience, it isn’t an NS — it’s a KPI in disguise.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walk-down/walk-up is fast — 5 minutes. Quads who skip it ship incoherent Tier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CEO-then-dispatcher cadence forces quads to hold both audiences at once. Don’t let them skip a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block: walk the NS up and down the Tier Sheet for coherence, then lock. Don’t let quads lock without the walk.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 is missing more than two boxes, they’re not done. Push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Pin both artifacts on the wall when quads finish. They’ll be referenced every day for the rest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NS they will challenge differently in their day job after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If the answer is fuzzy, the NS is fuzzy. Use it as the diagnostic for which quads to coach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⭐ Defining the North Star Metric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• Day 2 • Strategic Design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Recognize and rebut the three pitfalls: vanity dressed up, leading-indicator confusion, gameable target</a:t>
            </a:r>
          </a:p>
          <a:p>
            <a:pPr lvl="0" indent="0" marL="0">
              <a:buNone/>
            </a:pPr>
            <a:r>
              <a:rPr/>
              <a:t>Apply the customer outcome / segment / single number NS template</a:t>
            </a:r>
          </a:p>
          <a:p>
            <a:pPr lvl="0" indent="0" marL="0">
              <a:buNone/>
            </a:pPr>
            <a:r>
              <a:rPr/>
              <a:t>Pair an NS with a counter-metric that defends against gaming</a:t>
            </a:r>
          </a:p>
          <a:p>
            <a:pPr lvl="0" indent="0" marL="0">
              <a:buNone/>
            </a:pPr>
            <a:r>
              <a:rPr/>
              <a:t>Pass the “CEO and Dispatcher” test — the same NS that lands with leadership and lands with the user</a:t>
            </a:r>
          </a:p>
          <a:p>
            <a:pPr lvl="0" indent="0" marL="0">
              <a:buNone/>
            </a:pPr>
            <a:r>
              <a:rPr/>
              <a:t>Replace yesterday’s placeholder with a defensible North Star and refresh the Tier Sheet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Re-read your placeholder NS aloud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Three Pitfalls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Re-write your NS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“CEO and Dispatcher” test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Lock-in + Tier Sheet refresh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 North Star Actually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And the three ways the term gets misused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Working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North Star is the single metric whose movement signals that the customer is winning AND the business is winning, simultaneously.</a:t>
            </a:r>
          </a:p>
          <a:p>
            <a:pPr lvl="0" indent="0" marL="0">
              <a:buNone/>
            </a:pPr>
            <a:r>
              <a:rPr/>
              <a:t>It has three required parts:</a:t>
            </a:r>
          </a:p>
          <a:p>
            <a:pPr lvl="0" indent="0" marL="0">
              <a:buNone/>
            </a:pPr>
            <a:r>
              <a:rPr/>
              <a:t>Part</a:t>
            </a:r>
          </a:p>
          <a:p>
            <a:pPr lvl="0" indent="0" marL="0">
              <a:buNone/>
            </a:pPr>
            <a:r>
              <a:rPr/>
              <a:t>Test</a:t>
            </a:r>
          </a:p>
          <a:p>
            <a:pPr lvl="0" indent="0" marL="0">
              <a:buNone/>
            </a:pPr>
            <a:r>
              <a:rPr/>
              <a:t>Customer outcome</a:t>
            </a:r>
          </a:p>
          <a:p>
            <a:pPr lvl="0" indent="0" marL="0">
              <a:buNone/>
            </a:pPr>
            <a:r>
              <a:rPr/>
              <a:t>A verb the customer would recognize, not a feature</a:t>
            </a:r>
          </a:p>
          <a:p>
            <a:pPr lvl="0" indent="0" marL="0">
              <a:buNone/>
            </a:pPr>
            <a:r>
              <a:rPr/>
              <a:t>User segment</a:t>
            </a:r>
          </a:p>
          <a:p>
            <a:pPr lvl="0" indent="0" marL="0">
              <a:buNone/>
            </a:pPr>
            <a:r>
              <a:rPr/>
              <a:t>Specific enough to exclude users you don’t serve</a:t>
            </a:r>
          </a:p>
          <a:p>
            <a:pPr lvl="0" indent="0" marL="0">
              <a:buNone/>
            </a:pPr>
            <a:r>
              <a:rPr/>
              <a:t>Single number</a:t>
            </a:r>
          </a:p>
          <a:p>
            <a:pPr lvl="0" indent="0" marL="0">
              <a:buNone/>
            </a:pPr>
            <a:r>
              <a:rPr/>
              <a:t>One chart, one direction, one team accountable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🚨 The Three Standard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</a:t>
            </a:r>
          </a:p>
          <a:p>
            <a:pPr lvl="0" indent="0" marL="0">
              <a:buNone/>
            </a:pPr>
            <a:r>
              <a:rPr/>
              <a:t>Looks like</a:t>
            </a:r>
          </a:p>
          <a:p>
            <a:pPr lvl="0" indent="0" marL="0">
              <a:buNone/>
            </a:pPr>
            <a:r>
              <a:rPr/>
              <a:t>The tell</a:t>
            </a:r>
          </a:p>
          <a:p>
            <a:pPr lvl="0" indent="0" marL="0">
              <a:buNone/>
            </a:pPr>
            <a:r>
              <a:rPr/>
              <a:t>Vanity dressed up</a:t>
            </a:r>
          </a:p>
          <a:p>
            <a:pPr lvl="0" indent="0" marL="0">
              <a:buNone/>
            </a:pPr>
            <a:r>
              <a:rPr/>
              <a:t>“Total active users”, “ARR”</a:t>
            </a:r>
          </a:p>
          <a:p>
            <a:pPr lvl="0" indent="0" marL="0">
              <a:buNone/>
            </a:pPr>
            <a:r>
              <a:rPr/>
              <a:t>Customers don’t feel it directly when it moves</a:t>
            </a:r>
          </a:p>
          <a:p>
            <a:pPr lvl="0" indent="0" marL="0">
              <a:buNone/>
            </a:pPr>
            <a:r>
              <a:rPr/>
              <a:t>Leading-indicator confusion</a:t>
            </a:r>
          </a:p>
          <a:p>
            <a:pPr lvl="0" indent="0" marL="0">
              <a:buNone/>
            </a:pPr>
            <a:r>
              <a:rPr/>
              <a:t>“Time-to-first-value”</a:t>
            </a:r>
          </a:p>
          <a:p>
            <a:pPr lvl="0" indent="0" marL="0">
              <a:buNone/>
            </a:pPr>
            <a:r>
              <a:rPr/>
              <a:t>Can move without long-term customer benefit</a:t>
            </a:r>
          </a:p>
          <a:p>
            <a:pPr lvl="0" indent="0" marL="0">
              <a:buNone/>
            </a:pPr>
            <a:r>
              <a:rPr/>
              <a:t>Gameable target</a:t>
            </a:r>
          </a:p>
          <a:p>
            <a:pPr lvl="0" indent="0" marL="0">
              <a:buNone/>
            </a:pPr>
            <a:r>
              <a:rPr/>
              <a:t>“DAU” with no quality gate</a:t>
            </a:r>
          </a:p>
          <a:p>
            <a:pPr lvl="0" indent="0" marL="0">
              <a:buNone/>
            </a:pPr>
            <a:r>
              <a:rPr/>
              <a:t>Achievable via tactics that don’t earn it</a:t>
            </a:r>
          </a:p>
          <a:p>
            <a:pPr lvl="0" indent="0" marL="0">
              <a:buNone/>
            </a:pPr>
            <a:r>
              <a:rPr/>
              <a:t>Annual recurring revenue (ARR), the classic “vanity dressed up” example, moves without customers feeling it.</a:t>
            </a:r>
          </a:p>
          <a:p>
            <a:pPr lvl="0" indent="0" marL="0">
              <a:buNone/>
            </a:pPr>
            <a:r>
              <a:rPr/>
              <a:t>The trap: A real NS smells like a key performance indicator (KPI) to the inexperienced PM. A vanity metric also smells like a KPI. The difference is whether you can name the customer outcome behind it.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Public-Company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Company</a:t>
            </a:r>
          </a:p>
          <a:p>
            <a:pPr lvl="0" indent="0" marL="0">
              <a:buNone/>
            </a:pPr>
            <a:r>
              <a:rPr/>
              <a:t>NS (publicly stated or inferred)</a:t>
            </a:r>
          </a:p>
          <a:p>
            <a:pPr lvl="0" indent="0" marL="0">
              <a:buNone/>
            </a:pPr>
            <a:r>
              <a:rPr/>
              <a:t>Why it works</a:t>
            </a:r>
          </a:p>
          <a:p>
            <a:pPr lvl="0" indent="0" marL="0">
              <a:buNone/>
            </a:pPr>
            <a:r>
              <a:rPr/>
              <a:t>Spotify</a:t>
            </a:r>
          </a:p>
          <a:p>
            <a:pPr lvl="0" indent="0" marL="0">
              <a:buNone/>
            </a:pPr>
            <a:r>
              <a:rPr/>
              <a:t>Time spent listening</a:t>
            </a:r>
          </a:p>
          <a:p>
            <a:pPr lvl="0" indent="0" marL="0">
              <a:buNone/>
            </a:pPr>
            <a:r>
              <a:rPr/>
              <a:t>Customer outcome (engagement); excludes “saved but never played”</a:t>
            </a:r>
          </a:p>
          <a:p>
            <a:pPr lvl="0" indent="0" marL="0">
              <a:buNone/>
            </a:pPr>
            <a:r>
              <a:rPr/>
              <a:t>Airbnb</a:t>
            </a:r>
          </a:p>
          <a:p>
            <a:pPr lvl="0" indent="0" marL="0">
              <a:buNone/>
            </a:pPr>
            <a:r>
              <a:rPr/>
              <a:t>Nights booked</a:t>
            </a:r>
          </a:p>
          <a:p>
            <a:pPr lvl="0" indent="0" marL="0">
              <a:buNone/>
            </a:pPr>
            <a:r>
              <a:rPr/>
              <a:t>Single number; both sides of marketplace win when it climbs</a:t>
            </a:r>
          </a:p>
          <a:p>
            <a:pPr lvl="0" indent="0" marL="0">
              <a:buNone/>
            </a:pPr>
            <a:r>
              <a:rPr/>
              <a:t>Slack</a:t>
            </a:r>
          </a:p>
          <a:p>
            <a:pPr lvl="0" indent="0" marL="0">
              <a:buNone/>
            </a:pPr>
            <a:r>
              <a:rPr/>
              <a:t>Messages sent within engaged teams</a:t>
            </a:r>
          </a:p>
          <a:p>
            <a:pPr lvl="0" indent="0" marL="0">
              <a:buNone/>
            </a:pPr>
            <a:r>
              <a:rPr/>
              <a:t>Quality gate (“engaged teams”) rejects vanity</a:t>
            </a:r>
          </a:p>
          <a:p>
            <a:pPr lvl="0" indent="0" marL="0">
              <a:buNone/>
            </a:pPr>
            <a:r>
              <a:rPr/>
              <a:t>Amazon retail</a:t>
            </a:r>
          </a:p>
          <a:p>
            <a:pPr lvl="0" indent="0" marL="0">
              <a:buNone/>
            </a:pPr>
            <a:r>
              <a:rPr/>
              <a:t>Customer-defined: lowest price × selection × delivery speed</a:t>
            </a:r>
          </a:p>
          <a:p>
            <a:pPr lvl="0" indent="0" marL="0">
              <a:buNone/>
            </a:pPr>
            <a:r>
              <a:rPr/>
              <a:t>Codifies the customer-experience promise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Three Pitfalls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Your quad receives 8 NS candidates from public companies (anonymized). For each: assign 0–3 pitfalls present, with a one-line argument.</a:t>
            </a:r>
          </a:p>
          <a:p>
            <a:pPr lvl="0" indent="0" marL="0">
              <a:buNone/>
            </a:pPr>
            <a:r>
              <a:rPr/>
              <a:t>Find the one card that gets a clean bill of health</a:t>
            </a:r>
          </a:p>
          <a:p>
            <a:pPr lvl="0" indent="0" marL="0">
              <a:buNone/>
            </a:pPr>
            <a:r>
              <a:rPr/>
              <a:t>Find the card that gets all three pitfalls</a:t>
            </a:r>
          </a:p>
          <a:p>
            <a:pPr lvl="0" indent="0" marL="0">
              <a:buNone/>
            </a:pPr>
            <a:r>
              <a:rPr/>
              <a:t>Be ready to defend both choices</a:t>
            </a:r>
          </a:p>
          <a:p>
            <a:pPr lvl="0" indent="0" marL="0">
              <a:buNone/>
            </a:pPr>
            <a:r>
              <a:rPr/>
              <a:t>⏱ 25 min triage · 10 min argue · 10 min readout prep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Drafting Your 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placeholder to defensible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The NS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blanks, no exceptions:</a:t>
            </a:r>
          </a:p>
          <a:p>
            <a:pPr lvl="0" indent="0">
              <a:buNone/>
            </a:pPr>
            <a:r>
              <a:rPr>
                <a:latin typeface="Courier"/>
              </a:rPr>
              <a:t>We are winning when [customer outcome]
increases for [user segment],
measured by [single number].</a:t>
            </a:r>
          </a:p>
          <a:p>
            <a:pPr lvl="0" indent="0" marL="0">
              <a:buNone/>
            </a:pPr>
            <a:r>
              <a:rPr/>
              <a:t>FieldPulse worked example:</a:t>
            </a:r>
          </a:p>
          <a:p>
            <a:pPr lvl="0" indent="0" marL="0">
              <a:buNone/>
            </a:pPr>
            <a:r>
              <a:rPr/>
              <a:t>“We are winning when completed reconcile-flow runs per dispatcher per shift increases for HVAC dispatchers in shops with 50–200 technicians, measured by weekly completed-flow rate.”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🛡️ The Counter-Metric (the new tool)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counter-metric is a second metric that, if it moves the wrong way, signals you’re winning the NS for the wrong reasons. It is the guardrail.</a:t>
            </a:r>
          </a:p>
          <a:p>
            <a:pPr lvl="0" indent="0" marL="0">
              <a:buNone/>
            </a:pPr>
            <a:r>
              <a:rPr/>
              <a:t>NS</a:t>
            </a:r>
          </a:p>
          <a:p>
            <a:pPr lvl="0" indent="0" marL="0">
              <a:buNone/>
            </a:pPr>
            <a:r>
              <a:rPr/>
              <a:t>Counter-metric</a:t>
            </a:r>
          </a:p>
          <a:p>
            <a:pPr lvl="0" indent="0" marL="0">
              <a:buNone/>
            </a:pPr>
            <a:r>
              <a:rPr/>
              <a:t>What it catches</a:t>
            </a:r>
          </a:p>
          <a:p>
            <a:pPr lvl="0" indent="0" marL="0">
              <a:buNone/>
            </a:pPr>
            <a:r>
              <a:rPr/>
              <a:t>Hours of returned dispatcher time</a:t>
            </a:r>
          </a:p>
          <a:p>
            <a:pPr lvl="0" indent="0" marL="0">
              <a:buNone/>
            </a:pPr>
            <a:r>
              <a:rPr/>
              <a:t>% of dispatchers calling support after the new flow</a:t>
            </a:r>
          </a:p>
          <a:p>
            <a:pPr lvl="0" indent="0" marL="0">
              <a:buNone/>
            </a:pPr>
            <a:r>
              <a:rPr/>
              <a:t>Auto-flow that moved time but broke trust</a:t>
            </a:r>
          </a:p>
          <a:p>
            <a:pPr lvl="0" indent="0" marL="0">
              <a:buNone/>
            </a:pPr>
            <a:r>
              <a:rPr/>
              <a:t>Tickets resolved without escalation</a:t>
            </a:r>
          </a:p>
          <a:p>
            <a:pPr lvl="0" indent="0" marL="0">
              <a:buNone/>
            </a:pPr>
            <a:r>
              <a:rPr/>
              <a:t>Repeat-ticket rate from same customer</a:t>
            </a:r>
          </a:p>
          <a:p>
            <a:pPr lvl="0" indent="0" marL="0">
              <a:buNone/>
            </a:pPr>
            <a:r>
              <a:rPr/>
              <a:t>Closing tickets without solving them</a:t>
            </a:r>
          </a:p>
          <a:p>
            <a:pPr lvl="0" indent="0" marL="0">
              <a:buNone/>
            </a:pPr>
            <a:r>
              <a:rPr/>
              <a:t>Active accounts in week 1</a:t>
            </a:r>
          </a:p>
          <a:p>
            <a:pPr lvl="0" indent="0" marL="0">
              <a:buNone/>
            </a:pPr>
            <a:r>
              <a:rPr/>
              <a:t>30-day retention of those accounts</a:t>
            </a:r>
          </a:p>
          <a:p>
            <a:pPr lvl="0" indent="0" marL="0">
              <a:buNone/>
            </a:pPr>
            <a:r>
              <a:rPr/>
              <a:t>Activation that doesn’t stick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Re-write Your 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Each quad member proposes one NS candidate. Pitfall-test all three. Converge on one. Add a counter-metric.</a:t>
            </a:r>
          </a:p>
          <a:p>
            <a:pPr lvl="0" indent="0" marL="0">
              <a:buNone/>
            </a:pPr>
            <a:r>
              <a:rPr/>
              <a:t>25 min: each member drafts a candidate</a:t>
            </a:r>
          </a:p>
          <a:p>
            <a:pPr lvl="0" indent="0" marL="0">
              <a:buNone/>
            </a:pPr>
            <a:r>
              <a:rPr/>
              <a:t>15 min: pitfall-test all three (vanity, leading-indicator, gameable)</a:t>
            </a:r>
          </a:p>
          <a:p>
            <a:pPr lvl="0" indent="0" marL="0">
              <a:buNone/>
            </a:pPr>
            <a:r>
              <a:rPr/>
              <a:t>10 min: write the NS Defense Card with rebuttal answers + counter-metric</a:t>
            </a:r>
          </a:p>
          <a:p>
            <a:pPr lvl="0" indent="0" marL="0">
              <a:buNone/>
            </a:pPr>
            <a:r>
              <a:rPr/>
              <a:t>⏱ 15 min draft · 15 min test · 10 min defense card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The “CEO and Dispatcher”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NS, two audiences, no translation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👨‍💼 👨‍🔧 Two Audiences, Same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defensible NS lands with the CEO (resource allocator) and with the target customer (the person whose life it represents) without translation.</a:t>
            </a:r>
          </a:p>
          <a:p>
            <a:pPr lvl="0" indent="0" marL="0">
              <a:buNone/>
            </a:pPr>
            <a:r>
              <a:rPr/>
              <a:t>The CEO probes</a:t>
            </a:r>
          </a:p>
          <a:p>
            <a:pPr lvl="0" indent="0" marL="0">
              <a:buNone/>
            </a:pPr>
            <a:r>
              <a:rPr/>
              <a:t>“What if it goes up 20%? What does that earn the company?”</a:t>
            </a:r>
          </a:p>
          <a:p>
            <a:pPr lvl="0" indent="0" marL="0">
              <a:buNone/>
            </a:pPr>
            <a:r>
              <a:rPr/>
              <a:t>“Why this metric, not [adjacent KPI]?”</a:t>
            </a:r>
          </a:p>
          <a:p>
            <a:pPr lvl="0" indent="0" marL="0">
              <a:buNone/>
            </a:pPr>
            <a:r>
              <a:rPr/>
              <a:t>“How do we know we won, not lost?”</a:t>
            </a:r>
          </a:p>
          <a:p>
            <a:pPr lvl="0" indent="0" marL="0">
              <a:buNone/>
            </a:pPr>
            <a:r>
              <a:rPr/>
              <a:t>The customer probes</a:t>
            </a:r>
          </a:p>
          <a:p>
            <a:pPr lvl="0" indent="0" marL="0">
              <a:buNone/>
            </a:pPr>
            <a:r>
              <a:rPr/>
              <a:t>“What changes about my Wednesday afternoon?”</a:t>
            </a:r>
          </a:p>
          <a:p>
            <a:pPr lvl="0" indent="0" marL="0">
              <a:buNone/>
            </a:pPr>
            <a:r>
              <a:rPr/>
              <a:t>“What do I feel when it goes up?”</a:t>
            </a:r>
          </a:p>
          <a:p>
            <a:pPr lvl="0" indent="0" marL="0">
              <a:buNone/>
            </a:pPr>
            <a:r>
              <a:rPr/>
              <a:t>“Why would I tell a colleague this got better?”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Walk Down, Walk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down</a:t>
            </a:r>
          </a:p>
          <a:p>
            <a:pPr lvl="0" indent="0" marL="0">
              <a:buNone/>
            </a:pPr>
            <a:r>
              <a:rPr/>
              <a:t>From the NS to your operational signals: do they each plausibly contribute to it? Drop or replace any that don’t.</a:t>
            </a:r>
          </a:p>
          <a:p>
            <a:pPr lvl="0" indent="0" marL="0">
              <a:buNone/>
            </a:pPr>
            <a:r>
              <a:rPr/>
              <a:t>Walk up</a:t>
            </a:r>
          </a:p>
          <a:p>
            <a:pPr lvl="0" indent="0" marL="0">
              <a:buNone/>
            </a:pPr>
            <a:r>
              <a:rPr/>
              <a:t>From the NS to a business outcome leadership cares about: revenue, retention, time-to-value. Can you trace it?</a:t>
            </a:r>
          </a:p>
          <a:p>
            <a:pPr lvl="0" indent="0" marL="0">
              <a:buNone/>
            </a:pPr>
            <a:r>
              <a:rPr/>
              <a:t>If both fail</a:t>
            </a:r>
          </a:p>
          <a:p>
            <a:pPr lvl="0" indent="0" marL="0">
              <a:buNone/>
            </a:pPr>
            <a:r>
              <a:rPr/>
              <a:t>Your NS is a KPI in disguise. Re-pick the customer outcome layer.</a:t>
            </a:r>
          </a:p>
          <a:p>
            <a:pPr lvl="0" indent="0" marL="0">
              <a:buNone/>
            </a:pPr>
            <a:r>
              <a:rPr/>
              <a:t>The Tier Sheet, refreshed: NS at the top, KPIs and operational signals re-checked against it. Coherence above all.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“CEO and Dispatcher”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 pairs • 50 minutes</a:t>
            </a:r>
          </a:p>
          <a:p>
            <a:pPr lvl="0" indent="0" marL="0">
              <a:buNone/>
            </a:pPr>
            <a:r>
              <a:rPr/>
              <a:t>Pair with another quad. Take turns being defender and challenger. Challenger plays CEO for 4 min, then dispatcher for 4 min.</a:t>
            </a:r>
          </a:p>
          <a:p>
            <a:pPr lvl="0" indent="0" marL="0">
              <a:buNone/>
            </a:pPr>
            <a:r>
              <a:rPr/>
              <a:t>Use the persona scripts in your packet (or paraphrase)</a:t>
            </a:r>
          </a:p>
          <a:p>
            <a:pPr lvl="0" indent="0" marL="0">
              <a:buNone/>
            </a:pPr>
            <a:r>
              <a:rPr/>
              <a:t>Defender records the strongest challenge from each role</a:t>
            </a:r>
          </a:p>
          <a:p>
            <a:pPr lvl="0" indent="0" marL="0">
              <a:buNone/>
            </a:pPr>
            <a:r>
              <a:rPr/>
              <a:t>Note: this is rehearsal, not stand-up comedy — commit to the role</a:t>
            </a:r>
          </a:p>
          <a:p>
            <a:pPr lvl="0" indent="0" marL="0">
              <a:buNone/>
            </a:pPr>
            <a:r>
              <a:rPr/>
              <a:t>⏱ 20 min round 1 · 20 min round 2 · 10 min capture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Lock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Replace the placeholder, refresh the Tier Sheet, present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Lock-in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NS uses the template (outcome / segment / number)</a:t>
            </a:r>
          </a:p>
          <a:p>
            <a:pPr lvl="0" indent="0" marL="0">
              <a:buNone/>
            </a:pPr>
            <a:r>
              <a:rPr/>
              <a:t>All three pitfall rebuttals are written, not waved away</a:t>
            </a:r>
          </a:p>
          <a:p>
            <a:pPr lvl="0" indent="0" marL="0">
              <a:buNone/>
            </a:pPr>
            <a:r>
              <a:rPr/>
              <a:t>Counter-metric is named and concrete</a:t>
            </a:r>
          </a:p>
          <a:p>
            <a:pPr lvl="0" indent="0" marL="0">
              <a:buNone/>
            </a:pPr>
            <a:r>
              <a:rPr/>
              <a:t>CEO challenge is captured and addressed</a:t>
            </a:r>
          </a:p>
          <a:p>
            <a:pPr lvl="0" indent="0" marL="0">
              <a:buNone/>
            </a:pPr>
            <a:r>
              <a:rPr/>
              <a:t>Dispatcher challenge is captured and addressed</a:t>
            </a:r>
          </a:p>
          <a:p>
            <a:pPr lvl="0" indent="0" marL="0">
              <a:buNone/>
            </a:pPr>
            <a:r>
              <a:rPr/>
              <a:t>Walk-down: every operational signal still belongs</a:t>
            </a:r>
          </a:p>
          <a:p>
            <a:pPr lvl="0" indent="0" marL="0">
              <a:buNone/>
            </a:pPr>
            <a:r>
              <a:rPr/>
              <a:t>Walk-up: it rolls up to a business outcome leadership cares about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Lock-In + Refresh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Readouts</a:t>
            </a:r>
          </a:p>
          <a:p>
            <a:pPr lvl="0" indent="0" marL="0">
              <a:buNone/>
            </a:pPr>
            <a:r>
              <a:rPr/>
              <a:t>Final NS lock-in, walk-down/walk-up of the Tier Sheet, and a 90-second readout per quad.</a:t>
            </a:r>
          </a:p>
          <a:p>
            <a:pPr lvl="0" indent="0" marL="0">
              <a:buNone/>
            </a:pPr>
            <a:r>
              <a:rPr/>
              <a:t>10 min: lock the NS</a:t>
            </a:r>
          </a:p>
          <a:p>
            <a:pPr lvl="0" indent="0" marL="0">
              <a:buNone/>
            </a:pPr>
            <a:r>
              <a:rPr/>
              <a:t>30 min: walk-down (signals) and walk-up (KPIs &amp; business outcome)</a:t>
            </a:r>
          </a:p>
          <a:p>
            <a:pPr lvl="0" indent="0" marL="0">
              <a:buNone/>
            </a:pPr>
            <a:r>
              <a:rPr/>
              <a:t>15 min: polish Defense Card and Tier Sheet for sharing</a:t>
            </a:r>
          </a:p>
          <a:p>
            <a:pPr lvl="0" indent="0" marL="0">
              <a:buNone/>
            </a:pPr>
            <a:r>
              <a:rPr/>
              <a:t>⏱ 10 lock · 20 walk · 15 polish · 90s readouts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Three pitfalls + rebuttal habit</a:t>
            </a:r>
          </a:p>
          <a:p>
            <a:pPr lvl="0" indent="0" marL="0">
              <a:buNone/>
            </a:pPr>
            <a:r>
              <a:rPr/>
              <a:t>NS template (outcome / segment / number)</a:t>
            </a:r>
          </a:p>
          <a:p>
            <a:pPr lvl="0" indent="0" marL="0">
              <a:buNone/>
            </a:pPr>
            <a:r>
              <a:rPr/>
              <a:t>Counter-metric guardrail</a:t>
            </a:r>
          </a:p>
          <a:p>
            <a:pPr lvl="0" indent="0" marL="0">
              <a:buNone/>
            </a:pPr>
            <a:r>
              <a:rPr/>
              <a:t>“CEO and Dispatcher” test</a:t>
            </a:r>
          </a:p>
          <a:p>
            <a:pPr lvl="0" indent="0" marL="0">
              <a:buNone/>
            </a:pPr>
            <a:r>
              <a:rPr/>
              <a:t>Locked NS + refreshed Tier Sheet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Product design &amp; UX principles</a:t>
            </a:r>
          </a:p>
          <a:p>
            <a:pPr lvl="0" indent="0" marL="0">
              <a:buNone/>
            </a:pPr>
            <a:r>
              <a:rPr/>
              <a:t>How a TPM partners with design without becoming a designer</a:t>
            </a:r>
          </a:p>
          <a:p>
            <a:pPr lvl="0" indent="0" marL="0">
              <a:buNone/>
            </a:pPr>
            <a:r>
              <a:rPr/>
              <a:t>Audit a real product surface against UX heuristics</a:t>
            </a:r>
          </a:p>
          <a:p>
            <a:pPr lvl="0" indent="0" marL="0">
              <a:buNone/>
            </a:pPr>
            <a:r>
              <a:rPr/>
              <a:t>Bring to Day 3: One product surface (FieldPulse mobile, web, or a competitor) you want to UX-audit.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your NS climbs 20% next quarter, what changes about your customer’s day?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2026-08-28T15:28:15Z</dcterms:created>
  <dcterms:modified xsi:type="dcterms:W3CDTF">2026-08-28T15:28:15Z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