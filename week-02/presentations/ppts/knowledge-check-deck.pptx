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tell is the top and bottom: one NS, many operational signals. If they picked C, they’ve inverted the KPI/signal counts — the most common slip.</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someone says “metric,” ask “to whom?” The CEO doesn’t want operational signals; the squad can’t act on a North Star.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The word “hidden” is the tell — the whole point of Day 1 was to surface these openly.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Often half of a good signal list is “we don’t have this data yet.” That’s a feature of honest work, not a bug.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 is a list of KPIs, not NS parts. D sneaks in the counter-metric, which is a separate tool. The three blanks are outcome / segment / number.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are winning when [customer outcome] increases for [user segment], measured by [single number].” Read it slowly; each blank has to earn its place.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distractors are all plausible-sounding. The key word in the right answer is “wrong reasons” — the counter-metric is a guardrail against gaming.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counter-metric is the single most durable new concept of Day 2. It survives every challenge season after season.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“CEO and Dispatcher” test disguised as a T/F. The word “translation” is the tell.</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CEO probes “what does 20% up earn us?” The dispatcher probes “what changes about my Wednesday afternoon?” The same number has to answer both.</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 is Nielsen heuristics, C is a11y-floor checks, D is Week 1’s pain model. Three overlapping traps — this rewards close listening.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 — Severity × Frequency × Addressability — is Week 1’s pain-prioritization model, not a UX lens. Watch for that cross-week confusion.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The over-reach in “become the expert” is the tell. The real bar is lower and sharper.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squads have a designer who knows a11y deeply. They’ll love a TPM who flags floor violations early — use it to win allyship.</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B, and D all operate on source you provided. Only C asks the AI to invent a market fact — the highest-cost mistake a TPM makes with AI.</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safe pattern is two prompts: structure-what-we-know, then tell-us-what’s-missing. That converts AI from a knowledge generator into a research planner.</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discipline of Day 4 in one question. Let them argue it — many will want to trust the label.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moment most TPMs skip in real work. Triads who cut nothing didn’t actually verify.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Theme inflation lumps distinct complaints; source bias over-weights the loudest source. Only citation invention manufactures a source that doesn’t exist.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four failure modes appeared in the prior cohort’s first attempt. Surface them as inevitable, not as judgments of the AI.</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 is the classic product-discovery lens and the tempting trap. The three-test bar here is friction / metric / principle — it ties the feature back to the week’s own artifacts.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feature card ties a starred friction on the map to an operational signal or KPI on the Tier Sheet and to one of the 3 design principles.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 is the </a:t>
            </a:r>
            <a:r>
              <a:rPr i="1"/>
              <a:t>opposite</a:t>
            </a:r>
            <a:r>
              <a:rPr/>
              <a:t> case — that’s zero stars. The trap is thinking more stars = more thorough. Friction stars should cluster.</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clustering check is simple but high-yield. Walk the room and call it out where the stars are smeared across every stage.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Week 3’s coaching starts — and the journey map and feature cards are direct PRD inputs.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2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Strategic Design &amp; Metrics</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the metrics pyramid, the North Star &amp; counter-metric, UX heuristics, AI-assisted research, and journey mapping.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The Metrics Pyramid has a deliberate shape. Which set of counts, top to bottom, is correct?</a:t>
            </a:r>
          </a:p>
          <a:p>
            <a:pPr lvl="0" indent="-342900" marL="342900">
              <a:buAutoNum type="alphaUcParenR"/>
            </a:pPr>
            <a:r>
              <a:rPr/>
              <a:t>Many North Stars, few KPIs, few operational signals</a:t>
            </a:r>
          </a:p>
          <a:p>
            <a:pPr lvl="0" indent="-342900" marL="342900">
              <a:buAutoNum type="alphaUcParenR"/>
            </a:pPr>
            <a:r>
              <a:rPr/>
              <a:t>1 North Star, 2–4 KPIs, 4–10 operational signals</a:t>
            </a:r>
          </a:p>
          <a:p>
            <a:pPr lvl="0" indent="-342900" marL="342900">
              <a:buAutoNum type="alphaUcParenR"/>
            </a:pPr>
            <a:r>
              <a:rPr/>
              <a:t>1 North Star, 10 KPIs, 2–3 operational signals</a:t>
            </a:r>
          </a:p>
          <a:p>
            <a:pPr lvl="0" indent="-342900" marL="342900">
              <a:buAutoNum type="alphaUcParenR"/>
            </a:pPr>
            <a:r>
              <a:rPr/>
              <a:t>Equal numbers at every tier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B</a:t>
            </a:r>
          </a:p>
        </p:txBody>
      </p:sp>
      <p:sp>
        <p:nvSpPr>
          <p:cNvPr id="3" name="Content Placeholder 2"/>
          <p:cNvSpPr>
            <a:spLocks noGrp="1"/>
          </p:cNvSpPr>
          <p:nvPr>
            <p:ph idx="1"/>
          </p:nvPr>
        </p:nvSpPr>
        <p:spPr/>
        <p:txBody>
          <a:bodyPr/>
          <a:lstStyle/>
          <a:p>
            <a:pPr lvl="0" indent="0" marL="0">
              <a:buNone/>
            </a:pPr>
            <a:r>
              <a:rPr/>
              <a:t>1 North Star, 2–4 KPIs, 4–10 operational signals.</a:t>
            </a:r>
          </a:p>
          <a:p>
            <a:pPr lvl="0" indent="0" marL="0">
              <a:buNone/>
            </a:pPr>
            <a:r>
              <a:rPr/>
              <a:t>Few at the top, many at the bottom. “A team that has 10 KPIs has 0 KPIs.”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 — True / False</a:t>
            </a:r>
          </a:p>
        </p:txBody>
      </p:sp>
      <p:sp>
        <p:nvSpPr>
          <p:cNvPr id="3" name="Content Placeholder 2"/>
          <p:cNvSpPr>
            <a:spLocks noGrp="1"/>
          </p:cNvSpPr>
          <p:nvPr>
            <p:ph idx="1"/>
          </p:nvPr>
        </p:nvSpPr>
        <p:spPr/>
        <p:txBody>
          <a:bodyPr/>
          <a:lstStyle/>
          <a:p>
            <a:pPr lvl="0" indent="0" marL="0">
              <a:buNone/>
            </a:pPr>
            <a:r>
              <a:rPr/>
              <a:t>When a candidate operational signal can’t be measured in production today, it’s a failure that should be hidden until the data exists.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False</a:t>
            </a:r>
          </a:p>
        </p:txBody>
      </p:sp>
      <p:sp>
        <p:nvSpPr>
          <p:cNvPr id="3" name="Content Placeholder 2"/>
          <p:cNvSpPr>
            <a:spLocks noGrp="1"/>
          </p:cNvSpPr>
          <p:nvPr>
            <p:ph idx="1"/>
          </p:nvPr>
        </p:nvSpPr>
        <p:spPr/>
        <p:txBody>
          <a:bodyPr/>
          <a:lstStyle/>
          <a:p>
            <a:pPr lvl="0" indent="0" marL="0">
              <a:buNone/>
            </a:pPr>
            <a:r>
              <a:rPr/>
              <a:t>“We don’t measure that today” is not a failure — it’s a finding.</a:t>
            </a:r>
          </a:p>
          <a:p>
            <a:pPr lvl="0" indent="0" marL="0">
              <a:buNone/>
            </a:pPr>
            <a:r>
              <a:rPr/>
              <a:t>It’s an instrumentation gap. Surface it openly; it becomes a Week 4–5 conversation.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a:t>
            </a:r>
          </a:p>
        </p:txBody>
      </p:sp>
      <p:sp>
        <p:nvSpPr>
          <p:cNvPr id="3" name="Content Placeholder 2"/>
          <p:cNvSpPr>
            <a:spLocks noGrp="1"/>
          </p:cNvSpPr>
          <p:nvPr>
            <p:ph idx="1"/>
          </p:nvPr>
        </p:nvSpPr>
        <p:spPr/>
        <p:txBody>
          <a:bodyPr/>
          <a:lstStyle/>
          <a:p>
            <a:pPr lvl="0" indent="0" marL="0">
              <a:buNone/>
            </a:pPr>
            <a:r>
              <a:rPr/>
              <a:t>The North Star template requires exactly three parts. Which set?</a:t>
            </a:r>
          </a:p>
          <a:p>
            <a:pPr lvl="0" indent="-342900" marL="342900">
              <a:buAutoNum type="alphaUcParenR"/>
            </a:pPr>
            <a:r>
              <a:rPr/>
              <a:t>Customer outcome, user segment, single number</a:t>
            </a:r>
          </a:p>
          <a:p>
            <a:pPr lvl="0" indent="-342900" marL="342900">
              <a:buAutoNum type="alphaUcParenR"/>
            </a:pPr>
            <a:r>
              <a:rPr/>
              <a:t>Revenue, retention, NPS</a:t>
            </a:r>
          </a:p>
          <a:p>
            <a:pPr lvl="0" indent="-342900" marL="342900">
              <a:buAutoNum type="alphaUcParenR"/>
            </a:pPr>
            <a:r>
              <a:rPr/>
              <a:t>Problem, solution, metric</a:t>
            </a:r>
          </a:p>
          <a:p>
            <a:pPr lvl="0" indent="-342900" marL="342900">
              <a:buAutoNum type="alphaUcParenR"/>
            </a:pPr>
            <a:r>
              <a:rPr/>
              <a:t>Customer outcome, counter-metric, deadline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A</a:t>
            </a:r>
          </a:p>
        </p:txBody>
      </p:sp>
      <p:sp>
        <p:nvSpPr>
          <p:cNvPr id="3" name="Content Placeholder 2"/>
          <p:cNvSpPr>
            <a:spLocks noGrp="1"/>
          </p:cNvSpPr>
          <p:nvPr>
            <p:ph idx="1"/>
          </p:nvPr>
        </p:nvSpPr>
        <p:spPr/>
        <p:txBody>
          <a:bodyPr/>
          <a:lstStyle/>
          <a:p>
            <a:pPr lvl="0" indent="0" marL="0">
              <a:buNone/>
            </a:pPr>
            <a:r>
              <a:rPr/>
              <a:t>Customer outcome / user segment / single number.</a:t>
            </a:r>
          </a:p>
          <a:p>
            <a:pPr lvl="0" indent="0" marL="0">
              <a:buNone/>
            </a:pPr>
            <a:r>
              <a:rPr/>
              <a:t>Miss any blank and the team fights about which version of the NS they meant. Each blank failing is a different bug.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A counter-metric is best described as:</a:t>
            </a:r>
          </a:p>
          <a:p>
            <a:pPr lvl="0" indent="-342900" marL="342900">
              <a:buAutoNum type="alphaUcParenR"/>
            </a:pPr>
            <a:r>
              <a:rPr/>
              <a:t>A backup North Star to use if the first one fails</a:t>
            </a:r>
          </a:p>
          <a:p>
            <a:pPr lvl="0" indent="-342900" marL="342900">
              <a:buAutoNum type="alphaUcParenR"/>
            </a:pPr>
            <a:r>
              <a:rPr/>
              <a:t>A second metric that, if it moves the wrong way, signals you’re winning the NS for the wrong reasons</a:t>
            </a:r>
          </a:p>
          <a:p>
            <a:pPr lvl="0" indent="-342900" marL="342900">
              <a:buAutoNum type="alphaUcParenR"/>
            </a:pPr>
            <a:r>
              <a:rPr/>
              <a:t>A competitor’s metric you benchmark yourself against</a:t>
            </a:r>
          </a:p>
          <a:p>
            <a:pPr lvl="0" indent="-342900" marL="342900">
              <a:buAutoNum type="alphaUcParenR"/>
            </a:pPr>
            <a:r>
              <a:rPr/>
              <a:t>The KPI that sits directly below the North Star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B</a:t>
            </a:r>
          </a:p>
        </p:txBody>
      </p:sp>
      <p:sp>
        <p:nvSpPr>
          <p:cNvPr id="3" name="Content Placeholder 2"/>
          <p:cNvSpPr>
            <a:spLocks noGrp="1"/>
          </p:cNvSpPr>
          <p:nvPr>
            <p:ph idx="1"/>
          </p:nvPr>
        </p:nvSpPr>
        <p:spPr/>
        <p:txBody>
          <a:bodyPr/>
          <a:lstStyle/>
          <a:p>
            <a:pPr lvl="0" indent="0" marL="0">
              <a:buNone/>
            </a:pPr>
            <a:r>
              <a:rPr/>
              <a:t>A second metric that catches winning the NS for the wrong reasons.</a:t>
            </a:r>
          </a:p>
          <a:p>
            <a:pPr lvl="0" indent="0" marL="0">
              <a:buNone/>
            </a:pPr>
            <a:r>
              <a:rPr/>
              <a:t>The guardrail. Example: hours of dispatcher time returned (NS) paired with % calling support after the new flow (counter-metric) — catches auto-flow that moved time but broke trust.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 — True / False</a:t>
            </a:r>
          </a:p>
        </p:txBody>
      </p:sp>
      <p:sp>
        <p:nvSpPr>
          <p:cNvPr id="3" name="Content Placeholder 2"/>
          <p:cNvSpPr>
            <a:spLocks noGrp="1"/>
          </p:cNvSpPr>
          <p:nvPr>
            <p:ph idx="1"/>
          </p:nvPr>
        </p:nvSpPr>
        <p:spPr/>
        <p:txBody>
          <a:bodyPr/>
          <a:lstStyle/>
          <a:p>
            <a:pPr lvl="0" indent="0" marL="0">
              <a:buNone/>
            </a:pPr>
            <a:r>
              <a:rPr/>
              <a:t>A North Star that lands with leadership but needs translation before it means anything to the customer still qualifies as a defensible North Star.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False</a:t>
            </a:r>
          </a:p>
        </p:txBody>
      </p:sp>
      <p:sp>
        <p:nvSpPr>
          <p:cNvPr id="3" name="Content Placeholder 2"/>
          <p:cNvSpPr>
            <a:spLocks noGrp="1"/>
          </p:cNvSpPr>
          <p:nvPr>
            <p:ph idx="1"/>
          </p:nvPr>
        </p:nvSpPr>
        <p:spPr/>
        <p:txBody>
          <a:bodyPr/>
          <a:lstStyle/>
          <a:p>
            <a:pPr lvl="0" indent="0" marL="0">
              <a:buNone/>
            </a:pPr>
            <a:r>
              <a:rPr/>
              <a:t>A defensible NS lands with the CEO and the customer without translation.</a:t>
            </a:r>
          </a:p>
          <a:p>
            <a:pPr lvl="0" indent="0" marL="0">
              <a:buNone/>
            </a:pPr>
            <a:r>
              <a:rPr/>
              <a:t>If it only lands with one audience, it’s a KPI in disguise.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Beyond Nielsen’s 10 heuristics, Day 3 adds three TPM-specific lenses. Which set?</a:t>
            </a:r>
          </a:p>
          <a:p>
            <a:pPr lvl="0" indent="-342900" marL="342900">
              <a:buAutoNum type="alphaUcParenR"/>
            </a:pPr>
            <a:r>
              <a:rPr/>
              <a:t>Time-to-first-value, failure-mode dignity, power-user respect</a:t>
            </a:r>
          </a:p>
          <a:p>
            <a:pPr lvl="0" indent="-342900" marL="342900">
              <a:buAutoNum type="alphaUcParenR"/>
            </a:pPr>
            <a:r>
              <a:rPr/>
              <a:t>Consistency, minimalism, error prevention</a:t>
            </a:r>
          </a:p>
          <a:p>
            <a:pPr lvl="0" indent="-342900" marL="342900">
              <a:buAutoNum type="alphaUcParenR"/>
            </a:pPr>
            <a:r>
              <a:rPr/>
              <a:t>Color contrast, focus order, alt text</a:t>
            </a:r>
          </a:p>
          <a:p>
            <a:pPr lvl="0" indent="-342900" marL="342900">
              <a:buAutoNum type="alphaUcParenR"/>
            </a:pPr>
            <a:r>
              <a:rPr/>
              <a:t>Severity, frequency, addressability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A</a:t>
            </a:r>
          </a:p>
        </p:txBody>
      </p:sp>
      <p:sp>
        <p:nvSpPr>
          <p:cNvPr id="3" name="Content Placeholder 2"/>
          <p:cNvSpPr>
            <a:spLocks noGrp="1"/>
          </p:cNvSpPr>
          <p:nvPr>
            <p:ph idx="1"/>
          </p:nvPr>
        </p:nvSpPr>
        <p:spPr/>
        <p:txBody>
          <a:bodyPr/>
          <a:lstStyle/>
          <a:p>
            <a:pPr lvl="0" indent="0" marL="0">
              <a:buNone/>
            </a:pPr>
            <a:r>
              <a:rPr/>
              <a:t>Time-to-first-value, failure-mode dignity, power-user respect.</a:t>
            </a:r>
          </a:p>
          <a:p>
            <a:pPr lvl="0" indent="0" marL="0">
              <a:buNone/>
            </a:pPr>
            <a:r>
              <a:rPr/>
              <a:t>The three heuristics designers most often skip early and blame on engineering later. Failure-mode dignity is especially load-bearing for a dispatch tool that runs in trucks with bad signal.</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 — True / False</a:t>
            </a:r>
          </a:p>
        </p:txBody>
      </p:sp>
      <p:sp>
        <p:nvSpPr>
          <p:cNvPr id="3" name="Content Placeholder 2"/>
          <p:cNvSpPr>
            <a:spLocks noGrp="1"/>
          </p:cNvSpPr>
          <p:nvPr>
            <p:ph idx="1"/>
          </p:nvPr>
        </p:nvSpPr>
        <p:spPr/>
        <p:txBody>
          <a:bodyPr/>
          <a:lstStyle/>
          <a:p>
            <a:pPr lvl="0" indent="0" marL="0">
              <a:buNone/>
            </a:pPr>
            <a:r>
              <a:rPr/>
              <a:t>The TPM’s accessibility responsibility is to personally become the squad’s accessibility expert.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False</a:t>
            </a:r>
          </a:p>
        </p:txBody>
      </p:sp>
      <p:sp>
        <p:nvSpPr>
          <p:cNvPr id="3" name="Content Placeholder 2"/>
          <p:cNvSpPr>
            <a:spLocks noGrp="1"/>
          </p:cNvSpPr>
          <p:nvPr>
            <p:ph idx="1"/>
          </p:nvPr>
        </p:nvSpPr>
        <p:spPr/>
        <p:txBody>
          <a:bodyPr/>
          <a:lstStyle/>
          <a:p>
            <a:pPr lvl="0" indent="0" marL="0">
              <a:buNone/>
            </a:pPr>
            <a:r>
              <a:rPr/>
              <a:t>The job isn’t to be the a11y expert — it’s to refuse to ship a feature that fails the 8-check floor, and to spot failures unsolicited.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a:t>
            </a:r>
          </a:p>
        </p:txBody>
      </p:sp>
      <p:sp>
        <p:nvSpPr>
          <p:cNvPr id="3" name="Content Placeholder 2"/>
          <p:cNvSpPr>
            <a:spLocks noGrp="1"/>
          </p:cNvSpPr>
          <p:nvPr>
            <p:ph idx="1"/>
          </p:nvPr>
        </p:nvSpPr>
        <p:spPr/>
        <p:txBody>
          <a:bodyPr/>
          <a:lstStyle/>
          <a:p>
            <a:pPr lvl="0" indent="0" marL="0">
              <a:buNone/>
            </a:pPr>
            <a:r>
              <a:rPr/>
              <a:t>Which request crosses the “bright line” — asking AI to do something it can’t do safely?</a:t>
            </a:r>
          </a:p>
          <a:p>
            <a:pPr lvl="0" indent="-342900" marL="342900">
              <a:buAutoNum type="alphaUcParenR"/>
            </a:pPr>
            <a:r>
              <a:rPr/>
              <a:t>“Structure these two product-tour transcripts into a comparison matrix”</a:t>
            </a:r>
          </a:p>
          <a:p>
            <a:pPr lvl="0" indent="-342900" marL="342900">
              <a:buAutoNum type="alphaUcParenR"/>
            </a:pPr>
            <a:r>
              <a:rPr/>
              <a:t>“Identify 3 questions these materials don’t answer”</a:t>
            </a:r>
          </a:p>
          <a:p>
            <a:pPr lvl="0" indent="-342900" marL="342900">
              <a:buAutoNum type="alphaUcParenR"/>
            </a:pPr>
            <a:r>
              <a:rPr/>
              <a:t>“What is ServiceTitan’s market share?”</a:t>
            </a:r>
          </a:p>
          <a:p>
            <a:pPr lvl="0" indent="-342900" marL="342900">
              <a:buAutoNum type="alphaUcParenR"/>
            </a:pPr>
            <a:r>
              <a:rPr/>
              <a:t>“Tell me what’s missing relative to my own product”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C</a:t>
            </a:r>
          </a:p>
        </p:txBody>
      </p:sp>
      <p:sp>
        <p:nvSpPr>
          <p:cNvPr id="3" name="Content Placeholder 2"/>
          <p:cNvSpPr>
            <a:spLocks noGrp="1"/>
          </p:cNvSpPr>
          <p:nvPr>
            <p:ph idx="1"/>
          </p:nvPr>
        </p:nvSpPr>
        <p:spPr/>
        <p:txBody>
          <a:bodyPr/>
          <a:lstStyle/>
          <a:p>
            <a:pPr lvl="0" indent="0" marL="0">
              <a:buNone/>
            </a:pPr>
            <a:r>
              <a:rPr/>
              <a:t>“What is ServiceTitan’s market share?”</a:t>
            </a:r>
          </a:p>
          <a:p>
            <a:pPr lvl="0" indent="0" marL="0">
              <a:buNone/>
            </a:pPr>
            <a:r>
              <a:rPr/>
              <a:t>AI can summarize and structure source material you provide. It cannot tell you what competitors actually do — it will return a confident, plausible, fabricated answer.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 — True / False</a:t>
            </a:r>
          </a:p>
        </p:txBody>
      </p:sp>
      <p:sp>
        <p:nvSpPr>
          <p:cNvPr id="3" name="Content Placeholder 2"/>
          <p:cNvSpPr>
            <a:spLocks noGrp="1"/>
          </p:cNvSpPr>
          <p:nvPr>
            <p:ph idx="1"/>
          </p:nvPr>
        </p:nvSpPr>
        <p:spPr/>
        <p:txBody>
          <a:bodyPr/>
          <a:lstStyle/>
          <a:p>
            <a:pPr lvl="0" indent="0" marL="0">
              <a:buNone/>
            </a:pPr>
            <a:r>
              <a:rPr/>
              <a:t>When cross-validating an AI research summary, the AI’s own confidence rating (H/M/L) is a reliable signal of which themes you can trust.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False</a:t>
            </a:r>
          </a:p>
        </p:txBody>
      </p:sp>
      <p:sp>
        <p:nvSpPr>
          <p:cNvPr id="3" name="Content Placeholder 2"/>
          <p:cNvSpPr>
            <a:spLocks noGrp="1"/>
          </p:cNvSpPr>
          <p:nvPr>
            <p:ph idx="1"/>
          </p:nvPr>
        </p:nvSpPr>
        <p:spPr/>
        <p:txBody>
          <a:bodyPr/>
          <a:lstStyle/>
          <a:p>
            <a:pPr lvl="0" indent="0" marL="0">
              <a:buNone/>
            </a:pPr>
            <a:r>
              <a:rPr/>
              <a:t>Don’t trust the AI’s confidence about its own output.</a:t>
            </a:r>
          </a:p>
          <a:p>
            <a:pPr lvl="0" indent="0" marL="0">
              <a:buNone/>
            </a:pPr>
            <a:r>
              <a:rPr/>
              <a:t>Independent citation verification is the only reliable signal. If a citation can’t be verified, cut it and lower the theme’s confidence.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a:t>
            </a:r>
          </a:p>
        </p:txBody>
      </p:sp>
      <p:sp>
        <p:nvSpPr>
          <p:cNvPr id="3" name="Content Placeholder 2"/>
          <p:cNvSpPr>
            <a:spLocks noGrp="1"/>
          </p:cNvSpPr>
          <p:nvPr>
            <p:ph idx="1"/>
          </p:nvPr>
        </p:nvSpPr>
        <p:spPr/>
        <p:txBody>
          <a:bodyPr/>
          <a:lstStyle/>
          <a:p>
            <a:pPr lvl="0" indent="0" marL="0">
              <a:buNone/>
            </a:pPr>
            <a:r>
              <a:rPr/>
              <a:t>An AI summary cites “Ticket #4,” but no such ticket exists in your pack. Which summarization failure mode is this?</a:t>
            </a:r>
          </a:p>
          <a:p>
            <a:pPr lvl="0" indent="-342900" marL="342900">
              <a:buAutoNum type="alphaUcParenR"/>
            </a:pPr>
            <a:r>
              <a:rPr/>
              <a:t>Theme inflation</a:t>
            </a:r>
          </a:p>
          <a:p>
            <a:pPr lvl="0" indent="-342900" marL="342900">
              <a:buAutoNum type="alphaUcParenR"/>
            </a:pPr>
            <a:r>
              <a:rPr/>
              <a:t>Citation invention</a:t>
            </a:r>
          </a:p>
          <a:p>
            <a:pPr lvl="0" indent="-342900" marL="342900">
              <a:buAutoNum type="alphaUcParenR"/>
            </a:pPr>
            <a:r>
              <a:rPr/>
              <a:t>Premature confidence</a:t>
            </a:r>
          </a:p>
          <a:p>
            <a:pPr lvl="0" indent="-342900" marL="342900">
              <a:buAutoNum type="alphaUcParenR"/>
            </a:pPr>
            <a:r>
              <a:rPr/>
              <a:t>Source bias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B</a:t>
            </a:r>
          </a:p>
        </p:txBody>
      </p:sp>
      <p:sp>
        <p:nvSpPr>
          <p:cNvPr id="3" name="Content Placeholder 2"/>
          <p:cNvSpPr>
            <a:spLocks noGrp="1"/>
          </p:cNvSpPr>
          <p:nvPr>
            <p:ph idx="1"/>
          </p:nvPr>
        </p:nvSpPr>
        <p:spPr/>
        <p:txBody>
          <a:bodyPr/>
          <a:lstStyle/>
          <a:p>
            <a:pPr lvl="0" indent="0" marL="0">
              <a:buNone/>
            </a:pPr>
            <a:r>
              <a:rPr/>
              <a:t>Citation invention.</a:t>
            </a:r>
          </a:p>
          <a:p>
            <a:pPr lvl="0" indent="0" marL="0">
              <a:buNone/>
            </a:pPr>
            <a:r>
              <a:rPr/>
              <a:t>Fix: verify every cited source exists, and demote uncited claims. If 2+ citations are cut from one theme, cut the theme or relabel it “hypothesis to validate.”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A feature concept earns a place off the journey map only if it passes all three tests. Which set?</a:t>
            </a:r>
          </a:p>
          <a:p>
            <a:pPr lvl="0" indent="-342900" marL="342900">
              <a:buAutoNum type="alphaUcParenR"/>
            </a:pPr>
            <a:r>
              <a:rPr/>
              <a:t>Friction link, metric link, principle link</a:t>
            </a:r>
          </a:p>
          <a:p>
            <a:pPr lvl="0" indent="-342900" marL="342900">
              <a:buAutoNum type="alphaUcParenR"/>
            </a:pPr>
            <a:r>
              <a:rPr/>
              <a:t>Cost, schedule, scope</a:t>
            </a:r>
          </a:p>
          <a:p>
            <a:pPr lvl="0" indent="-342900" marL="342900">
              <a:buAutoNum type="alphaUcParenR"/>
            </a:pPr>
            <a:r>
              <a:rPr/>
              <a:t>Desirability, feasibility, viability</a:t>
            </a:r>
          </a:p>
          <a:p>
            <a:pPr lvl="0" indent="-342900" marL="342900">
              <a:buAutoNum type="alphaUcParenR"/>
            </a:pPr>
            <a:r>
              <a:rPr/>
              <a:t>Severity, frequency, addressability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A</a:t>
            </a:r>
          </a:p>
        </p:txBody>
      </p:sp>
      <p:sp>
        <p:nvSpPr>
          <p:cNvPr id="3" name="Content Placeholder 2"/>
          <p:cNvSpPr>
            <a:spLocks noGrp="1"/>
          </p:cNvSpPr>
          <p:nvPr>
            <p:ph idx="1"/>
          </p:nvPr>
        </p:nvSpPr>
        <p:spPr/>
        <p:txBody>
          <a:bodyPr/>
          <a:lstStyle/>
          <a:p>
            <a:pPr lvl="0" indent="0" marL="0">
              <a:buNone/>
            </a:pPr>
            <a:r>
              <a:rPr/>
              <a:t>Friction link, metric link, principle link.</a:t>
            </a:r>
          </a:p>
          <a:p>
            <a:pPr lvl="0" indent="0" marL="0">
              <a:buNone/>
            </a:pPr>
            <a:r>
              <a:rPr/>
              <a:t>The recurring failure is features with no metric link. Force the link or kill the feature — a feature that moves no signal can’t be defended in Week 6.</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On a journey map, a friction star on 5+ of the stages most likely means:</a:t>
            </a:r>
          </a:p>
          <a:p>
            <a:pPr lvl="0" indent="-342900" marL="342900">
              <a:buAutoNum type="alphaUcParenR"/>
            </a:pPr>
            <a:r>
              <a:rPr/>
              <a:t>The map is thorough and honest</a:t>
            </a:r>
          </a:p>
          <a:p>
            <a:pPr lvl="0" indent="-342900" marL="342900">
              <a:buAutoNum type="alphaUcParenR"/>
            </a:pPr>
            <a:r>
              <a:rPr/>
              <a:t>You’re not discriminating — re-rank friction by severity</a:t>
            </a:r>
          </a:p>
          <a:p>
            <a:pPr lvl="0" indent="-342900" marL="342900">
              <a:buAutoNum type="alphaUcParenR"/>
            </a:pPr>
            <a:r>
              <a:rPr/>
              <a:t>The product is beyond saving</a:t>
            </a:r>
          </a:p>
          <a:p>
            <a:pPr lvl="0" indent="-342900" marL="342900">
              <a:buAutoNum type="alphaUcParenR"/>
            </a:pPr>
            <a:r>
              <a:rPr/>
              <a:t>You sanitized the journey and should re-listen to interviews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B</a:t>
            </a:r>
          </a:p>
        </p:txBody>
      </p:sp>
      <p:sp>
        <p:nvSpPr>
          <p:cNvPr id="3" name="Content Placeholder 2"/>
          <p:cNvSpPr>
            <a:spLocks noGrp="1"/>
          </p:cNvSpPr>
          <p:nvPr>
            <p:ph idx="1"/>
          </p:nvPr>
        </p:nvSpPr>
        <p:spPr/>
        <p:txBody>
          <a:bodyPr/>
          <a:lstStyle/>
          <a:p>
            <a:pPr lvl="0" indent="0" marL="0">
              <a:buNone/>
            </a:pPr>
            <a:r>
              <a:rPr/>
              <a:t>You’re not discriminating — re-rank by severity.</a:t>
            </a:r>
          </a:p>
          <a:p>
            <a:pPr lvl="0" indent="0" marL="0">
              <a:buNone/>
            </a:pPr>
            <a:r>
              <a:rPr/>
              <a:t>Friction stars should cluster: 2–3 starred stages is a healthy map. If everything is friction, nothing is. (Zero stars means you sanitized it.)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2</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 can use these when your feature concepts become PRDs on Monday.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2026-07-01T16:56:59Z</dcterms:created>
  <dcterms:modified xsi:type="dcterms:W3CDTF">2026-07-01T16:56:59Z</dcterms:modified>
</cp:coreProperties>
</file>

<file path=docProps/custom.xml><?xml version="1.0" encoding="utf-8"?>
<Properties xmlns="http://schemas.openxmlformats.org/officeDocument/2006/custom-properties" xmlns:vt="http://schemas.openxmlformats.org/officeDocument/2006/docPropsVTypes"/>
</file>