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notesMaster" Target="notesMasters/notesMaster1.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 TPM is not a designer. A TPM who can’t speak design loses every trade-off conversation. Today is about gaining the vocabulary, not pretending to be a UX lead.</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3 design principles are today’s keeper artifact. They will appear again in Week 3 (PRDs) and Week 6 (negotiation).</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arc: calibrate eye → install floor → audit own → produce principles. Each block needs the previous.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block is a language install. The goal isn’t UX expertise — it’s being able to argue trade-offs in the words designers and engineers will accept.</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isn’t about being right. It’s about being able to argue in the trade-off room.</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 memorize the list. Memorize the </a:t>
            </a:r>
            <a:r>
              <a:rPr i="1"/>
              <a:t>frequency of violation</a:t>
            </a:r>
            <a:r>
              <a:rPr/>
              <a:t> — #1, #5, and #9 are the recurring offenders in B2B SaaS.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“failure-mode dignity” lens is especially load-bearing for a logistics/dispatch tool — the product runs in trucks with bad signal.</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“I don’t like it” reaction has to convert into a heuristic number. Coach for that conversion in this activity.</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Accessibility is the regulatory and ethical floor. Frame: every fix here also fixes usability for sighted, mouse-using customers.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squads have a designer who knows a11y deeply. They will love a TPM who flags floor violations early. Use this to win allyship.</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Each check is &lt; 90 seconds. The whole floor is &lt; 15 minutes. There is no excuse for skipping it.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a triad finishes early, push them to score severity. Most triads under-rate failures because they’re not living the keyboard-only experience.</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Move from generic calibration to the triad’s own product surface. Insist on a real flow — the audit muscle needs reps on something that matters.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early TPMs over-index on violations. Force the strengths column.</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Severity is the single most-disputed score. Encourage debate — that’s the design conversation triads should be rehearsing.</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“one question for design” is high-leverage — it shows the participant what their design partner uniquely brings.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day’s deliverable. Three is a hard cap — memorability beats completeness. Triads that resist culling produce slogans, not principles.</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test: would an engineer quote the principle back at you in standup? If yes, it’s a principle. If no, it’s a slogan.</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Three is a hard ceiling. Triads who want four are not yet committed enough to any of them.</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Pin the 3-Principle Cards alongside the NS Defense Cards. Tomorrow’s AI work and Friday’s journey map both reference them.</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Round-robin close: each person says one phrase from today’s design vocabulary they’ll deploy in their next product review.</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Closing reflection. The principle most likely to draw disagreement is usually the most useful — that’s the one worth defending.</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 Product Design &amp; UX Principles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 2 • Day 3 • Strategic Design &amp; Metrics</a:t>
            </a:r>
          </a:p>
        </p:txBody>
      </p:sp>
      <p:sp>
        <p:nvSpPr>
          <p:cNvPr id="3" name="Content Placeholder 2"/>
          <p:cNvSpPr>
            <a:spLocks noGrp="1"/>
          </p:cNvSpPr>
          <p:nvPr>
            <p:ph idx="1"/>
          </p:nvPr>
        </p:nvSpPr>
        <p:spPr/>
        <p:txBody>
          <a:bodyPr/>
          <a:lstStyle/>
          <a:p>
            <a:pPr lvl="0" indent="0" marL="0">
              <a:spcBef>
                <a:spcPts val="3000"/>
              </a:spcBef>
              <a:buNone/>
            </a:pPr>
            <a:r>
              <a:rPr b="1"/>
              <a:t>TPM Academy</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Day 3 Objectives</a:t>
            </a:r>
          </a:p>
        </p:txBody>
      </p:sp>
      <p:sp>
        <p:nvSpPr>
          <p:cNvPr id="3" name="Content Placeholder 2"/>
          <p:cNvSpPr>
            <a:spLocks noGrp="1"/>
          </p:cNvSpPr>
          <p:nvPr>
            <p:ph idx="1"/>
          </p:nvPr>
        </p:nvSpPr>
        <p:spPr/>
        <p:txBody>
          <a:bodyPr/>
          <a:lstStyle/>
          <a:p>
            <a:pPr lvl="0" indent="0" marL="0">
              <a:buNone/>
            </a:pPr>
            <a:r>
              <a:rPr/>
              <a:t>Use Nielsen’s 10 heuristics as a shared vocabulary with designers</a:t>
            </a:r>
          </a:p>
          <a:p>
            <a:pPr lvl="0" indent="0" marL="0">
              <a:buNone/>
            </a:pPr>
            <a:r>
              <a:rPr/>
              <a:t>Add three TPM-specific lenses: time-to-first-value, failure-mode dignity, power-user respect</a:t>
            </a:r>
          </a:p>
          <a:p>
            <a:pPr lvl="0" indent="0" marL="0">
              <a:buNone/>
            </a:pPr>
            <a:r>
              <a:rPr/>
              <a:t>Run an A11y floor audit in 20 minutes — the non-negotiable accessibility checks for any TPM</a:t>
            </a:r>
          </a:p>
          <a:p>
            <a:pPr lvl="0" indent="0" marL="0">
              <a:buNone/>
            </a:pPr>
            <a:r>
              <a:rPr/>
              <a:t>Audit a real product surface and rank findings by severity</a:t>
            </a:r>
          </a:p>
          <a:p>
            <a:pPr lvl="0" indent="0" marL="0">
              <a:buNone/>
            </a:pPr>
            <a:r>
              <a:rPr/>
              <a:t>Convert audit findings into 3 design principles a squad can hold the line on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Today’s Shape</a:t>
            </a:r>
          </a:p>
        </p:txBody>
      </p:sp>
      <p:sp>
        <p:nvSpPr>
          <p:cNvPr id="3" name="Content Placeholder 2"/>
          <p:cNvSpPr>
            <a:spLocks noGrp="1"/>
          </p:cNvSpPr>
          <p:nvPr>
            <p:ph idx="1"/>
          </p:nvPr>
        </p:nvSpPr>
        <p:spPr/>
        <p:txBody>
          <a:bodyPr/>
          <a:lstStyle/>
          <a:p>
            <a:pPr lvl="0" indent="0" marL="0">
              <a:buNone/>
            </a:pPr>
            <a:r>
              <a:rPr/>
              <a:t>Clock</a:t>
            </a:r>
          </a:p>
          <a:p>
            <a:pPr lvl="0" indent="0" marL="0">
              <a:buNone/>
            </a:pPr>
            <a:r>
              <a:rPr/>
              <a:t>Block</a:t>
            </a:r>
          </a:p>
          <a:p>
            <a:pPr lvl="0" indent="0" marL="0">
              <a:buNone/>
            </a:pPr>
            <a:r>
              <a:rPr/>
              <a:t>Outcome</a:t>
            </a:r>
          </a:p>
          <a:p>
            <a:pPr lvl="0" indent="0" marL="0">
              <a:buNone/>
            </a:pPr>
            <a:r>
              <a:rPr/>
              <a:t>09:00 – 09:15</a:t>
            </a:r>
          </a:p>
          <a:p>
            <a:pPr lvl="0" indent="0" marL="0">
              <a:buNone/>
            </a:pPr>
            <a:r>
              <a:rPr/>
              <a:t>Opening</a:t>
            </a:r>
          </a:p>
          <a:p>
            <a:pPr lvl="0" indent="0" marL="0">
              <a:buNone/>
            </a:pPr>
            <a:r>
              <a:rPr/>
              <a:t>What product surface is your triad auditing?</a:t>
            </a:r>
          </a:p>
          <a:p>
            <a:pPr lvl="0" indent="0" marL="0">
              <a:buNone/>
            </a:pPr>
            <a:r>
              <a:rPr/>
              <a:t>09:15 – 10:30</a:t>
            </a:r>
          </a:p>
          <a:p>
            <a:pPr lvl="0" indent="0" marL="0">
              <a:buNone/>
            </a:pPr>
            <a:r>
              <a:rPr/>
              <a:t>Block 1 + Activity 1</a:t>
            </a:r>
          </a:p>
          <a:p>
            <a:pPr lvl="0" indent="0" marL="0">
              <a:buNone/>
            </a:pPr>
            <a:r>
              <a:rPr/>
              <a:t>Heuristic Hunt</a:t>
            </a:r>
          </a:p>
          <a:p>
            <a:pPr lvl="0" indent="0" marL="0">
              <a:buNone/>
            </a:pPr>
            <a:r>
              <a:rPr/>
              <a:t>10:45 – 12:00</a:t>
            </a:r>
          </a:p>
          <a:p>
            <a:pPr lvl="0" indent="0" marL="0">
              <a:buNone/>
            </a:pPr>
            <a:r>
              <a:rPr/>
              <a:t>Block 2 + Activity 2</a:t>
            </a:r>
          </a:p>
          <a:p>
            <a:pPr lvl="0" indent="0" marL="0">
              <a:buNone/>
            </a:pPr>
            <a:r>
              <a:rPr/>
              <a:t>A11y Floor Audit</a:t>
            </a:r>
          </a:p>
          <a:p>
            <a:pPr lvl="0" indent="0" marL="0">
              <a:buNone/>
            </a:pPr>
            <a:r>
              <a:rPr/>
              <a:t>13:00 – 14:15</a:t>
            </a:r>
          </a:p>
          <a:p>
            <a:pPr lvl="0" indent="0" marL="0">
              <a:buNone/>
            </a:pPr>
            <a:r>
              <a:rPr/>
              <a:t>Block 3 + Activity 3</a:t>
            </a:r>
          </a:p>
          <a:p>
            <a:pPr lvl="0" indent="0" marL="0">
              <a:buNone/>
            </a:pPr>
            <a:r>
              <a:rPr/>
              <a:t>Heuristic Audit (your surface)</a:t>
            </a:r>
          </a:p>
          <a:p>
            <a:pPr lvl="0" indent="0" marL="0">
              <a:buNone/>
            </a:pPr>
            <a:r>
              <a:rPr/>
              <a:t>14:30 – 16:00</a:t>
            </a:r>
          </a:p>
          <a:p>
            <a:pPr lvl="0" indent="0" marL="0">
              <a:buNone/>
            </a:pPr>
            <a:r>
              <a:rPr/>
              <a:t>Block 4 + Activity 4 + Readouts</a:t>
            </a:r>
          </a:p>
          <a:p>
            <a:pPr lvl="0" indent="0" marL="0">
              <a:buNone/>
            </a:pPr>
            <a:r>
              <a:rPr/>
              <a:t>3 Design Principles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1 — The Shared Vocabulary</a:t>
            </a:r>
          </a:p>
        </p:txBody>
      </p:sp>
      <p:sp>
        <p:nvSpPr>
          <p:cNvPr id="3" name="Content Placeholder 2"/>
          <p:cNvSpPr>
            <a:spLocks noGrp="1"/>
          </p:cNvSpPr>
          <p:nvPr>
            <p:ph idx="1"/>
          </p:nvPr>
        </p:nvSpPr>
        <p:spPr/>
        <p:txBody>
          <a:bodyPr/>
          <a:lstStyle/>
          <a:p>
            <a:pPr lvl="0" indent="0" marL="0">
              <a:spcBef>
                <a:spcPts val="3000"/>
              </a:spcBef>
              <a:buNone/>
            </a:pPr>
            <a:r>
              <a:rPr b="1"/>
              <a:t>Nielsen’s 10, plus three TPM lenses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TPMs Need This Vocabulary</a:t>
            </a:r>
          </a:p>
        </p:txBody>
      </p:sp>
      <p:sp>
        <p:nvSpPr>
          <p:cNvPr id="3" name="Content Placeholder 2"/>
          <p:cNvSpPr>
            <a:spLocks noGrp="1"/>
          </p:cNvSpPr>
          <p:nvPr>
            <p:ph idx="1"/>
          </p:nvPr>
        </p:nvSpPr>
        <p:spPr/>
        <p:txBody>
          <a:bodyPr/>
          <a:lstStyle/>
          <a:p>
            <a:pPr lvl="0" indent="0" marL="0">
              <a:buNone/>
            </a:pPr>
            <a:r>
              <a:rPr/>
              <a:t>Designers and engineers will both override your reaction with their craft language. The TPM job is to name what’s wrong in the language they will accept, then defend why it matters with metrics.</a:t>
            </a:r>
          </a:p>
          <a:p>
            <a:pPr lvl="0" indent="0" marL="0">
              <a:buNone/>
            </a:pPr>
            <a:r>
              <a:rPr/>
              <a:t>❌ Without vocabulary</a:t>
            </a:r>
          </a:p>
          <a:p>
            <a:pPr lvl="0" indent="0" marL="0">
              <a:buNone/>
            </a:pPr>
            <a:r>
              <a:rPr/>
              <a:t>“This screen feels weird. Can we redo it?” Loses the conversation in 30 seconds.</a:t>
            </a:r>
          </a:p>
          <a:p>
            <a:pPr lvl="0" indent="0" marL="0">
              <a:buNone/>
            </a:pPr>
            <a:r>
              <a:rPr/>
              <a:t>✅ With vocabulary</a:t>
            </a:r>
          </a:p>
          <a:p>
            <a:pPr lvl="0" indent="0" marL="0">
              <a:buNone/>
            </a:pPr>
            <a:r>
              <a:rPr/>
              <a:t>“This screen violates Nielsen #5 (error prevention) and #6 (recognition over recall). The cost shows up in our reconcile-abandonment signal.” Wins the conversation.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Nielsen’s 10 Heuristics</a:t>
            </a:r>
          </a:p>
        </p:txBody>
      </p:sp>
      <p:sp>
        <p:nvSpPr>
          <p:cNvPr id="3" name="Content Placeholder 2"/>
          <p:cNvSpPr>
            <a:spLocks noGrp="1"/>
          </p:cNvSpPr>
          <p:nvPr>
            <p:ph idx="1"/>
          </p:nvPr>
        </p:nvSpPr>
        <p:spPr/>
        <p:txBody>
          <a:bodyPr/>
          <a:lstStyle/>
          <a:p>
            <a:pPr lvl="0" indent="0" marL="0">
              <a:buNone/>
            </a:pPr>
            <a:r>
              <a:rPr/>
              <a:t>#</a:t>
            </a:r>
          </a:p>
          <a:p>
            <a:pPr lvl="0" indent="0" marL="0">
              <a:buNone/>
            </a:pPr>
            <a:r>
              <a:rPr/>
              <a:t>Heuristic</a:t>
            </a:r>
          </a:p>
          <a:p>
            <a:pPr lvl="0" indent="0" marL="0">
              <a:buNone/>
            </a:pPr>
            <a:r>
              <a:rPr/>
              <a:t>One-line</a:t>
            </a:r>
          </a:p>
          <a:p>
            <a:pPr lvl="0" indent="0" marL="0">
              <a:buNone/>
            </a:pPr>
            <a:r>
              <a:rPr/>
              <a:t>1</a:t>
            </a:r>
          </a:p>
          <a:p>
            <a:pPr lvl="0" indent="0" marL="0">
              <a:buNone/>
            </a:pPr>
            <a:r>
              <a:rPr/>
              <a:t>Visibility of system status</a:t>
            </a:r>
          </a:p>
          <a:p>
            <a:pPr lvl="0" indent="0" marL="0">
              <a:buNone/>
            </a:pPr>
            <a:r>
              <a:rPr/>
              <a:t>The user always knows what just happened and what’s happening now</a:t>
            </a:r>
          </a:p>
          <a:p>
            <a:pPr lvl="0" indent="0" marL="0">
              <a:buNone/>
            </a:pPr>
            <a:r>
              <a:rPr/>
              <a:t>2</a:t>
            </a:r>
          </a:p>
          <a:p>
            <a:pPr lvl="0" indent="0" marL="0">
              <a:buNone/>
            </a:pPr>
            <a:r>
              <a:rPr/>
              <a:t>Match real world</a:t>
            </a:r>
          </a:p>
          <a:p>
            <a:pPr lvl="0" indent="0" marL="0">
              <a:buNone/>
            </a:pPr>
            <a:r>
              <a:rPr/>
              <a:t>Use the user’s words, not the system’s</a:t>
            </a:r>
          </a:p>
          <a:p>
            <a:pPr lvl="0" indent="0" marL="0">
              <a:buNone/>
            </a:pPr>
            <a:r>
              <a:rPr/>
              <a:t>3</a:t>
            </a:r>
          </a:p>
          <a:p>
            <a:pPr lvl="0" indent="0" marL="0">
              <a:buNone/>
            </a:pPr>
            <a:r>
              <a:rPr/>
              <a:t>User control &amp; freedom</a:t>
            </a:r>
          </a:p>
          <a:p>
            <a:pPr lvl="0" indent="0" marL="0">
              <a:buNone/>
            </a:pPr>
            <a:r>
              <a:rPr/>
              <a:t>Undo, exit, escape — always</a:t>
            </a:r>
          </a:p>
          <a:p>
            <a:pPr lvl="0" indent="0" marL="0">
              <a:buNone/>
            </a:pPr>
            <a:r>
              <a:rPr/>
              <a:t>4</a:t>
            </a:r>
          </a:p>
          <a:p>
            <a:pPr lvl="0" indent="0" marL="0">
              <a:buNone/>
            </a:pPr>
            <a:r>
              <a:rPr/>
              <a:t>Consistency &amp; standards</a:t>
            </a:r>
          </a:p>
          <a:p>
            <a:pPr lvl="0" indent="0" marL="0">
              <a:buNone/>
            </a:pPr>
            <a:r>
              <a:rPr/>
              <a:t>Same word, same color, same place</a:t>
            </a:r>
          </a:p>
          <a:p>
            <a:pPr lvl="0" indent="0" marL="0">
              <a:buNone/>
            </a:pPr>
            <a:r>
              <a:rPr/>
              <a:t>5</a:t>
            </a:r>
          </a:p>
          <a:p>
            <a:pPr lvl="0" indent="0" marL="0">
              <a:buNone/>
            </a:pPr>
            <a:r>
              <a:rPr/>
              <a:t>Error prevention</a:t>
            </a:r>
          </a:p>
          <a:p>
            <a:pPr lvl="0" indent="0" marL="0">
              <a:buNone/>
            </a:pPr>
            <a:r>
              <a:rPr/>
              <a:t>Make destructive actions hard, not easy</a:t>
            </a:r>
          </a:p>
          <a:p>
            <a:pPr lvl="0" indent="0" marL="0">
              <a:buNone/>
            </a:pPr>
            <a:r>
              <a:rPr/>
              <a:t>6</a:t>
            </a:r>
          </a:p>
          <a:p>
            <a:pPr lvl="0" indent="0" marL="0">
              <a:buNone/>
            </a:pPr>
            <a:r>
              <a:rPr/>
              <a:t>Recognition over recall</a:t>
            </a:r>
          </a:p>
          <a:p>
            <a:pPr lvl="0" indent="0" marL="0">
              <a:buNone/>
            </a:pPr>
            <a:r>
              <a:rPr/>
              <a:t>Show options, don’t make me remember them</a:t>
            </a:r>
          </a:p>
          <a:p>
            <a:pPr lvl="0" indent="0" marL="0">
              <a:buNone/>
            </a:pPr>
            <a:r>
              <a:rPr/>
              <a:t>7</a:t>
            </a:r>
          </a:p>
          <a:p>
            <a:pPr lvl="0" indent="0" marL="0">
              <a:buNone/>
            </a:pPr>
            <a:r>
              <a:rPr/>
              <a:t>Flexibility &amp; efficiency</a:t>
            </a:r>
          </a:p>
          <a:p>
            <a:pPr lvl="0" indent="0" marL="0">
              <a:buNone/>
            </a:pPr>
            <a:r>
              <a:rPr/>
              <a:t>Beginners get hand-holding, experts get shortcuts</a:t>
            </a:r>
          </a:p>
          <a:p>
            <a:pPr lvl="0" indent="0" marL="0">
              <a:buNone/>
            </a:pPr>
            <a:r>
              <a:rPr/>
              <a:t>8</a:t>
            </a:r>
          </a:p>
          <a:p>
            <a:pPr lvl="0" indent="0" marL="0">
              <a:buNone/>
            </a:pPr>
            <a:r>
              <a:rPr/>
              <a:t>Aesthetic &amp; minimalist</a:t>
            </a:r>
          </a:p>
          <a:p>
            <a:pPr lvl="0" indent="0" marL="0">
              <a:buNone/>
            </a:pPr>
            <a:r>
              <a:rPr/>
              <a:t>Every screen element earns its place</a:t>
            </a:r>
          </a:p>
          <a:p>
            <a:pPr lvl="0" indent="0" marL="0">
              <a:buNone/>
            </a:pPr>
            <a:r>
              <a:rPr/>
              <a:t>9</a:t>
            </a:r>
          </a:p>
          <a:p>
            <a:pPr lvl="0" indent="0" marL="0">
              <a:buNone/>
            </a:pPr>
            <a:r>
              <a:rPr/>
              <a:t>Recover from errors</a:t>
            </a:r>
          </a:p>
          <a:p>
            <a:pPr lvl="0" indent="0" marL="0">
              <a:buNone/>
            </a:pPr>
            <a:r>
              <a:rPr/>
              <a:t>The error message names the field and the fix</a:t>
            </a:r>
          </a:p>
          <a:p>
            <a:pPr lvl="0" indent="0" marL="0">
              <a:buNone/>
            </a:pPr>
            <a:r>
              <a:rPr/>
              <a:t>10</a:t>
            </a:r>
          </a:p>
          <a:p>
            <a:pPr lvl="0" indent="0" marL="0">
              <a:buNone/>
            </a:pPr>
            <a:r>
              <a:rPr/>
              <a:t>Help &amp; documentation</a:t>
            </a:r>
          </a:p>
          <a:p>
            <a:pPr lvl="0" indent="0" marL="0">
              <a:buNone/>
            </a:pPr>
            <a:r>
              <a:rPr/>
              <a:t>Findable, in-context, searchable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Three TPM-Specific Lenses</a:t>
            </a:r>
          </a:p>
        </p:txBody>
      </p:sp>
      <p:sp>
        <p:nvSpPr>
          <p:cNvPr id="3" name="Content Placeholder 2"/>
          <p:cNvSpPr>
            <a:spLocks noGrp="1"/>
          </p:cNvSpPr>
          <p:nvPr>
            <p:ph idx="1"/>
          </p:nvPr>
        </p:nvSpPr>
        <p:spPr/>
        <p:txBody>
          <a:bodyPr/>
          <a:lstStyle/>
          <a:p>
            <a:pPr lvl="0" indent="-342900" marL="342900">
              <a:buAutoNum startAt="11" type="arabicPeriod"/>
            </a:pPr>
            <a:r>
              <a:rPr/>
              <a:t>Time-to-first-value</a:t>
            </a:r>
          </a:p>
          <a:p>
            <a:pPr lvl="1" indent="0" marL="342900">
              <a:buNone/>
            </a:pPr>
            <a:r>
              <a:rPr/>
              <a:t>Can a new user produce a useful result in their first session? Measured in minutes, not features.</a:t>
            </a:r>
          </a:p>
          <a:p>
            <a:pPr lvl="0" indent="-342900" marL="342900">
              <a:buAutoNum startAt="12" type="arabicPeriod"/>
            </a:pPr>
            <a:r>
              <a:rPr/>
              <a:t>Failure-mode dignity</a:t>
            </a:r>
          </a:p>
          <a:p>
            <a:pPr lvl="1" indent="0" marL="342900">
              <a:buNone/>
            </a:pPr>
            <a:r>
              <a:rPr/>
              <a:t>How does the product behave when the network drops, the data is wrong, or the user is rushed? Failure is part of UX.</a:t>
            </a:r>
          </a:p>
          <a:p>
            <a:pPr lvl="0" indent="-342900" marL="342900">
              <a:buAutoNum startAt="13" type="arabicPeriod"/>
            </a:pPr>
            <a:r>
              <a:rPr/>
              <a:t>Power-user respect</a:t>
            </a:r>
          </a:p>
          <a:p>
            <a:pPr lvl="1" indent="0" marL="342900">
              <a:buNone/>
            </a:pPr>
            <a:r>
              <a:rPr/>
              <a:t>Does the product reward repeat use with shortcuts, or punish it with the same friction every time?</a:t>
            </a:r>
          </a:p>
          <a:p>
            <a:pPr lvl="0" indent="0" marL="0">
              <a:buNone/>
            </a:pPr>
            <a:r>
              <a:rPr/>
              <a:t>Why these three: they’re the heuristics designers most often skip in early-stage products and most often blame on engineering later.</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1 — Heuristic Hunt</a:t>
            </a:r>
          </a:p>
        </p:txBody>
      </p:sp>
      <p:sp>
        <p:nvSpPr>
          <p:cNvPr id="3" name="Content Placeholder 2"/>
          <p:cNvSpPr>
            <a:spLocks noGrp="1"/>
          </p:cNvSpPr>
          <p:nvPr>
            <p:ph idx="1"/>
          </p:nvPr>
        </p:nvSpPr>
        <p:spPr/>
        <p:txBody>
          <a:bodyPr/>
          <a:lstStyle/>
          <a:p>
            <a:pPr lvl="0" indent="0" marL="0">
              <a:spcBef>
                <a:spcPts val="3000"/>
              </a:spcBef>
              <a:buNone/>
            </a:pPr>
            <a:r>
              <a:rPr b="1"/>
              <a:t>Triads • 35 minutes</a:t>
            </a:r>
          </a:p>
          <a:p>
            <a:pPr lvl="0" indent="0" marL="0">
              <a:buNone/>
            </a:pPr>
            <a:r>
              <a:rPr/>
              <a:t>Walk through a B2B SaaS none of your triad uses (provided link). Each member silently captures 3 heuristic violations.</a:t>
            </a:r>
          </a:p>
          <a:p>
            <a:pPr lvl="0" indent="0" marL="0">
              <a:buNone/>
            </a:pPr>
            <a:r>
              <a:rPr/>
              <a:t>Pool and de-dupe</a:t>
            </a:r>
          </a:p>
          <a:p>
            <a:pPr lvl="0" indent="0" marL="0">
              <a:buNone/>
            </a:pPr>
            <a:r>
              <a:rPr/>
              <a:t>Identify the most painful + most subtle violation</a:t>
            </a:r>
          </a:p>
          <a:p>
            <a:pPr lvl="0" indent="0" marL="0">
              <a:buNone/>
            </a:pPr>
            <a:r>
              <a:rPr/>
              <a:t>Prepare a 60-second readout naming the heuristic numbers</a:t>
            </a:r>
          </a:p>
          <a:p>
            <a:pPr lvl="0" indent="0" marL="0">
              <a:buNone/>
            </a:pPr>
            <a:r>
              <a:rPr/>
              <a:t>⏱ 5 min solo · 15 min pool · 10 min cull · 5 min readout prep</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2 — The A11y Floor</a:t>
            </a:r>
          </a:p>
        </p:txBody>
      </p:sp>
      <p:sp>
        <p:nvSpPr>
          <p:cNvPr id="3" name="Content Placeholder 2"/>
          <p:cNvSpPr>
            <a:spLocks noGrp="1"/>
          </p:cNvSpPr>
          <p:nvPr>
            <p:ph idx="1"/>
          </p:nvPr>
        </p:nvSpPr>
        <p:spPr/>
        <p:txBody>
          <a:bodyPr/>
          <a:lstStyle/>
          <a:p>
            <a:pPr lvl="0" indent="0" marL="0">
              <a:spcBef>
                <a:spcPts val="3000"/>
              </a:spcBef>
              <a:buNone/>
            </a:pPr>
            <a:r>
              <a:rPr b="1"/>
              <a:t>The 8 checks every TPM should run before any PRD ships</a:t>
            </a:r>
          </a:p>
          <a:p>
            <a:pPr lvl="0" indent="0" marL="0">
              <a:buNone/>
            </a:pPr>
            <a:r>
              <a:rPr/>
              <a:t>A Product Requirements Document (PRD) is the spec a squad builds from.</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Why a Floor, Not a Ceiling</a:t>
            </a:r>
          </a:p>
        </p:txBody>
      </p:sp>
      <p:sp>
        <p:nvSpPr>
          <p:cNvPr id="3" name="Content Placeholder 2"/>
          <p:cNvSpPr>
            <a:spLocks noGrp="1"/>
          </p:cNvSpPr>
          <p:nvPr>
            <p:ph idx="1"/>
          </p:nvPr>
        </p:nvSpPr>
        <p:spPr/>
        <p:txBody>
          <a:bodyPr/>
          <a:lstStyle/>
          <a:p>
            <a:pPr lvl="0" indent="0" marL="0">
              <a:buNone/>
            </a:pPr>
            <a:r>
              <a:rPr/>
              <a:t>Accessibility is a regulatory floor (ADA, Section 508, the European Accessibility Act), a search-engine-optimization (SEO) floor, and a usability ceiling. Fixes for keyboard-only users almost always fix mouse-user errors too.</a:t>
            </a:r>
          </a:p>
          <a:p>
            <a:pPr lvl="0" indent="0" marL="0">
              <a:buNone/>
            </a:pPr>
            <a:r>
              <a:rPr/>
              <a:t>The TPM responsibility: not to be the a11y expert, but to refuse to ship a feature that fails the floor — and to spot failures unsolicited.</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8-Check Floor</a:t>
            </a:r>
          </a:p>
        </p:txBody>
      </p:sp>
      <p:sp>
        <p:nvSpPr>
          <p:cNvPr id="3" name="Content Placeholder 2"/>
          <p:cNvSpPr>
            <a:spLocks noGrp="1"/>
          </p:cNvSpPr>
          <p:nvPr>
            <p:ph idx="1"/>
          </p:nvPr>
        </p:nvSpPr>
        <p:spPr/>
        <p:txBody>
          <a:bodyPr/>
          <a:lstStyle/>
          <a:p>
            <a:pPr lvl="0" indent="0" marL="0">
              <a:buNone/>
            </a:pPr>
            <a:r>
              <a:rPr/>
              <a:t>Check</a:t>
            </a:r>
          </a:p>
          <a:p>
            <a:pPr lvl="0" indent="0" marL="0">
              <a:buNone/>
            </a:pPr>
            <a:r>
              <a:rPr/>
              <a:t>Tool</a:t>
            </a:r>
          </a:p>
          <a:p>
            <a:pPr lvl="0" indent="0" marL="0">
              <a:buNone/>
            </a:pPr>
            <a:r>
              <a:rPr/>
              <a:t>Fail looks like</a:t>
            </a:r>
          </a:p>
          <a:p>
            <a:pPr lvl="0" indent="0" marL="0">
              <a:buNone/>
            </a:pPr>
            <a:r>
              <a:rPr/>
              <a:t>Keyboard-focusable interactives</a:t>
            </a:r>
          </a:p>
          <a:p>
            <a:pPr lvl="0" indent="0" marL="0">
              <a:buNone/>
            </a:pPr>
            <a:r>
              <a:rPr/>
              <a:t>Tab through the page</a:t>
            </a:r>
          </a:p>
          <a:p>
            <a:pPr lvl="0" indent="0" marL="0">
              <a:buNone/>
            </a:pPr>
            <a:r>
              <a:rPr/>
              <a:t>Focus disappears</a:t>
            </a:r>
          </a:p>
          <a:p>
            <a:pPr lvl="0" indent="0" marL="0">
              <a:buNone/>
            </a:pPr>
            <a:r>
              <a:rPr/>
              <a:t>Visible focus indicator</a:t>
            </a:r>
          </a:p>
          <a:p>
            <a:pPr lvl="0" indent="0" marL="0">
              <a:buNone/>
            </a:pPr>
            <a:r>
              <a:rPr/>
              <a:t>Tab through the page</a:t>
            </a:r>
          </a:p>
          <a:p>
            <a:pPr lvl="0" indent="0" marL="0">
              <a:buNone/>
            </a:pPr>
            <a:r>
              <a:rPr/>
              <a:t>No outline on focus</a:t>
            </a:r>
          </a:p>
          <a:p>
            <a:pPr lvl="0" indent="0" marL="0">
              <a:buNone/>
            </a:pPr>
            <a:r>
              <a:rPr/>
              <a:t>Color contrast 4.5:1 (text) / 3:1 (large text)</a:t>
            </a:r>
          </a:p>
          <a:p>
            <a:pPr lvl="0" indent="0" marL="0">
              <a:buNone/>
            </a:pPr>
            <a:r>
              <a:rPr/>
              <a:t>WebAIM contrast checker</a:t>
            </a:r>
          </a:p>
          <a:p>
            <a:pPr lvl="0" indent="0" marL="0">
              <a:buNone/>
            </a:pPr>
            <a:r>
              <a:rPr/>
              <a:t>Light gray on white</a:t>
            </a:r>
          </a:p>
          <a:p>
            <a:pPr lvl="0" indent="0" marL="0">
              <a:buNone/>
            </a:pPr>
            <a:r>
              <a:rPr/>
              <a:t>Form fields have labels</a:t>
            </a:r>
          </a:p>
          <a:p>
            <a:pPr lvl="0" indent="0" marL="0">
              <a:buNone/>
            </a:pPr>
            <a:r>
              <a:rPr/>
              <a:t>Screen reader / inspect</a:t>
            </a:r>
          </a:p>
          <a:p>
            <a:pPr lvl="0" indent="0" marL="0">
              <a:buNone/>
            </a:pPr>
            <a:r>
              <a:rPr/>
              <a:t>“Edit text, blank”</a:t>
            </a:r>
          </a:p>
          <a:p>
            <a:pPr lvl="0" indent="0" marL="0">
              <a:buNone/>
            </a:pPr>
            <a:r>
              <a:rPr/>
              <a:t>Images have alt text</a:t>
            </a:r>
          </a:p>
          <a:p>
            <a:pPr lvl="0" indent="0" marL="0">
              <a:buNone/>
            </a:pPr>
            <a:r>
              <a:rPr/>
              <a:t>View source</a:t>
            </a:r>
          </a:p>
          <a:p>
            <a:pPr lvl="0" indent="0" marL="0">
              <a:buNone/>
            </a:pPr>
            <a:r>
              <a:rPr/>
              <a:t>Empty alt on meaningful image</a:t>
            </a:r>
          </a:p>
          <a:p>
            <a:pPr lvl="0" indent="0" marL="0">
              <a:buNone/>
            </a:pPr>
            <a:r>
              <a:rPr/>
              <a:t>Logical heading hierarchy</a:t>
            </a:r>
          </a:p>
          <a:p>
            <a:pPr lvl="0" indent="0" marL="0">
              <a:buNone/>
            </a:pPr>
            <a:r>
              <a:rPr/>
              <a:t>Outline tool</a:t>
            </a:r>
          </a:p>
          <a:p>
            <a:pPr lvl="0" indent="0" marL="0">
              <a:buNone/>
            </a:pPr>
            <a:r>
              <a:rPr/>
              <a:t>Jumps h1 → h4</a:t>
            </a:r>
          </a:p>
          <a:p>
            <a:pPr lvl="0" indent="0" marL="0">
              <a:buNone/>
            </a:pPr>
            <a:r>
              <a:rPr/>
              <a:t>Errors identify the field</a:t>
            </a:r>
          </a:p>
          <a:p>
            <a:pPr lvl="0" indent="0" marL="0">
              <a:buNone/>
            </a:pPr>
            <a:r>
              <a:rPr/>
              <a:t>Submit broken form</a:t>
            </a:r>
          </a:p>
          <a:p>
            <a:pPr lvl="0" indent="0" marL="0">
              <a:buNone/>
            </a:pPr>
            <a:r>
              <a:rPr/>
              <a:t>“Error” with no field</a:t>
            </a:r>
          </a:p>
          <a:p>
            <a:pPr lvl="0" indent="0" marL="0">
              <a:buNone/>
            </a:pPr>
            <a:r>
              <a:rPr/>
              <a:t>Touch targets ≥ 44px</a:t>
            </a:r>
          </a:p>
          <a:p>
            <a:pPr lvl="0" indent="0" marL="0">
              <a:buNone/>
            </a:pPr>
            <a:r>
              <a:rPr/>
              <a:t>Mobile devtools</a:t>
            </a:r>
          </a:p>
          <a:p>
            <a:pPr lvl="0" indent="0" marL="0">
              <a:buNone/>
            </a:pPr>
            <a:r>
              <a:rPr/>
              <a:t>Buttons too small</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2 — A11y Floor Audit</a:t>
            </a:r>
          </a:p>
        </p:txBody>
      </p:sp>
      <p:sp>
        <p:nvSpPr>
          <p:cNvPr id="3" name="Content Placeholder 2"/>
          <p:cNvSpPr>
            <a:spLocks noGrp="1"/>
          </p:cNvSpPr>
          <p:nvPr>
            <p:ph idx="1"/>
          </p:nvPr>
        </p:nvSpPr>
        <p:spPr/>
        <p:txBody>
          <a:bodyPr/>
          <a:lstStyle/>
          <a:p>
            <a:pPr lvl="0" indent="0" marL="0">
              <a:spcBef>
                <a:spcPts val="3000"/>
              </a:spcBef>
              <a:buNone/>
            </a:pPr>
            <a:r>
              <a:rPr b="1"/>
              <a:t>Triads • 40 minutes</a:t>
            </a:r>
          </a:p>
          <a:p>
            <a:pPr lvl="0" indent="0" marL="0">
              <a:buNone/>
            </a:pPr>
            <a:r>
              <a:rPr/>
              <a:t>Run the 8-check floor on the FieldPulse mobile or your chosen surface. Split the checks across triad members so all 8 are covered (plus one overlap).</a:t>
            </a:r>
          </a:p>
          <a:p>
            <a:pPr lvl="0" indent="0" marL="0">
              <a:buNone/>
            </a:pPr>
            <a:r>
              <a:rPr/>
              <a:t>Each fail: which UX heuristic is also being violated?</a:t>
            </a:r>
          </a:p>
          <a:p>
            <a:pPr lvl="0" indent="0" marL="0">
              <a:buNone/>
            </a:pPr>
            <a:r>
              <a:rPr/>
              <a:t>Output: one-page A11y Floor Audit for the surface</a:t>
            </a:r>
          </a:p>
          <a:p>
            <a:pPr lvl="0" indent="0" marL="0">
              <a:buNone/>
            </a:pPr>
            <a:r>
              <a:rPr/>
              <a:t>⏱ 25 min audit · 10 min cross-link to heuristics · 5 min summarize</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3 — Audit Your Surface</a:t>
            </a:r>
          </a:p>
        </p:txBody>
      </p:sp>
      <p:sp>
        <p:nvSpPr>
          <p:cNvPr id="3" name="Content Placeholder 2"/>
          <p:cNvSpPr>
            <a:spLocks noGrp="1"/>
          </p:cNvSpPr>
          <p:nvPr>
            <p:ph idx="1"/>
          </p:nvPr>
        </p:nvSpPr>
        <p:spPr/>
        <p:txBody>
          <a:bodyPr/>
          <a:lstStyle/>
          <a:p>
            <a:pPr lvl="0" indent="0" marL="0">
              <a:spcBef>
                <a:spcPts val="3000"/>
              </a:spcBef>
              <a:buNone/>
            </a:pPr>
            <a:r>
              <a:rPr b="1"/>
              <a:t>Apply the calibrated eye + the floor to the triad’s chosen flow</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The Audit Template</a:t>
            </a:r>
          </a:p>
        </p:txBody>
      </p:sp>
      <p:sp>
        <p:nvSpPr>
          <p:cNvPr id="3" name="Content Placeholder 2"/>
          <p:cNvSpPr>
            <a:spLocks noGrp="1"/>
          </p:cNvSpPr>
          <p:nvPr>
            <p:ph idx="1"/>
          </p:nvPr>
        </p:nvSpPr>
        <p:spPr/>
        <p:txBody>
          <a:bodyPr/>
          <a:lstStyle/>
          <a:p>
            <a:pPr lvl="0" indent="0" marL="0">
              <a:buNone/>
            </a:pPr>
            <a:r>
              <a:rPr/>
              <a:t>Top 3 violations with heuristic + observation + cost + severity (1–5)</a:t>
            </a:r>
          </a:p>
          <a:p>
            <a:pPr lvl="0" indent="0" marL="0">
              <a:buNone/>
            </a:pPr>
            <a:r>
              <a:rPr/>
              <a:t>Top 3 strengths — what does this product do better than the average B2B SaaS?</a:t>
            </a:r>
          </a:p>
          <a:p>
            <a:pPr lvl="0" indent="0" marL="0">
              <a:buNone/>
            </a:pPr>
            <a:r>
              <a:rPr/>
              <a:t>A11y Floor Audit result (Pass / Partial / Fail)</a:t>
            </a:r>
          </a:p>
          <a:p>
            <a:pPr lvl="0" indent="0" marL="0">
              <a:buNone/>
            </a:pPr>
            <a:r>
              <a:rPr/>
              <a:t>TPM Lens findings: time-to-first-value, failure-mode dignity, power-user respect</a:t>
            </a:r>
          </a:p>
          <a:p>
            <a:pPr lvl="0" indent="0" marL="0">
              <a:buNone/>
            </a:pPr>
            <a:r>
              <a:rPr/>
              <a:t>One question you cannot answer without the design team</a:t>
            </a:r>
          </a:p>
          <a:p>
            <a:pPr lvl="0" indent="0" marL="0">
              <a:buNone/>
            </a:pPr>
            <a:r>
              <a:rPr/>
              <a:t>Strengths matter: a “kill list” of violations alienates designers. Naming what works builds trust to address what doesn’t.</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Severity Scoring (1–5)</a:t>
            </a:r>
          </a:p>
        </p:txBody>
      </p:sp>
      <p:sp>
        <p:nvSpPr>
          <p:cNvPr id="3" name="Content Placeholder 2"/>
          <p:cNvSpPr>
            <a:spLocks noGrp="1"/>
          </p:cNvSpPr>
          <p:nvPr>
            <p:ph idx="1"/>
          </p:nvPr>
        </p:nvSpPr>
        <p:spPr/>
        <p:txBody>
          <a:bodyPr/>
          <a:lstStyle/>
          <a:p>
            <a:pPr lvl="0" indent="0" marL="0">
              <a:buNone/>
            </a:pPr>
            <a:r>
              <a:rPr/>
              <a:t>Score</a:t>
            </a:r>
          </a:p>
          <a:p>
            <a:pPr lvl="0" indent="0" marL="0">
              <a:buNone/>
            </a:pPr>
            <a:r>
              <a:rPr/>
              <a:t>Meaning</a:t>
            </a:r>
          </a:p>
          <a:p>
            <a:pPr lvl="0" indent="0" marL="0">
              <a:buNone/>
            </a:pPr>
            <a:r>
              <a:rPr/>
              <a:t>Example</a:t>
            </a:r>
          </a:p>
          <a:p>
            <a:pPr lvl="0" indent="0" marL="0">
              <a:buNone/>
            </a:pPr>
            <a:r>
              <a:rPr/>
              <a:t>5</a:t>
            </a:r>
          </a:p>
          <a:p>
            <a:pPr lvl="0" indent="0" marL="0">
              <a:buNone/>
            </a:pPr>
            <a:r>
              <a:rPr/>
              <a:t>User task failure or data loss</a:t>
            </a:r>
          </a:p>
          <a:p>
            <a:pPr lvl="0" indent="0" marL="0">
              <a:buNone/>
            </a:pPr>
            <a:r>
              <a:rPr/>
              <a:t>“Submit” button unlabeled — user can’t complete reconcile</a:t>
            </a:r>
          </a:p>
          <a:p>
            <a:pPr lvl="0" indent="0" marL="0">
              <a:buNone/>
            </a:pPr>
            <a:r>
              <a:rPr/>
              <a:t>4</a:t>
            </a:r>
          </a:p>
          <a:p>
            <a:pPr lvl="0" indent="0" marL="0">
              <a:buNone/>
            </a:pPr>
            <a:r>
              <a:rPr/>
              <a:t>Recurring frustration; users work around</a:t>
            </a:r>
          </a:p>
          <a:p>
            <a:pPr lvl="0" indent="0" marL="0">
              <a:buNone/>
            </a:pPr>
            <a:r>
              <a:rPr/>
              <a:t>Date picker requires 5 taps — users keep paper logs</a:t>
            </a:r>
          </a:p>
          <a:p>
            <a:pPr lvl="0" indent="0" marL="0">
              <a:buNone/>
            </a:pPr>
            <a:r>
              <a:rPr/>
              <a:t>3</a:t>
            </a:r>
          </a:p>
          <a:p>
            <a:pPr lvl="0" indent="0" marL="0">
              <a:buNone/>
            </a:pPr>
            <a:r>
              <a:rPr/>
              <a:t>Slows users; stopwatch would notice</a:t>
            </a:r>
          </a:p>
          <a:p>
            <a:pPr lvl="0" indent="0" marL="0">
              <a:buNone/>
            </a:pPr>
            <a:r>
              <a:rPr/>
              <a:t>Tab order skips “amount” — users mouse over</a:t>
            </a:r>
          </a:p>
          <a:p>
            <a:pPr lvl="0" indent="0" marL="0">
              <a:buNone/>
            </a:pPr>
            <a:r>
              <a:rPr/>
              <a:t>2</a:t>
            </a:r>
          </a:p>
          <a:p>
            <a:pPr lvl="0" indent="0" marL="0">
              <a:buNone/>
            </a:pPr>
            <a:r>
              <a:rPr/>
              <a:t>Cosmetic; affects trust</a:t>
            </a:r>
          </a:p>
          <a:p>
            <a:pPr lvl="0" indent="0" marL="0">
              <a:buNone/>
            </a:pPr>
            <a:r>
              <a:rPr/>
              <a:t>Inconsistent button styling</a:t>
            </a:r>
          </a:p>
          <a:p>
            <a:pPr lvl="0" indent="0" marL="0">
              <a:buNone/>
            </a:pPr>
            <a:r>
              <a:rPr/>
              <a:t>1</a:t>
            </a:r>
          </a:p>
          <a:p>
            <a:pPr lvl="0" indent="0" marL="0">
              <a:buNone/>
            </a:pPr>
            <a:r>
              <a:rPr/>
              <a:t>Edge case</a:t>
            </a:r>
          </a:p>
          <a:p>
            <a:pPr lvl="0" indent="0" marL="0">
              <a:buNone/>
            </a:pPr>
            <a:r>
              <a:rPr/>
              <a:t>Tooltip cut off in landscape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3 — Heuristic Audit of Your Surface</a:t>
            </a:r>
          </a:p>
        </p:txBody>
      </p:sp>
      <p:sp>
        <p:nvSpPr>
          <p:cNvPr id="3" name="Content Placeholder 2"/>
          <p:cNvSpPr>
            <a:spLocks noGrp="1"/>
          </p:cNvSpPr>
          <p:nvPr>
            <p:ph idx="1"/>
          </p:nvPr>
        </p:nvSpPr>
        <p:spPr/>
        <p:txBody>
          <a:bodyPr/>
          <a:lstStyle/>
          <a:p>
            <a:pPr lvl="0" indent="0" marL="0">
              <a:spcBef>
                <a:spcPts val="3000"/>
              </a:spcBef>
              <a:buNone/>
            </a:pPr>
            <a:r>
              <a:rPr b="1"/>
              <a:t>Triads • 40 minutes</a:t>
            </a:r>
          </a:p>
          <a:p>
            <a:pPr lvl="0" indent="0" marL="0">
              <a:buNone/>
            </a:pPr>
            <a:r>
              <a:rPr/>
              <a:t>Use the audit template on your triad’s chosen flow. Severity-score each violation. Capture strengths.</a:t>
            </a:r>
          </a:p>
          <a:p>
            <a:pPr lvl="0" indent="0" marL="0">
              <a:buNone/>
            </a:pPr>
            <a:r>
              <a:rPr/>
              <a:t>10 min: solo walk-through (each member captures 3+ findings)</a:t>
            </a:r>
          </a:p>
          <a:p>
            <a:pPr lvl="0" indent="0" marL="0">
              <a:buNone/>
            </a:pPr>
            <a:r>
              <a:rPr/>
              <a:t>15 min: pool + score severity</a:t>
            </a:r>
          </a:p>
          <a:p>
            <a:pPr lvl="0" indent="0" marL="0">
              <a:buNone/>
            </a:pPr>
            <a:r>
              <a:rPr/>
              <a:t>10 min: write up the template (top 3 violations + strengths)</a:t>
            </a:r>
          </a:p>
          <a:p>
            <a:pPr lvl="0" indent="0" marL="0">
              <a:buNone/>
            </a:pPr>
            <a:r>
              <a:rPr/>
              <a:t>5 min: name the one question only design can answer</a:t>
            </a:r>
          </a:p>
          <a:p>
            <a:pPr lvl="0" indent="0" marL="0">
              <a:buNone/>
            </a:pPr>
            <a:r>
              <a:rPr/>
              <a:t>⏱ 10 solo · 15 pool · 10 write · 5 question</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Block 4 — From Audit to Principles</a:t>
            </a:r>
          </a:p>
        </p:txBody>
      </p:sp>
      <p:sp>
        <p:nvSpPr>
          <p:cNvPr id="3" name="Content Placeholder 2"/>
          <p:cNvSpPr>
            <a:spLocks noGrp="1"/>
          </p:cNvSpPr>
          <p:nvPr>
            <p:ph idx="1"/>
          </p:nvPr>
        </p:nvSpPr>
        <p:spPr/>
        <p:txBody>
          <a:bodyPr/>
          <a:lstStyle/>
          <a:p>
            <a:pPr lvl="0" indent="0" marL="0">
              <a:spcBef>
                <a:spcPts val="3000"/>
              </a:spcBef>
              <a:buNone/>
            </a:pPr>
            <a:r>
              <a:rPr b="1"/>
              <a:t>The keeper artifact: 3 design principles your squad can hold the line 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What a Design Principle Looks Like</a:t>
            </a:r>
          </a:p>
        </p:txBody>
      </p:sp>
      <p:sp>
        <p:nvSpPr>
          <p:cNvPr id="3" name="Content Placeholder 2"/>
          <p:cNvSpPr>
            <a:spLocks noGrp="1"/>
          </p:cNvSpPr>
          <p:nvPr>
            <p:ph idx="1"/>
          </p:nvPr>
        </p:nvSpPr>
        <p:spPr/>
        <p:txBody>
          <a:bodyPr/>
          <a:lstStyle/>
          <a:p>
            <a:pPr lvl="0" indent="0" marL="0">
              <a:buNone/>
            </a:pPr>
            <a:r>
              <a:rPr/>
              <a:t>A design principle is a statement, not a feature. It is decision-making — when two options compete, the principle picks one.</a:t>
            </a:r>
          </a:p>
          <a:p>
            <a:pPr lvl="0" indent="0" marL="0">
              <a:buNone/>
            </a:pPr>
            <a:r>
              <a:rPr/>
              <a:t>✅ Good</a:t>
            </a:r>
          </a:p>
          <a:p>
            <a:pPr lvl="0" indent="0" marL="0">
              <a:buNone/>
            </a:pPr>
            <a:r>
              <a:rPr/>
              <a:t>Why</a:t>
            </a:r>
          </a:p>
          <a:p>
            <a:pPr lvl="0" indent="0" marL="0">
              <a:buNone/>
            </a:pPr>
            <a:r>
              <a:rPr/>
              <a:t>“If a dispatcher can’t recover from a mis-tap in 1 second, we built it wrong.”</a:t>
            </a:r>
          </a:p>
          <a:p>
            <a:pPr lvl="0" indent="0" marL="0">
              <a:buNone/>
            </a:pPr>
            <a:r>
              <a:rPr/>
              <a:t>Specific, decision-making</a:t>
            </a:r>
          </a:p>
          <a:p>
            <a:pPr lvl="0" indent="0" marL="0">
              <a:buNone/>
            </a:pPr>
            <a:r>
              <a:rPr/>
              <a:t>“Show network state on every screen — assume connectivity is broken.”</a:t>
            </a:r>
          </a:p>
          <a:p>
            <a:pPr lvl="0" indent="0" marL="0">
              <a:buNone/>
            </a:pPr>
            <a:r>
              <a:rPr/>
              <a:t>Names a constraint</a:t>
            </a:r>
          </a:p>
          <a:p>
            <a:pPr lvl="0" indent="0" marL="0">
              <a:buNone/>
            </a:pPr>
            <a:r>
              <a:rPr/>
              <a:t>“Power users get shortcuts. New users get them visible too.”</a:t>
            </a:r>
          </a:p>
          <a:p>
            <a:pPr lvl="0" indent="0" marL="0">
              <a:buNone/>
            </a:pPr>
            <a:r>
              <a:rPr/>
              <a:t>Resolves a tension</a:t>
            </a:r>
          </a:p>
          <a:p>
            <a:pPr lvl="0" indent="0" marL="0">
              <a:buNone/>
            </a:pPr>
            <a:r>
              <a:rPr/>
              <a:t>❌ Bad</a:t>
            </a:r>
          </a:p>
          <a:p>
            <a:pPr lvl="0" indent="0" marL="0">
              <a:buNone/>
            </a:pPr>
            <a:r>
              <a:rPr/>
              <a:t>Why</a:t>
            </a:r>
          </a:p>
          <a:p>
            <a:pPr lvl="0" indent="0" marL="0">
              <a:buNone/>
            </a:pPr>
            <a:r>
              <a:rPr/>
              <a:t>“Be user-friendly”</a:t>
            </a:r>
          </a:p>
          <a:p>
            <a:pPr lvl="0" indent="0" marL="0">
              <a:buNone/>
            </a:pPr>
            <a:r>
              <a:rPr/>
              <a:t>Vacuous</a:t>
            </a:r>
          </a:p>
          <a:p>
            <a:pPr lvl="0" indent="0" marL="0">
              <a:buNone/>
            </a:pPr>
            <a:r>
              <a:rPr/>
              <a:t>“Use Material Design”</a:t>
            </a:r>
          </a:p>
          <a:p>
            <a:pPr lvl="0" indent="0" marL="0">
              <a:buNone/>
            </a:pPr>
            <a:r>
              <a:rPr/>
              <a:t>A toolkit, not a principle</a:t>
            </a:r>
          </a:p>
          <a:p>
            <a:pPr lvl="0" indent="0" marL="0">
              <a:buNone/>
            </a:pPr>
            <a:r>
              <a:rPr/>
              <a:t>“Be consistent”</a:t>
            </a:r>
          </a:p>
          <a:p>
            <a:pPr lvl="0" indent="0" marL="0">
              <a:buNone/>
            </a:pPr>
            <a:r>
              <a:rPr/>
              <a:t>True but not actionable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Cull to Three</a:t>
            </a:r>
          </a:p>
        </p:txBody>
      </p:sp>
      <p:sp>
        <p:nvSpPr>
          <p:cNvPr id="3" name="Content Placeholder 2"/>
          <p:cNvSpPr>
            <a:spLocks noGrp="1"/>
          </p:cNvSpPr>
          <p:nvPr>
            <p:ph idx="1"/>
          </p:nvPr>
        </p:nvSpPr>
        <p:spPr/>
        <p:txBody>
          <a:bodyPr/>
          <a:lstStyle/>
          <a:p>
            <a:pPr lvl="0" indent="0" marL="0">
              <a:buNone/>
            </a:pPr>
            <a:r>
              <a:rPr/>
              <a:t>Cluster audit findings into themes. Each theme suggests a principle.</a:t>
            </a:r>
          </a:p>
          <a:p>
            <a:pPr lvl="0" indent="0" marL="0">
              <a:buNone/>
            </a:pPr>
            <a:r>
              <a:rPr/>
              <a:t>Draft 5 candidate principles. Some will be bad. That’s fine.</a:t>
            </a:r>
          </a:p>
          <a:p>
            <a:pPr lvl="0" indent="0" marL="0">
              <a:buNone/>
            </a:pPr>
            <a:r>
              <a:rPr/>
              <a:t>Test each: when two options compete, does this tell us what to choose?</a:t>
            </a:r>
          </a:p>
          <a:p>
            <a:pPr lvl="0" indent="0" marL="0">
              <a:buNone/>
            </a:pPr>
            <a:r>
              <a:rPr/>
              <a:t>Cull to 3. Three is the limit for memorability.</a:t>
            </a:r>
          </a:p>
          <a:p>
            <a:pPr lvl="0" indent="0" marL="0">
              <a:buNone/>
            </a:pPr>
            <a:r>
              <a:rPr/>
              <a:t>Write each principle as one line + one example of a decision it would force.</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Activity 4 — Three Design Principles</a:t>
            </a:r>
          </a:p>
        </p:txBody>
      </p:sp>
      <p:sp>
        <p:nvSpPr>
          <p:cNvPr id="3" name="Content Placeholder 2"/>
          <p:cNvSpPr>
            <a:spLocks noGrp="1"/>
          </p:cNvSpPr>
          <p:nvPr>
            <p:ph idx="1"/>
          </p:nvPr>
        </p:nvSpPr>
        <p:spPr/>
        <p:txBody>
          <a:bodyPr/>
          <a:lstStyle/>
          <a:p>
            <a:pPr lvl="0" indent="0" marL="0">
              <a:spcBef>
                <a:spcPts val="3000"/>
              </a:spcBef>
              <a:buNone/>
            </a:pPr>
            <a:r>
              <a:rPr b="1"/>
              <a:t>Triads • 45 minutes • Readouts</a:t>
            </a:r>
          </a:p>
          <a:p>
            <a:pPr lvl="0" indent="0" marL="0">
              <a:buNone/>
            </a:pPr>
            <a:r>
              <a:rPr/>
              <a:t>Convert your audit into 3 design principles your squad can hold the line on. Each principle: one line + one decision it would force.</a:t>
            </a:r>
          </a:p>
          <a:p>
            <a:pPr lvl="0" indent="0" marL="0">
              <a:buNone/>
            </a:pPr>
            <a:r>
              <a:rPr/>
              <a:t>10 min: cluster findings into themes</a:t>
            </a:r>
          </a:p>
          <a:p>
            <a:pPr lvl="0" indent="0" marL="0">
              <a:buNone/>
            </a:pPr>
            <a:r>
              <a:rPr/>
              <a:t>15 min: draft 5 candidates</a:t>
            </a:r>
          </a:p>
          <a:p>
            <a:pPr lvl="0" indent="0" marL="0">
              <a:buNone/>
            </a:pPr>
            <a:r>
              <a:rPr/>
              <a:t>10 min: test &amp; cull to 3</a:t>
            </a:r>
          </a:p>
          <a:p>
            <a:pPr lvl="0" indent="0" marL="0">
              <a:buNone/>
            </a:pPr>
            <a:r>
              <a:rPr/>
              <a:t>10 min: write the principle card</a:t>
            </a:r>
          </a:p>
          <a:p>
            <a:pPr lvl="0" indent="0" marL="0">
              <a:buNone/>
            </a:pPr>
            <a:r>
              <a:rPr/>
              <a:t>⏱ 10 cluster · 15 draft · 10 cull · 10 write · 90s readouts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Day 3 Wrap</a:t>
            </a:r>
          </a:p>
        </p:txBody>
      </p:sp>
      <p:sp>
        <p:nvSpPr>
          <p:cNvPr id="3" name="Content Placeholder 2"/>
          <p:cNvSpPr>
            <a:spLocks noGrp="1"/>
          </p:cNvSpPr>
          <p:nvPr>
            <p:ph idx="1"/>
          </p:nvPr>
        </p:nvSpPr>
        <p:spPr/>
        <p:txBody>
          <a:bodyPr/>
          <a:lstStyle/>
          <a:p>
            <a:pPr lvl="0" indent="0" marL="0">
              <a:buNone/>
            </a:pPr>
            <a:r>
              <a:rPr/>
              <a:t>What we built</a:t>
            </a:r>
          </a:p>
          <a:p>
            <a:pPr lvl="0" indent="0" marL="0">
              <a:buNone/>
            </a:pPr>
            <a:r>
              <a:rPr/>
              <a:t>Shared vocabulary (Nielsen + 3 TPM lenses)</a:t>
            </a:r>
          </a:p>
          <a:p>
            <a:pPr lvl="0" indent="0" marL="0">
              <a:buNone/>
            </a:pPr>
            <a:r>
              <a:rPr/>
              <a:t>The 8-check A11y floor</a:t>
            </a:r>
          </a:p>
          <a:p>
            <a:pPr lvl="0" indent="0" marL="0">
              <a:buNone/>
            </a:pPr>
            <a:r>
              <a:rPr/>
              <a:t>A severity-scored UX audit</a:t>
            </a:r>
          </a:p>
          <a:p>
            <a:pPr lvl="0" indent="0" marL="0">
              <a:buNone/>
            </a:pPr>
            <a:r>
              <a:rPr/>
              <a:t>3 design principles per triad</a:t>
            </a:r>
          </a:p>
          <a:p>
            <a:pPr lvl="0" indent="0" marL="0">
              <a:buNone/>
            </a:pPr>
            <a:r>
              <a:rPr/>
              <a:t>What opens tomorrow</a:t>
            </a:r>
          </a:p>
          <a:p>
            <a:pPr lvl="0" indent="0" marL="0">
              <a:buNone/>
            </a:pPr>
            <a:r>
              <a:rPr/>
              <a:t>Using AI for strategy &amp; research summaries</a:t>
            </a:r>
          </a:p>
          <a:p>
            <a:pPr lvl="0" indent="0" marL="0">
              <a:buNone/>
            </a:pPr>
            <a:r>
              <a:rPr/>
              <a:t>Reuse the Week-1 prompt patterns at strategy scale</a:t>
            </a:r>
          </a:p>
          <a:p>
            <a:pPr lvl="0" indent="0" marL="0">
              <a:buNone/>
            </a:pPr>
            <a:r>
              <a:rPr/>
              <a:t>Process the FieldPulse interview + ticket pack</a:t>
            </a:r>
          </a:p>
          <a:p>
            <a:pPr lvl="0" indent="0" marL="0">
              <a:buNone/>
            </a:pPr>
            <a:r>
              <a:rPr/>
              <a:t>Bring to Day 4: Your triad’s NS Defense Card, Tier Sheet, and 3 design principles — they all become inputs to AI summarization tomorrow.</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Questions &amp; Reflection</a:t>
            </a:r>
          </a:p>
        </p:txBody>
      </p:sp>
      <p:sp>
        <p:nvSpPr>
          <p:cNvPr id="3" name="Content Placeholder 2"/>
          <p:cNvSpPr>
            <a:spLocks noGrp="1"/>
          </p:cNvSpPr>
          <p:nvPr>
            <p:ph idx="1"/>
          </p:nvPr>
        </p:nvSpPr>
        <p:spPr/>
        <p:txBody>
          <a:bodyPr/>
          <a:lstStyle/>
          <a:p>
            <a:pPr lvl="0" indent="0" marL="0">
              <a:spcBef>
                <a:spcPts val="3000"/>
              </a:spcBef>
              <a:buNone/>
            </a:pPr>
            <a:r>
              <a:rPr b="1"/>
              <a:t>Which of your 3 principles will the design team disagree with most?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2026-07-22T12:58:44Z</dcterms:created>
  <dcterms:modified xsi:type="dcterms:W3CDTF">2026-07-22T12:58:44Z</dcterms:modified>
</cp:coreProperties>
</file>

<file path=docProps/custom.xml><?xml version="1.0" encoding="utf-8"?>
<Properties xmlns="http://schemas.openxmlformats.org/officeDocument/2006/custom-properties" xmlns:vt="http://schemas.openxmlformats.org/officeDocument/2006/docPropsVTypes"/>
</file>