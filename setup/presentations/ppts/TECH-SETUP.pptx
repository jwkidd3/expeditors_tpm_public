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notesMaster" Target="notesMasters/notesMaster1.xml" /><Relationship Id="rId18" Type="http://schemas.openxmlformats.org/officeDocument/2006/relationships/viewProps" Target="viewProps.xml" /><Relationship Id="rId1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0" Type="http://schemas.openxmlformats.org/officeDocument/2006/relationships/tableStyles" Target="tableStyles.xml" /><Relationship Id="rId19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deck is both a participant-facing setup guide and a facilitator reference. Tell the room they will revisit it weekly — it’s not a one-time read.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Hardware and connectivity are the cheapest fixes to surface early. Anyone whose hardware doesn’t meet minimum needs a workaround before Week 1 starts.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Accounts and access are the most common Week-1 blocker. Surface gaps the Friday before academy begins — IT requests take days, not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Local installs are intentionally minimal. The academy stays browser-first so corporate device policies don’t become a content blocker.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Re-read this section the Friday before each week begins. Weeks 3, 7, and 8 each have setup steps that fail loudly if skipped.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pre-flight checklist exists because most facilitation problems are setup problems. Run it the Friday before — leave Monday for content, not tooling.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Stress that the academy continues when tools fail. The fallbacks are not “lesser” — they’re a different way to build the same muscle.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Most of these issues are predictable. Keep the fixes within reach so facilitators don’t troubleshoot during teaching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Customize the bracketed placeholders for each cohort. Send by the Friday before academy start — earlier if your cohort has heavy corporate-IT timelines.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TPM Academy — Tech Setup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Last updated: 2026-05-13 (rev 5)</a:t>
            </a:r>
          </a:p>
          <a:p>
            <a:pPr lvl="0" indent="0" marL="0">
              <a:buNone/>
            </a:pPr>
            <a:r>
              <a:rPr/>
              <a:t>Practical setup guide for participants and facilitators. Cover pre-academy setup once; refer back week-by-week as new tools come into play.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Audience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Participants:</a:t>
            </a:r>
            <a:r>
              <a:rPr/>
              <a:t> read sections 1–3 before Week 1. Skim section 4 (week-by-week additions) the Friday before each new week.</a:t>
            </a:r>
          </a:p>
          <a:p>
            <a:pPr lvl="0"/>
            <a:r>
              <a:rPr b="1"/>
              <a:t>Facilitators:</a:t>
            </a:r>
            <a:r>
              <a:rPr/>
              <a:t> verify section 5 (pre-flight checklist) before each week. Section 6 covers fallback procedures when tooling fails.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Hardware &amp; connectivity (pre-academy)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Requirement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Minimum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Recommended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Laptop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Modern dual-core, 8 GB RAM, 256 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Quad-core+, 16 GB RAM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macOS 12+, Windows 10+, Ubuntu 22.04+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Latest stable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Browser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Chrome / Edge / Firefox latest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Same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Internet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Reliable broadband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Wired or 5GHz Wi-Fi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Webcam + mic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Working for remote sessions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Headset preferred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Display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 monitor, 1280×720+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1080p+; second monitor helpful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remote cohorts: confirm video conferencing client installed (Zoom, Teams, or Meet — per academy delivery).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Accounts &amp; access (pre-academy)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Confirm before Week 1 starts. Many of these need IT or admin time — start early.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2.1 Generative AI tool access</a:t>
            </a:r>
          </a:p>
          <a:p>
            <a:pPr lvl="0" indent="0" marL="0">
              <a:buNone/>
            </a:pPr>
            <a:r>
              <a:rPr/>
              <a:t>Every participant needs </a:t>
            </a:r>
            <a:r>
              <a:rPr b="1"/>
              <a:t>at least two</a:t>
            </a:r>
            <a:r>
              <a:rPr/>
              <a:t> of:</a:t>
            </a:r>
          </a:p>
          <a:p>
            <a:pPr lvl="0"/>
            <a:r>
              <a:rPr b="1"/>
              <a:t>Claude</a:t>
            </a:r>
            <a:r>
              <a:rPr/>
              <a:t> (Anthropic) — free tier acceptable for the academy; paid tier preferred for longer context</a:t>
            </a:r>
          </a:p>
          <a:p>
            <a:pPr lvl="0"/>
            <a:r>
              <a:rPr b="1"/>
              <a:t>ChatGPT</a:t>
            </a:r>
            <a:r>
              <a:rPr/>
              <a:t> (OpenAI) — free tier acceptable; Plus preferred</a:t>
            </a:r>
          </a:p>
          <a:p>
            <a:pPr lvl="0"/>
            <a:r>
              <a:rPr b="1"/>
              <a:t>Gemini / Copilot / equivalent</a:t>
            </a:r>
            <a:r>
              <a:rPr/>
              <a:t> — for cross-tool comparison on Week 1 Day 1</a:t>
            </a:r>
          </a:p>
          <a:p>
            <a:pPr lvl="0" indent="0" marL="0">
              <a:buNone/>
            </a:pPr>
            <a:r>
              <a:rPr/>
              <a:t>For Week 1 Day 1’s “Same Question, Three Models” activity, the cohort collectively needs three different tools available. Coordinate so triads have coverage.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2.2 Skills / SkillIQ platform (pre- and post-assessments)</a:t>
            </a:r>
          </a:p>
          <a:p>
            <a:pPr lvl="0"/>
            <a:r>
              <a:rPr/>
              <a:t>Pre-assessment access: required before Week 1 (Product Management + Data Literacy)</a:t>
            </a:r>
          </a:p>
          <a:p>
            <a:pPr lvl="0"/>
            <a:r>
              <a:rPr/>
              <a:t>Post-assessment access: required for Week 8 Day 5</a:t>
            </a:r>
          </a:p>
          <a:p>
            <a:pPr lvl="0"/>
            <a:r>
              <a:rPr/>
              <a:t>Confirm participant logins work the week before academy begins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2.3 Azure DevOps (Week 7 only)</a:t>
            </a:r>
          </a:p>
          <a:p>
            <a:pPr lvl="0" indent="0" marL="0">
              <a:buNone/>
            </a:pPr>
            <a:r>
              <a:rPr/>
              <a:t>Each triad needs one of:</a:t>
            </a:r>
          </a:p>
          <a:p>
            <a:pPr lvl="0"/>
            <a:r>
              <a:rPr b="1"/>
              <a:t>Live ADO project</a:t>
            </a:r>
            <a:r>
              <a:rPr/>
              <a:t> with create-work-item permissions (preferred — sandbox if possible)</a:t>
            </a:r>
          </a:p>
          <a:p>
            <a:pPr lvl="0"/>
            <a:r>
              <a:rPr b="1"/>
              <a:t>Sandbox / training ADO instance</a:t>
            </a:r>
            <a:r>
              <a:rPr/>
              <a:t> provisioned by IT</a:t>
            </a:r>
          </a:p>
          <a:p>
            <a:pPr lvl="0"/>
            <a:r>
              <a:rPr b="1"/>
              <a:t>Read-only ADO access</a:t>
            </a:r>
            <a:r>
              <a:rPr/>
              <a:t> with paper-template fallback (last resort)</a:t>
            </a:r>
          </a:p>
          <a:p>
            <a:pPr lvl="0" indent="0" marL="0">
              <a:buNone/>
            </a:pPr>
            <a:r>
              <a:rPr/>
              <a:t>If live ADO isn’t available by Week 7 Day 1, fall back to the </a:t>
            </a:r>
            <a:r>
              <a:rPr b="1"/>
              <a:t>paper-template</a:t>
            </a:r>
            <a:r>
              <a:rPr/>
              <a:t> version of Day 2’s lab — see section 6.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2.4 Document tooling</a:t>
            </a:r>
          </a:p>
          <a:p>
            <a:pPr lvl="0" indent="0" marL="0">
              <a:buNone/>
            </a:pPr>
            <a:r>
              <a:rPr/>
              <a:t>Each triad needs a shared workspace for collaborative editing:</a:t>
            </a:r>
          </a:p>
          <a:p>
            <a:pPr lvl="0"/>
            <a:r>
              <a:rPr b="1"/>
              <a:t>Confluence / SharePoint / Google Docs / Notion</a:t>
            </a:r>
            <a:r>
              <a:rPr/>
              <a:t> — pick one and use it consistently</a:t>
            </a:r>
          </a:p>
          <a:p>
            <a:pPr lvl="0"/>
            <a:r>
              <a:rPr/>
              <a:t>The 5 sibling artifacts (PRD/TCD/TMD/SEP/DP) live here</a:t>
            </a:r>
          </a:p>
          <a:p>
            <a:pPr lvl="0"/>
            <a:r>
              <a:rPr/>
              <a:t>Version history is required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2.5 Diagramming (Week 4–5)</a:t>
            </a:r>
          </a:p>
          <a:p>
            <a:pPr lvl="0" indent="0" marL="0">
              <a:buNone/>
            </a:pPr>
            <a:r>
              <a:rPr/>
              <a:t>For C4 diagrams (Wk 4 Day 3) and sequence diagrams (Wk 5 Day 4):</a:t>
            </a:r>
          </a:p>
          <a:p>
            <a:pPr lvl="0"/>
            <a:r>
              <a:rPr b="1"/>
              <a:t>Whiteboard + paper</a:t>
            </a:r>
            <a:r>
              <a:rPr/>
              <a:t> is fully sufficient — phone photos serve as the artifact</a:t>
            </a:r>
          </a:p>
          <a:p>
            <a:pPr lvl="0"/>
            <a:r>
              <a:rPr b="1"/>
              <a:t>Miro / Lucidchart / Excalidraw / Figma</a:t>
            </a:r>
            <a:r>
              <a:rPr/>
              <a:t> if digital is preferred</a:t>
            </a:r>
          </a:p>
          <a:p>
            <a:pPr lvl="0"/>
            <a:r>
              <a:rPr b="1"/>
              <a:t>Mermaid</a:t>
            </a:r>
            <a:r>
              <a:rPr/>
              <a:t> in the team’s wiki for inline-in-doc diagrams</a:t>
            </a:r>
          </a:p>
          <a:p>
            <a:pPr lvl="0" indent="0" marL="0">
              <a:buNone/>
            </a:pPr>
            <a:r>
              <a:rPr/>
              <a:t>Don’t over-invest in tooling here; the diagrams are thinking aids, not deliverables.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2.6 Communication</a:t>
            </a:r>
          </a:p>
          <a:p>
            <a:pPr lvl="0"/>
            <a:r>
              <a:rPr/>
              <a:t>A </a:t>
            </a:r>
            <a:r>
              <a:rPr b="1"/>
              <a:t>cohort channel</a:t>
            </a:r>
            <a:r>
              <a:rPr/>
              <a:t> (Slack / Teams) for asynchronous Q&amp;A and resource sharing</a:t>
            </a:r>
          </a:p>
          <a:p>
            <a:pPr lvl="0"/>
            <a:r>
              <a:rPr/>
              <a:t>A </a:t>
            </a:r>
            <a:r>
              <a:rPr b="1"/>
              <a:t>triad channel</a:t>
            </a:r>
            <a:r>
              <a:rPr/>
              <a:t> per triad for daily coordination</a:t>
            </a:r>
          </a:p>
          <a:p>
            <a:pPr lvl="0"/>
            <a:r>
              <a:rPr/>
              <a:t>An </a:t>
            </a:r>
            <a:r>
              <a:rPr b="1"/>
              <a:t>instructor DM thread</a:t>
            </a:r>
            <a:r>
              <a:rPr/>
              <a:t> for individual coaching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Installations (pre-academy)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Most academy tools are browser-based. Two local installs help: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3.1 Reveal.js decks (already provided)</a:t>
            </a:r>
          </a:p>
          <a:p>
            <a:pPr lvl="0" indent="0" marL="0">
              <a:buNone/>
            </a:pPr>
            <a:r>
              <a:rPr/>
              <a:t>The daily decks live in </a:t>
            </a:r>
            <a:r>
              <a:rPr>
                <a:latin typeface="Courier"/>
              </a:rPr>
              <a:t>week-XX/presentations/day-XX-*.html</a:t>
            </a:r>
            <a:r>
              <a:rPr/>
              <a:t>. They render directly in any modern browser:</a:t>
            </a:r>
          </a:p>
          <a:p>
            <a:pPr lvl="0" indent="0">
              <a:buNone/>
            </a:pPr>
            <a:r>
              <a:rPr>
                <a:latin typeface="Courier"/>
              </a:rPr>
              <a:t>File → Open → week-01/presentations/day-01-ai-fundamentals-prompting.html</a:t>
            </a:r>
          </a:p>
          <a:p>
            <a:pPr lvl="0" indent="0" marL="0">
              <a:buNone/>
            </a:pPr>
            <a:r>
              <a:rPr/>
              <a:t>No build step needed; Reveal.js loads from CDN. Press </a:t>
            </a:r>
            <a:r>
              <a:rPr>
                <a:latin typeface="Courier"/>
              </a:rPr>
              <a:t>S</a:t>
            </a:r>
            <a:r>
              <a:rPr/>
              <a:t> for speaker notes / clock.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3.2 Markdown editor (recommended)</a:t>
            </a:r>
          </a:p>
          <a:p>
            <a:pPr lvl="0" indent="0" marL="0">
              <a:buNone/>
            </a:pPr>
            <a:r>
              <a:rPr/>
              <a:t>For authoring PRDs, TCDs, etc., a markdown editor with live preview is helpful:</a:t>
            </a:r>
          </a:p>
          <a:p>
            <a:pPr lvl="0"/>
            <a:r>
              <a:rPr b="1"/>
              <a:t>Obsidian</a:t>
            </a:r>
            <a:r>
              <a:rPr/>
              <a:t> (free) — strong cross-doc linking</a:t>
            </a:r>
          </a:p>
          <a:p>
            <a:pPr lvl="0"/>
            <a:r>
              <a:rPr b="1"/>
              <a:t>VS Code</a:t>
            </a:r>
            <a:r>
              <a:rPr/>
              <a:t> + Markdown Preview Enhanced</a:t>
            </a:r>
          </a:p>
          <a:p>
            <a:pPr lvl="0"/>
            <a:r>
              <a:rPr b="1"/>
              <a:t>Typora</a:t>
            </a:r>
            <a:r>
              <a:rPr/>
              <a:t> (paid) — minimal interface</a:t>
            </a:r>
          </a:p>
          <a:p>
            <a:pPr lvl="0" indent="0" marL="0">
              <a:buNone/>
            </a:pPr>
            <a:r>
              <a:rPr/>
              <a:t>The labs reference markdown templates throughout; a comfortable editor pays off across all 8 weeks.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 Week-by-week additions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Week 1 — Customer-Centric Foundations</a:t>
            </a:r>
          </a:p>
          <a:p>
            <a:pPr lvl="0"/>
            <a:r>
              <a:rPr/>
              <a:t>All AI tools confirmed and working</a:t>
            </a:r>
          </a:p>
          <a:p>
            <a:pPr lvl="0"/>
            <a:r>
              <a:rPr/>
              <a:t>Persona Validation Canvas, Pain-Point Severity Matrix, Problem Statement Template (printed or digital — see lab packets)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Week 2 — Strategic Design &amp; Metrics</a:t>
            </a:r>
          </a:p>
          <a:p>
            <a:pPr lvl="0"/>
            <a:r>
              <a:rPr/>
              <a:t>Spreadsheet for Tier Sheet (Excel / Google Sheets / Numbers)</a:t>
            </a:r>
          </a:p>
          <a:p>
            <a:pPr lvl="0"/>
            <a:r>
              <a:rPr/>
              <a:t>Whiteboard or A2 paper for Journey Map Canvas (Day 5)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Week 3 — Requirements Engineering &amp; Mini-Capstone</a:t>
            </a:r>
          </a:p>
          <a:p>
            <a:pPr lvl="0"/>
            <a:r>
              <a:rPr b="1"/>
              <a:t>AI tools off</a:t>
            </a:r>
            <a:r>
              <a:rPr/>
              <a:t> for the week — honor system. Disable AI features in your editor.</a:t>
            </a:r>
          </a:p>
          <a:p>
            <a:pPr lvl="0"/>
            <a:r>
              <a:rPr/>
              <a:t>Markdown editor for PRD drafting</a:t>
            </a:r>
          </a:p>
          <a:p>
            <a:pPr lvl="0"/>
            <a:r>
              <a:rPr/>
              <a:t>Print or share digitally: PRD template (1 per triad)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Week 4 — Technical Architecture &amp; Constraints</a:t>
            </a:r>
          </a:p>
          <a:p>
            <a:pPr lvl="0"/>
            <a:r>
              <a:rPr/>
              <a:t>AI tools restored</a:t>
            </a:r>
          </a:p>
          <a:p>
            <a:pPr lvl="0"/>
            <a:r>
              <a:rPr/>
              <a:t>Whiteboard / Miro / Lucidchart for C4 diagrams (Day 3)</a:t>
            </a:r>
          </a:p>
          <a:p>
            <a:pPr lvl="0"/>
            <a:r>
              <a:rPr/>
              <a:t>STRIDE Card handout (Day 2)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Week 5 — Technical Infrastructure &amp; Modeling</a:t>
            </a:r>
          </a:p>
          <a:p>
            <a:pPr lvl="0"/>
            <a:r>
              <a:rPr/>
              <a:t>AI tools, with validation discipline</a:t>
            </a:r>
          </a:p>
          <a:p>
            <a:pPr lvl="0"/>
            <a:r>
              <a:rPr/>
              <a:t>Diagramming tool for sequence diagrams (Day 4)</a:t>
            </a:r>
          </a:p>
          <a:p>
            <a:pPr lvl="0"/>
            <a:r>
              <a:rPr/>
              <a:t>Reference cards for HTTP status codes, REST methods (printed or bookmarked)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Week 6 — Stakeholder Alignment &amp; Negotiation</a:t>
            </a:r>
          </a:p>
          <a:p>
            <a:pPr lvl="0"/>
            <a:r>
              <a:rPr/>
              <a:t>Power × Interest grid (paper or whiteboard)</a:t>
            </a:r>
          </a:p>
          <a:p>
            <a:pPr lvl="0"/>
            <a:r>
              <a:rPr/>
              <a:t>Stakeholder persona scripts (Day 5 simulation handouts) — instructor prepares ahead</a:t>
            </a:r>
          </a:p>
          <a:p>
            <a:pPr lvl="0"/>
            <a:r>
              <a:rPr/>
              <a:t>Surprise objection sets (Day 5) — instructor prepares ahead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Week 7 — Agile Delivery &amp; ADO Mastery</a:t>
            </a:r>
          </a:p>
          <a:p>
            <a:pPr lvl="0"/>
            <a:r>
              <a:rPr b="1"/>
              <a:t>ADO access confirmed</a:t>
            </a:r>
            <a:r>
              <a:rPr/>
              <a:t> (see 2.3 above)</a:t>
            </a:r>
          </a:p>
          <a:p>
            <a:pPr lvl="0"/>
            <a:r>
              <a:rPr/>
              <a:t>ADO Cheat Sheet handout (Day 2)</a:t>
            </a:r>
          </a:p>
          <a:p>
            <a:pPr lvl="0"/>
            <a:r>
              <a:rPr/>
              <a:t>VSM Canvas — large paper or whiteboard (Day 4)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Week 8 — AI Spec Development &amp; Capstone</a:t>
            </a:r>
          </a:p>
          <a:p>
            <a:pPr lvl="0"/>
            <a:r>
              <a:rPr/>
              <a:t>AI tools, with validation discipline</a:t>
            </a:r>
          </a:p>
          <a:p>
            <a:pPr lvl="0"/>
            <a:r>
              <a:rPr/>
              <a:t>Capstone subject inputs gathered before Day 1 (interviews / data / docs — per triad)</a:t>
            </a:r>
          </a:p>
          <a:p>
            <a:pPr lvl="0"/>
            <a:r>
              <a:rPr/>
              <a:t>Presentation projector / screen sharing for Friday</a:t>
            </a:r>
          </a:p>
          <a:p>
            <a:pPr lvl="0"/>
            <a:r>
              <a:rPr/>
              <a:t>Post-assessment access confirmed (Skills / SkillIQ)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 Facilitator pre-flight checklist (per week)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Run this checklist the </a:t>
            </a:r>
            <a:r>
              <a:rPr b="1"/>
              <a:t>Friday before each week begins</a:t>
            </a:r>
            <a:r>
              <a:rPr/>
              <a:t>:</a:t>
            </a:r>
          </a:p>
          <a:p>
            <a:pPr lvl="0"/>
            <a:r>
              <a:rPr/>
              <a:t>☐ All participants have access to required tools (cross-check section 4)</a:t>
            </a:r>
          </a:p>
          <a:p>
            <a:pPr lvl="0"/>
            <a:r>
              <a:rPr/>
              <a:t>☐ Print or digitally share the lab packet for Monday</a:t>
            </a:r>
          </a:p>
          <a:p>
            <a:pPr lvl="0"/>
            <a:r>
              <a:rPr/>
              <a:t>☐ Pre-print handouts called out in each day’s </a:t>
            </a:r>
            <a:r>
              <a:rPr>
                <a:latin typeface="Courier"/>
              </a:rPr>
              <a:t>Facilitator pre-flight checklist</a:t>
            </a:r>
          </a:p>
          <a:p>
            <a:pPr lvl="0"/>
            <a:r>
              <a:rPr/>
              <a:t>☐ Confirm any Week-specific instructor-prepared materials (Wk 6 stakeholder personas, Wk 7 ADO sandbox, etc.)</a:t>
            </a:r>
          </a:p>
          <a:p>
            <a:pPr lvl="0"/>
            <a:r>
              <a:rPr/>
              <a:t>☐ Verify cohort channel and triad channels are live</a:t>
            </a:r>
          </a:p>
          <a:p>
            <a:pPr lvl="0"/>
            <a:r>
              <a:rPr/>
              <a:t>☐ Verify the deck file for each day opens correctly in browser</a:t>
            </a:r>
          </a:p>
          <a:p>
            <a:pPr lvl="0" indent="0" marL="0">
              <a:buNone/>
            </a:pPr>
            <a:r>
              <a:rPr/>
              <a:t>For </a:t>
            </a:r>
            <a:r>
              <a:rPr b="1"/>
              <a:t>Week 7 specifically</a:t>
            </a:r>
            <a:r>
              <a:rPr/>
              <a:t>: test ADO access with a sample work item by Friday Week 6. Don’t discover ADO issues at 09:00 Monday.</a:t>
            </a:r>
          </a:p>
          <a:p>
            <a:pPr lvl="0" indent="0" marL="0">
              <a:buNone/>
            </a:pPr>
            <a:r>
              <a:rPr/>
              <a:t>For </a:t>
            </a:r>
            <a:r>
              <a:rPr b="1"/>
              <a:t>Week 8 specifically</a:t>
            </a:r>
            <a:r>
              <a:rPr/>
              <a:t>: confirm the post-assessment platform is active and participants can log in by Thursday Week 7.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6. Fallback procedures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tools fail, the academy continues. Don’t let tooling block learning.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If this fails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 this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AI tool down for one cohort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Pair-up with a triad whose tool works; document as a constraint in the provenance log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All AI tools down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Day’s AI activity becomes a </a:t>
                      </a:r>
                      <a:r>
                        <a:rPr b="1"/>
                        <a:t>paper exercise</a:t>
                      </a:r>
                      <a:r>
                        <a:rPr/>
                        <a:t>: triads write the prompt, predict the output, then review when AI returns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ADO unavailable Week 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Run Day 2 as </a:t>
                      </a:r>
                      <a:r>
                        <a:rPr b="1"/>
                        <a:t>“ADO concepts on paper”</a:t>
                      </a:r>
                      <a:r>
                        <a:rPr/>
                        <a:t> — same 4-level hierarchy, same field discipline, captured in markdown. Coverage similar; hands-on practice is the loss.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Whiteboard / projector fails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Triads work on paper; phone photos are the artifact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Document workspace down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Local markdown files; sync when service returns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Pre/post-assessment platform down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Run paper version of the same instruments; submit when platform returns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academy’s content is the muscle, not the tool. Tooling failures are an inconvenience, not a blocker.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 Common setup issues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Fix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AI tool rate-limits during heavy use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Distribute prompts across triad members’ accounts; stagger API-heavy activities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ADO permission errors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IT ticket; meanwhile use sandbox or paper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Reveal.js deck won’t render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Try a different browser; confirm internet for CDN; check </a:t>
                      </a:r>
                      <a:r>
                        <a:rPr>
                          <a:latin typeface="Courier"/>
                        </a:rPr>
                        <a:t>console</a:t>
                      </a:r>
                      <a:r>
                        <a:rPr/>
                        <a:t> for blocked scripts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Markdown editor doesn’t show tables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Switch to a CommonMark-compliant editor; preview in a browser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Network can’t reach Slack/Teams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Triad channels via SMS / personal email as fallback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 Pre-academy participant onboarding email (template)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Adapt and send 1 week before academy start:</a:t>
            </a:r>
          </a:p>
          <a:p>
            <a:pPr lvl="0" indent="0">
              <a:buNone/>
            </a:pPr>
            <a:r>
              <a:rPr>
                <a:latin typeface="Courier"/>
              </a:rPr>
              <a:t>Subject: TPM Academy — Setup Steps Before [Date]
Welcome. Before academy begins on [date], please confirm:
1. Hardware: laptop with webcam, modern browser, reliable internet
2. AI tools: at least two of Claude, ChatGPT, Gemini/Copilot — confirmed working
3. Pre-assessments: Product Management + Data Literacy submitted
   on the Skills platform [link]
4. Cohort channel: you've joined [Slack/Teams workspace link]
5. Pre-work (~3.5 hrs): complete the linked self-paced modules:
   - Exploring PM Philosophies and Frameworks [link]
   - Agile Methodologies primer [link]
   - Getting Started on Prompt Engineering [link]
Please reply with any access issues by [3 days before start].
Looking forward to Monday.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9.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Course README: </a:t>
            </a:r>
            <a:r>
              <a:rPr>
                <a:latin typeface="Courier"/>
              </a:rPr>
              <a:t>README.md</a:t>
            </a:r>
          </a:p>
          <a:p>
            <a:pPr lvl="0"/>
            <a:r>
              <a:rPr/>
              <a:t>Source outline: </a:t>
            </a:r>
            <a:r>
              <a:rPr>
                <a:latin typeface="Courier"/>
              </a:rPr>
              <a:t>tools/outline.pdf</a:t>
            </a:r>
          </a:p>
          <a:p>
            <a:pPr lvl="0"/>
            <a:r>
              <a:rPr/>
              <a:t>Daily decks: </a:t>
            </a:r>
            <a:r>
              <a:rPr>
                <a:latin typeface="Courier"/>
              </a:rPr>
              <a:t>week-XX/presentations/day-XX-*.html</a:t>
            </a:r>
          </a:p>
          <a:p>
            <a:pPr lvl="0"/>
            <a:r>
              <a:rPr/>
              <a:t>Lab packets: </a:t>
            </a:r>
            <a:r>
              <a:rPr>
                <a:latin typeface="Courier"/>
              </a:rPr>
              <a:t>week-XX/labs/day-XX-*.md</a:t>
            </a:r>
          </a:p>
          <a:p>
            <a:pPr lvl="0"/>
            <a:r>
              <a:rPr/>
              <a:t>Week overviews: </a:t>
            </a:r>
            <a:r>
              <a:rPr>
                <a:latin typeface="Courier"/>
              </a:rPr>
              <a:t>week-XX/labs/README.md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2026-05-15T23:42:01Z</dcterms:created>
  <dcterms:modified xsi:type="dcterms:W3CDTF">2026-05-15T23:42:01Z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